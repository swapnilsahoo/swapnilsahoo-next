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760720"/>
            <a:ext cx="2468880" cy="1463040"/>
          </a:xfrm>
          <a:prstGeom prst="ellipse">
            <a:avLst/>
          </a:prstGeom>
          <a:solidFill>
            <a:srgbClr val="EFE2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28"/>
                </a:solidFill>
                <a:latin typeface="Calibri"/>
              </a:rPr>
              <a:t>Section D Universe 1: Round 6 Comparative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GL Sec D Group · Round 5 → Round 6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2606040" cy="54864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R6 LEADER BY TSR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94560"/>
            <a:ext cx="2606040" cy="54864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R6 PROFIT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194560"/>
            <a:ext cx="2606040" cy="54864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BIGGEST RISER  6→5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194560"/>
            <a:ext cx="260604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BIGGEST FALLER  5→6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2044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3931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Which teams converted Round 6 decisions into durable shareholder value, and which merely created activity?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52044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6393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Socratic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8620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Did the leader earn it, or did a rival lose it?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Which rank move is a real strategy shift?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5605D"/>
                </a:solidFill>
                <a:latin typeface="Calibri"/>
              </a:rPr>
              <a:t>Ranking criterion: cumulative total shareholder return (TSR, p.a., %). Source: Section D Universe 1 Round 6 results workbook, compared against Round 5.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01 / GL SEC D • U1 R6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Start with the causal chain, not the leaderboard.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20827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Demand creates revenue; costs and capacity decide margins; cash and debt shape risk; risk changes 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320497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962656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Cumulative TSR after Round 6 reflects 6 rounds of decisions, not only this round's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59352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420166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59352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A team can improve its own economics and still fall in rank if rivals compounded faster — relative and absolute performance are different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02 / ROUND 6 STANDINGS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Round 6 leaderboard by cumulative TSR.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783080"/>
            <a:ext cx="12700" cy="3182112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98990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0077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$134m profit · 18.5% share · AA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1958096"/>
            <a:ext cx="4163263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88751" y="1958096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29342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Red Rangers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10429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$455m profit · 14.3% share · AA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488448"/>
            <a:ext cx="4151360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6848" y="2488448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+9.09%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59694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40781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$543m profit · 16.0% share · AAA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018800"/>
            <a:ext cx="4001794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7282" y="3018800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+8.77%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90046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71133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$477m profit · 26.5% share · AA-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549152"/>
            <a:ext cx="2661760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7248" y="3549152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+5.83%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20398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1485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$95m profit · 14.4% share · A-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0183" y="4079504"/>
            <a:ext cx="1362153" cy="180319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8623" y="4079504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-4.12%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50750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31837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$357m profit · 10.2% share · A+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9662" y="4609856"/>
            <a:ext cx="1362674" cy="180319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8102" y="4609856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-4.12%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93792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93792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Universe 1 aggregate profit this round: $2.06bn  •  Average TSR: +4.1%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03 / RANK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Rank movement: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Red Rangers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55605D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05D"/>
                </a:solidFill>
                <a:latin typeface="Calibri"/>
              </a:rPr>
              <a:t>steady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04 / LEADER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Orange becomes the Round 6 TSR leader.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CUMULATIVE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+9.12%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from +8.18% in R5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$134m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-$269m vs R5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GLOBAL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18.5%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19.8%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CREDIT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AA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AA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03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1363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R&amp;D spend: $242m this round, versus $134m in Round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05 / PROFIT LEADER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Ochre posted the round's highest profit, without leading TSR.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$543m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rank 3 on TSR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18.3%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34.5%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GLOBAL 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16.0%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21.1%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86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Profit leadership does not automatically settle valuation — cumulative history and risk quality matter too.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33A3A"/>
                </a:solidFill>
                <a:latin typeface="Calibri"/>
              </a:rPr>
              <a:t>06 / WARNING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Grey closes Round 6 at the bottom of the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CUMULATIVE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-4.12%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-4.51%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$357m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CREDIT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A+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18.8%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R&amp;D spending fell to $9m, from $661m in Round 5. A large R&amp;D or cost bet only helps if the market rewards it in demand and share.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07 / PATTERNS ACROSS THE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R&amp;D bets and credit quality moved together for some, apart for others.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BIGGEST R&amp;D SWINGS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Grey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$661m → $9m  (down sharply)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Ochre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$248m → $138m  (down sharply)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Orange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$134m → $242m  (up sharply)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CREDIT-RATING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468880"/>
            <a:ext cx="4937760" cy="960120"/>
          </a:xfrm>
          <a:prstGeom prst="roundRect">
            <a:avLst>
              <a:gd name="adj" fmla="val 8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IMPROVED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Green, Red Rangers, Grey, Ochre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520440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WEAKENED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Blue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08 /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Five questions for this round's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13055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did Orange change that the rest of the universe didn't?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971800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07208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Why did Ochre not automatically become the TSR leader?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48456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81304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648456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assumption explains Grey's position at the bottom of the table?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65429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489704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Which rank move in this round reflects real strategic learning, and which reflects noise?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30952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495544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330952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If you were advising the weakest team for one decision only, what would it be?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4114800" cy="3657600"/>
          </a:xfrm>
          <a:prstGeom prst="ellipse">
            <a:avLst/>
          </a:prstGeom>
          <a:solidFill>
            <a:srgbClr val="4E7D7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TEACHING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Rank tells you who is ahead. It does not tell you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Universe 1 closed Round 6 with $2.06bn in aggregate profit and an average TSR of +4.1%.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Orange leads on cumulative return; Ochre produced the strongest single-round economics — a reminder that these are different questions.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Going into Round 7, the open question for every team is the same one: did this round's decision change the causal chain, or just the scoreboard?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