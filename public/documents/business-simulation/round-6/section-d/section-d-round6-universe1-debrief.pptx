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A79B"/>
                </a:solidFill>
                <a:latin typeface="Calibri"/>
              </a:rPr>
              <a:t>CESIM Global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A28"/>
                </a:solidFill>
                <a:latin typeface="Calibri"/>
              </a:rPr>
              <a:t>Section D Universe 1: Round 6 Comparative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52"/>
                </a:solidFill>
                <a:latin typeface="Calibri"/>
              </a:rPr>
              <a:t>GL Sec D Group · Round 5 → Round 6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R6 LEADER BY TSR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Orange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R6 PROFIT LEADER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Ochre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BIGGEST RISER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Blue (6→5)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BIGGEST FALLER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Grey (5→6)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37560"/>
            <a:ext cx="6949440" cy="105156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9525">
            <a:solidFill>
              <a:srgbClr val="DD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5643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Core teaching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49039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A28"/>
                </a:solidFill>
                <a:latin typeface="Calibri"/>
              </a:rPr>
              <a:t>Which teams converted Round 6 decisions into durable shareholder value, and which merely created activity?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3337560"/>
            <a:ext cx="4069080" cy="105156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345643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A28"/>
                </a:solidFill>
                <a:latin typeface="Calibri"/>
              </a:rPr>
              <a:t>Socratic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703320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Did the leader earn it, or did a rival lose it?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Which rank move is a real strategy shift?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617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A5552"/>
                </a:solidFill>
                <a:latin typeface="Calibri"/>
              </a:rPr>
              <a:t>Ranking criterion: cumulative total shareholder return (TSR, p.a., %). Source: Section D Universe 1 Round 6 results workbook, compared against Round 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01 / GL SEC D • U1 R6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Start with the causal chain, not the leaderboard.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Demand creates revenue; costs and capacity decide margins; cash and debt shape risk; risk changes valuation.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Cumulative TSR after Round 6 reflects 6 rounds of decisions, not only this round's score.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A team can improve its own economics and still fall in rank if rivals compounded faster — relative and absolute performance are different questions.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02 / ROUND 6 STANDINGS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Round 6 leaderboard by cumulative TSR.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37360"/>
          <a:ext cx="11201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926080"/>
                <a:gridCol w="1737360"/>
                <a:gridCol w="2194560"/>
                <a:gridCol w="1737360"/>
                <a:gridCol w="1783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TSR (p.a.)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This round's profit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Global share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Credit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Orange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+9.12%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$134m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18.5%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Red Rangers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+9.09%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$455m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14.3%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Ochre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+8.77%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$543m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+5.83%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$477m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26.5%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AA-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Blue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-4.12%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$95m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14.4%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A-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-4.12%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$357m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10.2%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A+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78A79B"/>
                </a:solidFill>
                <a:latin typeface="Calibri"/>
              </a:rPr>
              <a:t>Universe 1 aggregate profit this round: $2.06bn  •  Average TSR: +4.1%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03 / RANK MOVEMENT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Rank movement: Round 5 → Round 6.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37360"/>
          <a:ext cx="8595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840480"/>
                <a:gridCol w="146304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R5 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R6 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Move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Orange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Red Rangers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Ochre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Blue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↑ 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↓ 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281160" y="173736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18745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28"/>
                </a:solidFill>
                <a:latin typeface="Calibri"/>
              </a:rPr>
              <a:t>Read this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2148840"/>
            <a:ext cx="2057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Rank is a symptom.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Diagnose the mechanism through profit, R&amp;D discipline, share and credit quality.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04 / LEADER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Orange becomes the Round 6 TSR leader.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Cumulative TSR: +9.12%, up from +8.18%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$134m, a change of -$269m from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R&amp;D spend: $242m this round, versus $134m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Global market share: 18.5%. Credit rating: AA.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05 / PROFIT LEADER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Ochre posted the round's highest profit, without leading TSR.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$543m (rank 3 on cumulative TSR).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Return on sales: 18.3%. Return on capital employed: 34.5%.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Global market share: 16.0%, versus 21.1%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Profit leadership does not automatically settle valuation — cumulative history and risk quality matter too.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06 / WARNING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Grey closes Round 6 at the bottom of the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Cumulative TSR: -4.12%, versus -4.51%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$357m. Credit rating: A+.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R&amp;D spending fell to $9m, from $661m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Return on sales: 18.8%. A large R&amp;D or cost bet only helps if the market rewards it in demand and share.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07 / PATTERNS ACROSS THE UNIVERSE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R&amp;D bets and credit quality moved together for some, apart for others.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Biggest R&amp;D swings this round: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Grey: R&amp;D $661m → $9m (down sharply)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Ochre: R&amp;D $248m → $138m (down sharply)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Orange: R&amp;D $134m → $242m (up sharply)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Credit-rating direction this round: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 improved: Green, Red Rangers, Grey, Ochre.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 weakened: Blue.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08 / 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Five questions for this round's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did Orange change that the rest of the universe didn't?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Why did Ochre not automatically become the TSR leader?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assumption explains Grey's position at the bottom of the table?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Which rank move in this round reflects real strategic learning, and which reflects noise?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If you were advising the weakest team for one decision only, what would it be?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TEACHING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Rank tells you who is ahead. It does not tell you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10881360" cy="292608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Universe 1 closed Round 6 with $2.06bn in aggregate profit and an average TSR of +4.1%.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Orange leads on cumulative return; Ochre produced the strongest single-round economics — a reminder that these are different questions.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Going into Round 7, the open question for every team is the same one: did this round's decision change the causal chain, or just the scoreboard?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R6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