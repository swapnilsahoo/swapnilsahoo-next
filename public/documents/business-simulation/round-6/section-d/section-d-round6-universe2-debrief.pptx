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78A79B"/>
                </a:solidFill>
                <a:latin typeface="Calibri"/>
              </a:rPr>
              <a:t>CESIM Global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2A28"/>
                </a:solidFill>
                <a:latin typeface="Calibri"/>
              </a:rPr>
              <a:t>Section D Universe 2: Round 6 Comparative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52"/>
                </a:solidFill>
                <a:latin typeface="Calibri"/>
              </a:rPr>
              <a:t>GL Sec D Group · Round 5 → Round 6 comparison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48840"/>
            <a:ext cx="2606040" cy="868680"/>
          </a:xfrm>
          <a:prstGeom prst="roundRect">
            <a:avLst>
              <a:gd name="adj" fmla="val 18000"/>
            </a:avLst>
          </a:prstGeom>
          <a:solidFill>
            <a:srgbClr val="DD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2212848"/>
            <a:ext cx="2386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5552"/>
                </a:solidFill>
                <a:latin typeface="Calibri"/>
              </a:rPr>
              <a:t>R6 LEADER BY TSR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478024"/>
            <a:ext cx="2386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F2A28"/>
                </a:solidFill>
                <a:latin typeface="Calibri"/>
              </a:rPr>
              <a:t>Grey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2148840"/>
            <a:ext cx="2606040" cy="868680"/>
          </a:xfrm>
          <a:prstGeom prst="roundRect">
            <a:avLst>
              <a:gd name="adj" fmla="val 18000"/>
            </a:avLst>
          </a:prstGeom>
          <a:solidFill>
            <a:srgbClr val="EFE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2212848"/>
            <a:ext cx="2386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5552"/>
                </a:solidFill>
                <a:latin typeface="Calibri"/>
              </a:rPr>
              <a:t>R6 PROFIT LEADER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2478024"/>
            <a:ext cx="2386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F2A28"/>
                </a:solidFill>
                <a:latin typeface="Calibri"/>
              </a:rPr>
              <a:t>HallaBol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2148840"/>
            <a:ext cx="2606040" cy="868680"/>
          </a:xfrm>
          <a:prstGeom prst="roundRect">
            <a:avLst>
              <a:gd name="adj" fmla="val 18000"/>
            </a:avLst>
          </a:prstGeom>
          <a:solidFill>
            <a:srgbClr val="DD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2212848"/>
            <a:ext cx="2386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5552"/>
                </a:solidFill>
                <a:latin typeface="Calibri"/>
              </a:rPr>
              <a:t>BIGGEST RISER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2478024"/>
            <a:ext cx="2386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F2A28"/>
                </a:solidFill>
                <a:latin typeface="Calibri"/>
              </a:rPr>
              <a:t>Grey (1→1)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2148840"/>
            <a:ext cx="2606040" cy="868680"/>
          </a:xfrm>
          <a:prstGeom prst="roundRect">
            <a:avLst>
              <a:gd name="adj" fmla="val 18000"/>
            </a:avLst>
          </a:prstGeom>
          <a:solidFill>
            <a:srgbClr val="EFE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8" y="2212848"/>
            <a:ext cx="2386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5552"/>
                </a:solidFill>
                <a:latin typeface="Calibri"/>
              </a:rPr>
              <a:t>BIGGEST FALLER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8" y="2478024"/>
            <a:ext cx="2386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F2A28"/>
                </a:solidFill>
                <a:latin typeface="Calibri"/>
              </a:rPr>
              <a:t>Grey (1→1)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37560"/>
            <a:ext cx="6949440" cy="1051560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9525">
            <a:solidFill>
              <a:srgbClr val="DD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456432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78A79B"/>
                </a:solidFill>
                <a:latin typeface="Calibri"/>
              </a:rPr>
              <a:t>Core teaching 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749039"/>
            <a:ext cx="6492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A28"/>
                </a:solidFill>
                <a:latin typeface="Calibri"/>
              </a:rPr>
              <a:t>Which teams converted Round 6 decisions into durable shareholder value, and which merely created activity?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35240" y="3337560"/>
            <a:ext cx="4069080" cy="1051560"/>
          </a:xfrm>
          <a:prstGeom prst="roundRect">
            <a:avLst>
              <a:gd name="adj" fmla="val 8000"/>
            </a:avLst>
          </a:prstGeom>
          <a:solidFill>
            <a:srgbClr val="DD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3456432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A28"/>
                </a:solidFill>
                <a:latin typeface="Calibri"/>
              </a:rPr>
              <a:t>Socratic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3703320"/>
            <a:ext cx="3703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F2A28"/>
                </a:solidFill>
                <a:latin typeface="Calibri"/>
              </a:rPr>
              <a:t>Did the leader earn it, or did a rival lose it?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F2A28"/>
                </a:solidFill>
                <a:latin typeface="Calibri"/>
              </a:rPr>
              <a:t>Which rank move is a real strategy shift?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6177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4A5552"/>
                </a:solidFill>
                <a:latin typeface="Calibri"/>
              </a:rPr>
              <a:t>Ranking criterion: cumulative total shareholder return (TSR, p.a., %). Source: Section D Universe 2 Round 6 results workbook, compared against Round 5.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D • U2 R6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01 / GL SEC D • U2 R6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Start with the causal chain, not the leaderboard.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Demand creates revenue; costs and capacity decide margins; cash and debt shape risk; risk changes valuation.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Cumulative TSR after Round 6 reflects 6 rounds of decisions, not only this round's score.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A team can improve its own economics and still fall in rank if rivals compounded faster — relative and absolute performance are different questions.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D • U2 R6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02 / ROUND 6 STANDINGS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Round 6 leaderboard by cumulative TSR.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737360"/>
          <a:ext cx="11201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926080"/>
                <a:gridCol w="1737360"/>
                <a:gridCol w="2194560"/>
                <a:gridCol w="1737360"/>
                <a:gridCol w="17830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Team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TSR (p.a.)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This round's profit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Global share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Credit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Grey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+14.29%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$630m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19.5%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AA+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HallaBol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+9.92%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$692m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21.1%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The Godfathers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+6.34%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$354m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16.1%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AA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+4.89%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$61m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17.1%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BB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Ochre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-4.68%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-$272m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13.6%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-15.74%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-$872m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12.7%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126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78A79B"/>
                </a:solidFill>
                <a:latin typeface="Calibri"/>
              </a:rPr>
              <a:t>Universe 2 aggregate profit this round: $593m  •  Average TSR: +2.5%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D • U2 R6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03 / RANK MOVEMENT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Rank movement: Round 5 → Round 6.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737360"/>
          <a:ext cx="8595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840480"/>
                <a:gridCol w="146304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R5 rank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Team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R6 rank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Move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Grey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no change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HallaBol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no change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The Godfathers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no change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no change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Ochre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no change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no change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281160" y="1737360"/>
            <a:ext cx="2423160" cy="2011680"/>
          </a:xfrm>
          <a:prstGeom prst="roundRect">
            <a:avLst>
              <a:gd name="adj" fmla="val 8000"/>
            </a:avLst>
          </a:prstGeom>
          <a:solidFill>
            <a:srgbClr val="DD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64040" y="187451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A28"/>
                </a:solidFill>
                <a:latin typeface="Calibri"/>
              </a:rPr>
              <a:t>Read this 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2148840"/>
            <a:ext cx="2057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A28"/>
                </a:solidFill>
                <a:latin typeface="Calibri"/>
              </a:rPr>
              <a:t>Rank is a symptom.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A28"/>
                </a:solidFill>
                <a:latin typeface="Calibri"/>
              </a:rPr>
              <a:t>Diagnose the mechanism through profit, R&amp;D discipline, share and credit quality.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D • U2 R6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04 / LEADER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Grey becomes the Round 6 TSR leader.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Cumulative TSR: +14.29%, up from +11.86% in Round 5.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This round's profit: $630m, a change of $151m from Round 5.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R&amp;D spend: $85m this round, versus $204m in Round 5.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Global market share: 19.5%. Credit rating: AA+.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Credit rating improved from AA to AA+.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D • U2 R6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05 / PROFIT LEADER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HallaBol posted the round's highest profit, without leading TSR.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This round's profit: $692m (rank 2 on cumulative TSR).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Return on sales: 16.0%. Return on capital employed: 28.4%.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Global market share: 21.1%, versus 25.5% in Round 5.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Profit leadership does not automatically settle valuation — cumulative history and risk quality matter too.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D • U2 R6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06 / WARNING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Red closes Round 6 at the bottom of the table.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Cumulative TSR: -15.74%, versus -34.28% in Round 5.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This round's profit: -$872m. Credit rating: C.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R&amp;D spending rose sharply to $611m, from $16m in Round 5.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Return on sales: -39.4%. A large R&amp;D or cost bet only helps if the market rewards it in demand and share.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D • U2 R6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07 / PATTERNS ACROSS THE UNIVERSE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R&amp;D bets and credit quality moved together for some, apart for others.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350" b="0" i="0">
                <a:solidFill>
                  <a:srgbClr val="1F2A28"/>
                </a:solidFill>
                <a:latin typeface="Calibri"/>
              </a:rPr>
              <a:t>•  Biggest R&amp;D swings this round: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350" b="0" i="0">
                <a:solidFill>
                  <a:srgbClr val="1F2A28"/>
                </a:solidFill>
                <a:latin typeface="Calibri"/>
              </a:rPr>
              <a:t>•  Red: R&amp;D $16m → $611m (up sharply)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350" b="0" i="0">
                <a:solidFill>
                  <a:srgbClr val="1F2A28"/>
                </a:solidFill>
                <a:latin typeface="Calibri"/>
              </a:rPr>
              <a:t>•  Green: R&amp;D $55m → $605m (up sharply)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350" b="0" i="0">
                <a:solidFill>
                  <a:srgbClr val="1F2A28"/>
                </a:solidFill>
                <a:latin typeface="Calibri"/>
              </a:rPr>
              <a:t>•  HallaBol: R&amp;D $410m → $25m (down sharply)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82880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350" b="0" i="0">
                <a:solidFill>
                  <a:srgbClr val="1F2A28"/>
                </a:solidFill>
                <a:latin typeface="Calibri"/>
              </a:rPr>
              <a:t>•  Credit-rating direction this round: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350" b="0" i="0">
                <a:solidFill>
                  <a:srgbClr val="1F2A28"/>
                </a:solidFill>
                <a:latin typeface="Calibri"/>
              </a:rPr>
              <a:t>•  Credit improved: The Godfathers, HallaBol, Grey.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350" b="0" i="0">
                <a:solidFill>
                  <a:srgbClr val="1F2A28"/>
                </a:solidFill>
                <a:latin typeface="Calibri"/>
              </a:rPr>
              <a:t>•  Credit weakened: Green, Red.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D • U2 R6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08 / DISCUSS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Five questions for this round's data.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58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What did Grey change that the rest of the universe didn't?</a:t>
            </a:r>
          </a:p>
          <a:p>
            <a:pPr>
              <a:lnSpc>
                <a:spcPct val="112000"/>
              </a:lnSpc>
              <a:spcAft>
                <a:spcPts val="158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Why did HallaBol not automatically become the TSR leader?</a:t>
            </a:r>
          </a:p>
          <a:p>
            <a:pPr>
              <a:lnSpc>
                <a:spcPct val="112000"/>
              </a:lnSpc>
              <a:spcAft>
                <a:spcPts val="158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What assumption explains Red's position at the bottom of the table?</a:t>
            </a:r>
          </a:p>
          <a:p>
            <a:pPr>
              <a:lnSpc>
                <a:spcPct val="112000"/>
              </a:lnSpc>
              <a:spcAft>
                <a:spcPts val="158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Which rank move in this round reflects real strategic learning, and which reflects noise?</a:t>
            </a:r>
          </a:p>
          <a:p>
            <a:pPr>
              <a:lnSpc>
                <a:spcPct val="112000"/>
              </a:lnSpc>
              <a:spcAft>
                <a:spcPts val="158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If you were advising the weakest team for one decision only, what would it be?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D • U2 R6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TEACHING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Rank tells you who is ahead. It does not tell you why.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43200"/>
            <a:ext cx="10881360" cy="2926080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332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Universe 2 closed Round 6 with $593m in aggregate profit and an average TSR of +2.5%.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Grey leads on cumulative return; HallaBol produced the strongest single-round economics — a reminder that these are different questions.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Going into Round 7, the open question for every team is the same one: did this round's decision change the causal chain, or just the scoreboard?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D • U2 R6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