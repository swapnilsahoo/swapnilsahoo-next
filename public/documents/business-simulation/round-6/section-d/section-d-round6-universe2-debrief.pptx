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1188720"/>
            <a:ext cx="2926080" cy="2560320"/>
          </a:xfrm>
          <a:prstGeom prst="ellipse">
            <a:avLst/>
          </a:prstGeom>
          <a:solidFill>
            <a:srgbClr val="DDE8D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760720"/>
            <a:ext cx="2468880" cy="1463040"/>
          </a:xfrm>
          <a:prstGeom prst="ellipse">
            <a:avLst/>
          </a:prstGeom>
          <a:solidFill>
            <a:srgbClr val="EFE2C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78A79B"/>
                </a:solidFill>
                <a:latin typeface="Calibri"/>
              </a:rPr>
              <a:t>CESIM Global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2A28"/>
                </a:solidFill>
                <a:latin typeface="Calibri"/>
              </a:rPr>
              <a:t>Section D Universe 2: Round 6 Comparative Debrief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05D"/>
                </a:solidFill>
                <a:latin typeface="Calibri"/>
              </a:rPr>
              <a:t>GL Sec D Group · Round 5 → Round 6 comparison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94560"/>
            <a:ext cx="2606040" cy="960120"/>
          </a:xfrm>
          <a:prstGeom prst="roundRect">
            <a:avLst>
              <a:gd name="adj" fmla="val 16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94560"/>
            <a:ext cx="2606040" cy="54864"/>
          </a:xfrm>
          <a:prstGeom prst="rect">
            <a:avLst/>
          </a:prstGeom>
          <a:solidFill>
            <a:srgbClr val="4E7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22576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55605D"/>
                </a:solidFill>
                <a:latin typeface="Calibri"/>
              </a:rPr>
              <a:t>R6 LEADER BY TSR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F2A28"/>
                </a:solidFill>
                <a:latin typeface="Calibri"/>
              </a:rPr>
              <a:t>Grey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194560"/>
            <a:ext cx="2606040" cy="960120"/>
          </a:xfrm>
          <a:prstGeom prst="roundRect">
            <a:avLst>
              <a:gd name="adj" fmla="val 16000"/>
            </a:avLst>
          </a:prstGeom>
          <a:solidFill>
            <a:srgbClr val="EFE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2194560"/>
            <a:ext cx="2606040" cy="54864"/>
          </a:xfrm>
          <a:prstGeom prst="rect">
            <a:avLst/>
          </a:prstGeom>
          <a:solidFill>
            <a:srgbClr val="8A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322576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55605D"/>
                </a:solidFill>
                <a:latin typeface="Calibri"/>
              </a:rPr>
              <a:t>R6 PROFIT LEADER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69748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F2A28"/>
                </a:solidFill>
                <a:latin typeface="Calibri"/>
              </a:rPr>
              <a:t>HallaBol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2194560"/>
            <a:ext cx="2606040" cy="960120"/>
          </a:xfrm>
          <a:prstGeom prst="roundRect">
            <a:avLst>
              <a:gd name="adj" fmla="val 16000"/>
            </a:avLst>
          </a:prstGeom>
          <a:solidFill>
            <a:srgbClr val="DC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2194560"/>
            <a:ext cx="2606040" cy="54864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322576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55605D"/>
                </a:solidFill>
                <a:latin typeface="Calibri"/>
              </a:rPr>
              <a:t>BIGGEST RISER  1→1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69748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F2A28"/>
                </a:solidFill>
                <a:latin typeface="Calibri"/>
              </a:rPr>
              <a:t>Grey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2194560"/>
            <a:ext cx="2606040" cy="960120"/>
          </a:xfrm>
          <a:prstGeom prst="roundRect">
            <a:avLst>
              <a:gd name="adj" fmla="val 16000"/>
            </a:avLst>
          </a:prstGeom>
          <a:solidFill>
            <a:srgbClr val="F6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680" y="2194560"/>
            <a:ext cx="2606040" cy="54864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2322576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55605D"/>
                </a:solidFill>
                <a:latin typeface="Calibri"/>
              </a:rPr>
              <a:t>BIGGEST FALLER  1→1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69748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F2A28"/>
                </a:solidFill>
                <a:latin typeface="Calibri"/>
              </a:rPr>
              <a:t>Grey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520440"/>
            <a:ext cx="6949440" cy="10515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9525">
            <a:solidFill>
              <a:srgbClr val="DD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63931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Core teaching question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31920"/>
            <a:ext cx="6492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A28"/>
                </a:solidFill>
                <a:latin typeface="Calibri"/>
              </a:rPr>
              <a:t>Which teams converted Round 6 decisions into durable shareholder value, and which merely created activity?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520440"/>
            <a:ext cx="4069080" cy="105156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8120" y="3639312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A28"/>
                </a:solidFill>
                <a:latin typeface="Calibri"/>
              </a:rPr>
              <a:t>Socratic questions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3886200"/>
            <a:ext cx="3703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Did the leader earn it, or did a rival lose it?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Which rank move is a real strategy shift?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800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5605D"/>
                </a:solidFill>
                <a:latin typeface="Calibri"/>
              </a:rPr>
              <a:t>Ranking criterion: cumulative total shareholder return (TSR, p.a., %). Source: Section D Universe 2 Round 6 results workbook, compared against Round 5.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D • U2 R6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1188720"/>
            <a:ext cx="2926080" cy="2560320"/>
          </a:xfrm>
          <a:prstGeom prst="ellipse">
            <a:avLst/>
          </a:prstGeom>
          <a:solidFill>
            <a:srgbClr val="DDE8D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01 / GL SEC D • U2 R6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Start with the causal chain, not the leaderboard.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10881360" cy="868680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2208276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965960"/>
            <a:ext cx="9966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Demand creates revenue; costs and capacity decide margins; cash and debt shape risk; risk changes valuation.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10881360" cy="868680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3204972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962656"/>
            <a:ext cx="9966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Cumulative TSR after Round 6 reflects 6 rounds of decisions, not only this round's score.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59352"/>
            <a:ext cx="10881360" cy="868680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4201668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3959352"/>
            <a:ext cx="9966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A team can improve its own economics and still fall in rank if rivals compounded faster — relative and absolute performance are different questions.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D • U2 R6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02 / ROUND 6 STANDINGS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Round 6 leaderboard by cumulative TSR.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2336" y="1783080"/>
            <a:ext cx="12700" cy="3182112"/>
          </a:xfrm>
          <a:prstGeom prst="rect">
            <a:avLst/>
          </a:prstGeom>
          <a:solidFill>
            <a:srgbClr val="5560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98990"/>
            <a:ext cx="2697480" cy="296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Grey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80077"/>
            <a:ext cx="2697480" cy="2121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$630m profit · 19.5% share · AA+ credit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2336" y="1958096"/>
            <a:ext cx="3779854" cy="180319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05342" y="1958096"/>
            <a:ext cx="1051560" cy="1803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+14.29%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29342"/>
            <a:ext cx="2697480" cy="296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HallaBol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10429"/>
            <a:ext cx="2697480" cy="2121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$692m profit · 21.1% share · A credit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2336" y="2488448"/>
            <a:ext cx="2623128" cy="180319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8616" y="2488448"/>
            <a:ext cx="1051560" cy="1803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+9.92%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59694"/>
            <a:ext cx="2697480" cy="296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The Godfathers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40781"/>
            <a:ext cx="2697480" cy="2121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$354m profit · 16.1% share · AA credit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2336" y="3018800"/>
            <a:ext cx="1675691" cy="180319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01179" y="3018800"/>
            <a:ext cx="1051560" cy="1803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+6.34%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390046"/>
            <a:ext cx="2697480" cy="296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Green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671133"/>
            <a:ext cx="2697480" cy="2121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$61m profit · 17.1% share · BB credit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2336" y="3549152"/>
            <a:ext cx="1292116" cy="180319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17604" y="3549152"/>
            <a:ext cx="1051560" cy="1803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+4.89%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920398"/>
            <a:ext cx="2697480" cy="296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Ochre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201485"/>
            <a:ext cx="2697480" cy="2121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-$272m profit · 13.6% share · C credit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55333" y="4079504"/>
            <a:ext cx="897003" cy="180319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3773" y="4079504"/>
            <a:ext cx="1051560" cy="1803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B33A3A"/>
                </a:solidFill>
                <a:latin typeface="Calibri"/>
              </a:rPr>
              <a:t>-4.68%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450750"/>
            <a:ext cx="2697480" cy="296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731837"/>
            <a:ext cx="2697480" cy="2121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-$872m profit · 12.7% share · C credit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4609856"/>
            <a:ext cx="3014776" cy="180319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4609856"/>
            <a:ext cx="1051560" cy="1803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B33A3A"/>
                </a:solidFill>
                <a:latin typeface="Calibri"/>
              </a:rPr>
              <a:t>-15.74%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193792"/>
            <a:ext cx="11201400" cy="45720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193792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E7D72"/>
                </a:solidFill>
                <a:latin typeface="Calibri"/>
              </a:rPr>
              <a:t>Universe 2 aggregate profit this round: $593m  •  Average TSR: +2.5%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D • U2 R6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03 / RANK MOVEMENT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Rank movement: Round 5 → Round 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6367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55605D"/>
                </a:solidFill>
                <a:latin typeface="Calibri"/>
              </a:rPr>
              <a:t>R5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16367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55605D"/>
                </a:solidFill>
                <a:latin typeface="Calibri"/>
              </a:rPr>
              <a:t>R6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Grey</a:t>
            </a:r>
          </a:p>
        </p:txBody>
      </p:sp>
      <p:sp>
        <p:nvSpPr>
          <p:cNvPr id="9" name="Oval 8"/>
          <p:cNvSpPr/>
          <p:nvPr/>
        </p:nvSpPr>
        <p:spPr>
          <a:xfrm>
            <a:off x="3200400" y="1993392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1965960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4480560" y="1993392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55605D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965960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5605D"/>
                </a:solidFill>
                <a:latin typeface="Calibri"/>
              </a:rPr>
              <a:t>steady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32888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32888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HallaBol</a:t>
            </a:r>
          </a:p>
        </p:txBody>
      </p:sp>
      <p:sp>
        <p:nvSpPr>
          <p:cNvPr id="15" name="Oval 14"/>
          <p:cNvSpPr/>
          <p:nvPr/>
        </p:nvSpPr>
        <p:spPr>
          <a:xfrm>
            <a:off x="3200400" y="2560320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2532888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4480560" y="2560320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55605D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532888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5605D"/>
                </a:solidFill>
                <a:latin typeface="Calibri"/>
              </a:rPr>
              <a:t>steady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99816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099816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The Godfathers</a:t>
            </a:r>
          </a:p>
        </p:txBody>
      </p:sp>
      <p:sp>
        <p:nvSpPr>
          <p:cNvPr id="21" name="Oval 20"/>
          <p:cNvSpPr/>
          <p:nvPr/>
        </p:nvSpPr>
        <p:spPr>
          <a:xfrm>
            <a:off x="3200400" y="3127248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40" y="3099816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23" name="Oval 22"/>
          <p:cNvSpPr/>
          <p:nvPr/>
        </p:nvSpPr>
        <p:spPr>
          <a:xfrm>
            <a:off x="4480560" y="3127248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55605D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099816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5605D"/>
                </a:solidFill>
                <a:latin typeface="Calibri"/>
              </a:rPr>
              <a:t>steady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666744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666744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Green</a:t>
            </a:r>
          </a:p>
        </p:txBody>
      </p:sp>
      <p:sp>
        <p:nvSpPr>
          <p:cNvPr id="27" name="Oval 26"/>
          <p:cNvSpPr/>
          <p:nvPr/>
        </p:nvSpPr>
        <p:spPr>
          <a:xfrm>
            <a:off x="3200400" y="3694176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40" y="3666744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29" name="Oval 28"/>
          <p:cNvSpPr/>
          <p:nvPr/>
        </p:nvSpPr>
        <p:spPr>
          <a:xfrm>
            <a:off x="4480560" y="3694176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55605D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3666744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5605D"/>
                </a:solidFill>
                <a:latin typeface="Calibri"/>
              </a:rPr>
              <a:t>steady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233672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233672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Ochre</a:t>
            </a:r>
          </a:p>
        </p:txBody>
      </p:sp>
      <p:sp>
        <p:nvSpPr>
          <p:cNvPr id="33" name="Oval 32"/>
          <p:cNvSpPr/>
          <p:nvPr/>
        </p:nvSpPr>
        <p:spPr>
          <a:xfrm>
            <a:off x="3200400" y="4261104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7640" y="4233672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35" name="Oval 34"/>
          <p:cNvSpPr/>
          <p:nvPr/>
        </p:nvSpPr>
        <p:spPr>
          <a:xfrm>
            <a:off x="4480560" y="4261104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55605D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4233672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5605D"/>
                </a:solidFill>
                <a:latin typeface="Calibri"/>
              </a:rPr>
              <a:t>steady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800600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800600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Red</a:t>
            </a:r>
          </a:p>
        </p:txBody>
      </p:sp>
      <p:sp>
        <p:nvSpPr>
          <p:cNvPr id="39" name="Oval 38"/>
          <p:cNvSpPr/>
          <p:nvPr/>
        </p:nvSpPr>
        <p:spPr>
          <a:xfrm>
            <a:off x="3200400" y="4828032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77640" y="4800600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41" name="Oval 40"/>
          <p:cNvSpPr/>
          <p:nvPr/>
        </p:nvSpPr>
        <p:spPr>
          <a:xfrm>
            <a:off x="4480560" y="4828032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55605D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9240" y="4800600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5605D"/>
                </a:solidFill>
                <a:latin typeface="Calibri"/>
              </a:rPr>
              <a:t>steady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32520" y="1965960"/>
            <a:ext cx="2926080" cy="210312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42832" y="21488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A28"/>
                </a:solidFill>
                <a:latin typeface="Calibri"/>
              </a:rPr>
              <a:t>Read this 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42832" y="2423160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Rank is a symptom.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Diagnose the mechanism through profit, R&amp;D discipline, share and credit quality.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D • U2 R6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04 / LEADER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Grey becomes the Round 6 TSR leader.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64008" cy="14173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CUMULATIVE TSR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+14.29%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980943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05D"/>
                </a:solidFill>
                <a:latin typeface="Calibri"/>
              </a:rPr>
              <a:t>from +11.86% in R5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4992" y="1874519"/>
            <a:ext cx="64008" cy="141732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THIS ROUND'S 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$630m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980943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05D"/>
                </a:solidFill>
                <a:latin typeface="Calibri"/>
              </a:rPr>
              <a:t>$151m vs R5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874519"/>
            <a:ext cx="64008" cy="1417320"/>
          </a:xfrm>
          <a:prstGeom prst="rect">
            <a:avLst/>
          </a:prstGeom>
          <a:solidFill>
            <a:srgbClr val="E3C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GLOBAL MARKET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19.5%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2980943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05D"/>
                </a:solidFill>
                <a:latin typeface="Calibri"/>
              </a:rPr>
              <a:t>was 21.5%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97696" y="1874519"/>
            <a:ext cx="64008" cy="1417320"/>
          </a:xfrm>
          <a:prstGeom prst="rect">
            <a:avLst/>
          </a:prstGeom>
          <a:solidFill>
            <a:srgbClr val="4E7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CREDIT RATING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AA+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2980943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05D"/>
                </a:solidFill>
                <a:latin typeface="Calibri"/>
              </a:rPr>
              <a:t>was AA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7033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913632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R&amp;D spend: $85m this round, versus $204m in Round 5. Credit improved from AA to AA+.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D • U2 R6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05 / PROFIT LEADER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HallaBol posted the round's highest profit, without leading TSR.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64008" cy="141732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THIS ROUND'S PROFIT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$692m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980943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05D"/>
                </a:solidFill>
                <a:latin typeface="Calibri"/>
              </a:rPr>
              <a:t>rank 2 on TSR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4992" y="1874519"/>
            <a:ext cx="64008" cy="14173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RETURN ON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16.0%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874519"/>
            <a:ext cx="64008" cy="1417320"/>
          </a:xfrm>
          <a:prstGeom prst="rect">
            <a:avLst/>
          </a:prstGeom>
          <a:solidFill>
            <a:srgbClr val="4E7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RETURN ON CAPITAL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28.4%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7696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97696" y="1874519"/>
            <a:ext cx="64008" cy="1417320"/>
          </a:xfrm>
          <a:prstGeom prst="rect">
            <a:avLst/>
          </a:prstGeom>
          <a:solidFill>
            <a:srgbClr val="E3C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GLOBAL MARKET SHARE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21.1%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980943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05D"/>
                </a:solidFill>
                <a:latin typeface="Calibri"/>
              </a:rPr>
              <a:t>was 25.5%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0332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8862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Profit leadership does not automatically settle valuation — cumulative history and risk quality matter too.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D • U2 R6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33A3A"/>
                </a:solidFill>
                <a:latin typeface="Calibri"/>
              </a:rPr>
              <a:t>06 / WARNING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Red closes Round 6 at the bottom of the 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64008" cy="141732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CUMULATIVE TSR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B33A3A"/>
                </a:solidFill>
                <a:latin typeface="Calibri"/>
              </a:rPr>
              <a:t>-15.74%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980943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05D"/>
                </a:solidFill>
                <a:latin typeface="Calibri"/>
              </a:rPr>
              <a:t>was -34.28%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4992" y="1874519"/>
            <a:ext cx="64008" cy="141732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THIS ROUND'S 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B33A3A"/>
                </a:solidFill>
                <a:latin typeface="Calibri"/>
              </a:rPr>
              <a:t>-$872m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874519"/>
            <a:ext cx="64008" cy="141732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CREDIT RATING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7696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97696" y="1874519"/>
            <a:ext cx="64008" cy="141732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RETURN ON SALES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B33A3A"/>
                </a:solidFill>
                <a:latin typeface="Calibri"/>
              </a:rPr>
              <a:t>-39.4%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0332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F6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88620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R&amp;D spending rose sharply to $611m, from $16m in Round 5. A large R&amp;D or cost bet only helps if the market rewards it in demand and share.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D • U2 R6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07 / PATTERNS ACROSS THE UNIVERSE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R&amp;D bets and credit quality moved together for some, apart for others.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394960" cy="393192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BIGGEST R&amp;D SWINGS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F2A28"/>
                </a:solidFill>
                <a:latin typeface="Calibri"/>
              </a:rPr>
              <a:t>Red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F2A28"/>
                </a:solidFill>
                <a:latin typeface="Calibri"/>
              </a:rPr>
              <a:t>$16m → $611m  (up sharply)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204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F2A28"/>
                </a:solidFill>
                <a:latin typeface="Calibri"/>
              </a:rPr>
              <a:t>Green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F2A28"/>
                </a:solidFill>
                <a:latin typeface="Calibri"/>
              </a:rPr>
              <a:t>$55m → $605m  (up sharply)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720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F2A28"/>
                </a:solidFill>
                <a:latin typeface="Calibri"/>
              </a:rPr>
              <a:t>HallaBol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F2A28"/>
                </a:solidFill>
                <a:latin typeface="Calibri"/>
              </a:rPr>
              <a:t>$410m → $25m  (down sharply)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5394960" cy="393192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CREDIT-RATING DIRECTION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468880"/>
            <a:ext cx="4937760" cy="960120"/>
          </a:xfrm>
          <a:prstGeom prst="roundRect">
            <a:avLst>
              <a:gd name="adj" fmla="val 8000"/>
            </a:avLst>
          </a:prstGeom>
          <a:solidFill>
            <a:srgbClr val="DC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5603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IMPROVED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The Godfathers, HallaBol, Grey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3520440"/>
            <a:ext cx="4937760" cy="731520"/>
          </a:xfrm>
          <a:prstGeom prst="roundRect">
            <a:avLst>
              <a:gd name="adj" fmla="val 8000"/>
            </a:avLst>
          </a:prstGeom>
          <a:solidFill>
            <a:srgbClr val="F6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611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WEAKENED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Green, 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D • U2 R6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1188720"/>
            <a:ext cx="2926080" cy="2560320"/>
          </a:xfrm>
          <a:prstGeom prst="ellipse">
            <a:avLst/>
          </a:prstGeom>
          <a:solidFill>
            <a:srgbClr val="DDE8D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08 / DISCUSS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Five questions for this round's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10881360" cy="713232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2130552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965960"/>
            <a:ext cx="9966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What did Grey change that the rest of the universe didn't?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07208"/>
            <a:ext cx="10881360" cy="713232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971800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807208"/>
            <a:ext cx="9966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Why did HallaBol not automatically become the TSR leader?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48456"/>
            <a:ext cx="10881360" cy="713232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3813048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3648456"/>
            <a:ext cx="9966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What assumption explains Red's position at the bottom of the table?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89704"/>
            <a:ext cx="10881360" cy="713232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4654296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4489704"/>
            <a:ext cx="9966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Which rank move in this round reflects real strategic learning, and which reflects noise?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30952"/>
            <a:ext cx="10881360" cy="713232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5495544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5330952"/>
            <a:ext cx="9966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If you were advising the weakest team for one decision only, what would it be?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D • U2 R6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1371600"/>
            <a:ext cx="4114800" cy="3657600"/>
          </a:xfrm>
          <a:prstGeom prst="ellipse">
            <a:avLst/>
          </a:prstGeom>
          <a:solidFill>
            <a:srgbClr val="4E7D72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TEACHING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Rank tells you who is ahead. It does not tell you why.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10881360" cy="292608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32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Universe 2 closed Round 6 with $593m in aggregate profit and an average TSR of +2.5%.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Grey leads on cumulative return; HallaBol produced the strongest single-round economics — a reminder that these are different questions.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Going into Round 7, the open question for every team is the same one: did this round's decision change the causal chain, or just the scoreboard?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D • U2 R6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