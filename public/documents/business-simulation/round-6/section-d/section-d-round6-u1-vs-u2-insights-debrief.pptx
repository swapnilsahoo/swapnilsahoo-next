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760720"/>
            <a:ext cx="2468880" cy="1463040"/>
          </a:xfrm>
          <a:prstGeom prst="ellipse">
            <a:avLst/>
          </a:prstGeom>
          <a:solidFill>
            <a:srgbClr val="EFE2C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A79B"/>
                </a:solidFill>
                <a:latin typeface="Calibri"/>
              </a:rP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A28"/>
                </a:solidFill>
                <a:latin typeface="Calibri"/>
              </a:rPr>
              <a:t>Section D Round 6 Cross-Universe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Universe 1 versus Universe 2 • GL Sec D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3520440" cy="960120"/>
          </a:xfrm>
          <a:prstGeom prst="roundRect">
            <a:avLst>
              <a:gd name="adj" fmla="val 16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3520440" cy="54864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322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1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28"/>
                </a:solidFill>
                <a:latin typeface="Calibri"/>
              </a:rPr>
              <a:t>Orange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194560"/>
            <a:ext cx="3520440" cy="960120"/>
          </a:xfrm>
          <a:prstGeom prst="roundRect">
            <a:avLst>
              <a:gd name="adj" fmla="val 16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194560"/>
            <a:ext cx="3520440" cy="54864"/>
          </a:xfrm>
          <a:prstGeom prst="rect">
            <a:avLst/>
          </a:prstGeom>
          <a:solidFill>
            <a:srgbClr val="8A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322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2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29000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DD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4787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Core teaching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Which teams converted Round 6 decisions into sustainable shareholder value, and which merely created activity?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429000"/>
            <a:ext cx="4069080" cy="105156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54787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28"/>
                </a:solidFill>
                <a:latin typeface="Calibri"/>
              </a:rPr>
              <a:t>Socratic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9476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Compare universe-level patterns, not one combined ranking.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Which universe rewarded discipline more?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vs U2 • R6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01 /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The two universes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79" y="1691640"/>
            <a:ext cx="3977639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79" y="1691640"/>
            <a:ext cx="3977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UNIVERSE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91640"/>
            <a:ext cx="3977639" cy="457200"/>
          </a:xfrm>
          <a:prstGeom prst="roundRect">
            <a:avLst>
              <a:gd name="adj" fmla="val 8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91640"/>
            <a:ext cx="3977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8A6D2A"/>
                </a:solidFill>
                <a:latin typeface="Calibri"/>
              </a:rPr>
              <a:t>UNIVERSE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11201400" cy="65836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TSR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2331720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11201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0088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This round's profit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2990088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990088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HallaBol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48456"/>
            <a:ext cx="11201400" cy="65836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48456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Aggregate profit this 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79" y="3648456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$2.06bn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648456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$593m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06824"/>
            <a:ext cx="11201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06824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Average TSR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4306824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+4.1%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306824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+2.5%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65192"/>
            <a:ext cx="11201400" cy="65836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65192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Biggest riser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79" y="4965192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Blue (6→5)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965192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Grey (1→1)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623560"/>
            <a:ext cx="11201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Biggest faller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79" y="5623560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Grey (5→6)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623560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Grey (1→1)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vs U2 • R6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02 / LEADERSHIP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Both universes kept the same leader from Round 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Orange holds the lead it already had in Round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Grey holds the lead it already had in Round 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2615184" cy="123444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39"/>
            <a:ext cx="64008" cy="123444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2394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1 AVG TSR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16551"/>
            <a:ext cx="2203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+4.1%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3977639"/>
            <a:ext cx="2615184" cy="123444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3977639"/>
            <a:ext cx="64008" cy="123444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412394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2 AVG TSR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4416551"/>
            <a:ext cx="2203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+2.5%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977639"/>
            <a:ext cx="2615184" cy="123444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3977639"/>
            <a:ext cx="64008" cy="1234440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412394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1 AGGREGATE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416551"/>
            <a:ext cx="2203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$2.06bn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977639"/>
            <a:ext cx="2615184" cy="123444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7696" y="3977639"/>
            <a:ext cx="64008" cy="1234440"/>
          </a:xfrm>
          <a:prstGeom prst="rect">
            <a:avLst/>
          </a:prstGeom>
          <a:solidFill>
            <a:srgbClr val="8A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412394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2 AGGREGATE 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4416551"/>
            <a:ext cx="2203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$593m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vs U2 • 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03 / PROFIT LEADER ≠ TSR LEADER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Profit leadership did not settle valuation in either universe.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539496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highest profit ($543m) but rank 3 on TSR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9496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F2A28"/>
                </a:solidFill>
                <a:latin typeface="Calibri"/>
              </a:rPr>
              <a:t>HallaBol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highest profit ($692m) but rank 2 on TSR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Cumulative TSR reflects every round played so far; a single strong round of profit does not erase a weaker history.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vs U2 • R6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04 / R&amp;D BETS,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The biggest R&amp;D swings in each universe, and what they bought.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R&amp;D $661m → $9m (down sharply)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Finished at -4.12% TSR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F2A28"/>
                </a:solidFill>
                <a:latin typeface="Calibri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R&amp;D $16m → $611m (up sharply)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Finished at -15.74% TSR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6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A large R&amp;D swing is a hypothesis about future demand — it only pays off if the market rewards it in share and margin.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vs U2 • R6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05 / CREDIT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Where credit quality is strongest and weakest across both universes.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4008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6654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STRONGEST CREDIT (UNIVERSE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9152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Ochre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26664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AAA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920240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920240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6654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WEAKEST CREDIT (UNIVERSE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59152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026664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920240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920240"/>
            <a:ext cx="64008" cy="14173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06654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1 CREDIT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359152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026664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teams re-rated this round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920240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920240"/>
            <a:ext cx="64008" cy="141732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06654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2 CREDIT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359152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026664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teams re-rated this round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40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A credit downgrade compounds: it raises the cost of the next round's financing choices, not just this round's.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vs U2 • 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06 / 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Five cross-universe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13055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65960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If you had to invest in one leader, Orange or Grey, what would you ask before buying?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971800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07208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Which universe's leader is more vulnerable heading into Round 7 — and why?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48456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81304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648456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What does Red's credit position tell you about the limits of an R&amp;D-heavy strategy?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65429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489704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Is a universe with more rank movement necessarily more competitive, or just noisier?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30952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495544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330952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Which single decision, copied from the other universe, would most help your own team?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vs U2 • R6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4114800" cy="3657600"/>
          </a:xfrm>
          <a:prstGeom prst="ellipse">
            <a:avLst/>
          </a:prstGeom>
          <a:solidFill>
            <a:srgbClr val="4E7D7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TEACHING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Two universes, two different tests of the same discipline.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29260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Universe 1 and Universe 2 rewarded different things this round: +4.1% versus +2.5% average TSR.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Neither universe is a control group for the other — compare the causal patterns, not a single combined rank.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Carry the question forward: which of this round's winning moves would still work if your rivals copied it next round?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D • U1 vs U2 • R6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