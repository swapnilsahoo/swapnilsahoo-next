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A28"/>
                </a:solidFill>
                <a:latin typeface="Calibri"/>
              </a:rPr>
              <a:t>Section D Round 6 Cross-Universe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52"/>
                </a:solidFill>
                <a:latin typeface="Calibri"/>
              </a:rPr>
              <a:t>Universe 1 versus Universe 2 • GL Sec D Group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0487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sustainable shareholder value, and which merely created activity?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28600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0487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65176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Compare universe-level patterns, not one combined ranking.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Which universe rewarded discipline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1 leader: Orange (+9.12% TSR).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2 leader: Grey (+14.29% TSR).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The two universes at a glance.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69080"/>
              </a:tblGrid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Universe 1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Universe 2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TSR leader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Orange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This round's profit leader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Ochre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HallaBol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Aggregate profit this round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$2.06bn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$593m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Average TSR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+4.1%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Biggest riser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Blue (6→5)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 (1→1)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Biggest faller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 (5→6)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 (1→1)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LEADERSHIP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Both universes kept the same leader from Round 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1: Orange holds the lead it already had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2: Grey holds the lead it already had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 closed the round with +4.1% average TSR against Universe 2's +2.5%.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1's aggregate profit this round was $2.06bn, versus Universe 2's $593m.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PROFIT LEADER ≠ TSR LEADER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Profit leadership did not settle valuation in either universe.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Universe 1: Ochre posted the highest single-round profit ($543m) but ranks 3 on cumulative TSR.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Universe 2: HallaBol posted the highest single-round profit ($692m) but ranks 2 on cumulative TSR.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Cumulative TSR reflects every round played so far; a single strong round of profit does not erase a weaker history.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R&amp;D BETS,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The biggest R&amp;D swings in each universe, and what they bought.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1's biggest R&amp;D swing: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Grey: R&amp;D $661m → $9m (down sharply), finishing at -4.12% TSR.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2's biggest R&amp;D swing: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Red: R&amp;D $16m → $611m (up sharply), finishing at -15.74% TSR.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5488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28"/>
                </a:solidFill>
                <a:latin typeface="Calibri"/>
              </a:rPr>
              <a:t>A large R&amp;D swing is a hypothesis about future demand — it only pays off if the market actually rewards it in share and margin.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CREDIT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Where credit quality is strongest and weakest across both universes.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Strongest credit quality: Ochre (Universe 1) at AAA.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Weakest credit quality: Red (Universe 2) at C.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 saw 5 teams change credit rating this round; Universe 2 saw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A credit downgrade compounds: it raises the cost of the next round's financing choices, not just this round's.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06 /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Five cross-universe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If you had to invest in one leader, Orange or Grey, what would you ask before buying?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universe's leader is more vulnerable heading into Round 7 — and why?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does Red's credit position tell you about the limits of an R&amp;D-heavy strategy?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Is a universe with more rank movement necessarily more competitive, or just noisier?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single decision, copied from the other universe, would most help your own team?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universes, two different tests of the same discipline.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1 and Universe 2 rewarded different things this round: +4.1% versus +2.5% average TSR.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Neither universe is a control group for the other — compare the causal patterns, not a single combined rank.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Carry the question forward: which of this round's winning moves would still work if your rivals copied it next round?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D • U1 vs U2 • 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