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760720"/>
            <a:ext cx="2468880" cy="1463040"/>
          </a:xfrm>
          <a:prstGeom prst="ellipse">
            <a:avLst/>
          </a:prstGeom>
          <a:solidFill>
            <a:srgbClr val="EFE2C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A79B"/>
                </a:solidFill>
                <a:latin typeface="Calibri"/>
              </a:rP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F2A28"/>
                </a:solidFill>
                <a:latin typeface="Calibri"/>
              </a:rPr>
              <a:t>Section C Round 6 Cross-Universe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05D"/>
                </a:solidFill>
                <a:latin typeface="Calibri"/>
              </a:rPr>
              <a:t>Universe 1 versus Universe 2 • GL Sec C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3520440" cy="960120"/>
          </a:xfrm>
          <a:prstGeom prst="roundRect">
            <a:avLst>
              <a:gd name="adj" fmla="val 16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3520440" cy="54864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322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1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194560"/>
            <a:ext cx="3520440" cy="960120"/>
          </a:xfrm>
          <a:prstGeom prst="roundRect">
            <a:avLst>
              <a:gd name="adj" fmla="val 16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194560"/>
            <a:ext cx="3520440" cy="54864"/>
          </a:xfrm>
          <a:prstGeom prst="rect">
            <a:avLst/>
          </a:prstGeom>
          <a:solidFill>
            <a:srgbClr val="8A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3225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2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28"/>
                </a:solidFill>
                <a:latin typeface="Calibri"/>
              </a:rPr>
              <a:t>Blues Clues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29000"/>
            <a:ext cx="694944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DD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4787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Core teaching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Which teams converted Round 6 decisions into sustainable shareholder value, and which merely created activity?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429000"/>
            <a:ext cx="4069080" cy="105156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54787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28"/>
                </a:solidFill>
                <a:latin typeface="Calibri"/>
              </a:rPr>
              <a:t>Socratic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79476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Compare universe-level patterns, not one combined ranking.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A28"/>
                </a:solidFill>
                <a:latin typeface="Calibri"/>
              </a:rPr>
              <a:t>Which universe rewarded discipline more?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vs U2 • R6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01 /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The two universes at a glance.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79" y="1691640"/>
            <a:ext cx="3977639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79" y="1691640"/>
            <a:ext cx="39776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4E7D72"/>
                </a:solidFill>
                <a:latin typeface="Calibri"/>
              </a:rPr>
              <a:t>UNIVERSE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691640"/>
            <a:ext cx="3977639" cy="457200"/>
          </a:xfrm>
          <a:prstGeom prst="roundRect">
            <a:avLst>
              <a:gd name="adj" fmla="val 8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691640"/>
            <a:ext cx="39776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8A6D2A"/>
                </a:solidFill>
                <a:latin typeface="Calibri"/>
              </a:rPr>
              <a:t>UNIVERSE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11201400" cy="65836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TSR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2331720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Blues Clues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11201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90088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This round's profit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79" y="2990088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990088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Blues Clues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48456"/>
            <a:ext cx="11201400" cy="65836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48456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Aggregate profit this 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79" y="3648456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$2.29bn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648456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$1.10bn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06824"/>
            <a:ext cx="11201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06824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Average TSR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79" y="4306824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+2.6%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306824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-2.1%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65192"/>
            <a:ext cx="11201400" cy="658368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65192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Biggest riser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79" y="4965192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Lakshmi Chit Fund (4→1)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965192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SEBI's Watchlist (4→2)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623560"/>
            <a:ext cx="112014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623560"/>
            <a:ext cx="3200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05D"/>
                </a:solidFill>
                <a:latin typeface="Calibri"/>
              </a:rPr>
              <a:t>Biggest faller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79" y="5623560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Big Bulls (2→5)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623560"/>
            <a:ext cx="39776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Lehman Bros. (1→3)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vs U2 • R6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02 / LEADERSHIP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Leadership changed hands in both universes.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Lakshmi Chit Fund takes over the lead (was rank 4 in Round 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68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Blues Clues takes over the lead (was rank 2 in Round 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2615184" cy="123444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77639"/>
            <a:ext cx="64008" cy="123444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12394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1 AVG TSR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16551"/>
            <a:ext cx="2203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+2.6%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3977639"/>
            <a:ext cx="2615184" cy="123444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4992" y="3977639"/>
            <a:ext cx="64008" cy="1234440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412394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2 AVG TSR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4416551"/>
            <a:ext cx="2203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-2.1%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977639"/>
            <a:ext cx="2615184" cy="123444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3977639"/>
            <a:ext cx="64008" cy="1234440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412394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1 AGGREGATE PROFIT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416551"/>
            <a:ext cx="2203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$2.29bn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3977639"/>
            <a:ext cx="2615184" cy="123444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7696" y="3977639"/>
            <a:ext cx="64008" cy="1234440"/>
          </a:xfrm>
          <a:prstGeom prst="rect">
            <a:avLst/>
          </a:prstGeom>
          <a:solidFill>
            <a:srgbClr val="8A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412394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2 AGGREGATE PROFIT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4416551"/>
            <a:ext cx="2203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$1.10bn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vs U2 • R6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03 / PROFIT LEADER ≠ TSR LEADER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Profit leadership did not settle valuation in either universe.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5394960" cy="54864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05D"/>
                </a:solidFill>
                <a:latin typeface="Calibri"/>
              </a:rPr>
              <a:t>leads on both cumulative TSR and this round's profit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394960" cy="54864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F2A28"/>
                </a:solidFill>
                <a:latin typeface="Calibri"/>
              </a:rPr>
              <a:t>Blues Clues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26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5605D"/>
                </a:solidFill>
                <a:latin typeface="Calibri"/>
              </a:rPr>
              <a:t>leads on both cumulative TSR and this round's profit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Cumulative TSR reflects every round played so far; a single strong round of profit does not erase a weaker history.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vs U2 • R6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04 / R&amp;D BETS,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The biggest R&amp;D swings in each universe, and what they bought.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605D"/>
                </a:solidFill>
                <a:latin typeface="Calibri"/>
              </a:rPr>
              <a:t>R&amp;D $18m → $409m (up sharply)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605D"/>
                </a:solidFill>
                <a:latin typeface="Calibri"/>
              </a:rPr>
              <a:t>Finished at -9.13% TSR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UNIVERSE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F2A28"/>
                </a:solidFill>
                <a:latin typeface="Calibri"/>
              </a:rPr>
              <a:t>Satyam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803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605D"/>
                </a:solidFill>
                <a:latin typeface="Calibri"/>
              </a:rPr>
              <a:t>R&amp;D $550m → $0m (down sharply)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605D"/>
                </a:solidFill>
                <a:latin typeface="Calibri"/>
              </a:rPr>
              <a:t>Finished at +3.83% TSR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5196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F2A28"/>
                </a:solidFill>
                <a:latin typeface="Calibri"/>
              </a:rPr>
              <a:t>A large R&amp;D swing is a hypothesis about future demand — it only pays off if the market rewards it in share and margin.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vs U2 • R6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05 / CREDIT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Where credit quality is strongest and weakest across both universes.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64008" cy="14173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6654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STRONGEST CREDIT (UNIVERSE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59152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Lehman Bros.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26664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AAA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920240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920240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6654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WEAKEST CREDIT (UNIVERSE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59152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B33A3A"/>
                </a:solidFill>
                <a:latin typeface="Calibri"/>
              </a:rPr>
              <a:t>Grey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026664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CC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920240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920240"/>
            <a:ext cx="64008" cy="14173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06654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1 CREDIT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359152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026664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teams re-rated this round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920240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920240"/>
            <a:ext cx="64008" cy="1417320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066544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UNIVERSE 2 CREDIT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359152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3026664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teams re-rated this round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5760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40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A credit downgrade compounds: it raises the cost of the next round's financing choices, not just this round's.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vs U2 • R6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06 / DISCUSS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Five cross-universe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130552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65960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If you had to invest in one leader, Lakshmi Chit Fund or Blues Clues, what would you ask before buying?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971800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07208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Which universe's leader is more vulnerable heading into Round 7 — and why?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48456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81304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648456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What does Grey's credit position tell you about the limits of an R&amp;D-heavy strategy?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9704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654296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489704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Is a universe with more rank movement necessarily more competitive, or just noisier?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30952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495544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330952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A28"/>
                </a:solidFill>
                <a:latin typeface="Calibri"/>
              </a:rPr>
              <a:t>Which single decision, copied from the other universe, would most help your own team?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vs U2 • R6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4114800" cy="3657600"/>
          </a:xfrm>
          <a:prstGeom prst="ellipse">
            <a:avLst/>
          </a:prstGeom>
          <a:solidFill>
            <a:srgbClr val="4E7D7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TEACHING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Two universes, two different tests of the same discipline.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29260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Universe 1 and Universe 2 rewarded different things this round: +2.6% versus -2.1% average TSR.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Neither universe is a control group for the other — compare the causal patterns, not a single combined rank.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Carry the question forward: which of this round's winning moves would still work if your rivals copied it next round?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vs U2 • R6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