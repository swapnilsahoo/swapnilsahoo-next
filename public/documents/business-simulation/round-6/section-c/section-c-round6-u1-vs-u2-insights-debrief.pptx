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78A79B"/>
                </a:solidFill>
                <a:latin typeface="Calibri"/>
              </a:rPr>
              <a:t>CESIM Global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F2A28"/>
                </a:solidFill>
                <a:latin typeface="Calibri"/>
              </a:rPr>
              <a:t>Section C Round 6 Cross-Universe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52"/>
                </a:solidFill>
                <a:latin typeface="Calibri"/>
              </a:rPr>
              <a:t>Universe 1 versus Universe 2 • GL Sec C Group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6949440" cy="105156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9525">
            <a:solidFill>
              <a:srgbClr val="DD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0487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8A79B"/>
                </a:solidFill>
                <a:latin typeface="Calibri"/>
              </a:rPr>
              <a:t>Core teaching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A28"/>
                </a:solidFill>
                <a:latin typeface="Calibri"/>
              </a:rPr>
              <a:t>Which teams converted Round 6 decisions into sustainable shareholder value, and which merely created activity?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2286000"/>
            <a:ext cx="4069080" cy="105156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404872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A28"/>
                </a:solidFill>
                <a:latin typeface="Calibri"/>
              </a:rPr>
              <a:t>Socratic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651760"/>
            <a:ext cx="3703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A28"/>
                </a:solidFill>
                <a:latin typeface="Calibri"/>
              </a:rPr>
              <a:t>Compare universe-level patterns, not one combined ranking.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F2A28"/>
                </a:solidFill>
                <a:latin typeface="Calibri"/>
              </a:rPr>
              <a:t>Which universe rewarded discipline more?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49039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Universe 1 leader: Lakshmi Chit Fund (+12.52% TSR).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Universe 2 leader: Blues Clues (+15.68% TSR).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vs U2 • R6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01 /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The two universes at a glance.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73736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4069080"/>
              </a:tblGrid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Universe 1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Universe 2</a:t>
                      </a:r>
                    </a:p>
                  </a:txBody>
                  <a:tcPr anchor="ctr">
                    <a:solidFill>
                      <a:srgbClr val="78A79B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TSR leader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Lakshmi Chit Fund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Blues Clues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This round's profit leader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Lakshmi Chit Fund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Blues Clues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Aggregate profit this round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$2.29bn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$1.10bn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Average TSR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-2.1%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Biggest riser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Lakshmi Chit Fund (4→1)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SEBI's Watchlist (4→2)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Biggest faller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Big Bulls (2→5)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A28"/>
                          </a:solidFill>
                          <a:latin typeface="Calibri"/>
                        </a:rPr>
                        <a:t>Lehman Bros. (1→3)</a:t>
                      </a:r>
                    </a:p>
                  </a:txBody>
                  <a:tcPr anchor="ctr" marT="38100" marB="38100">
                    <a:solidFill>
                      <a:srgbClr val="DDE8DE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vs U2 •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02 / LEADERSHIP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Leadership changed hands in both universes.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Universe 1: Lakshmi Chit Fund takes over the lead (was rank 4 in Round 5).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Universe 2: Blues Clues takes over the lead (was rank 2 in Round 5).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Universe 1 closed the round with +2.6% average TSR against Universe 2's -2.1%.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Universe 1's aggregate profit this round was $2.29bn, versus Universe 2's $1.10bn.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vs U2 •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03 / PROFIT LEADER ≠ TSR LEADER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Profit leadership did not settle valuation in either universe.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50" b="0" i="0">
                <a:solidFill>
                  <a:srgbClr val="1F2A28"/>
                </a:solidFill>
                <a:latin typeface="Calibri"/>
              </a:rPr>
              <a:t>•  Universe 1: Lakshmi Chit Fund leads on both counts — cumulative TSR and this round's profit.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50" b="0" i="0">
                <a:solidFill>
                  <a:srgbClr val="1F2A28"/>
                </a:solidFill>
                <a:latin typeface="Calibri"/>
              </a:rPr>
              <a:t>•  Universe 2: Blues Clues leads on both counts — cumulative TSR and this round's profit.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50" b="0" i="0">
                <a:solidFill>
                  <a:srgbClr val="1F2A28"/>
                </a:solidFill>
                <a:latin typeface="Calibri"/>
              </a:rPr>
              <a:t>•  Cumulative TSR reflects every round played so far; a single strong round of profit does not erase a weaker history.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vs U2 •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04 / R&amp;D BETS,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The biggest R&amp;D swings in each universe, and what they bought.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Universe 1's biggest R&amp;D swing: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Grey: R&amp;D $18m → $409m (up sharply), finishing at -9.13% TSR.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Universe 2's biggest R&amp;D swing: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00" b="0" i="0">
                <a:solidFill>
                  <a:srgbClr val="1F2A28"/>
                </a:solidFill>
                <a:latin typeface="Calibri"/>
              </a:rPr>
              <a:t>•  Satyam 2.0: R&amp;D $550m → $0m (down sharply), finishing at +3.83% TSR.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5720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DD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75488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A28"/>
                </a:solidFill>
                <a:latin typeface="Calibri"/>
              </a:rPr>
              <a:t>A large R&amp;D swing is a hypothesis about future demand — it only pays off if the market actually rewards it in share and margin.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vs U2 • R6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05 / CREDIT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Where credit quality is strongest and weakest across both universes.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Strongest credit quality: Lehman Bros. (Universe 2) at AAA.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Weakest credit quality: Grey (Universe 1) at CC.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Universe 1 saw 7 teams change credit rating this round; Universe 2 saw 6.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A credit downgrade compounds: it raises the cost of the next round's financing choices, not just this round's.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vs U2 •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8A79B"/>
                </a:solidFill>
                <a:latin typeface="Calibri"/>
              </a:rPr>
              <a:t>06 / DISCUSS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F2A28"/>
                </a:solidFill>
                <a:latin typeface="Calibri"/>
              </a:rPr>
              <a:t>Five cross-universe questions.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If you had to invest in one leader, Lakshmi Chit Fund or Blues Clues, what would you ask before buying?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Which universe's leader is more vulnerable heading into Round 7 — and why?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What does Grey's credit position tell you about the limits of an R&amp;D-heavy strategy?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Is a universe with more rank movement necessarily more competitive, or just noisier?</a:t>
            </a:r>
          </a:p>
          <a:p>
            <a:pPr>
              <a:lnSpc>
                <a:spcPct val="112000"/>
              </a:lnSpc>
              <a:spcAft>
                <a:spcPts val="1584"/>
              </a:spcAft>
            </a:pPr>
            <a:r>
              <a:rPr sz="1500" b="0" i="0">
                <a:solidFill>
                  <a:srgbClr val="1F2A28"/>
                </a:solidFill>
                <a:latin typeface="Calibri"/>
              </a:rPr>
              <a:t>•  Which single decision, copied from the other universe, would most help your own team?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vs U2 • R6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TEACHING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Two universes, two different tests of the same discipline.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10881360" cy="2926080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32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Universe 1 and Universe 2 rewarded different things this round: +2.6% versus -2.1% average TSR.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Neither universe is a control group for the other — compare the causal patterns, not a single combined rank.</a:t>
            </a:r>
          </a:p>
          <a:p>
            <a:pPr>
              <a:lnSpc>
                <a:spcPct val="112000"/>
              </a:lnSpc>
              <a:spcAft>
                <a:spcPts val="864"/>
              </a:spcAft>
            </a:pPr>
            <a:r>
              <a:rPr sz="1450" b="0" i="0">
                <a:solidFill>
                  <a:srgbClr val="1F2A28"/>
                </a:solidFill>
                <a:latin typeface="Calibri"/>
              </a:rPr>
              <a:t>•  Carry the question forward: which of this round's winning moves would still work if your rivals copied it next round?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78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GL Sec C • U1 vs U2 • R6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4A5552"/>
                </a:solidFill>
                <a:latin typeface="Calibri"/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