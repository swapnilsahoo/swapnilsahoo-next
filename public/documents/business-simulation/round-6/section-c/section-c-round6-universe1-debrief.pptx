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A28"/>
                </a:solidFill>
                <a:latin typeface="Calibri"/>
              </a:rPr>
              <a:t>Section C Universe 1: Round 6 Comparative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52"/>
                </a:solidFill>
                <a:latin typeface="Calibri"/>
              </a:rPr>
              <a:t>GL Sec C Group · Round 5 → Round 6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LEADER BY TSR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Lakshmi Chit Fund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R6 PROFIT LEADER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Lakshmi Chit Fund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RISER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Lakshmi Chit Fund (4→1)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48840"/>
            <a:ext cx="2606040" cy="868680"/>
          </a:xfrm>
          <a:prstGeom prst="roundRect">
            <a:avLst>
              <a:gd name="adj" fmla="val 18000"/>
            </a:avLst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2212848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5552"/>
                </a:solidFill>
                <a:latin typeface="Calibri"/>
              </a:rPr>
              <a:t>BIGGEST FALLER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478024"/>
            <a:ext cx="2386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2A28"/>
                </a:solidFill>
                <a:latin typeface="Calibri"/>
              </a:rPr>
              <a:t>Big Bulls (2→5)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3756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564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49039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durable shareholder value, and which merely created activity?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333756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345643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70332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Did the leader earn it, or did a rival lose it?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F2A28"/>
                </a:solidFill>
                <a:latin typeface="Calibri"/>
              </a:rPr>
              <a:t>Which rank move is a real strategy shift?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617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A5552"/>
                </a:solidFill>
                <a:latin typeface="Calibri"/>
              </a:rPr>
              <a:t>Ranking criterion: cumulative total shareholder return (TSR, p.a., %). Source: Section C Universe 1 Round 6 results workbook, compared against Round 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GL SEC C • U1 R6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Start with the causal chain, not the leaderboard.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Demand creates revenue; costs and capacity decide margins; cash and debt shape risk; risk changes valuation.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Cumulative TSR after Round 6 reflects 6 rounds of decisions, not only this round's score.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A team can improve its own economics and still fall in rank if rivals compounded faster — relative and absolute performance are different questions.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ROUND 6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Round 6 leaderboard by cumulative TSR.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11201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926080"/>
                <a:gridCol w="1737360"/>
                <a:gridCol w="2194560"/>
                <a:gridCol w="173736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TSR (p.a.)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This round's profit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Global share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Credit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Lakshmi Chit Fund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+12.52%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$1.04bn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16.6%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BB+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+10.60%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$806m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13.1%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AA-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Harshad Mehta Gang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+8.91%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$583m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20.4%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Akatsuki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+2.50%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$289m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AA-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 Bulls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+0.77%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$201m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7.8%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A-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Pink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-7.99%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$147m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-9.13%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-$775m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17.8%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CC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78A79B"/>
                </a:solidFill>
                <a:latin typeface="Calibri"/>
              </a:rPr>
              <a:t>Universe 1 aggregate profit this round: $2.29bn  •  Average TSR: +2.6%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RANK MOVEMENT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Rank movement: Round 5 → Round 6.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84048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R5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R6 rank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Move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Lakshmi Chit Fund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↑ 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↓ 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Harshad Mehta Gang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↑ 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Akatsuki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↓ 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 Bulls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↓ 3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Pink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↑ 1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↓ 2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281160" y="173736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18745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A28"/>
                </a:solidFill>
                <a:latin typeface="Calibri"/>
              </a:rPr>
              <a:t>Read this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2148840"/>
            <a:ext cx="2057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Rank is a symptom.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Diagnose the mechanism through profit, R&amp;D discipline, share and credit quality.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LEADER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Lakshmi Chit Fund becomes the Round 6 TSR leader.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+12.52%, up from -9.64%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$1.04bn, a change of $1.02bn from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spend: $7m this round, versus $62m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16.6%. Credit rating: BB+.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Credit rating improved from CCC- to BB+.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SECOND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Green held second place behind the leader.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+10.60%, versus Lakshmi Chit Fund's +12.52%.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$806m. Return on capital employed: 55.5%.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Global market share: 13.1%, versus 17.8%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A close second is worth asking what the gap to first actually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06 / WARNING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Grey closes Round 6 at the bottom of the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Cumulative TSR: -9.13%, versus -9.87%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This round's profit: -$775m. Credit rating: CC.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R&amp;D spending rose sharply to $409m, from $18m in Round 5.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Return on sales: -17.7%. A large R&amp;D or cost bet only helps if the market rewards it in demand and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07 / PATTERNS ACROSS THE UNIVERSE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R&amp;D bets and credit quality moved together for some, apart for others.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Biggest R&amp;D swings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Grey: R&amp;D $18m → $409m (up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Green: R&amp;D $305m → $16m (down sharply)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Big Bulls: R&amp;D $184m → $19m (down sharply)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Credit-rating direction this round: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improved: Green, Harshad Mehta Gang, Lakshmi Chit Fund, Big Bulls, Akatsuki, Pink.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350" b="0" i="0">
                <a:solidFill>
                  <a:srgbClr val="1F2A28"/>
                </a:solidFill>
                <a:latin typeface="Calibri"/>
              </a:rPr>
              <a:t>•  Credit weakened: Grey.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08 /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Five questions for this round's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did Lakshmi Chit Fund change that the rest of the universe didn't?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would Lakshmi Chit Fund need to change to stay on top in Round 7?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assumption explains Grey's position at the bottom of the table?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rank move in this round reflects real strategic learning, and which reflects noise?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If you were advising the weakest team for one decision only, what would it be?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Rank tells you who is ahead. It does not tell you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1 closed Round 6 with $2.29bn in aggregate profit and an average TSR of +2.6%.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Lakshmi Chit Fund leads on both counts this round — the cumulative TSR leader and the strongest single-round economics.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Going into Round 7, the open question for every team is the same one: did this round's decision change the causal chain, or just the scoreboard?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