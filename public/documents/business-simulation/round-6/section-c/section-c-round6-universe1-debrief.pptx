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05840" y="5760720"/>
            <a:ext cx="2468880" cy="1463040"/>
          </a:xfrm>
          <a:prstGeom prst="ellipse">
            <a:avLst/>
          </a:prstGeom>
          <a:solidFill>
            <a:srgbClr val="EFE2C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457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78A79B"/>
                </a:solidFill>
                <a:latin typeface="Calibri"/>
              </a:rPr>
              <a:t>CESIM Global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686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1F2A28"/>
                </a:solidFill>
                <a:latin typeface="Calibri"/>
              </a:rPr>
              <a:t>Section C Universe 1: Round 6 Comparative Debrief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5605D"/>
                </a:solidFill>
                <a:latin typeface="Calibri"/>
              </a:rPr>
              <a:t>GL Sec C Group · Round 5 → Round 6 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2606040" cy="54864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LEADER BY TSR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EFE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2194560"/>
            <a:ext cx="2606040" cy="54864"/>
          </a:xfrm>
          <a:prstGeom prst="rect">
            <a:avLst/>
          </a:prstGeom>
          <a:solidFill>
            <a:srgbClr val="8A6D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R6 PROFIT LEADER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2900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080760" y="2194560"/>
            <a:ext cx="2606040" cy="54864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RISER  4→1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2194560"/>
            <a:ext cx="2606040" cy="960120"/>
          </a:xfrm>
          <a:prstGeom prst="roundRect">
            <a:avLst>
              <a:gd name="adj" fmla="val 16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0" y="2194560"/>
            <a:ext cx="2606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2322576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>
                <a:solidFill>
                  <a:srgbClr val="55605D"/>
                </a:solidFill>
                <a:latin typeface="Calibri"/>
              </a:rPr>
              <a:t>BIGGEST FALLER  2→5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69748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6949440" cy="105156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DDE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63931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Core teaching question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3931920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 i="0">
                <a:solidFill>
                  <a:srgbClr val="1F2A28"/>
                </a:solidFill>
                <a:latin typeface="Calibri"/>
              </a:rPr>
              <a:t>Which teams converted Round 6 decisions into durable shareholder value, and which merely created activity?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635240" y="3520440"/>
            <a:ext cx="4069080" cy="105156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18120" y="3639312"/>
            <a:ext cx="3703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F2A28"/>
                </a:solidFill>
                <a:latin typeface="Calibri"/>
              </a:rPr>
              <a:t>Socratic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886200"/>
            <a:ext cx="3703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Did the leader earn it, or did a rival lose it?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Which rank move is a real strategy shift?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8006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55605D"/>
                </a:solidFill>
                <a:latin typeface="Calibri"/>
              </a:rPr>
              <a:t>Ranking criterion: cumulative total shareholder return (TSR, p.a., %). Source: Section C Universe 1 Round 6 results workbook, compared against Round 5.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01 / GL SEC C • U1 R6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Start with the causal chain, not the leaderboard.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20827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Demand creates revenue; costs and capacity decide margins; cash and debt shape risk; risk changes valuation.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62656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320497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962656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Cumulative TSR after Round 6 reflects 6 rounds of decisions, not only this round's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59352"/>
            <a:ext cx="10881360" cy="868680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420166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959352"/>
            <a:ext cx="99669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A team can improve its own economics and still fall in rank if rivals compounded faster — relative and absolute performance are different questions.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02 / ROUND 6 STANDINGS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Round 6 leaderboard by cumulative TSR.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2336" y="1783080"/>
            <a:ext cx="12700" cy="3712464"/>
          </a:xfrm>
          <a:prstGeom prst="rect">
            <a:avLst/>
          </a:prstGeom>
          <a:solidFill>
            <a:srgbClr val="5560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9899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8007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$1.04bn profit · 16.6% share · BB+ credit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2336" y="1958096"/>
            <a:ext cx="4163263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88751" y="195809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+12.52%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29342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10429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$806m profit · 13.1% share · AA- credit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2336" y="2488448"/>
            <a:ext cx="3524480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49968" y="2488448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+10.60%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859694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Harshad Mehta Gang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140781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$583m profit · 20.4% share · AA credit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2336" y="3018800"/>
            <a:ext cx="2964028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9516" y="3018800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+8.91%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390046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Akatsuki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671133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$289m profit · 12.6% share · AA- credit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2336" y="3549152"/>
            <a:ext cx="830996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56484" y="3549152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+2.50%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920398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01485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$201m profit · 7.8% share · A- credit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2336" y="4079504"/>
            <a:ext cx="257462" cy="180319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82950" y="4079504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78A79B"/>
                </a:solidFill>
                <a:latin typeface="Calibri"/>
              </a:rPr>
              <a:t>+0.77%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450750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Pink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731837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$147m profit · 11.7% share · BB credit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7808" y="4609856"/>
            <a:ext cx="1924528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76248" y="4609856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-7.99%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981102"/>
            <a:ext cx="2697480" cy="296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262189"/>
            <a:ext cx="2697480" cy="2121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-$775m profit · 17.8% share · CC credit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52620" y="5140208"/>
            <a:ext cx="2199716" cy="180319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101060" y="5140208"/>
            <a:ext cx="1051560" cy="1803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B33A3A"/>
                </a:solidFill>
                <a:latin typeface="Calibri"/>
              </a:rPr>
              <a:t>-9.13%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5724144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5724144"/>
            <a:ext cx="107899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4E7D72"/>
                </a:solidFill>
                <a:latin typeface="Calibri"/>
              </a:rPr>
              <a:t>Universe 1 aggregate profit this round: $2.29bn  •  Average TSR: +2.6%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03 / RANK MOVEMENT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Rank movement: Round 5 → Round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636776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1" i="0">
                <a:solidFill>
                  <a:srgbClr val="55605D"/>
                </a:solidFill>
                <a:latin typeface="Calibri"/>
              </a:rPr>
              <a:t>R6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96596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Lakshmi Chit Fund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199339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40" y="196596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4480560" y="1993392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196596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53288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3288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Green</a:t>
            </a:r>
          </a:p>
        </p:txBody>
      </p:sp>
      <p:sp>
        <p:nvSpPr>
          <p:cNvPr id="15" name="Oval 14"/>
          <p:cNvSpPr/>
          <p:nvPr/>
        </p:nvSpPr>
        <p:spPr>
          <a:xfrm>
            <a:off x="3200400" y="256032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40" y="253288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17" name="Oval 16"/>
          <p:cNvSpPr/>
          <p:nvPr/>
        </p:nvSpPr>
        <p:spPr>
          <a:xfrm>
            <a:off x="4480560" y="2560320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53288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099816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3099816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Harshad Mehta Gang</a:t>
            </a:r>
          </a:p>
        </p:txBody>
      </p:sp>
      <p:sp>
        <p:nvSpPr>
          <p:cNvPr id="21" name="Oval 20"/>
          <p:cNvSpPr/>
          <p:nvPr/>
        </p:nvSpPr>
        <p:spPr>
          <a:xfrm>
            <a:off x="3200400" y="3127248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099816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3" name="Oval 22"/>
          <p:cNvSpPr/>
          <p:nvPr/>
        </p:nvSpPr>
        <p:spPr>
          <a:xfrm>
            <a:off x="4480560" y="3127248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3099816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666744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3666744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Akatsuki</a:t>
            </a:r>
          </a:p>
        </p:txBody>
      </p:sp>
      <p:sp>
        <p:nvSpPr>
          <p:cNvPr id="27" name="Oval 26"/>
          <p:cNvSpPr/>
          <p:nvPr/>
        </p:nvSpPr>
        <p:spPr>
          <a:xfrm>
            <a:off x="3200400" y="3694176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666744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29" name="Oval 28"/>
          <p:cNvSpPr/>
          <p:nvPr/>
        </p:nvSpPr>
        <p:spPr>
          <a:xfrm>
            <a:off x="4480560" y="3694176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49240" y="3666744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4233672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233672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Big Bulls</a:t>
            </a:r>
          </a:p>
        </p:txBody>
      </p:sp>
      <p:sp>
        <p:nvSpPr>
          <p:cNvPr id="33" name="Oval 32"/>
          <p:cNvSpPr/>
          <p:nvPr/>
        </p:nvSpPr>
        <p:spPr>
          <a:xfrm>
            <a:off x="3200400" y="4261104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40" y="4233672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35" name="Oval 34"/>
          <p:cNvSpPr/>
          <p:nvPr/>
        </p:nvSpPr>
        <p:spPr>
          <a:xfrm>
            <a:off x="4480560" y="4261104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49240" y="4233672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3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800600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4800600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Pink</a:t>
            </a:r>
          </a:p>
        </p:txBody>
      </p:sp>
      <p:sp>
        <p:nvSpPr>
          <p:cNvPr id="39" name="Oval 38"/>
          <p:cNvSpPr/>
          <p:nvPr/>
        </p:nvSpPr>
        <p:spPr>
          <a:xfrm>
            <a:off x="3200400" y="4828032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77640" y="4800600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1" name="Oval 40"/>
          <p:cNvSpPr/>
          <p:nvPr/>
        </p:nvSpPr>
        <p:spPr>
          <a:xfrm>
            <a:off x="4480560" y="4828032"/>
            <a:ext cx="457200" cy="457200"/>
          </a:xfrm>
          <a:prstGeom prst="ellipse">
            <a:avLst/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7A5C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349240" y="4800600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7A5C"/>
                </a:solidFill>
                <a:latin typeface="Calibri"/>
              </a:rPr>
              <a:t>↑ 1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5367528"/>
            <a:ext cx="7863840" cy="51206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5367528"/>
            <a:ext cx="25146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45" name="Oval 44"/>
          <p:cNvSpPr/>
          <p:nvPr/>
        </p:nvSpPr>
        <p:spPr>
          <a:xfrm>
            <a:off x="3200400" y="5394960"/>
            <a:ext cx="457200" cy="457200"/>
          </a:xfrm>
          <a:prstGeom prst="ellipse">
            <a:avLst/>
          </a:prstGeom>
          <a:solidFill>
            <a:srgbClr val="ECEA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1F2A28"/>
                </a:solidFill>
                <a:latin typeface="Calibri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77640" y="5367528"/>
            <a:ext cx="45720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0">
                <a:solidFill>
                  <a:srgbClr val="55605D"/>
                </a:solidFill>
                <a:latin typeface="Calibri"/>
              </a:rPr>
              <a:t>→</a:t>
            </a:r>
          </a:p>
        </p:txBody>
      </p:sp>
      <p:sp>
        <p:nvSpPr>
          <p:cNvPr id="47" name="Oval 46"/>
          <p:cNvSpPr/>
          <p:nvPr/>
        </p:nvSpPr>
        <p:spPr>
          <a:xfrm>
            <a:off x="4480560" y="5394960"/>
            <a:ext cx="457200" cy="457200"/>
          </a:xfrm>
          <a:prstGeom prst="ellipse">
            <a:avLst/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B33A3A"/>
                </a:solidFill>
                <a:latin typeface="Calibri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49240" y="5367528"/>
            <a:ext cx="1463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B33A3A"/>
                </a:solidFill>
                <a:latin typeface="Calibri"/>
              </a:rPr>
              <a:t>↓ 2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1965960"/>
            <a:ext cx="2926080" cy="2103120"/>
          </a:xfrm>
          <a:prstGeom prst="roundRect">
            <a:avLst>
              <a:gd name="adj" fmla="val 8000"/>
            </a:avLst>
          </a:prstGeom>
          <a:solidFill>
            <a:srgbClr val="DDE8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2148840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F2A28"/>
                </a:solidFill>
                <a:latin typeface="Calibri"/>
              </a:rPr>
              <a:t>Read this as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832" y="2423160"/>
            <a:ext cx="2514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Rank is a symptom.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Diagnose the mechanism through profit, R&amp;D discipline, share and credit quality.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04 / LEADER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Lakshmi Chit Fund becomes the Round 6 TSR leader.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+12.52%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from -9.64% in R5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$1.04bn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1024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$1.02bn vs R5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16.6%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37376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16.3%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BB+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CCC-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70332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3913632"/>
            <a:ext cx="105156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spend: $7m this round, versus $62m in Round 5. Credit improved from CCC- to BB+.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05 / SECOND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Green held second place behind the leader.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1F7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$806m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rank 2 on TSR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23.6%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4E7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CAPITAL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55.5%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E3CF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GLOBAL MARKET SHARE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13.1%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3728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17.8%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03320"/>
            <a:ext cx="11064240" cy="1005840"/>
          </a:xfrm>
          <a:prstGeom prst="roundRect">
            <a:avLst>
              <a:gd name="adj" fmla="val 8000"/>
            </a:avLst>
          </a:prstGeom>
          <a:solidFill>
            <a:srgbClr val="F7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88620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A close second is worth asking what the gap to first actually rewarded.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B33A3A"/>
                </a:solidFill>
                <a:latin typeface="Calibri"/>
              </a:rPr>
              <a:t>06 / WARNING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Grey closes Round 6 at the bottom of the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CUMULATIVE TSR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-9.13%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2980943"/>
            <a:ext cx="22037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55605D"/>
                </a:solidFill>
                <a:latin typeface="Calibri"/>
              </a:rPr>
              <a:t>was -9.87%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64992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64992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THIS ROUND'S PROFIT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1024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-$775m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1344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CREDIT RATING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7376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CC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97696" y="1874519"/>
            <a:ext cx="2615184" cy="1417320"/>
          </a:xfrm>
          <a:prstGeom prst="roundRect">
            <a:avLst>
              <a:gd name="adj" fmla="val 10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97696" y="1874519"/>
            <a:ext cx="64008" cy="1417320"/>
          </a:xfrm>
          <a:prstGeom prst="rect">
            <a:avLst/>
          </a:prstGeom>
          <a:solidFill>
            <a:srgbClr val="B3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2020823"/>
            <a:ext cx="22037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5605D"/>
                </a:solidFill>
                <a:latin typeface="Calibri"/>
              </a:rPr>
              <a:t>RETURN ON SALES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2313431"/>
            <a:ext cx="220370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B33A3A"/>
                </a:solidFill>
                <a:latin typeface="Calibri"/>
              </a:rPr>
              <a:t>-17.7%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11064240" cy="11887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3886200"/>
            <a:ext cx="105156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R&amp;D spending rose sharply to $409m, from $18m in Round 5. A large R&amp;D or cost bet only helps if the market rewards it in demand and share.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07 / PATTERNS ACROSS THE UNIVERSE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R&amp;D bets and credit quality moved together for some, apart for others.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BIGGEST R&amp;D SWINGS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468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Grey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$18m → $409m  (up sharply)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Green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$305m → $16m  (down sharply)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Big Bulls</a:t>
            </a:r>
          </a:p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1F2A28"/>
                </a:solidFill>
                <a:latin typeface="Calibri"/>
              </a:rPr>
              <a:t>$184m → $19m  (down sharply)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74519"/>
            <a:ext cx="5394960" cy="393192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CREDIT-RATING DIRECTION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246888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DC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256032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IMPROVED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Green, Harshad Mehta Gang, Lakshmi Chit Fund, Big Bulls, Akatsuki, Pink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3520440"/>
            <a:ext cx="4937760" cy="731520"/>
          </a:xfrm>
          <a:prstGeom prst="roundRect">
            <a:avLst>
              <a:gd name="adj" fmla="val 8000"/>
            </a:avLst>
          </a:prstGeom>
          <a:solidFill>
            <a:srgbClr val="F6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36118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WEAKENED</a:t>
            </a:r>
          </a:p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1F2A28"/>
                </a:solidFill>
                <a:latin typeface="Calibri"/>
              </a:rPr>
              <a:t>Grey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07040" y="-1188720"/>
            <a:ext cx="2926080" cy="2560320"/>
          </a:xfrm>
          <a:prstGeom prst="ellipse">
            <a:avLst/>
          </a:prstGeom>
          <a:solidFill>
            <a:srgbClr val="DDE8D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320040" cy="54864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8A79B"/>
                </a:solidFill>
                <a:latin typeface="Calibri"/>
              </a:rPr>
              <a:t>08 / DISCUSS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58952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2500" b="1" i="0">
                <a:solidFill>
                  <a:srgbClr val="1F2A28"/>
                </a:solidFill>
                <a:latin typeface="Calibri"/>
              </a:rPr>
              <a:t>Five questions for this round's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965960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13232" y="2130552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1965960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did Lakshmi Chit Fund change that the rest of the universe didn't?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07208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13232" y="2971800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2807208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would Lakshmi Chit Fund need to change to stay on top in Round 7?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648456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13232" y="3813048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3648456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What assumption explains Grey's position at the bottom of the table?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489704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13232" y="4654296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61872" y="4489704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Which rank move in this round reflects real strategic learning, and which reflects noise?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330952"/>
            <a:ext cx="10881360" cy="713232"/>
          </a:xfrm>
          <a:prstGeom prst="roundRect">
            <a:avLst>
              <a:gd name="adj" fmla="val 28000"/>
            </a:avLst>
          </a:prstGeom>
          <a:solidFill>
            <a:srgbClr val="FCFBF8"/>
          </a:solidFill>
          <a:ln w="9525">
            <a:solidFill>
              <a:srgbClr val="C3D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3232" y="5495544"/>
            <a:ext cx="384048" cy="384048"/>
          </a:xfrm>
          <a:prstGeom prst="ellipse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61872" y="5330952"/>
            <a:ext cx="996696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1F2A28"/>
                </a:solidFill>
                <a:latin typeface="Calibri"/>
              </a:rPr>
              <a:t>If you were advising the weakest team for one decision only, what would it be?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371600"/>
            <a:ext cx="4114800" cy="3657600"/>
          </a:xfrm>
          <a:prstGeom prst="ellipse">
            <a:avLst/>
          </a:prstGeom>
          <a:solidFill>
            <a:srgbClr val="4E7D72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TEACHING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8813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Rank tells you who is ahead. It does not tell you why.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10881360" cy="2926080"/>
          </a:xfrm>
          <a:prstGeom prst="roundRect">
            <a:avLst>
              <a:gd name="adj" fmla="val 8000"/>
            </a:avLst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103327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Universe 1 closed Round 6 with $2.29bn in aggregate profit and an average TSR of +2.6%.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Lakshmi Chit Fund leads on both counts this round — the cumulative TSR leader and the strongest single-round economics.</a:t>
            </a:r>
          </a:p>
          <a:p>
            <a:pPr>
              <a:lnSpc>
                <a:spcPct val="112000"/>
              </a:lnSpc>
              <a:spcAft>
                <a:spcPts val="864"/>
              </a:spcAft>
            </a:pPr>
            <a:r>
              <a:rPr sz="1450" b="0" i="0">
                <a:solidFill>
                  <a:srgbClr val="1F2A28"/>
                </a:solidFill>
                <a:latin typeface="Calibri"/>
              </a:rPr>
              <a:t>•  Going into Round 7, the open question for every team is the same one: did this round's decision change the causal chain, or just the scoreboard?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78A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GL Sec C • U1 R6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55605D"/>
                </a:solidFill>
                <a:latin typeface="Calibri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