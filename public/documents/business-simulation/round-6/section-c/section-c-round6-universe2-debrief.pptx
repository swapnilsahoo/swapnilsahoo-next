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188720"/>
            <a:ext cx="2926080" cy="2560320"/>
          </a:xfrm>
          <a:prstGeom prst="ellipse">
            <a:avLst/>
          </a:prstGeom>
          <a:solidFill>
            <a:srgbClr val="DDE8D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05840" y="5760720"/>
            <a:ext cx="2468880" cy="1463040"/>
          </a:xfrm>
          <a:prstGeom prst="ellipse">
            <a:avLst/>
          </a:prstGeom>
          <a:solidFill>
            <a:srgbClr val="EFE2C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A79B"/>
                </a:solidFill>
                <a:latin typeface="Calibri"/>
              </a:rPr>
              <a:t>CESIM Global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A28"/>
                </a:solidFill>
                <a:latin typeface="Calibri"/>
              </a:rPr>
              <a:t>Section C Universe 2: Round 6 Comparative Debrief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5605D"/>
                </a:solidFill>
                <a:latin typeface="Calibri"/>
              </a:rPr>
              <a:t>GL Sec C Group · Round 5 → Round 6 comparison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606040" cy="960120"/>
          </a:xfrm>
          <a:prstGeom prst="roundRect">
            <a:avLst>
              <a:gd name="adj" fmla="val 16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94560"/>
            <a:ext cx="2606040" cy="54864"/>
          </a:xfrm>
          <a:prstGeom prst="rect">
            <a:avLst/>
          </a:prstGeom>
          <a:solidFill>
            <a:srgbClr val="4E7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22576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55605D"/>
                </a:solidFill>
                <a:latin typeface="Calibri"/>
              </a:rPr>
              <a:t>R6 LEADER BY TSR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28"/>
                </a:solidFill>
                <a:latin typeface="Calibri"/>
              </a:rPr>
              <a:t>Blues Clues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194560"/>
            <a:ext cx="2606040" cy="960120"/>
          </a:xfrm>
          <a:prstGeom prst="roundRect">
            <a:avLst>
              <a:gd name="adj" fmla="val 16000"/>
            </a:avLst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2194560"/>
            <a:ext cx="2606040" cy="54864"/>
          </a:xfrm>
          <a:prstGeom prst="rect">
            <a:avLst/>
          </a:prstGeom>
          <a:solidFill>
            <a:srgbClr val="8A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322576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55605D"/>
                </a:solidFill>
                <a:latin typeface="Calibri"/>
              </a:rPr>
              <a:t>R6 PROFIT LEADER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6974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28"/>
                </a:solidFill>
                <a:latin typeface="Calibri"/>
              </a:rPr>
              <a:t>Blues Clues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2194560"/>
            <a:ext cx="2606040" cy="960120"/>
          </a:xfrm>
          <a:prstGeom prst="roundRect">
            <a:avLst>
              <a:gd name="adj" fmla="val 16000"/>
            </a:avLst>
          </a:prstGeom>
          <a:solidFill>
            <a:srgbClr val="DC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2194560"/>
            <a:ext cx="2606040" cy="54864"/>
          </a:xfrm>
          <a:prstGeom prst="rect">
            <a:avLst/>
          </a:prstGeom>
          <a:solidFill>
            <a:srgbClr val="1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22576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55605D"/>
                </a:solidFill>
                <a:latin typeface="Calibri"/>
              </a:rPr>
              <a:t>BIGGEST RISER  4→2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6974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28"/>
                </a:solidFill>
                <a:latin typeface="Calibri"/>
              </a:rPr>
              <a:t>SEBI's Watchlist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2194560"/>
            <a:ext cx="2606040" cy="960120"/>
          </a:xfrm>
          <a:prstGeom prst="roundRect">
            <a:avLst>
              <a:gd name="adj" fmla="val 16000"/>
            </a:avLst>
          </a:prstGeom>
          <a:solidFill>
            <a:srgbClr val="F6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2194560"/>
            <a:ext cx="2606040" cy="548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2322576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55605D"/>
                </a:solidFill>
                <a:latin typeface="Calibri"/>
              </a:rPr>
              <a:t>BIGGEST FALLER  1→3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6974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28"/>
                </a:solidFill>
                <a:latin typeface="Calibri"/>
              </a:rPr>
              <a:t>Lehman Bros.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520440"/>
            <a:ext cx="6949440" cy="105156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9525">
            <a:solidFill>
              <a:srgbClr val="DD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3931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Core teaching 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93192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A28"/>
                </a:solidFill>
                <a:latin typeface="Calibri"/>
              </a:rPr>
              <a:t>Which teams converted Round 6 decisions into durable shareholder value, and which merely created activity?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520440"/>
            <a:ext cx="4069080" cy="105156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363931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A28"/>
                </a:solidFill>
                <a:latin typeface="Calibri"/>
              </a:rPr>
              <a:t>Socratic questions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886200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Did the leader earn it, or did a rival lose it?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Which rank move is a real strategy shift?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5605D"/>
                </a:solidFill>
                <a:latin typeface="Calibri"/>
              </a:rPr>
              <a:t>Ranking criterion: cumulative total shareholder return (TSR, p.a., %). Source: Section C Universe 2 Round 6 results workbook, compared against Round 5.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188720"/>
            <a:ext cx="2926080" cy="2560320"/>
          </a:xfrm>
          <a:prstGeom prst="ellipse">
            <a:avLst/>
          </a:prstGeom>
          <a:solidFill>
            <a:srgbClr val="DDE8D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320040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01 / GL SEC C • U2 R6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Start with the causal chain, not the leaderboard.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0881360" cy="868680"/>
          </a:xfrm>
          <a:prstGeom prst="roundRect">
            <a:avLst>
              <a:gd name="adj" fmla="val 2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208276"/>
            <a:ext cx="384048" cy="384048"/>
          </a:xfrm>
          <a:prstGeom prst="ellipse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1965960"/>
            <a:ext cx="9966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Demand creates revenue; costs and capacity decide margins; cash and debt shape risk; risk changes 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10881360" cy="868680"/>
          </a:xfrm>
          <a:prstGeom prst="roundRect">
            <a:avLst>
              <a:gd name="adj" fmla="val 2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3204972"/>
            <a:ext cx="384048" cy="384048"/>
          </a:xfrm>
          <a:prstGeom prst="ellipse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962656"/>
            <a:ext cx="9966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Cumulative TSR after Round 6 reflects 6 rounds of decisions, not only this round's score.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59352"/>
            <a:ext cx="10881360" cy="868680"/>
          </a:xfrm>
          <a:prstGeom prst="roundRect">
            <a:avLst>
              <a:gd name="adj" fmla="val 2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4201668"/>
            <a:ext cx="384048" cy="384048"/>
          </a:xfrm>
          <a:prstGeom prst="ellipse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959352"/>
            <a:ext cx="9966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A team can improve its own economics and still fall in rank if rivals compounded faster — relative and absolute performance are different questions.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320040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02 / ROUND 6 STANDINGS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Round 6 leaderboard by cumulative TSR.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2336" y="1783080"/>
            <a:ext cx="12700" cy="3182112"/>
          </a:xfrm>
          <a:prstGeom prst="rect">
            <a:avLst/>
          </a:prstGeom>
          <a:solidFill>
            <a:srgbClr val="5560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98990"/>
            <a:ext cx="2697480" cy="296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2A28"/>
                </a:solidFill>
                <a:latin typeface="Calibri"/>
              </a:rPr>
              <a:t>Blues Clues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80077"/>
            <a:ext cx="2697480" cy="212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$736m profit · 31.3% share · A+ credit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2336" y="1958096"/>
            <a:ext cx="2220131" cy="180319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5619" y="1958096"/>
            <a:ext cx="1051560" cy="180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+15.68%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29342"/>
            <a:ext cx="2697480" cy="296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2A28"/>
                </a:solidFill>
                <a:latin typeface="Calibri"/>
              </a:rPr>
              <a:t>SEBI's Watchlist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10429"/>
            <a:ext cx="2697480" cy="212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$330m profit · 21.5% share · AA- credit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2336" y="2488448"/>
            <a:ext cx="1611750" cy="180319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238" y="2488448"/>
            <a:ext cx="1051560" cy="180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+11.38%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59694"/>
            <a:ext cx="2697480" cy="296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2A28"/>
                </a:solidFill>
                <a:latin typeface="Calibri"/>
              </a:rPr>
              <a:t>Lehman Bros.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40781"/>
            <a:ext cx="2697480" cy="212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$293m profit · 18.1% share · AAA credit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2336" y="3018800"/>
            <a:ext cx="1413675" cy="180319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9163" y="3018800"/>
            <a:ext cx="1051560" cy="180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+9.98%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390046"/>
            <a:ext cx="2697480" cy="296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2A28"/>
                </a:solidFill>
                <a:latin typeface="Calibri"/>
              </a:rPr>
              <a:t>Satyam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71133"/>
            <a:ext cx="2697480" cy="212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$245m profit · 19.6% share · AA- credit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2336" y="3549152"/>
            <a:ext cx="542608" cy="180319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68096" y="3549152"/>
            <a:ext cx="1051560" cy="180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+3.83%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920398"/>
            <a:ext cx="2697480" cy="296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2A28"/>
                </a:solidFill>
                <a:latin typeface="Calibri"/>
              </a:rPr>
              <a:t>T5S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201485"/>
            <a:ext cx="2697480" cy="212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-$112m profit · 7.4% share · CCC credit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84609" y="4079504"/>
            <a:ext cx="2467727" cy="180319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3049" y="4079504"/>
            <a:ext cx="1051560" cy="180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B33A3A"/>
                </a:solidFill>
                <a:latin typeface="Calibri"/>
              </a:rPr>
              <a:t>-24.06%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50750"/>
            <a:ext cx="2697480" cy="296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2A28"/>
                </a:solidFill>
                <a:latin typeface="Calibri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731837"/>
            <a:ext cx="2697480" cy="212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-$392m profit · 2.0% share · CCC credit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4609856"/>
            <a:ext cx="3014776" cy="180319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4609856"/>
            <a:ext cx="1051560" cy="180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B33A3A"/>
                </a:solidFill>
                <a:latin typeface="Calibri"/>
              </a:rPr>
              <a:t>-29.39%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93792"/>
            <a:ext cx="11201400" cy="45720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193792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E7D72"/>
                </a:solidFill>
                <a:latin typeface="Calibri"/>
              </a:rPr>
              <a:t>Universe 2 aggregate profit this round: $1.10bn  •  Average TSR: -2.1%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320040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03 / RANK MOVEMENT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Rank movement: Round 5 → Round 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6367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5605D"/>
                </a:solidFill>
                <a:latin typeface="Calibri"/>
              </a:rPr>
              <a:t>R5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6367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5605D"/>
                </a:solidFill>
                <a:latin typeface="Calibri"/>
              </a:rPr>
              <a:t>R6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786384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2514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28"/>
                </a:solidFill>
                <a:latin typeface="Calibri"/>
              </a:rPr>
              <a:t>Blues Clues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993392"/>
            <a:ext cx="457200" cy="457200"/>
          </a:xfrm>
          <a:prstGeom prst="ellipse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1F2A2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965960"/>
            <a:ext cx="457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5605D"/>
                </a:solidFill>
                <a:latin typeface="Calibri"/>
              </a:rPr>
              <a:t>→</a:t>
            </a:r>
          </a:p>
        </p:txBody>
      </p:sp>
      <p:sp>
        <p:nvSpPr>
          <p:cNvPr id="11" name="Oval 10"/>
          <p:cNvSpPr/>
          <p:nvPr/>
        </p:nvSpPr>
        <p:spPr>
          <a:xfrm>
            <a:off x="4480560" y="1993392"/>
            <a:ext cx="457200" cy="457200"/>
          </a:xfrm>
          <a:prstGeom prst="ellipse">
            <a:avLst/>
          </a:prstGeom>
          <a:solidFill>
            <a:srgbClr val="DC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1F7A5C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965960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7A5C"/>
                </a:solidFill>
                <a:latin typeface="Calibri"/>
              </a:rPr>
              <a:t>↑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32888"/>
            <a:ext cx="786384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32888"/>
            <a:ext cx="2514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28"/>
                </a:solidFill>
                <a:latin typeface="Calibri"/>
              </a:rPr>
              <a:t>SEBI's Watchlist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0" y="2560320"/>
            <a:ext cx="457200" cy="457200"/>
          </a:xfrm>
          <a:prstGeom prst="ellipse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1F2A28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532888"/>
            <a:ext cx="457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5605D"/>
                </a:solidFill>
                <a:latin typeface="Calibri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4480560" y="2560320"/>
            <a:ext cx="457200" cy="457200"/>
          </a:xfrm>
          <a:prstGeom prst="ellipse">
            <a:avLst/>
          </a:prstGeom>
          <a:solidFill>
            <a:srgbClr val="DC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1F7A5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532888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7A5C"/>
                </a:solidFill>
                <a:latin typeface="Calibri"/>
              </a:rPr>
              <a:t>↑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9816"/>
            <a:ext cx="786384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099816"/>
            <a:ext cx="2514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28"/>
                </a:solidFill>
                <a:latin typeface="Calibri"/>
              </a:rPr>
              <a:t>Lehman Bros.</a:t>
            </a:r>
          </a:p>
        </p:txBody>
      </p:sp>
      <p:sp>
        <p:nvSpPr>
          <p:cNvPr id="21" name="Oval 20"/>
          <p:cNvSpPr/>
          <p:nvPr/>
        </p:nvSpPr>
        <p:spPr>
          <a:xfrm>
            <a:off x="3200400" y="3127248"/>
            <a:ext cx="457200" cy="457200"/>
          </a:xfrm>
          <a:prstGeom prst="ellipse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1F2A28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40" y="3099816"/>
            <a:ext cx="457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5605D"/>
                </a:solidFill>
                <a:latin typeface="Calibri"/>
              </a:rPr>
              <a:t>→</a:t>
            </a:r>
          </a:p>
        </p:txBody>
      </p:sp>
      <p:sp>
        <p:nvSpPr>
          <p:cNvPr id="23" name="Oval 22"/>
          <p:cNvSpPr/>
          <p:nvPr/>
        </p:nvSpPr>
        <p:spPr>
          <a:xfrm>
            <a:off x="4480560" y="3127248"/>
            <a:ext cx="457200" cy="457200"/>
          </a:xfrm>
          <a:prstGeom prst="ellipse">
            <a:avLst/>
          </a:prstGeom>
          <a:solidFill>
            <a:srgbClr val="F6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B33A3A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099816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B33A3A"/>
                </a:solidFill>
                <a:latin typeface="Calibri"/>
              </a:rPr>
              <a:t>↓ 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66744"/>
            <a:ext cx="786384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666744"/>
            <a:ext cx="2514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28"/>
                </a:solidFill>
                <a:latin typeface="Calibri"/>
              </a:rPr>
              <a:t>Satyam 2.0</a:t>
            </a:r>
          </a:p>
        </p:txBody>
      </p:sp>
      <p:sp>
        <p:nvSpPr>
          <p:cNvPr id="27" name="Oval 26"/>
          <p:cNvSpPr/>
          <p:nvPr/>
        </p:nvSpPr>
        <p:spPr>
          <a:xfrm>
            <a:off x="3200400" y="3694176"/>
            <a:ext cx="457200" cy="457200"/>
          </a:xfrm>
          <a:prstGeom prst="ellipse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1F2A28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40" y="3666744"/>
            <a:ext cx="457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5605D"/>
                </a:solidFill>
                <a:latin typeface="Calibri"/>
              </a:rPr>
              <a:t>→</a:t>
            </a:r>
          </a:p>
        </p:txBody>
      </p:sp>
      <p:sp>
        <p:nvSpPr>
          <p:cNvPr id="29" name="Oval 28"/>
          <p:cNvSpPr/>
          <p:nvPr/>
        </p:nvSpPr>
        <p:spPr>
          <a:xfrm>
            <a:off x="4480560" y="3694176"/>
            <a:ext cx="457200" cy="457200"/>
          </a:xfrm>
          <a:prstGeom prst="ellipse">
            <a:avLst/>
          </a:prstGeom>
          <a:solidFill>
            <a:srgbClr val="F6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B33A3A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3666744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B33A3A"/>
                </a:solidFill>
                <a:latin typeface="Calibri"/>
              </a:rPr>
              <a:t>↓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233672"/>
            <a:ext cx="786384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233672"/>
            <a:ext cx="2514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28"/>
                </a:solidFill>
                <a:latin typeface="Calibri"/>
              </a:rPr>
              <a:t>T5S</a:t>
            </a:r>
          </a:p>
        </p:txBody>
      </p:sp>
      <p:sp>
        <p:nvSpPr>
          <p:cNvPr id="33" name="Oval 32"/>
          <p:cNvSpPr/>
          <p:nvPr/>
        </p:nvSpPr>
        <p:spPr>
          <a:xfrm>
            <a:off x="3200400" y="4261104"/>
            <a:ext cx="457200" cy="457200"/>
          </a:xfrm>
          <a:prstGeom prst="ellipse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1F2A28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4233672"/>
            <a:ext cx="457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5605D"/>
                </a:solidFill>
                <a:latin typeface="Calibri"/>
              </a:rPr>
              <a:t>→</a:t>
            </a:r>
          </a:p>
        </p:txBody>
      </p:sp>
      <p:sp>
        <p:nvSpPr>
          <p:cNvPr id="35" name="Oval 34"/>
          <p:cNvSpPr/>
          <p:nvPr/>
        </p:nvSpPr>
        <p:spPr>
          <a:xfrm>
            <a:off x="4480560" y="4261104"/>
            <a:ext cx="457200" cy="457200"/>
          </a:xfrm>
          <a:prstGeom prst="ellipse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55605D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4233672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5605D"/>
                </a:solidFill>
                <a:latin typeface="Calibri"/>
              </a:rPr>
              <a:t>steady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800600"/>
            <a:ext cx="786384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800600"/>
            <a:ext cx="2514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28"/>
                </a:solidFill>
                <a:latin typeface="Calibri"/>
              </a:rPr>
              <a:t>Green</a:t>
            </a:r>
          </a:p>
        </p:txBody>
      </p:sp>
      <p:sp>
        <p:nvSpPr>
          <p:cNvPr id="39" name="Oval 38"/>
          <p:cNvSpPr/>
          <p:nvPr/>
        </p:nvSpPr>
        <p:spPr>
          <a:xfrm>
            <a:off x="3200400" y="4828032"/>
            <a:ext cx="457200" cy="457200"/>
          </a:xfrm>
          <a:prstGeom prst="ellipse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1F2A28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40" y="4800600"/>
            <a:ext cx="457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5605D"/>
                </a:solidFill>
                <a:latin typeface="Calibri"/>
              </a:rPr>
              <a:t>→</a:t>
            </a:r>
          </a:p>
        </p:txBody>
      </p:sp>
      <p:sp>
        <p:nvSpPr>
          <p:cNvPr id="41" name="Oval 40"/>
          <p:cNvSpPr/>
          <p:nvPr/>
        </p:nvSpPr>
        <p:spPr>
          <a:xfrm>
            <a:off x="4480560" y="4828032"/>
            <a:ext cx="457200" cy="457200"/>
          </a:xfrm>
          <a:prstGeom prst="ellipse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55605D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9240" y="4800600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5605D"/>
                </a:solidFill>
                <a:latin typeface="Calibri"/>
              </a:rPr>
              <a:t>steady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32520" y="1965960"/>
            <a:ext cx="2926080" cy="210312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42832" y="214884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28"/>
                </a:solidFill>
                <a:latin typeface="Calibri"/>
              </a:rPr>
              <a:t>Read this 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2832" y="2423160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Rank is a symptom.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Diagnose the mechanism through profit, R&amp;D discipline, share and credit quality.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320040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04 / LEADER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Blues Clues becomes the Round 6 TSR leader.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64008" cy="14173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CUMULATIVE TSR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+15.68%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80943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5605D"/>
                </a:solidFill>
                <a:latin typeface="Calibri"/>
              </a:rPr>
              <a:t>from +13.72% in R5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992" y="1874519"/>
            <a:ext cx="64008" cy="1417320"/>
          </a:xfrm>
          <a:prstGeom prst="rect">
            <a:avLst/>
          </a:prstGeom>
          <a:solidFill>
            <a:srgbClr val="1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THIS ROUND'S PROFIT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$736m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980943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5605D"/>
                </a:solidFill>
                <a:latin typeface="Calibri"/>
              </a:rPr>
              <a:t>$137m vs R5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874519"/>
            <a:ext cx="64008" cy="1417320"/>
          </a:xfrm>
          <a:prstGeom prst="rect">
            <a:avLst/>
          </a:prstGeom>
          <a:solidFill>
            <a:srgbClr val="E3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GLOBAL MARKET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31.3%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2980943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5605D"/>
                </a:solidFill>
                <a:latin typeface="Calibri"/>
              </a:rPr>
              <a:t>was 35.9%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7696" y="1874519"/>
            <a:ext cx="64008" cy="1417320"/>
          </a:xfrm>
          <a:prstGeom prst="rect">
            <a:avLst/>
          </a:prstGeom>
          <a:solidFill>
            <a:srgbClr val="4E7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CREDIT RATING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A+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980943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5605D"/>
                </a:solidFill>
                <a:latin typeface="Calibri"/>
              </a:rPr>
              <a:t>was AA-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913632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R&amp;D spend: $21m this round, versus $241m in Round 5. Credit weakened from AA- to A+.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320040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05 / SECOND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SEBI's Watchlist held second place behind the leader.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64008" cy="1417320"/>
          </a:xfrm>
          <a:prstGeom prst="rect">
            <a:avLst/>
          </a:prstGeom>
          <a:solidFill>
            <a:srgbClr val="1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THIS ROUND'S PROFIT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$330m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80943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5605D"/>
                </a:solidFill>
                <a:latin typeface="Calibri"/>
              </a:rPr>
              <a:t>rank 2 on TSR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992" y="1874519"/>
            <a:ext cx="64008" cy="14173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RETURN ON SALES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11.5%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874519"/>
            <a:ext cx="64008" cy="1417320"/>
          </a:xfrm>
          <a:prstGeom prst="rect">
            <a:avLst/>
          </a:prstGeom>
          <a:solidFill>
            <a:srgbClr val="4E7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RETURN ON CAPITAL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10.1%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97696" y="1874519"/>
            <a:ext cx="64008" cy="1417320"/>
          </a:xfrm>
          <a:prstGeom prst="rect">
            <a:avLst/>
          </a:prstGeom>
          <a:solidFill>
            <a:srgbClr val="E3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GLOBAL MARKET SHARE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21.5%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728" y="2980943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5605D"/>
                </a:solidFill>
                <a:latin typeface="Calibri"/>
              </a:rPr>
              <a:t>was 9.7%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8862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A close second is worth asking what the gap to first actually rewarded.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320040" cy="548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33A3A"/>
                </a:solidFill>
                <a:latin typeface="Calibri"/>
              </a:rPr>
              <a:t>06 / WARNING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Green closes Round 6 at the bottom of the 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64008" cy="141732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CUMULATIVE TSR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B33A3A"/>
                </a:solidFill>
                <a:latin typeface="Calibri"/>
              </a:rPr>
              <a:t>-29.39%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80943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5605D"/>
                </a:solidFill>
                <a:latin typeface="Calibri"/>
              </a:rPr>
              <a:t>was -15.34%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992" y="1874519"/>
            <a:ext cx="64008" cy="141732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THIS ROUND'S PROFIT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B33A3A"/>
                </a:solidFill>
                <a:latin typeface="Calibri"/>
              </a:rPr>
              <a:t>-$392m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874519"/>
            <a:ext cx="64008" cy="141732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CREDIT RATING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CCC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1874519"/>
            <a:ext cx="2615184" cy="1417320"/>
          </a:xfrm>
          <a:prstGeom prst="roundRect">
            <a:avLst>
              <a:gd name="adj" fmla="val 10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97696" y="1874519"/>
            <a:ext cx="64008" cy="141732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2020823"/>
            <a:ext cx="2203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5605D"/>
                </a:solidFill>
                <a:latin typeface="Calibri"/>
              </a:rPr>
              <a:t>RETURN ON SALES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313431"/>
            <a:ext cx="22037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B33A3A"/>
                </a:solidFill>
                <a:latin typeface="Calibri"/>
              </a:rPr>
              <a:t>-91.4%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0332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6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86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R&amp;D spending held roughly steady to $16m, from $16m in Round 5. A large R&amp;D or cost bet only helps if the market rewards it in demand and share.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320040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07 / PATTERNS ACROSS THE UNIVERSE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R&amp;D bets and credit quality moved together for some, apart for others.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394960" cy="393192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BIGGEST R&amp;D SWINGS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F2A28"/>
                </a:solidFill>
                <a:latin typeface="Calibri"/>
              </a:rPr>
              <a:t>Satyam 2.0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F2A28"/>
                </a:solidFill>
                <a:latin typeface="Calibri"/>
              </a:rPr>
              <a:t>$550m → $0m  (down sharply)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F2A28"/>
                </a:solidFill>
                <a:latin typeface="Calibri"/>
              </a:rPr>
              <a:t>Blues Clues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F2A28"/>
                </a:solidFill>
                <a:latin typeface="Calibri"/>
              </a:rPr>
              <a:t>$241m → $21m  (down sharply)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720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F2A28"/>
                </a:solidFill>
                <a:latin typeface="Calibri"/>
              </a:rPr>
              <a:t>Lehman Bros.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F2A28"/>
                </a:solidFill>
                <a:latin typeface="Calibri"/>
              </a:rPr>
              <a:t>$362m → $142m  (down sharply)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74519"/>
            <a:ext cx="5394960" cy="393192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CREDIT-RATING DIRECTION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468880"/>
            <a:ext cx="4937760" cy="960120"/>
          </a:xfrm>
          <a:prstGeom prst="roundRect">
            <a:avLst>
              <a:gd name="adj" fmla="val 8000"/>
            </a:avLst>
          </a:prstGeom>
          <a:solidFill>
            <a:srgbClr val="DC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5603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IMPROVED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Satyam 2.0, Lehman Bros., SEBI's Watchlist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52044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6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WEAKENED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Green, Blues Clues, T5S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-1188720"/>
            <a:ext cx="2926080" cy="2560320"/>
          </a:xfrm>
          <a:prstGeom prst="ellipse">
            <a:avLst/>
          </a:prstGeom>
          <a:solidFill>
            <a:srgbClr val="DDE8D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320040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08 / DISCUSS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2A28"/>
                </a:solidFill>
                <a:latin typeface="Calibri"/>
              </a:rPr>
              <a:t>Five questions for this round's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0881360" cy="713232"/>
          </a:xfrm>
          <a:prstGeom prst="roundRect">
            <a:avLst>
              <a:gd name="adj" fmla="val 2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130552"/>
            <a:ext cx="384048" cy="384048"/>
          </a:xfrm>
          <a:prstGeom prst="ellipse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1965960"/>
            <a:ext cx="9966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What did Blues Clues change that the rest of the universe didn't?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07208"/>
            <a:ext cx="10881360" cy="713232"/>
          </a:xfrm>
          <a:prstGeom prst="roundRect">
            <a:avLst>
              <a:gd name="adj" fmla="val 2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971800"/>
            <a:ext cx="384048" cy="384048"/>
          </a:xfrm>
          <a:prstGeom prst="ellipse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807208"/>
            <a:ext cx="9966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What would Blues Clues need to change to stay on top in Round 7?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48456"/>
            <a:ext cx="10881360" cy="713232"/>
          </a:xfrm>
          <a:prstGeom prst="roundRect">
            <a:avLst>
              <a:gd name="adj" fmla="val 2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813048"/>
            <a:ext cx="384048" cy="384048"/>
          </a:xfrm>
          <a:prstGeom prst="ellipse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648456"/>
            <a:ext cx="9966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What assumption explains Green's position at the bottom of the table?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89704"/>
            <a:ext cx="10881360" cy="713232"/>
          </a:xfrm>
          <a:prstGeom prst="roundRect">
            <a:avLst>
              <a:gd name="adj" fmla="val 2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654296"/>
            <a:ext cx="384048" cy="384048"/>
          </a:xfrm>
          <a:prstGeom prst="ellipse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4489704"/>
            <a:ext cx="9966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Which rank move in this round reflects real strategic learning, and which reflects noise?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30952"/>
            <a:ext cx="10881360" cy="713232"/>
          </a:xfrm>
          <a:prstGeom prst="roundRect">
            <a:avLst>
              <a:gd name="adj" fmla="val 28000"/>
            </a:avLst>
          </a:prstGeom>
          <a:solidFill>
            <a:srgbClr val="FCFBF8"/>
          </a:solidFill>
          <a:ln w="9525">
            <a:solidFill>
              <a:srgbClr val="C3D8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495544"/>
            <a:ext cx="384048" cy="384048"/>
          </a:xfrm>
          <a:prstGeom prst="ellipse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5330952"/>
            <a:ext cx="9966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F2A28"/>
                </a:solidFill>
                <a:latin typeface="Calibri"/>
              </a:rPr>
              <a:t>If you were advising the weakest team for one decision only, what would it be?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371600"/>
            <a:ext cx="4114800" cy="3657600"/>
          </a:xfrm>
          <a:prstGeom prst="ellipse">
            <a:avLst/>
          </a:prstGeom>
          <a:solidFill>
            <a:srgbClr val="4E7D7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TEACHING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Rank tells you who is ahead. It does not tell you why.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10881360" cy="292608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Universe 2 closed Round 6 with $1.10bn in aggregate profit and an average TSR of -2.1%.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Blues Clues leads on both counts this round — the cumulative TSR leader and the strongest single-round economics.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Going into Round 7, the open question for every team is the same one: did this round's decision change the causal chain, or just the scoreboard?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GL Sec C • U2 R6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605D"/>
                </a:solidFill>
                <a:latin typeface="Calibri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