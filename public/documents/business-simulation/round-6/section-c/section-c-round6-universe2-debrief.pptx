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A79B"/>
                </a:solidFill>
                <a:latin typeface="Calibri"/>
              </a:rPr>
              <a:t>CESIM Global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28"/>
                </a:solidFill>
                <a:latin typeface="Calibri"/>
              </a:rPr>
              <a:t>Section C Universe 2: Round 6 Comparative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5552"/>
                </a:solidFill>
                <a:latin typeface="Calibri"/>
              </a:rPr>
              <a:t>GL Sec C Group · Round 5 → Round 6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06040" cy="868680"/>
          </a:xfrm>
          <a:prstGeom prst="roundRect">
            <a:avLst>
              <a:gd name="adj" fmla="val 1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212848"/>
            <a:ext cx="2386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4A5552"/>
                </a:solidFill>
                <a:latin typeface="Calibri"/>
              </a:rPr>
              <a:t>R6 LEADER BY TSR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78024"/>
            <a:ext cx="2386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A28"/>
                </a:solidFill>
                <a:latin typeface="Calibri"/>
              </a:rPr>
              <a:t>Blues Clues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48840"/>
            <a:ext cx="2606040" cy="868680"/>
          </a:xfrm>
          <a:prstGeom prst="roundRect">
            <a:avLst>
              <a:gd name="adj" fmla="val 18000"/>
            </a:avLst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2212848"/>
            <a:ext cx="2386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4A5552"/>
                </a:solidFill>
                <a:latin typeface="Calibri"/>
              </a:rPr>
              <a:t>R6 PROFIT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478024"/>
            <a:ext cx="2386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A28"/>
                </a:solidFill>
                <a:latin typeface="Calibri"/>
              </a:rPr>
              <a:t>Blues Clues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148840"/>
            <a:ext cx="2606040" cy="868680"/>
          </a:xfrm>
          <a:prstGeom prst="roundRect">
            <a:avLst>
              <a:gd name="adj" fmla="val 1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2212848"/>
            <a:ext cx="2386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4A5552"/>
                </a:solidFill>
                <a:latin typeface="Calibri"/>
              </a:rPr>
              <a:t>BIGGEST RISER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478024"/>
            <a:ext cx="2386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A28"/>
                </a:solidFill>
                <a:latin typeface="Calibri"/>
              </a:rPr>
              <a:t>SEBI's Watchlist (4→2)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148840"/>
            <a:ext cx="2606040" cy="868680"/>
          </a:xfrm>
          <a:prstGeom prst="roundRect">
            <a:avLst>
              <a:gd name="adj" fmla="val 18000"/>
            </a:avLst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9408" y="2212848"/>
            <a:ext cx="2386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4A5552"/>
                </a:solidFill>
                <a:latin typeface="Calibri"/>
              </a:rPr>
              <a:t>BIGGEST FALLER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2478024"/>
            <a:ext cx="2386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A28"/>
                </a:solidFill>
                <a:latin typeface="Calibri"/>
              </a:rPr>
              <a:t>Lehman Bros. (1→3)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37560"/>
            <a:ext cx="694944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DD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5643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Core teaching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A28"/>
                </a:solidFill>
                <a:latin typeface="Calibri"/>
              </a:rPr>
              <a:t>Which teams converted Round 6 decisions into durable shareholder value, and which merely created activity?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337560"/>
            <a:ext cx="4069080" cy="105156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45643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A28"/>
                </a:solidFill>
                <a:latin typeface="Calibri"/>
              </a:rPr>
              <a:t>Socratic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703320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Did the leader earn it, or did a rival lose it?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Which rank move is a real strategy shift?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17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A5552"/>
                </a:solidFill>
                <a:latin typeface="Calibri"/>
              </a:rPr>
              <a:t>Ranking criterion: cumulative total shareholder return (TSR, p.a., %). Source: Section C Universe 2 Round 6 results workbook, compared against Round 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GL Sec C • U2 R6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01 / GL SEC C • U2 R6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2A28"/>
                </a:solidFill>
                <a:latin typeface="Calibri"/>
              </a:rPr>
              <a:t>Start with the causal chain, not the leaderboard.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500" b="0" i="0">
                <a:solidFill>
                  <a:srgbClr val="1F2A28"/>
                </a:solidFill>
                <a:latin typeface="Calibri"/>
              </a:rPr>
              <a:t>•  Demand creates revenue; costs and capacity decide margins; cash and debt shape risk; risk changes valuation.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500" b="0" i="0">
                <a:solidFill>
                  <a:srgbClr val="1F2A28"/>
                </a:solidFill>
                <a:latin typeface="Calibri"/>
              </a:rPr>
              <a:t>•  Cumulative TSR after Round 6 reflects 6 rounds of decisions, not only this round's score.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500" b="0" i="0">
                <a:solidFill>
                  <a:srgbClr val="1F2A28"/>
                </a:solidFill>
                <a:latin typeface="Calibri"/>
              </a:rPr>
              <a:t>•  A team can improve its own economics and still fall in rank if rivals compounded faster — relative and absolute performance are different questions.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GL Sec C • U2 R6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02 / ROUND 6 STANDINGS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2A28"/>
                </a:solidFill>
                <a:latin typeface="Calibri"/>
              </a:rPr>
              <a:t>Round 6 leaderboard by cumulative TSR.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37360"/>
          <a:ext cx="11201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926080"/>
                <a:gridCol w="1737360"/>
                <a:gridCol w="2194560"/>
                <a:gridCol w="1737360"/>
                <a:gridCol w="17830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TSR (p.a.)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This round's profit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Global share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Blues Clues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+15.68%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$736m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31.3%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A+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SEBI's Watchlist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+11.38%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$330m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21.5%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AA-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Lehman Bros.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+9.98%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$293m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18.1%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AAA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Satyam 2.0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+3.83%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$245m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19.6%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AA-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T5S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-24.06%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-$112m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CCC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-29.39%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-$392m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CCC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78A79B"/>
                </a:solidFill>
                <a:latin typeface="Calibri"/>
              </a:rPr>
              <a:t>Universe 2 aggregate profit this round: $1.10bn  •  Average TSR: -2.1%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GL Sec C • U2 R6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03 / RANK MOVEMENT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2A28"/>
                </a:solidFill>
                <a:latin typeface="Calibri"/>
              </a:rPr>
              <a:t>Rank movement: Round 5 → Round 6.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3736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840480"/>
                <a:gridCol w="146304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R5 rank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R6 rank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Move</a:t>
                      </a:r>
                    </a:p>
                  </a:txBody>
                  <a:tcPr anchor="ctr">
                    <a:solidFill>
                      <a:srgbClr val="78A79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Blues Clues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↑ 1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SEBI's Watchlist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↑ 2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Lehman Bros.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↓ 2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Satyam 2.0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↓ 1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T5S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no change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A28"/>
                          </a:solidFill>
                          <a:latin typeface="Calibri"/>
                        </a:rPr>
                        <a:t>no change</a:t>
                      </a:r>
                    </a:p>
                  </a:txBody>
                  <a:tcPr anchor="ctr" marT="38100" marB="38100">
                    <a:solidFill>
                      <a:srgbClr val="DDE8D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281160" y="1737360"/>
            <a:ext cx="2423160" cy="201168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874519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A28"/>
                </a:solidFill>
                <a:latin typeface="Calibri"/>
              </a:rPr>
              <a:t>Read this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214884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A28"/>
                </a:solidFill>
                <a:latin typeface="Calibri"/>
              </a:rPr>
              <a:t>Rank is a symptom.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A28"/>
                </a:solidFill>
                <a:latin typeface="Calibri"/>
              </a:rPr>
              <a:t>Diagnose the mechanism through profit, R&amp;D discipline, share and credit quality.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GL Sec C • U2 R6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04 / LEADER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2A28"/>
                </a:solidFill>
                <a:latin typeface="Calibri"/>
              </a:rPr>
              <a:t>Blues Clues becomes the Round 6 TSR leader.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Cumulative TSR: +15.68%, up from +13.72% in Round 5.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This round's profit: $736m, a change of $137m from Round 5.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R&amp;D spend: $21m this round, versus $241m in Round 5.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Global market share: 31.3%. Credit rating: A+.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Credit rating weakened from AA- to A+.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GL Sec C • U2 R6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05 / SECOND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2A28"/>
                </a:solidFill>
                <a:latin typeface="Calibri"/>
              </a:rPr>
              <a:t>SEBI's Watchlist held second place behind the leader.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Cumulative TSR: +11.38%, versus Blues Clues's +15.68%.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This round's profit: $330m. Return on capital employed: 10.1%.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Global market share: 21.5%, versus 9.7% in Round 5.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A close second is worth asking what the gap to first actually rewarded.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GL Sec C • U2 R6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06 / WARNING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2A28"/>
                </a:solidFill>
                <a:latin typeface="Calibri"/>
              </a:rPr>
              <a:t>Green closes Round 6 at the bottom of the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Cumulative TSR: -29.39%, versus -15.34% in Round 5.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This round's profit: -$392m. Credit rating: CCC.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R&amp;D spending held roughly steady to $16m, from $16m in Round 5.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Return on sales: -91.4%. A large R&amp;D or cost bet only helps if the market rewards it in demand and share.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GL Sec C • U2 R6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07 / PATTERNS ACROSS THE UNIVERSE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2A28"/>
                </a:solidFill>
                <a:latin typeface="Calibri"/>
              </a:rPr>
              <a:t>R&amp;D bets and credit quality moved together for some, apart for others.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 i="0">
                <a:solidFill>
                  <a:srgbClr val="1F2A28"/>
                </a:solidFill>
                <a:latin typeface="Calibri"/>
              </a:rPr>
              <a:t>•  Biggest R&amp;D swings this round: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 i="0">
                <a:solidFill>
                  <a:srgbClr val="1F2A28"/>
                </a:solidFill>
                <a:latin typeface="Calibri"/>
              </a:rPr>
              <a:t>•  Satyam 2.0: R&amp;D $550m → $0m (down sharply)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 i="0">
                <a:solidFill>
                  <a:srgbClr val="1F2A28"/>
                </a:solidFill>
                <a:latin typeface="Calibri"/>
              </a:rPr>
              <a:t>•  Blues Clues: R&amp;D $241m → $21m (down sharply)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 i="0">
                <a:solidFill>
                  <a:srgbClr val="1F2A28"/>
                </a:solidFill>
                <a:latin typeface="Calibri"/>
              </a:rPr>
              <a:t>•  Lehman Bros.: R&amp;D $362m → $142m (down sharply)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 i="0">
                <a:solidFill>
                  <a:srgbClr val="1F2A28"/>
                </a:solidFill>
                <a:latin typeface="Calibri"/>
              </a:rPr>
              <a:t>•  Credit-rating direction this round: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 i="0">
                <a:solidFill>
                  <a:srgbClr val="1F2A28"/>
                </a:solidFill>
                <a:latin typeface="Calibri"/>
              </a:rPr>
              <a:t>•  Credit improved: Satyam 2.0, Lehman Bros., SEBI's Watchlist.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350" b="0" i="0">
                <a:solidFill>
                  <a:srgbClr val="1F2A28"/>
                </a:solidFill>
                <a:latin typeface="Calibri"/>
              </a:rPr>
              <a:t>•  Credit weakened: Green, Blues Clues, T5S.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GL Sec C • U2 R6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08 / 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2A28"/>
                </a:solidFill>
                <a:latin typeface="Calibri"/>
              </a:rPr>
              <a:t>Five questions for this round's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584"/>
              </a:spcAft>
            </a:pPr>
            <a:r>
              <a:rPr sz="1500" b="0" i="0">
                <a:solidFill>
                  <a:srgbClr val="1F2A28"/>
                </a:solidFill>
                <a:latin typeface="Calibri"/>
              </a:rPr>
              <a:t>•  What did Blues Clues change that the rest of the universe didn't?</a:t>
            </a:r>
          </a:p>
          <a:p>
            <a:pPr>
              <a:lnSpc>
                <a:spcPct val="112000"/>
              </a:lnSpc>
              <a:spcAft>
                <a:spcPts val="1584"/>
              </a:spcAft>
            </a:pPr>
            <a:r>
              <a:rPr sz="1500" b="0" i="0">
                <a:solidFill>
                  <a:srgbClr val="1F2A28"/>
                </a:solidFill>
                <a:latin typeface="Calibri"/>
              </a:rPr>
              <a:t>•  What would Blues Clues need to change to stay on top in Round 7?</a:t>
            </a:r>
          </a:p>
          <a:p>
            <a:pPr>
              <a:lnSpc>
                <a:spcPct val="112000"/>
              </a:lnSpc>
              <a:spcAft>
                <a:spcPts val="1584"/>
              </a:spcAft>
            </a:pPr>
            <a:r>
              <a:rPr sz="1500" b="0" i="0">
                <a:solidFill>
                  <a:srgbClr val="1F2A28"/>
                </a:solidFill>
                <a:latin typeface="Calibri"/>
              </a:rPr>
              <a:t>•  What assumption explains Green's position at the bottom of the table?</a:t>
            </a:r>
          </a:p>
          <a:p>
            <a:pPr>
              <a:lnSpc>
                <a:spcPct val="112000"/>
              </a:lnSpc>
              <a:spcAft>
                <a:spcPts val="1584"/>
              </a:spcAft>
            </a:pPr>
            <a:r>
              <a:rPr sz="1500" b="0" i="0">
                <a:solidFill>
                  <a:srgbClr val="1F2A28"/>
                </a:solidFill>
                <a:latin typeface="Calibri"/>
              </a:rPr>
              <a:t>•  Which rank move in this round reflects real strategic learning, and which reflects noise?</a:t>
            </a:r>
          </a:p>
          <a:p>
            <a:pPr>
              <a:lnSpc>
                <a:spcPct val="112000"/>
              </a:lnSpc>
              <a:spcAft>
                <a:spcPts val="1584"/>
              </a:spcAft>
            </a:pPr>
            <a:r>
              <a:rPr sz="1500" b="0" i="0">
                <a:solidFill>
                  <a:srgbClr val="1F2A28"/>
                </a:solidFill>
                <a:latin typeface="Calibri"/>
              </a:rPr>
              <a:t>•  If you were advising the weakest team for one decision only, what would it be?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GL Sec C • U2 R6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TEACHING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Rank tells you who is ahead. It does not tell you why.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0881360" cy="29260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Universe 2 closed Round 6 with $1.10bn in aggregate profit and an average TSR of -2.1%.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Blues Clues leads on both counts this round — the cumulative TSR leader and the strongest single-round economics.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Going into Round 7, the open question for every team is the same one: did this round's decision change the causal chain, or just the scoreboard?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GL Sec C • U2 R6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