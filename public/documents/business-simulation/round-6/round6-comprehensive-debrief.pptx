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760720"/>
            <a:ext cx="2468880" cy="1463040"/>
          </a:xfrm>
          <a:prstGeom prst="ellipse">
            <a:avLst/>
          </a:prstGeom>
          <a:solidFill>
            <a:srgbClr val="EFE2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2A28"/>
                </a:solidFill>
                <a:latin typeface="Calibri"/>
              </a:rPr>
              <a:t>Round 6 Comprehensive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Sections C &amp; D • Universe 1 &amp; 2 • the full Round 1→Round 6 story in one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6949440" cy="123444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Which cohort built the most coherent system — not merely the highest number?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33172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4688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What's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4320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4 leaderboards · 4 rank flows · 4 life journeys · one cross-cohort 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1/21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One color code, used the same way on every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0881360" cy="77724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216255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965960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Leaderboards rank by cumulative total shareholder return (TSR, p.a., %) — the simulation's principal shareholder-value measure.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71216"/>
            <a:ext cx="10881360" cy="77724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306781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871216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Rank-flow and life-journey chips: green means the rank improved, red means it weakened, grey means it held steady versus the previous 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76472"/>
            <a:ext cx="10881360" cy="77724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397306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776472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Every figure in this deck is pulled directly from the section's own Round 6 results workbook, cross-checked against Round 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81728"/>
            <a:ext cx="10881360" cy="77724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878324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681728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No animation anywhere in this deck — every slide shows its full data at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C • UNIVERSE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C-U1: Round 6 leaderboard.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874519"/>
            <a:ext cx="12700" cy="3713444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0433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71594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$1.04bn profit · 16.6% share · BB+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2049581"/>
            <a:ext cx="4163263" cy="180367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88751" y="2049581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+12.52%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0925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02086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$806m profit · 13.1% share · AA-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580073"/>
            <a:ext cx="3524480" cy="180367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9968" y="2580073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+10.60%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51417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Harshad Mehta 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32578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$583m profit · 20.4% share · 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110565"/>
            <a:ext cx="2964028" cy="180367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9516" y="3110565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+8.91%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81910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Akatsuki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63070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$289m profit · 12.6% share · AA-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641057"/>
            <a:ext cx="830996" cy="180367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6484" y="3641057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+2.50%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12402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Big Bulls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93562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$201m profit · 7.8% share · A-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2336" y="4171549"/>
            <a:ext cx="257462" cy="180367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2950" y="4171549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+0.77%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42894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Pink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4055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$147m profit · 11.7% share · BB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7808" y="4702041"/>
            <a:ext cx="1924528" cy="180367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6248" y="4702041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-7.99%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73386"/>
            <a:ext cx="2697480" cy="297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54547"/>
            <a:ext cx="2697480" cy="212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-$775m profit · 17.8% share · CC credit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52620" y="5232533"/>
            <a:ext cx="2199716" cy="180367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1060" y="5232533"/>
            <a:ext cx="1051560" cy="1803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-9.13%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80644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Aggregate profit this round: $2.29bn  •  Average TSR: +2.6%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C • UNIVERSE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C-U1: rank movement,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Harshad Mehta Gang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Akatsuki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Big Bulls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Pink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36752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36752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45" name="Oval 44"/>
          <p:cNvSpPr/>
          <p:nvPr/>
        </p:nvSpPr>
        <p:spPr>
          <a:xfrm>
            <a:off x="3200400" y="539496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40" y="536752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7" name="Oval 46"/>
          <p:cNvSpPr/>
          <p:nvPr/>
        </p:nvSpPr>
        <p:spPr>
          <a:xfrm>
            <a:off x="4480560" y="5394960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C • UNIVERSE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C-U2: Round 6 leaderboard.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874519"/>
            <a:ext cx="12700" cy="3703321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303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2016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$736m profit · 31.3% share · A+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2078201"/>
            <a:ext cx="2220131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5619" y="207820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+15.68%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025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SEBI's Watchlist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738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$330m profit · 21.5% share · AA-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695421"/>
            <a:ext cx="1611750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238" y="269542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+11.38%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2747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Lehman Bros.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5460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$293m profit · 18.1% share · AAA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312641"/>
            <a:ext cx="1413675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9163" y="331264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4469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Satyam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7182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$245m profit · 19.6% share · AA-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929862"/>
            <a:ext cx="542608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8096" y="392986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+3.83%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6191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T5S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8904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-$112m profit · 7.4% share · CCC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4609" y="4547082"/>
            <a:ext cx="2467727" cy="20985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3049" y="454708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-24.06%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7913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06263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-$392m profit · 2.0% share · CCC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5164302"/>
            <a:ext cx="3014776" cy="20985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16430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-29.39%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0644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Aggregate profit this round: $1.10bn  •  Average TSR: -2.1%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C • UNIVERSE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C-U2: rank movement,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SEBI's Watchlist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Lehman Bros.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Satyam 2.0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T5S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C • U1 VS U2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Section C: Universe 1 led on scale, profit, margin and TSR alike.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201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Universe 1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Universe 2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$24.40bn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$13.66bn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U1 higher by $10.74bn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$2.29bn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$1.10bn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U1 higher by $1.19bn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Profit margin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U1 +1.4 pp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Average TSR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U1 +4.7 pp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R&amp;D spend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$0.83bn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$0.20bn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U1 invests $0.63bn more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D • UNIVERSE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D-U1: Round 6 leaderboard.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874519"/>
            <a:ext cx="12700" cy="3703321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303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2016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$134m profit · 18.5% share · AA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2078201"/>
            <a:ext cx="4163263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88751" y="207820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025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Red Rangers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738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$455m profit · 14.3% share · AA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695421"/>
            <a:ext cx="4151360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6848" y="269542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+9.09%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2747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5460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$543m profit · 16.0% share · AAA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312641"/>
            <a:ext cx="4001794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7282" y="331264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+8.77%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4469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7182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$477m profit · 26.5% share · AA-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929862"/>
            <a:ext cx="2661760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7248" y="392986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+5.83%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6191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8904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$95m profit · 14.4% share · A-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0183" y="4547082"/>
            <a:ext cx="1362153" cy="20985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8623" y="454708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-4.12%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7913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06263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$357m profit · 10.2% share · A+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9662" y="5164302"/>
            <a:ext cx="1362674" cy="20985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8102" y="516430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-4.12%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0644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Aggregate profit this round: $2.06bn  •  Average TSR: +4.1%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D • UNIVERSE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D-U1: rank movement,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Red Rangers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D • UNIVERSE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D-U2: Round 6 leaderboard.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874519"/>
            <a:ext cx="12700" cy="3703321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303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2016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$630m profit · 19.5% share · AA+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2078201"/>
            <a:ext cx="3779854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05342" y="207820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+14.29%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025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738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$692m profit · 21.1% share · A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695421"/>
            <a:ext cx="2623128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8616" y="269542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27475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The Godfathers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5460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$354m profit · 16.1% share · 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312641"/>
            <a:ext cx="1675691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179" y="3312641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+6.34%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4469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7182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$61m profit · 17.1% share · BB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929862"/>
            <a:ext cx="1292116" cy="20985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604" y="392986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+4.89%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6191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89042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-$272m profit · 13.6% share · C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55333" y="4547082"/>
            <a:ext cx="897003" cy="20985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3773" y="454708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-4.68%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79136"/>
            <a:ext cx="2697480" cy="3456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06263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-$872m profit · 12.7% share · C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5164302"/>
            <a:ext cx="3014776" cy="20985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164302"/>
            <a:ext cx="1051560" cy="209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-15.74%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0644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Aggregate profit this round: $593m  •  Average TSR: +2.5%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D • UNIVERSE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D-U2: rank movement,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The Godfathers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Red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SECTION D • U1 VS U2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Section D: Universe 2 bought scale with Universe 1's discipline nowhere to be found.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201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Universe 1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Universe 2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$14.79bn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$19.29bn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U2 higher by $4.50bn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$2.06bn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$0.59bn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U2 lower by $1.47bn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Profit margin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U2 -10.8 pp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Unplanned debt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$1.57bn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$5.56bn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U2 adds $3.99bn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R&amp;D spend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$0.41bn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$1.79bn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U2 adds $1.38bn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LIFE JOURNEY • C-U1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C-U1: every team's rank, Round 1 to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55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13" name="Oval 12"/>
          <p:cNvSpPr/>
          <p:nvPr/>
        </p:nvSpPr>
        <p:spPr>
          <a:xfrm>
            <a:off x="2276856" y="2001621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965960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849624" y="2001621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965960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422392" y="2001621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65960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2001621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1965960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567928" y="2001621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1965960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10140696" y="2001621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965960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08068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26" name="Oval 25"/>
          <p:cNvSpPr/>
          <p:nvPr/>
        </p:nvSpPr>
        <p:spPr>
          <a:xfrm>
            <a:off x="2276856" y="2543730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508068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3849624" y="2543730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2508068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5422392" y="2543730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508068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2543730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2508068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8567928" y="2543730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2508068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0140696" y="2543730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508068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050177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Harshad Mehta Gang</a:t>
            </a:r>
          </a:p>
        </p:txBody>
      </p:sp>
      <p:sp>
        <p:nvSpPr>
          <p:cNvPr id="39" name="Oval 38"/>
          <p:cNvSpPr/>
          <p:nvPr/>
        </p:nvSpPr>
        <p:spPr>
          <a:xfrm>
            <a:off x="2276856" y="3085838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050177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3849624" y="3085838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3050177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5422392" y="3085838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050177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5" name="Oval 44"/>
          <p:cNvSpPr/>
          <p:nvPr/>
        </p:nvSpPr>
        <p:spPr>
          <a:xfrm>
            <a:off x="6995160" y="3085838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208" y="3050177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7" name="Oval 46"/>
          <p:cNvSpPr/>
          <p:nvPr/>
        </p:nvSpPr>
        <p:spPr>
          <a:xfrm>
            <a:off x="8567928" y="3085838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3050177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9" name="Oval 48"/>
          <p:cNvSpPr/>
          <p:nvPr/>
        </p:nvSpPr>
        <p:spPr>
          <a:xfrm>
            <a:off x="10140696" y="3085838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050177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3592285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Akatsuki</a:t>
            </a:r>
          </a:p>
        </p:txBody>
      </p:sp>
      <p:sp>
        <p:nvSpPr>
          <p:cNvPr id="52" name="Oval 51"/>
          <p:cNvSpPr/>
          <p:nvPr/>
        </p:nvSpPr>
        <p:spPr>
          <a:xfrm>
            <a:off x="2276856" y="3627947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0904" y="3592285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3849624" y="3627947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3592285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6" name="Oval 55"/>
          <p:cNvSpPr/>
          <p:nvPr/>
        </p:nvSpPr>
        <p:spPr>
          <a:xfrm>
            <a:off x="5422392" y="3627947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3592285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6995160" y="3627947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9208" y="3592285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0" name="Oval 59"/>
          <p:cNvSpPr/>
          <p:nvPr/>
        </p:nvSpPr>
        <p:spPr>
          <a:xfrm>
            <a:off x="8567928" y="3627947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51976" y="3592285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10140696" y="3627947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592285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134394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Big Bulls</a:t>
            </a:r>
          </a:p>
        </p:txBody>
      </p:sp>
      <p:sp>
        <p:nvSpPr>
          <p:cNvPr id="65" name="Oval 64"/>
          <p:cNvSpPr/>
          <p:nvPr/>
        </p:nvSpPr>
        <p:spPr>
          <a:xfrm>
            <a:off x="2276856" y="4170055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60904" y="4134394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3849624" y="4170055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672" y="4134394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5422392" y="4170055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6440" y="4134394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6995160" y="4170055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4134394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567928" y="4170055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51976" y="4134394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10140696" y="4170055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4134394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676502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Pink</a:t>
            </a:r>
          </a:p>
        </p:txBody>
      </p:sp>
      <p:sp>
        <p:nvSpPr>
          <p:cNvPr id="78" name="Oval 77"/>
          <p:cNvSpPr/>
          <p:nvPr/>
        </p:nvSpPr>
        <p:spPr>
          <a:xfrm>
            <a:off x="2276856" y="4712164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0904" y="4676502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3849624" y="4712164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3672" y="4676502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5422392" y="4712164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4676502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6995160" y="4712164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9208" y="4676502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567928" y="4712164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51976" y="4676502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8" name="Oval 87"/>
          <p:cNvSpPr/>
          <p:nvPr/>
        </p:nvSpPr>
        <p:spPr>
          <a:xfrm>
            <a:off x="10140696" y="4712164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2720" y="4676502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5218611"/>
            <a:ext cx="18288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91" name="Oval 90"/>
          <p:cNvSpPr/>
          <p:nvPr/>
        </p:nvSpPr>
        <p:spPr>
          <a:xfrm>
            <a:off x="2276856" y="5254273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60904" y="5218611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93" name="Oval 92"/>
          <p:cNvSpPr/>
          <p:nvPr/>
        </p:nvSpPr>
        <p:spPr>
          <a:xfrm>
            <a:off x="3849624" y="5254273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33672" y="5218611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95" name="Oval 94"/>
          <p:cNvSpPr/>
          <p:nvPr/>
        </p:nvSpPr>
        <p:spPr>
          <a:xfrm>
            <a:off x="5422392" y="5254273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06440" y="5218611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97" name="Oval 96"/>
          <p:cNvSpPr/>
          <p:nvPr/>
        </p:nvSpPr>
        <p:spPr>
          <a:xfrm>
            <a:off x="6995160" y="5254273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79208" y="5218611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99" name="Oval 98"/>
          <p:cNvSpPr/>
          <p:nvPr/>
        </p:nvSpPr>
        <p:spPr>
          <a:xfrm>
            <a:off x="8567928" y="5254273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51976" y="5218611"/>
            <a:ext cx="118872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01" name="Oval 100"/>
          <p:cNvSpPr/>
          <p:nvPr/>
        </p:nvSpPr>
        <p:spPr>
          <a:xfrm>
            <a:off x="10140696" y="5254273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32720" y="5218611"/>
            <a:ext cx="1371600" cy="4553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6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2920" y="589788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E7D72"/>
                </a:solidFill>
                <a:latin typeface="Calibri"/>
              </a:rPr>
              <a:t>Lakshmi Chit Fund's late reversal (7th → 1st) is the clearest turnaround; Grey's steady slide (1st → 7th) is the clearest warning.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13/21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LIFE JOURNEY • C-U2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C-U2: every team's rank, Round 1 to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55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13" name="Oval 12"/>
          <p:cNvSpPr/>
          <p:nvPr/>
        </p:nvSpPr>
        <p:spPr>
          <a:xfrm>
            <a:off x="2276856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849624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422392" y="20395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20395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567928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10140696" y="20395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96596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9842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SEBI's Watchlist</a:t>
            </a:r>
          </a:p>
        </p:txBody>
      </p:sp>
      <p:sp>
        <p:nvSpPr>
          <p:cNvPr id="26" name="Oval 25"/>
          <p:cNvSpPr/>
          <p:nvPr/>
        </p:nvSpPr>
        <p:spPr>
          <a:xfrm>
            <a:off x="2276856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3849624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5422392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267202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8567928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0140696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59842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3088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Lehman Bros.</a:t>
            </a:r>
          </a:p>
        </p:txBody>
      </p:sp>
      <p:sp>
        <p:nvSpPr>
          <p:cNvPr id="39" name="Oval 38"/>
          <p:cNvSpPr/>
          <p:nvPr/>
        </p:nvSpPr>
        <p:spPr>
          <a:xfrm>
            <a:off x="2276856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3849624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5422392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5" name="Oval 44"/>
          <p:cNvSpPr/>
          <p:nvPr/>
        </p:nvSpPr>
        <p:spPr>
          <a:xfrm>
            <a:off x="6995160" y="330448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208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7" name="Oval 46"/>
          <p:cNvSpPr/>
          <p:nvPr/>
        </p:nvSpPr>
        <p:spPr>
          <a:xfrm>
            <a:off x="8567928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9" name="Oval 48"/>
          <p:cNvSpPr/>
          <p:nvPr/>
        </p:nvSpPr>
        <p:spPr>
          <a:xfrm>
            <a:off x="10140696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23088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386334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Satyam 2.0</a:t>
            </a:r>
          </a:p>
        </p:txBody>
      </p:sp>
      <p:sp>
        <p:nvSpPr>
          <p:cNvPr id="52" name="Oval 51"/>
          <p:cNvSpPr/>
          <p:nvPr/>
        </p:nvSpPr>
        <p:spPr>
          <a:xfrm>
            <a:off x="2276856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0904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3849624" y="393694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6" name="Oval 55"/>
          <p:cNvSpPr/>
          <p:nvPr/>
        </p:nvSpPr>
        <p:spPr>
          <a:xfrm>
            <a:off x="5422392" y="393694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6995160" y="393694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9208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0" name="Oval 59"/>
          <p:cNvSpPr/>
          <p:nvPr/>
        </p:nvSpPr>
        <p:spPr>
          <a:xfrm>
            <a:off x="8567928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51976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10140696" y="393694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86334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49580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T5S</a:t>
            </a:r>
          </a:p>
        </p:txBody>
      </p:sp>
      <p:sp>
        <p:nvSpPr>
          <p:cNvPr id="65" name="Oval 64"/>
          <p:cNvSpPr/>
          <p:nvPr/>
        </p:nvSpPr>
        <p:spPr>
          <a:xfrm>
            <a:off x="2276856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60904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3849624" y="456940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672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5422392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6440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6995160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567928" y="456940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51976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10140696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449580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12826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78" name="Oval 77"/>
          <p:cNvSpPr/>
          <p:nvPr/>
        </p:nvSpPr>
        <p:spPr>
          <a:xfrm>
            <a:off x="2276856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0904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3849624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3672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5422392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6995160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9208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567928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51976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8" name="Oval 87"/>
          <p:cNvSpPr/>
          <p:nvPr/>
        </p:nvSpPr>
        <p:spPr>
          <a:xfrm>
            <a:off x="10140696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2720" y="512826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4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" y="589788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E7D72"/>
                </a:solidFill>
                <a:latin typeface="Calibri"/>
              </a:rPr>
              <a:t>Blues Clues climbs from last to first; Lehman Bros. stays strong most rounds but loses the lead at the very end.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LIFE JOURNEY • D-U1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D-U1: every team's rank, Round 1 to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55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13" name="Oval 12"/>
          <p:cNvSpPr/>
          <p:nvPr/>
        </p:nvSpPr>
        <p:spPr>
          <a:xfrm>
            <a:off x="2276856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849624" y="20395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422392" y="20395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20395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567928" y="20395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10140696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96596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9842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Red Rangers</a:t>
            </a:r>
          </a:p>
        </p:txBody>
      </p:sp>
      <p:sp>
        <p:nvSpPr>
          <p:cNvPr id="26" name="Oval 25"/>
          <p:cNvSpPr/>
          <p:nvPr/>
        </p:nvSpPr>
        <p:spPr>
          <a:xfrm>
            <a:off x="2276856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3849624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5422392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8567928" y="267202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0140696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59842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3088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39" name="Oval 38"/>
          <p:cNvSpPr/>
          <p:nvPr/>
        </p:nvSpPr>
        <p:spPr>
          <a:xfrm>
            <a:off x="2276856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3849624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5422392" y="330448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5" name="Oval 44"/>
          <p:cNvSpPr/>
          <p:nvPr/>
        </p:nvSpPr>
        <p:spPr>
          <a:xfrm>
            <a:off x="6995160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208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7" name="Oval 46"/>
          <p:cNvSpPr/>
          <p:nvPr/>
        </p:nvSpPr>
        <p:spPr>
          <a:xfrm>
            <a:off x="8567928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9" name="Oval 48"/>
          <p:cNvSpPr/>
          <p:nvPr/>
        </p:nvSpPr>
        <p:spPr>
          <a:xfrm>
            <a:off x="10140696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23088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386334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52" name="Oval 51"/>
          <p:cNvSpPr/>
          <p:nvPr/>
        </p:nvSpPr>
        <p:spPr>
          <a:xfrm>
            <a:off x="2276856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0904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3849624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6" name="Oval 55"/>
          <p:cNvSpPr/>
          <p:nvPr/>
        </p:nvSpPr>
        <p:spPr>
          <a:xfrm>
            <a:off x="5422392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6995160" y="393694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9208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0" name="Oval 59"/>
          <p:cNvSpPr/>
          <p:nvPr/>
        </p:nvSpPr>
        <p:spPr>
          <a:xfrm>
            <a:off x="8567928" y="393694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51976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10140696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86334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49580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65" name="Oval 64"/>
          <p:cNvSpPr/>
          <p:nvPr/>
        </p:nvSpPr>
        <p:spPr>
          <a:xfrm>
            <a:off x="2276856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60904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3849624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672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5422392" y="456940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6440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6995160" y="456940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567928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51976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10140696" y="456940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449580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12826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78" name="Oval 77"/>
          <p:cNvSpPr/>
          <p:nvPr/>
        </p:nvSpPr>
        <p:spPr>
          <a:xfrm>
            <a:off x="2276856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0904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3849624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3672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5422392" y="52018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6995160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9208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567928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51976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8" name="Oval 87"/>
          <p:cNvSpPr/>
          <p:nvPr/>
        </p:nvSpPr>
        <p:spPr>
          <a:xfrm>
            <a:off x="10140696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2720" y="512826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" y="589788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E7D72"/>
                </a:solidFill>
                <a:latin typeface="Calibri"/>
              </a:rPr>
              <a:t>The top three (Orange, Red Rangers, Ochre) stay closely bunched the whole way — a genuine race, not a runaway.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15/21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LIFE JOURNEY • D-U2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D-U2: every team's rank, Round 1 to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8672" y="16550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550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13" name="Oval 12"/>
          <p:cNvSpPr/>
          <p:nvPr/>
        </p:nvSpPr>
        <p:spPr>
          <a:xfrm>
            <a:off x="2276856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849624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422392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567928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19659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10140696" y="20395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96596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9842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26" name="Oval 25"/>
          <p:cNvSpPr/>
          <p:nvPr/>
        </p:nvSpPr>
        <p:spPr>
          <a:xfrm>
            <a:off x="2276856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3849624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5422392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267202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8567928" y="267202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259842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0140696" y="267202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59842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7A5C"/>
                </a:solidFill>
                <a:latin typeface="Calibri"/>
              </a:rPr>
              <a:t>↑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3088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The Godfathers</a:t>
            </a:r>
          </a:p>
        </p:txBody>
      </p:sp>
      <p:sp>
        <p:nvSpPr>
          <p:cNvPr id="39" name="Oval 38"/>
          <p:cNvSpPr/>
          <p:nvPr/>
        </p:nvSpPr>
        <p:spPr>
          <a:xfrm>
            <a:off x="2276856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3849624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5422392" y="330448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5" name="Oval 44"/>
          <p:cNvSpPr/>
          <p:nvPr/>
        </p:nvSpPr>
        <p:spPr>
          <a:xfrm>
            <a:off x="6995160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9208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7" name="Oval 46"/>
          <p:cNvSpPr/>
          <p:nvPr/>
        </p:nvSpPr>
        <p:spPr>
          <a:xfrm>
            <a:off x="8567928" y="330448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323088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9" name="Oval 48"/>
          <p:cNvSpPr/>
          <p:nvPr/>
        </p:nvSpPr>
        <p:spPr>
          <a:xfrm>
            <a:off x="10140696" y="330448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23088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386334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52" name="Oval 51"/>
          <p:cNvSpPr/>
          <p:nvPr/>
        </p:nvSpPr>
        <p:spPr>
          <a:xfrm>
            <a:off x="2276856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0904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3849624" y="393694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6" name="Oval 55"/>
          <p:cNvSpPr/>
          <p:nvPr/>
        </p:nvSpPr>
        <p:spPr>
          <a:xfrm>
            <a:off x="5422392" y="393694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6995160" y="393694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9208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0" name="Oval 59"/>
          <p:cNvSpPr/>
          <p:nvPr/>
        </p:nvSpPr>
        <p:spPr>
          <a:xfrm>
            <a:off x="8567928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51976" y="386334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10140696" y="393694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86334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49580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65" name="Oval 64"/>
          <p:cNvSpPr/>
          <p:nvPr/>
        </p:nvSpPr>
        <p:spPr>
          <a:xfrm>
            <a:off x="2276856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60904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3849624" y="456940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672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5422392" y="456940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6440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6995160" y="456940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567928" y="456940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51976" y="449580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10140696" y="456940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449580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128260"/>
            <a:ext cx="18288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Red</a:t>
            </a:r>
          </a:p>
        </p:txBody>
      </p:sp>
      <p:sp>
        <p:nvSpPr>
          <p:cNvPr id="78" name="Oval 77"/>
          <p:cNvSpPr/>
          <p:nvPr/>
        </p:nvSpPr>
        <p:spPr>
          <a:xfrm>
            <a:off x="2276856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0904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3849624" y="52018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3672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5422392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6995160" y="5201869"/>
            <a:ext cx="384048" cy="384048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9208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567928" y="5201869"/>
            <a:ext cx="384048" cy="384048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51976" y="5128260"/>
            <a:ext cx="118872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88" name="Oval 87"/>
          <p:cNvSpPr/>
          <p:nvPr/>
        </p:nvSpPr>
        <p:spPr>
          <a:xfrm>
            <a:off x="10140696" y="5201869"/>
            <a:ext cx="384048" cy="384048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2720" y="5128260"/>
            <a:ext cx="1371600" cy="5312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" y="589788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E7D72"/>
                </a:solidFill>
                <a:latin typeface="Calibri"/>
              </a:rPr>
              <a:t>Grey holds first place in every single round. HallaBol is the one team that broke into contention, climbing from 6th to 2nd.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ACROSS ALL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The same round produced four different economic profiles.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20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600200"/>
                <a:gridCol w="1600200"/>
                <a:gridCol w="1463040"/>
                <a:gridCol w="15087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Avg TSR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Loss teams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Neg TSR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C-U1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$24.40bn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$2.29bn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1/7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2/7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C-U2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$13.66bn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$1.10bn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2/6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2/6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D-U1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$14.79bn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$2.06bn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+4.1%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0/6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2/6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D-U2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$19.29bn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$0.59bn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+2.5%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2/6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2/6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66344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D-U1 combines the highest margin with zero loss-making teams. C-U1 creates the most total profit and scale, with the most inventory and debt exposure.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FOUR STRATEGIC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Four cohorts, four different shapes of competition.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697480" cy="26517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69748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39111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C-U1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0007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F2A28"/>
                </a:solidFill>
                <a:latin typeface="Calibri"/>
              </a:rPr>
              <a:t>Scaled challenger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19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05D"/>
                </a:solidFill>
                <a:latin typeface="Calibri"/>
              </a:rPr>
              <a:t>Highest sales and profit of the four cohorts, but the most inventory and unplanned-debt exposure.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74519"/>
            <a:ext cx="2697480" cy="26517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74519"/>
            <a:ext cx="2697480" cy="54864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39111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C-U2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50007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F2A28"/>
                </a:solidFill>
                <a:latin typeface="Calibri"/>
              </a:rPr>
              <a:t>Polarized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19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05D"/>
                </a:solidFill>
                <a:latin typeface="Calibri"/>
              </a:rPr>
              <a:t>One integrated leader (Blues Clues) carries the cohort while two teams drive a severe downside 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2697480" cy="26517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2697480" cy="54864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39111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D-U1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50007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F2A28"/>
                </a:solidFill>
                <a:latin typeface="Calibri"/>
              </a:rPr>
              <a:t>Disciplined compounder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19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05D"/>
                </a:solidFill>
                <a:latin typeface="Calibri"/>
              </a:rPr>
              <a:t>Best margin, zero loss-making teams, lowest debt and inventory — consistency over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74519"/>
            <a:ext cx="2697480" cy="26517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74519"/>
            <a:ext cx="2697480" cy="54864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039111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D-U2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350007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F2A28"/>
                </a:solidFill>
                <a:latin typeface="Calibri"/>
              </a:rPr>
              <a:t>Option-heavy investor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17519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05D"/>
                </a:solidFill>
                <a:latin typeface="Calibri"/>
              </a:rPr>
              <a:t>Highest R&amp;D spend of any cohort, but the weakest margin — the spend has not yet converted.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FIVE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Five lessons survive every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0881360" cy="786384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212140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920240"/>
            <a:ext cx="99669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Scale is not economics — Revenue must still survive the margin, capital and funding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0881360" cy="786384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834640"/>
            <a:ext cx="99669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Averages hide tails — A cohort's mean TSR can look calm while individual teams carry a severe downside 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40"/>
            <a:ext cx="10881360" cy="786384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395020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749040"/>
            <a:ext cx="99669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Inventory is cell-specific — Total stock can coexist with unmet demand elsewhere in the same cohort.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10881360" cy="786384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86460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99669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Spending is not capability — R&amp;D only becomes an advantage when timing, launch capacity and demand arrive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77840"/>
            <a:ext cx="10881360" cy="786384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577900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577840"/>
            <a:ext cx="99669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TSR is a system outcome — Cash flow, growth options and risk can each move independently of the others.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USE IT AS A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A six-step Socratic sequence for any team's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764792" cy="2743200"/>
          </a:xfrm>
          <a:prstGeom prst="roundRect">
            <a:avLst>
              <a:gd name="adj" fmla="val 12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84832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7D7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2A28"/>
                </a:solidFill>
                <a:latin typeface="Calibri"/>
              </a:rP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What objective was this team actually optimizing?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6584" y="1920240"/>
            <a:ext cx="1764792" cy="2743200"/>
          </a:xfrm>
          <a:prstGeom prst="roundRect">
            <a:avLst>
              <a:gd name="adj" fmla="val 12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2084832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7D72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4688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2A28"/>
                </a:solidFill>
                <a:latin typeface="Calibri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880360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Which matched team or cohort achieved more with less?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920240"/>
            <a:ext cx="1764792" cy="2743200"/>
          </a:xfrm>
          <a:prstGeom prst="roundRect">
            <a:avLst>
              <a:gd name="adj" fmla="val 12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084832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7D7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4688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2A28"/>
                </a:solidFill>
                <a:latin typeface="Calibri"/>
              </a:rPr>
              <a:t>DECOMPOSE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880360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Which product, region, investment or funding choice caused the gap?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920240"/>
            <a:ext cx="1764792" cy="2743200"/>
          </a:xfrm>
          <a:prstGeom prst="roundRect">
            <a:avLst>
              <a:gd name="adj" fmla="val 12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084832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7D72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4688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2A28"/>
                </a:solidFill>
                <a:latin typeface="Calibri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880360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What alternative explanation fits the same evidence?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1920240"/>
            <a:ext cx="1764792" cy="2743200"/>
          </a:xfrm>
          <a:prstGeom prst="roundRect">
            <a:avLst>
              <a:gd name="adj" fmla="val 12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084832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7D72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4688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2A28"/>
                </a:solidFill>
                <a:latin typeface="Calibri"/>
              </a:rPr>
              <a:t>TRADE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880360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What did the apparent winner sacrifice to get there?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920240"/>
            <a:ext cx="1764792" cy="2743200"/>
          </a:xfrm>
          <a:prstGeom prst="roundRect">
            <a:avLst>
              <a:gd name="adj" fmla="val 12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084832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7D72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4688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2A28"/>
                </a:solidFill>
                <a:latin typeface="Calibri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880360"/>
            <a:ext cx="1490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What is the smallest high-leverage next move?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4114800" cy="3657600"/>
          </a:xfrm>
          <a:prstGeom prst="ellipse">
            <a:avLst/>
          </a:prstGeom>
          <a:solidFill>
            <a:srgbClr val="4E7D7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FINAL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best cohort is not the one with the biggest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3108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It is the one whose market choices, operations, investment, financing and valuation logic reinforce one another — and remain survivable when conditions change.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A green chip shows where to investigate, not proof of a good decision. Always connect movement back to demand, margin, cash, risk or valuation.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Closing prompt: which decision would you reverse first if the next round opened right now?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C+D • Round 6 Comprehensive Debrief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