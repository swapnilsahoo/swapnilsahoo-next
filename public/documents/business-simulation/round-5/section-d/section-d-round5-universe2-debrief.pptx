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4114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800" b="1">
                <a:solidFill>
                  <a:srgbClr val="4E7168"/>
                </a:solidFill>
              </a:defRPr>
            </a:pPr>
            <a:r>
              <a:t>CESIM Global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94360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900" b="1">
                <a:solidFill>
                  <a:srgbClr val="24362F"/>
                </a:solidFill>
              </a:defRPr>
            </a:pPr>
            <a:r>
              <a:t>Section D Universe 2: Final Round 5 Debrief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621792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0">
                <a:solidFill>
                  <a:srgbClr val="35443D"/>
                </a:solidFill>
              </a:defRPr>
            </a:pPr>
            <a:r>
              <a:t>Round 4 → Round 5 comparison with R1–R5 journey and reflective discussion prompts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017520"/>
            <a:ext cx="4754880" cy="12344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4206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4E7168"/>
                </a:solidFill>
              </a:defRPr>
            </a:pPr>
            <a:r>
              <a:t>Core teaching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420624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0">
                <a:solidFill>
                  <a:srgbClr val="24362F"/>
                </a:solidFill>
              </a:defRPr>
            </a:pPr>
            <a:r>
              <a:t>Which decisions created durable value, which merely created activity, and what should teams defend in the reflective discussion?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14300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28016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Assumption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14300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28016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Choice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201168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14884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01168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14884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Cash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288036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301752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288036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301752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72200"/>
            <a:ext cx="5029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Section D • Universe 2 • Final workshop sessions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identity map and data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2/21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143000"/>
          <a:ext cx="585216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</a:tblGrid>
              <a:tr h="5608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Round continuity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Canonical team used in deck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5608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5443D"/>
                          </a:solidFill>
                        </a:defRPr>
                      </a:pPr>
                      <a:r>
                        <a:t>Blue, The Godfathers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5443D"/>
                          </a:solidFill>
                        </a:defRPr>
                      </a:pPr>
                      <a:r>
                        <a:t>The Godfathers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608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5443D"/>
                          </a:solidFill>
                        </a:defRPr>
                      </a:pPr>
                      <a:r>
                        <a:t>HallaBol, Orange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5443D"/>
                          </a:solidFill>
                        </a:defRPr>
                      </a:pPr>
                      <a:r>
                        <a:t>HallaBol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3749039"/>
            <a:ext cx="566928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is read against Round 4 and the complete R1–R5 journey.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Formal rank uses cumulative TSR (p.a.) as reported in the workbook.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Individual reflective questions assess whether each member understands the team decision logic.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mistake would occur if renamed teams were treated as new companies?</a:t>
            </a:r>
            <a:br/>
            <a:r>
              <a:t>• Which metric should determine formal rank?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Identity continuity comes before performance comparison. Otherwise the analysis rewards or punishes the wrong team.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Round 5 leaderboard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3/21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078992"/>
          <a:ext cx="7452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828800"/>
                <a:gridCol w="777240"/>
                <a:gridCol w="1005840"/>
                <a:gridCol w="1005840"/>
                <a:gridCol w="777240"/>
                <a:gridCol w="777240"/>
                <a:gridCol w="77724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Team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TSR %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ROS %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ROCE %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Credit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Grey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11.86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$479.7m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$3,245.2m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14.8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26.5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AA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HallaBol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3.71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$159.7m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$3,883.6m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4.1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7.5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BBB-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The Godfathers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2.26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$175.1m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$2,597.2m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6.7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14.6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AA-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-4.61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$204.4m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$2,069.6m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9.9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15.4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BBB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Ochre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-8.51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$-347.1m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$2,127.1m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-16.3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-7.5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Red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-34.28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$-319.3m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$681.2m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-46.9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2.3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CC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49640" y="1097280"/>
            <a:ext cx="2743200" cy="96012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1225295"/>
            <a:ext cx="24140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Leader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4232" y="1508760"/>
            <a:ext cx="24140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Grey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4232" y="1947672"/>
            <a:ext cx="24140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TSR 11.86%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9640" y="1097280"/>
            <a:ext cx="73152" cy="96012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49640" y="2286000"/>
            <a:ext cx="2743200" cy="96012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14232" y="2414016"/>
            <a:ext cx="24140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Deepest repair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4232" y="2697480"/>
            <a:ext cx="24140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3136392"/>
            <a:ext cx="24140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TSR -34.28%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2286000"/>
            <a:ext cx="73152" cy="960120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95360" y="3657600"/>
            <a:ext cx="3063240" cy="14630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3822191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160520"/>
            <a:ext cx="2697480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Who won formally, and who built the best operating platform?</a:t>
            </a:r>
            <a:br/>
            <a:r>
              <a:t>• Which rank hides a deeper strategic problem?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Universe movement: Round 4 → Round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4/21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143000"/>
            <a:ext cx="1371600" cy="10972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271016"/>
            <a:ext cx="10424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Sales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554480"/>
            <a:ext cx="10424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$14,603.8m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93392"/>
            <a:ext cx="10424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20.2% vs R4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143000"/>
            <a:ext cx="73152" cy="109728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12264" y="1143000"/>
            <a:ext cx="1371600" cy="10972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76856" y="1271016"/>
            <a:ext cx="10424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6856" y="1554480"/>
            <a:ext cx="10424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$352.4m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1993392"/>
            <a:ext cx="10424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106.0% vs R4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12264" y="1143000"/>
            <a:ext cx="73152" cy="109728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30168" y="1143000"/>
            <a:ext cx="1371600" cy="10972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59" y="1271016"/>
            <a:ext cx="10424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R&amp;D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59" y="1554480"/>
            <a:ext cx="10424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$1,043.4m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59" y="1993392"/>
            <a:ext cx="10424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-50.8% vs R4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30168" y="1143000"/>
            <a:ext cx="73152" cy="109728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48072" y="1143000"/>
            <a:ext cx="1371600" cy="10972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12664" y="1271016"/>
            <a:ext cx="10424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Inventory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1554480"/>
            <a:ext cx="10424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$4,176.5m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1993392"/>
            <a:ext cx="10424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50.0% vs R4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48072" y="1143000"/>
            <a:ext cx="73152" cy="1097280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65976" y="1143000"/>
            <a:ext cx="1371600" cy="10972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8" y="1271016"/>
            <a:ext cx="10424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Market cap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54480"/>
            <a:ext cx="10424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$30.82bn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0568" y="1993392"/>
            <a:ext cx="10424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-2.2% vs R4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65976" y="1143000"/>
            <a:ext cx="73152" cy="109728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2578608"/>
            <a:ext cx="6858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Round 5 profit by team (USD m)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4001758"/>
            <a:ext cx="6858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" y="2834640"/>
            <a:ext cx="1089660" cy="1167118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8920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49780" y="3613251"/>
            <a:ext cx="1089660" cy="388507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04060" y="48920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HallaBol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85160" y="3575786"/>
            <a:ext cx="1089660" cy="425972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39440" y="48920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The Godfathe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20540" y="3504433"/>
            <a:ext cx="1089660" cy="497325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74820" y="48920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55920" y="4001758"/>
            <a:ext cx="1089660" cy="844561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10200" y="48920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Ochre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91300" y="4001758"/>
            <a:ext cx="1089660" cy="776933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45580" y="48920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Red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59" y="278892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479.7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59" y="47548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-347.1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Did the universe grow healthier, or merely bigger?</a:t>
            </a:r>
            <a:br/>
            <a:r>
              <a:t>• Which number should worry us most?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Healthy growth means revenue becomes margin, margin becomes cash, and cash remains credible after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Rank movement: Round 4 → Round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5/21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914400"/>
            <a:ext cx="33832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4362F"/>
                </a:solidFill>
              </a:defRPr>
            </a:pPr>
            <a:r>
              <a:t>Round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914400"/>
            <a:ext cx="33832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4362F"/>
                </a:solidFill>
              </a:defRPr>
            </a:pPr>
            <a:r>
              <a:t>Round 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98648" y="1770017"/>
            <a:ext cx="2706624" cy="0"/>
          </a:xfrm>
          <a:prstGeom prst="line">
            <a:avLst/>
          </a:prstGeom>
          <a:ln w="254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5256" y="1623713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674005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1">
                <a:solidFill>
                  <a:srgbClr val="24362F"/>
                </a:solidFill>
              </a:defRPr>
            </a:pPr>
            <a:r>
              <a:t>1. Grey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23713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674005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1">
                <a:solidFill>
                  <a:srgbClr val="24362F"/>
                </a:solidFill>
              </a:defRPr>
            </a:pPr>
            <a:r>
              <a:t>1. Grey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898648" y="2397034"/>
            <a:ext cx="2706624" cy="2508068"/>
          </a:xfrm>
          <a:prstGeom prst="line">
            <a:avLst/>
          </a:prstGeom>
          <a:ln w="12700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5256" y="4758798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809090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6. HallaBol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250730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2301022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2. HallaBol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98648" y="2397034"/>
            <a:ext cx="2706624" cy="627017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05256" y="2250730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2301022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2. The Godfathers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877747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2928039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3. The Godfathers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98648" y="3651068"/>
            <a:ext cx="2706624" cy="0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5256" y="3504764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3555056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4. Green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504764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3555056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4. Green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898648" y="3024051"/>
            <a:ext cx="2706624" cy="1254034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5256" y="2877747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2928039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3. Ochre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131781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4182073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5. Ochre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898648" y="4278085"/>
            <a:ext cx="2706624" cy="627017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05256" y="4131781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" y="4182073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5. Red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758798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7376" y="4809090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6. Red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team improved most in relative rank?</a:t>
            </a:r>
            <a:br/>
            <a:r>
              <a:t>• Which team improved operationally but did not receive full TSR credit?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Rank is relative. A company may improve in absolute terms and still fall if competitors improve faster.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R1 → R5 strategic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6/21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144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1143000"/>
            <a:ext cx="0" cy="4297680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68880" y="9144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06040" y="1143000"/>
            <a:ext cx="0" cy="4297680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60520" y="9144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97680" y="1143000"/>
            <a:ext cx="0" cy="4297680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52160" y="9144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" y="1143000"/>
            <a:ext cx="0" cy="4297680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43800" y="9144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80960" y="1143000"/>
            <a:ext cx="0" cy="4297680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14400" y="1143000"/>
            <a:ext cx="1691640" cy="0"/>
          </a:xfrm>
          <a:prstGeom prst="line">
            <a:avLst/>
          </a:prstGeom>
          <a:ln w="29209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06040" y="1143000"/>
            <a:ext cx="1691640" cy="0"/>
          </a:xfrm>
          <a:prstGeom prst="line">
            <a:avLst/>
          </a:prstGeom>
          <a:ln w="29209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297680" y="1143000"/>
            <a:ext cx="1691640" cy="0"/>
          </a:xfrm>
          <a:prstGeom prst="line">
            <a:avLst/>
          </a:prstGeom>
          <a:ln w="29209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89320" y="1143000"/>
            <a:ext cx="1691640" cy="0"/>
          </a:xfrm>
          <a:prstGeom prst="line">
            <a:avLst/>
          </a:prstGeom>
          <a:ln w="29209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54112" y="1069848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1">
                <a:solidFill>
                  <a:srgbClr val="24362F"/>
                </a:solidFill>
              </a:defRPr>
            </a:pPr>
            <a:r>
              <a:t>Grey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914400" y="4581144"/>
            <a:ext cx="1691640" cy="859536"/>
          </a:xfrm>
          <a:prstGeom prst="line">
            <a:avLst/>
          </a:prstGeom>
          <a:ln w="12700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606040" y="3721608"/>
            <a:ext cx="1691640" cy="859536"/>
          </a:xfrm>
          <a:prstGeom prst="line">
            <a:avLst/>
          </a:prstGeom>
          <a:ln w="12700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297680" y="3721608"/>
            <a:ext cx="1691640" cy="1719072"/>
          </a:xfrm>
          <a:prstGeom prst="line">
            <a:avLst/>
          </a:prstGeom>
          <a:ln w="12700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989320" y="2002536"/>
            <a:ext cx="1691640" cy="3438144"/>
          </a:xfrm>
          <a:prstGeom prst="line">
            <a:avLst/>
          </a:prstGeom>
          <a:ln w="12700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54112" y="1929384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HallaBol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2002536"/>
            <a:ext cx="1691640" cy="859536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606040" y="2002536"/>
            <a:ext cx="1691640" cy="859536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297680" y="2002536"/>
            <a:ext cx="1691640" cy="0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989320" y="2002536"/>
            <a:ext cx="1691640" cy="859536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54112" y="2788920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The Godfathers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914400" y="2002536"/>
            <a:ext cx="1691640" cy="859536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606040" y="2002536"/>
            <a:ext cx="1691640" cy="859536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297680" y="2862072"/>
            <a:ext cx="1691640" cy="859536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989320" y="3721608"/>
            <a:ext cx="1691640" cy="0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54112" y="3648456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Green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3721608"/>
            <a:ext cx="1691640" cy="1719072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606040" y="4581144"/>
            <a:ext cx="1691640" cy="859536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297680" y="2862072"/>
            <a:ext cx="1691640" cy="1719072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989320" y="2862072"/>
            <a:ext cx="1691640" cy="1719072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54112" y="4507992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Ochre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914400" y="3721608"/>
            <a:ext cx="1691640" cy="859536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606040" y="3721608"/>
            <a:ext cx="1691640" cy="1719072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297680" y="4581144"/>
            <a:ext cx="1691640" cy="859536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989320" y="4581144"/>
            <a:ext cx="1691640" cy="859536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754112" y="5367528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Red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79" y="1078992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Best rank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79" y="5376672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Lowest rank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team learned fastest across the simulation?</a:t>
            </a:r>
            <a:br/>
            <a:r>
              <a:t>• Which team repeated the same pattern?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The final rank is a lagging indicator. The journey shows how quickly teams updated assumptions.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The Round 5 managerial puzzle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7/21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188720"/>
          <a:ext cx="6583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468880"/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Lens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Team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Round 5 signal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TSR leader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Grey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11.86% TSR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Profit leader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Grey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$479.7m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Revenue leader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HallaBol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$3,883.6m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Capital productivity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Grey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ROCE 26.5%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68680" y="3657600"/>
            <a:ext cx="621792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The formal winner is Grey, but other teams may lead on profit, sales, or capital efficiency.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The debrief should separate current accounting performance from valuation confidence.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The final reflection should ask each team to explain the causal mechanism behind its rank.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Why might the highest-profit team not win TSR?</a:t>
            </a:r>
            <a:br/>
            <a:r>
              <a:t>• What future cash-flow story is the market pricing?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Valuation rewards expected cash flows after risk, not isolated one-round strength.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Demand and market-share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8/21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86968"/>
            <a:ext cx="6858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Global market share (%)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63240"/>
            <a:ext cx="6858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44096"/>
            <a:ext cx="1089660" cy="1619143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12620" y="1143000"/>
            <a:ext cx="1089660" cy="1920240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6690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HallaBol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48000" y="1743686"/>
            <a:ext cx="1089660" cy="1319553"/>
          </a:xfrm>
          <a:prstGeom prst="rect">
            <a:avLst/>
          </a:prstGeom>
          <a:solidFill>
            <a:srgbClr val="6D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228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The Godfathe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83380" y="1980557"/>
            <a:ext cx="1089660" cy="1082682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3766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18760" y="1769279"/>
            <a:ext cx="1089660" cy="1293960"/>
          </a:xfrm>
          <a:prstGeom prst="rect">
            <a:avLst/>
          </a:prstGeom>
          <a:solidFill>
            <a:srgbClr val="B87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304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Ochre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54140" y="2771176"/>
            <a:ext cx="1089660" cy="292063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842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25.5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9718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584448"/>
            <a:ext cx="6858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Sales revenue (USD 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303520"/>
            <a:ext cx="6858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080996"/>
            <a:ext cx="1089660" cy="1222523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492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12620" y="3840480"/>
            <a:ext cx="1089660" cy="1463040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66900" y="53492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HallaBol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48000" y="4325105"/>
            <a:ext cx="1089660" cy="978414"/>
          </a:xfrm>
          <a:prstGeom prst="rect">
            <a:avLst/>
          </a:prstGeom>
          <a:solidFill>
            <a:srgbClr val="6D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02280" y="53492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The Godfathe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83380" y="4523866"/>
            <a:ext cx="1089660" cy="779653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7660" y="53492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18760" y="4502197"/>
            <a:ext cx="1089660" cy="801322"/>
          </a:xfrm>
          <a:prstGeom prst="rect">
            <a:avLst/>
          </a:prstGeom>
          <a:solidFill>
            <a:srgbClr val="B87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73040" y="53492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Ochre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54140" y="5046884"/>
            <a:ext cx="1089660" cy="256635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8420" y="53492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79476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3,883.6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120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Who converted share into economic value?</a:t>
            </a:r>
            <a:br/>
            <a:r>
              <a:t>• Who captured activity without sufficient margin?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Market share is valuable only when it produces repeatable contribution, learning, and cash.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Profitability and capital discipline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9/21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886968"/>
            <a:ext cx="33375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ROS (%)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625290"/>
            <a:ext cx="333756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143000"/>
            <a:ext cx="502919" cy="48229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1491139"/>
            <a:ext cx="502919" cy="13415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39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HallaBol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1405347"/>
            <a:ext cx="502919" cy="219942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The Godfathe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39" y="1303043"/>
            <a:ext cx="502919" cy="322247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3172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1625290"/>
            <a:ext cx="502919" cy="532444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Ochre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1625290"/>
            <a:ext cx="502919" cy="1529389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14.8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06324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-46.9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886968"/>
            <a:ext cx="33375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ROCE (%)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2712232"/>
            <a:ext cx="333756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1143000"/>
            <a:ext cx="502919" cy="1569232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2266352"/>
            <a:ext cx="502919" cy="445879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HallaBol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1845656"/>
            <a:ext cx="502919" cy="866575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356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The Godfathe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800057"/>
            <a:ext cx="502919" cy="912174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2712232"/>
            <a:ext cx="502919" cy="442447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Ochre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2574213"/>
            <a:ext cx="502919" cy="138018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948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26.5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0" y="306324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-7.5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822960" y="3749039"/>
          <a:ext cx="50292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4400"/>
                <a:gridCol w="914400"/>
                <a:gridCol w="1097280"/>
              </a:tblGrid>
              <a:tr h="24819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Team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ROS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ROCE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Credit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Grey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14.8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26.5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AA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HallaBol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4.1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7.5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BBB-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The Godfathers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6.7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14.6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AA-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9.9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15.4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BBB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Ochre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-16.3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-7.5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2481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Red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-46.9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2.3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CC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team used capital most intelligently?</a:t>
            </a:r>
            <a:br/>
            <a:r>
              <a:t>• Where did current profit mask balance-sheet risk?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ROCE disciplines growth ambition by asking whether resources actually produced returns.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Balance-sheet and financing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10/21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86968"/>
            <a:ext cx="6858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Unplanned short-term debt (USD 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63240"/>
            <a:ext cx="6858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063240"/>
            <a:ext cx="1089660" cy="36576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12620" y="2977822"/>
            <a:ext cx="1089660" cy="85417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6690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HallaBol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48000" y="2929345"/>
            <a:ext cx="1089660" cy="133894"/>
          </a:xfrm>
          <a:prstGeom prst="rect">
            <a:avLst/>
          </a:prstGeom>
          <a:solidFill>
            <a:srgbClr val="6D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228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The Godfathe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83380" y="2904097"/>
            <a:ext cx="1089660" cy="159142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3766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18760" y="2198759"/>
            <a:ext cx="1089660" cy="864480"/>
          </a:xfrm>
          <a:prstGeom prst="rect">
            <a:avLst/>
          </a:prstGeom>
          <a:solidFill>
            <a:srgbClr val="B87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304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Ochre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54140" y="1143000"/>
            <a:ext cx="1089660" cy="1920240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842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2,492.9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9718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538728"/>
            <a:ext cx="6858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Net debt to equity / gearing (%)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329244"/>
            <a:ext cx="6858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329244"/>
            <a:ext cx="1089660" cy="36576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94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12620" y="5264652"/>
            <a:ext cx="1089660" cy="64591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66900" y="5394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HallaBol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48000" y="5307985"/>
            <a:ext cx="1089660" cy="36576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02280" y="5394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The Godfathe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83380" y="5238258"/>
            <a:ext cx="1089660" cy="90985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7660" y="5394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18760" y="5329244"/>
            <a:ext cx="1089660" cy="36576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73040" y="5394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Ochre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54140" y="3794760"/>
            <a:ext cx="1089660" cy="1534484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8420" y="5394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74904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1,431.3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-18.7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firms are surviving by financing rather than operating strength?</a:t>
            </a:r>
            <a:br/>
            <a:r>
              <a:t>• Why does leverage change valuation even when revenue is high?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Risk reduces the present value of future cash flows and constrains future choices.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ESG and HR as capability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11/21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886968"/>
            <a:ext cx="3429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ESG reputation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154680"/>
            <a:ext cx="3429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322441"/>
            <a:ext cx="518160" cy="1832238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5400" y="1143000"/>
            <a:ext cx="518160" cy="2011680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968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HallaBol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59280" y="1235628"/>
            <a:ext cx="518160" cy="1919051"/>
          </a:xfrm>
          <a:prstGeom prst="rect">
            <a:avLst/>
          </a:prstGeom>
          <a:solidFill>
            <a:srgbClr val="6D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3559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The Godfathe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1526929"/>
            <a:ext cx="518160" cy="162775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87040" y="1567917"/>
            <a:ext cx="518160" cy="1586762"/>
          </a:xfrm>
          <a:prstGeom prst="rect">
            <a:avLst/>
          </a:prstGeom>
          <a:solidFill>
            <a:srgbClr val="B87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4132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Ochre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50920" y="1362696"/>
            <a:ext cx="518160" cy="1791983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520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3.4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06324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886968"/>
            <a:ext cx="3429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HR efficiency multiplier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3154680"/>
            <a:ext cx="3429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1190079"/>
            <a:ext cx="518160" cy="1964600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35880" y="1188011"/>
            <a:ext cx="518160" cy="1966668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9016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HallaBol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99760" y="1143000"/>
            <a:ext cx="518160" cy="2011680"/>
          </a:xfrm>
          <a:prstGeom prst="rect">
            <a:avLst/>
          </a:prstGeom>
          <a:solidFill>
            <a:srgbClr val="6D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5404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The Godfathe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154680"/>
            <a:ext cx="518160" cy="36576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27520" y="3154680"/>
            <a:ext cx="518160" cy="36576"/>
          </a:xfrm>
          <a:prstGeom prst="rect">
            <a:avLst/>
          </a:prstGeom>
          <a:solidFill>
            <a:srgbClr val="B87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8180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Ochre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91400" y="1222293"/>
            <a:ext cx="518160" cy="1932386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4568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1.1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0" y="306324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3886200"/>
            <a:ext cx="65836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ESG/HR should be read as capability and risk variables, not decorative scores.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A strong reputation still needs operating economics; weak people systems can constrain execution.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In reflective discussions, ask teams how their people, process and sustainability choices supported strategy.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Who converted ESG/HR into competitive strength?</a:t>
            </a:r>
            <a:br/>
            <a:r>
              <a:t>• Where did weak capability show up in financial results?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Stakeholder investments create value when they improve demand, risk, productivity, or resilience.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Relative scorecard: R4 → R5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12/21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143000"/>
          <a:ext cx="68122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Team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Share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ROS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ROCE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Grey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HallaBol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The Godfathers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Ochre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Red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improvement pattern is coherent?</a:t>
            </a:r>
            <a:br/>
            <a:r>
              <a:t>• Which team has one bright spot hiding larger risk?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A scorecard prevents metric cherry-picking: good strategy improves the causal chain, not just one number.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Grey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13/21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1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11.9%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8.5%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$479.7m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$330.7m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26.5%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18.4%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TSR leader.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$3,245.2m; share 21.5%; ROS 14.8%.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AA; unplanned debt $0.0m; ESG reputation 3.09.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HallaBol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14/21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2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3.7%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-11.3%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$159.7m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$602.7m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7.5%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25.0%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rank climber.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$3,883.6m; share 25.5%; ROS 4.1%.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BBB-; unplanned debt $110.9m; ESG reputation 3.40.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The Godfathers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15/21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3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2.3%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4.3%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$175.1m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$-266.1m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14.6%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-10.6%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mixed platform.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$2,597.2m; share 17.5%; ROS 6.7%.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AA-; unplanned debt $173.8m; ESG reputation 3.24.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16/21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4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-4.6%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-4.3%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$204.4m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$-222.1m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15.4%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-4.8%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mixed platform.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$2,069.6m; share 14.4%; ROS 9.9%.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BBB; unplanned debt $206.6m; ESG reputation 2.75.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Ochre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17/21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5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-8.5%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-0.8%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$-347.1m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$-97.1m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-7.5%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2.6%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repair case.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$2,127.1m; share 17.2%; ROS -16.3%.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C; unplanned debt $1,122.3m; ESG reputation 2.68.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18/21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6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-34.3%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-11.0%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$-319.3m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$-177.0m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2.3%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1.9%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repair case.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$681.2m; share 3.9%; ROS -46.9%.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CC; unplanned debt $2,492.9m; ESG reputation 3.02.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Final reflective discussion: group accountability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19/21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71323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5443D"/>
                </a:solidFill>
              </a:defRPr>
            </a:pPr>
            <a:r>
              <a:t>Each team must explain its R1→R5 journey: strategy, key decisions, pivots, mistakes, and learning.</a:t>
            </a:r>
          </a:p>
          <a:p>
            <a:pPr>
              <a:spcAft>
                <a:spcPts val="500"/>
              </a:spcAft>
              <a:defRPr sz="1300">
                <a:solidFill>
                  <a:srgbClr val="35443D"/>
                </a:solidFill>
              </a:defRPr>
            </a:pPr>
            <a:r>
              <a:t>Every member may be asked an individual question on team logic, not just final rank.</a:t>
            </a:r>
          </a:p>
          <a:p>
            <a:pPr>
              <a:spcAft>
                <a:spcPts val="500"/>
              </a:spcAft>
              <a:defRPr sz="1300">
                <a:solidFill>
                  <a:srgbClr val="35443D"/>
                </a:solidFill>
              </a:defRPr>
            </a:pPr>
            <a:r>
              <a:t>Participation marks will reflect presence, preparation, contribution, and understanding.</a:t>
            </a:r>
          </a:p>
          <a:p>
            <a:pPr>
              <a:spcAft>
                <a:spcPts val="500"/>
              </a:spcAft>
              <a:defRPr sz="1300">
                <a:solidFill>
                  <a:srgbClr val="35443D"/>
                </a:solidFill>
              </a:defRPr>
            </a:pPr>
            <a:r>
              <a:t>The purpose is fairness: to recognise students who contributed and discourage free-riding.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3474720"/>
          <a:ext cx="6675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120640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Reflection area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How did your strategy evolve from R1 to R5?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Which metric best proves your learning?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Mistake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What decision would you reverse?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Contribution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What did each member contribute?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Can every member explain the team’s strategy without prompting?</a:t>
            </a:r>
            <a:br/>
            <a:r>
              <a:t>• What evidence separates genuine participation from free-riding?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A workshop assesses thinking-in-action: decision quality, reflection quality, and responsible team contribution.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Final learning: decision rules for general managers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20/21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143000"/>
          <a:ext cx="70408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760720"/>
              </a:tblGrid>
              <a:tr h="600891"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Decision rule to articulate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Demand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We forecast by region and technology before production.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We change price only if volume gain exceeds margin loss.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R&amp;D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We invest when readiness, demand and financing can support commercialisation.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Production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We produce to demand estimates and inventory thresholds.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Finance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We avoid unplanned debt and protect rating guardrails.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Reflection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Every member names one assumption, one evidence point and one change.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rule would have prevented your biggest mistake?</a:t>
            </a:r>
            <a:br/>
            <a:r>
              <a:t>• Which rule will you carry into real management?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Managerial learning becomes durable only when it changes the next decision rule.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Closing 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2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21/21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8580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400" b="1">
                <a:solidFill>
                  <a:srgbClr val="24362F"/>
                </a:solidFill>
              </a:defRPr>
            </a:pPr>
            <a:r>
              <a:t>The strongest team is not simply the one with the highest number.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658368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800" b="0">
                <a:solidFill>
                  <a:srgbClr val="35443D"/>
                </a:solidFill>
              </a:defRPr>
            </a:pPr>
            <a:r>
              <a:t>It is the team whose market choices, operations, finance, people, sustainability and risk form the most coherent system of value creation.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630936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5443D"/>
                </a:solidFill>
              </a:defRPr>
            </a:pPr>
            <a:r>
              <a:t>What did we learn about customers?</a:t>
            </a:r>
          </a:p>
          <a:p>
            <a:pPr>
              <a:spcAft>
                <a:spcPts val="500"/>
              </a:spcAft>
              <a:defRPr sz="1400">
                <a:solidFill>
                  <a:srgbClr val="35443D"/>
                </a:solidFill>
              </a:defRPr>
            </a:pPr>
            <a:r>
              <a:t>What did we learn about trade-offs?</a:t>
            </a:r>
          </a:p>
          <a:p>
            <a:pPr>
              <a:spcAft>
                <a:spcPts val="500"/>
              </a:spcAft>
              <a:defRPr sz="1400">
                <a:solidFill>
                  <a:srgbClr val="35443D"/>
                </a:solidFill>
              </a:defRPr>
            </a:pPr>
            <a:r>
              <a:t>What did we learn about ourselves as decision-makers?</a:t>
            </a:r>
          </a:p>
          <a:p>
            <a:pPr>
              <a:spcAft>
                <a:spcPts val="500"/>
              </a:spcAft>
              <a:defRPr sz="1400">
                <a:solidFill>
                  <a:srgbClr val="35443D"/>
                </a:solidFill>
              </a:defRPr>
            </a:pPr>
            <a:r>
              <a:t>What would we do differently if the simulation restarted tomorrow?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will your team stop defending and start learning from?</a:t>
            </a:r>
            <a:br/>
            <a:r>
              <a:t>• Which learning will matter most beyond the simulation?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