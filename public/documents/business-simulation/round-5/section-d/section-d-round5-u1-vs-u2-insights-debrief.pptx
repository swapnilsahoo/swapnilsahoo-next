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Section D: Universe 1 vs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Round 5 cross-universe strategic insight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Section D • Round 5 • cross-universe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Cross-universe scoreboard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143000"/>
          <a:ext cx="7680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920240"/>
                <a:gridCol w="914400"/>
                <a:gridCol w="1188720"/>
                <a:gridCol w="1188720"/>
                <a:gridCol w="1005840"/>
                <a:gridCol w="6400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Universe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Leader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Leader TSR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sales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profit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Average TSR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Teams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8.18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$12,774.6m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$795.7m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1.60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11.86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$14,603.8m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$352.4m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-4.93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universe created stronger value quality?</a:t>
            </a:r>
            <a:br/>
            <a:r>
              <a:t>• Which universe was more competitive or risky?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Do not merge universes into a single leaderboard. Compare market systems, not teams across separate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Universe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978408"/>
            <a:ext cx="29260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Total profit (USD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29260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234440"/>
            <a:ext cx="1394460" cy="2011680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8860" y="2355067"/>
            <a:ext cx="1394460" cy="89105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314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1887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795.7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978408"/>
            <a:ext cx="29260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Total sales (USD 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246120"/>
            <a:ext cx="29260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486422"/>
            <a:ext cx="1394460" cy="1759697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5020" y="1234440"/>
            <a:ext cx="1394460" cy="2011680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0" y="3291840"/>
            <a:ext cx="14859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U2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1887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14,603.8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15468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840480"/>
            <a:ext cx="6766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Sales scale and profit conversion are different tests.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A universe can have higher total sales but weaker TSR if risk, debt, or margin quality is poor.</a:t>
            </a:r>
          </a:p>
          <a:p>
            <a:pPr>
              <a:spcAft>
                <a:spcPts val="500"/>
              </a:spcAft>
              <a:defRPr sz="1200">
                <a:solidFill>
                  <a:srgbClr val="35443D"/>
                </a:solidFill>
              </a:defRPr>
            </a:pPr>
            <a:r>
              <a:t>The debrief should ask what competitive assumptions explain the difference.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Where did revenue become profit?</a:t>
            </a:r>
            <a:br/>
            <a:r>
              <a:t>• Where did competition destroy margin?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Competitive intensity shows up in margins, debt, inventory and TSR dispersion.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Leader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051560"/>
          <a:ext cx="7223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292608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U1 leader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U2 leader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TSR %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Orange: 8.18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Grey: 11.86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Orange: $402.7m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Grey: $479.7m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Orange: $2,565.6m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Grey: $3,245.2m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ROS %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Orange: 15.7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Grey: 14.8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ROCE %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Orange: 19.9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Grey: 26.5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Credit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Orange: AA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5443D"/>
                          </a:solidFill>
                        </a:defRPr>
                      </a:pPr>
                      <a:r>
                        <a:t>Grey: AA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Did the two universes reward the same kind of firm?</a:t>
            </a:r>
            <a:br/>
            <a:r>
              <a:t>• What does the difference teach about competitive systems?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Leadership is context-dependent: the same choices may perform differently under different competitive behaviour.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Risk and balance-sheet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3383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U1 unplanned debt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08960"/>
            <a:ext cx="33832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510540" cy="36576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7780" y="1851923"/>
            <a:ext cx="510540" cy="1257036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206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 Rangers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4040" y="2691994"/>
            <a:ext cx="510540" cy="416965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832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0300" y="2466074"/>
            <a:ext cx="510540" cy="642885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458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56560" y="1188720"/>
            <a:ext cx="510540" cy="1920240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084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2820" y="3108960"/>
            <a:ext cx="510540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710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Blue / Chaha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1430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890.0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0175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932688"/>
            <a:ext cx="33832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24362F"/>
                </a:solidFill>
              </a:defRPr>
            </a:pPr>
            <a:r>
              <a:t>U2 unplanned debt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108960"/>
            <a:ext cx="3383280" cy="9144"/>
          </a:xfrm>
          <a:prstGeom prst="rect">
            <a:avLst/>
          </a:prstGeom>
          <a:solidFill>
            <a:srgbClr val="D6D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108960"/>
            <a:ext cx="510540" cy="36576"/>
          </a:xfrm>
          <a:prstGeom prst="rect">
            <a:avLst/>
          </a:prstGeom>
          <a:solidFill>
            <a:srgbClr val="9A9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9700" y="3023542"/>
            <a:ext cx="510540" cy="85417"/>
          </a:xfrm>
          <a:prstGeom prst="rect">
            <a:avLst/>
          </a:prstGeom>
          <a:solidFill>
            <a:srgbClr val="D98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398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HallaBol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5960" y="2975065"/>
            <a:ext cx="510540" cy="133894"/>
          </a:xfrm>
          <a:prstGeom prst="rect">
            <a:avLst/>
          </a:prstGeom>
          <a:solidFill>
            <a:srgbClr val="6D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3024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The Godfathe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32220" y="2949817"/>
            <a:ext cx="510540" cy="159142"/>
          </a:xfrm>
          <a:prstGeom prst="rect">
            <a:avLst/>
          </a:prstGeom>
          <a:solidFill>
            <a:srgbClr val="5F8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650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88480" y="2244479"/>
            <a:ext cx="510540" cy="864480"/>
          </a:xfrm>
          <a:prstGeom prst="rect">
            <a:avLst/>
          </a:prstGeom>
          <a:solidFill>
            <a:srgbClr val="B87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2760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Ochre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4739" y="1188720"/>
            <a:ext cx="510540" cy="1920240"/>
          </a:xfrm>
          <a:prstGeom prst="rect">
            <a:avLst/>
          </a:prstGeom>
          <a:solidFill>
            <a:srgbClr val="BD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9019" y="3154680"/>
            <a:ext cx="6019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680" b="0">
                <a:solidFill>
                  <a:srgbClr val="6F786E"/>
                </a:solidFill>
              </a:defRPr>
            </a:pPr>
            <a:r>
              <a:t>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114300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2,492.9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017520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0.0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universe used financing as a cushion?</a:t>
            </a:r>
            <a:br/>
            <a:r>
              <a:t>• Where did risk become valuation pressure?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Debt is not bad by itself. Unplanned debt indicates that the operating plan did not fund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Strategic archetypes across universes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005840"/>
          <a:ext cx="7955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502920"/>
                <a:gridCol w="1463040"/>
                <a:gridCol w="3474720"/>
              </a:tblGrid>
              <a:tr h="467360"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Universe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Team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Archetype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Orange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8.2%, ROS 15.7%, credit AA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Red Rangers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quality compounder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6.7%, ROS 19.7%, credit A+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Ochre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mixed platform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5.3%, ROS 5.3%, credit 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rank climber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1.6%, ROS 7.2%, credit A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Grey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leader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11.9%, ROS 14.8%, credit AA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HallaBol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rank climber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3.7%, ROS 4.1%, credit BBB-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The Godfathers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mixed platform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2.3%, ROS 6.7%, credit AA-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mixed platform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>
                          <a:solidFill>
                            <a:srgbClr val="35443D"/>
                          </a:solidFill>
                        </a:defRPr>
                      </a:pPr>
                      <a:r>
                        <a:t>TSR -4.6%, ROS 9.9%, credit BBB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archetype is most sustainable?</a:t>
            </a:r>
            <a:br/>
            <a:r>
              <a:t>• Which archetype hides the biggest future risk?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A strategy label is valid only if the metrics support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What Universe 1 can learn from Universe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Compare pricing discipline, R&amp;D timing, and risk posture.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Ask whether the leader wins through economics, valuation credibility, or competitor errors.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Translate cross-universe lessons into decision rules, not imitation.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What Universe 2 can learn from Universe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8/11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Study where stronger volume was or was not converted into margins.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Compare debt and credit rating discipline.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Look for teams that repaired operations faster than 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Final workshop question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9/11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was your initial strategy and how did it change?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Which decision created the most value?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Which decision destroyed value?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Who contributed what to the team process?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What evidence proves learning?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Assessment and participation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10/11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Attendance is necessary but not sufficient.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Group reflection assesses team-level strategy understanding.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Individual questions assess involvement and discourage free-riding.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Marks should reward preparation, evidence, honesty, and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Closing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D Universe 1 &amp; 2 Round 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7665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simulation is a workshop in responsible management.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Winning is not only profit, share, or growth.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The best team builds a coherent system of value creation.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evidence would convince a skeptical investor?</a:t>
            </a:r>
            <a:br/>
            <a:r>
              <a:t>• What would you do differently next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Reflection must convert experience into a better decision rule.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