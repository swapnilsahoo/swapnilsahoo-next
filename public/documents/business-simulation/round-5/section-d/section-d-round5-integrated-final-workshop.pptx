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937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CESIM Global Challenge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81381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Integrated Final Workshop Deck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783080"/>
            <a:ext cx="8686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1 → Round 5 • both universes • final reflection • team oral questions • inter-section insights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24912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teaching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035808"/>
            <a:ext cx="4389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teams built a coherent system of value creation, and which teams mistook activity for strategy?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148840"/>
            <a:ext cx="4297680" cy="3063240"/>
          </a:xfrm>
          <a:prstGeom prst="roundRect">
            <a:avLst>
              <a:gd name="adj" fmla="val 2388"/>
            </a:avLst>
          </a:prstGeom>
          <a:solidFill>
            <a:srgbClr val="EFF3EB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2423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D7E4DA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2560320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32520" y="2423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FE1CD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2560320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317296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D7E4DA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310128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732520" y="317296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FE1CD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3310128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39227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D7E4DA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059936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32520" y="39227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FE1CD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4059936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1/24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this single deck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final two workshops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97864"/>
            <a:ext cx="3505200" cy="350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36720" y="11430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82440" y="1197864"/>
            <a:ext cx="3505200" cy="350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move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33360" y="11430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9080" y="1197864"/>
            <a:ext cx="3505200" cy="350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purpose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184404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9890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236720" y="184404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2440" y="189890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expectations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833360" y="184404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79080" y="189890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Workshop, not lecture. Participation is assessed through reflection and evidence.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40080" y="254508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59994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236720" y="254508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2440" y="259994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final results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833360" y="254508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9080" y="259994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TSR for rank; use operations, finance, HR/ESG and value creation to explain rank.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40080" y="324612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0098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236720" y="324612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82440" y="330098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universes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833360" y="324612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79080" y="330098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one universe did better than the other.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40080" y="394716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0202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236720" y="394716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82440" y="400202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Interrogate teams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833360" y="394716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79080" y="400202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ten questions per team. Ask different members, not only the strongest speaker.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40080" y="46482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70306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236720" y="46482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82440" y="470306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with learning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833360" y="46482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79080" y="470306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team states one preserved decision, one corrected decision, and one general-management rule.</a:t>
            </a:r>
            <a:endParaRPr lang="en-US" sz="820" dirty="0"/>
          </a:p>
        </p:txBody>
      </p:sp>
      <p:sp>
        <p:nvSpPr>
          <p:cNvPr id="43" name="Text 40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2/24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two-session reflection protocol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participation and fairness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658368" y="109728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35024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Student-facing principle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466344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Simulation is a workshop: learning comes from decisions, experimentation, results and reflection.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final sessions begin with group reflective discussion from Round 1 to Round 5.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team member can be questioned individually on decisions, rationale, outcomes and learning.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 and participation marks depend on presence, active contribution and performance in reflection.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09728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EFF3EB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335024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Fairness mechanism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56832" y="1737360"/>
            <a:ext cx="438912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Discourage free-riding and just-in-time attendance.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students who came on time, stayed, discussed and contributed.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quiet members first; rotate questions within each team.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only answers that cite decisions, metrics and causal mechanisms.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56832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grading lens: presence + evidence + causal explanation + team contribution + reflection quality.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3/24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scope and team identity mapping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both universes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115568"/>
            <a:ext cx="3566160" cy="1688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24528" y="1060704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0248" y="1115568"/>
            <a:ext cx="3566160" cy="1688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team name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82128" y="1060704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7848" y="1115568"/>
            <a:ext cx="3566160" cy="1688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 across rounds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39832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45319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224528" y="139832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0248" y="145319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882128" y="139832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7848" y="145319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66928" y="1735953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1790817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224528" y="1735953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1790817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882128" y="1735953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7848" y="1790817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66928" y="2073578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2128442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224528" y="2073578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0248" y="2128442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882128" y="2073578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27848" y="2128442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→ Chahakars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66928" y="241120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246606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224528" y="241120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0248" y="246606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882128" y="241120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27848" y="246606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66928" y="2748827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2803691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224528" y="2748827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0248" y="2803691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882128" y="2748827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27848" y="2803691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66928" y="308645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314131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224528" y="308645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70248" y="314131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882128" y="308645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27848" y="314131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566928" y="342407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" y="347894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4224528" y="342407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70248" y="347894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7882128" y="342407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27848" y="347894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566928" y="3761701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" y="3816565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4224528" y="3761701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70248" y="3816565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7882128" y="3761701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27848" y="3816565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566928" y="409932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" y="415419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4224528" y="409932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70248" y="415419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Godfathers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7882128" y="409932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27848" y="415419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→ The Godfathers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566928" y="4436950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2648" y="4491814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4224528" y="4436950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70248" y="4491814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7882128" y="4436950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27848" y="4491814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→ HallaBol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566928" y="4774575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2648" y="4829439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4224528" y="4774575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70248" y="4829439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7882128" y="4774575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27848" y="4829439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566928" y="511219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2648" y="516706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4224528" y="511219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70248" y="516706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820" dirty="0"/>
          </a:p>
        </p:txBody>
      </p:sp>
      <p:sp>
        <p:nvSpPr>
          <p:cNvPr id="82" name="Shape 80"/>
          <p:cNvSpPr/>
          <p:nvPr/>
        </p:nvSpPr>
        <p:spPr>
          <a:xfrm>
            <a:off x="7882128" y="511219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927848" y="516706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820" dirty="0"/>
          </a:p>
        </p:txBody>
      </p:sp>
      <p:sp>
        <p:nvSpPr>
          <p:cNvPr id="84" name="Text 82"/>
          <p:cNvSpPr/>
          <p:nvPr/>
        </p:nvSpPr>
        <p:spPr>
          <a:xfrm>
            <a:off x="731520" y="5669280"/>
            <a:ext cx="10515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continuity is mapped by workbook column position across rounds. Renamed teams are treated as the same company, not new entrants.</a:t>
            </a:r>
            <a:endParaRPr lang="en-US" sz="1300" dirty="0"/>
          </a:p>
        </p:txBody>
      </p:sp>
      <p:sp>
        <p:nvSpPr>
          <p:cNvPr id="86" name="Text 83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leaderboard: both universes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cumulative TSR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16152"/>
            <a:ext cx="4983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472184"/>
            <a:ext cx="4983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ranking after Round 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75564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69629" y="1755648"/>
            <a:ext cx="1264804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2274" y="173736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46430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9629" y="2464308"/>
            <a:ext cx="1032251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2274" y="244602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317296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69629" y="3172968"/>
            <a:ext cx="817504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2274" y="315468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" y="388162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69629" y="3881628"/>
            <a:ext cx="245370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2274" y="386334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2960" y="459028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71348" y="4590288"/>
            <a:ext cx="698281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2274" y="457200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-4.5%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529894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88413" y="5298948"/>
            <a:ext cx="1181216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2274" y="528066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-7.6%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6364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1216152"/>
            <a:ext cx="4983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1472184"/>
            <a:ext cx="4983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ranking after Round 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175564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875174" y="1755648"/>
            <a:ext cx="628539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1554" y="173736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11.9%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246430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875174" y="2464308"/>
            <a:ext cx="196552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1554" y="244602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92240" y="317296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Godfathers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875174" y="3172968"/>
            <a:ext cx="119828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1554" y="315468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92240" y="388162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630853" y="3881628"/>
            <a:ext cx="244320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1554" y="386334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-4.6%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92240" y="459028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424225" y="4590288"/>
            <a:ext cx="450948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01554" y="457200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-8.5%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92240" y="529894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57693" y="5298948"/>
            <a:ext cx="1817481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1554" y="528066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-34.3%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5/24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managerial puzzles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profit is not the same as value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08666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leader: 8.2%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290962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profit: 402.7m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333756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77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373258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share: 28.5%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455554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TSR: -7.6%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5074920"/>
            <a:ext cx="4480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question: Which number is most seductive but least sufficient?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078992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EFF3EB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69164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208666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leader: 11.9%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37960" y="251460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290962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profit: 479.7m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37960" y="333756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77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37960" y="373258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share: 25.5%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37960" y="416052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37960" y="455554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TSR: -34.3%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37960" y="5074920"/>
            <a:ext cx="4480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question: Which number is most seductive but least sufficient?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6/24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rank flow: Round 1 to Round 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movement map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08279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814316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03620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92924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2228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71532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141732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832604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2604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1908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1908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411212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1212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700516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0516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989820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9820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520" y="209550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832604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2604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21908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1908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411212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11212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700516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00516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989820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89820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1520" y="277368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832604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2604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21908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1908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411212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11212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700516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00516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989820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89820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1520" y="345186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832604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2604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21908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1908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411212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11212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700516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00516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989820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89820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1520" y="413004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4832604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32604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121908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1908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411212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11212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700516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00516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9989820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89820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31520" y="480822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4832604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32604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121908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1908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411212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11212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700516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00516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989820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989820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ask: who learned, who merely moved, and who converted learning into TSR?</a:t>
            </a:r>
            <a:endParaRPr lang="en-US" sz="1300" dirty="0"/>
          </a:p>
        </p:txBody>
      </p:sp>
      <p:sp>
        <p:nvSpPr>
          <p:cNvPr id="80" name="Text 77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7/24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rank flow: Round 1 to Round 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movement map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08279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814316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03620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92924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2228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71532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141732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832604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2604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1908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1908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411212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1212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700516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0516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989820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9820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520" y="209550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832604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2604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21908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1908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411212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11212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700516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00516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989820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89820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1520" y="277368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Godfathers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832604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2604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21908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1908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411212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11212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700516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00516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989820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89820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1520" y="345186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832604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2604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21908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1908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411212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11212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700516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00516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989820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89820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1520" y="413004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4832604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32604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121908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1908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411212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11212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700516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00516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9989820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89820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31520" y="480822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4832604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32604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121908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1908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411212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11212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700516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00516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989820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989820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explain whether rank movement came from better decisions or competitor errors.</a:t>
            </a:r>
            <a:endParaRPr lang="en-US" sz="1300" dirty="0"/>
          </a:p>
        </p:txBody>
      </p:sp>
      <p:sp>
        <p:nvSpPr>
          <p:cNvPr id="80" name="Text 77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8/24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Intra-section insight: Universe 1 vs Universe 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same section, different competitive systems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leader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 TSR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TSR teams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pool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1248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pool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96696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 signal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19456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74904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8.2%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30352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85800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12.8mm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41248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795.7m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96696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1268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4008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219456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028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74904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11.9%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30352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3/6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85800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14.6mm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841248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5820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352.4m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996696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1268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822960" y="306324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156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51560" y="3657600"/>
            <a:ext cx="42976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rewarded scale more strongly?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converted profit into value better?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carried greater repair/risk cases?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306324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EFF3EB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move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537960" y="3657600"/>
            <a:ext cx="40233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combine universes into one artificial ranking.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patterns: pricing, risk, investment, value creation.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what would the losing universe copy?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9/24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Inter-section insight: Section C vs Section 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deck includes cross-section lens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CROSS-SECTION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5364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936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leader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6720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292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 TSR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TSR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89432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004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pool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0788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leader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U1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45364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936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26720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292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8.2%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08076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89432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004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795.7m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70788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360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4008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U2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245364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9936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26720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292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11.9%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08076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3/6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89432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004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352.4m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970788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5360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4008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U1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245364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936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26720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1292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7.8%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08076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789432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4004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-758.8m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970788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5360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64008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U2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245364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9936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426720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1292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14.1%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608076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789432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4004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320.1m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970788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5360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914400" y="4251960"/>
            <a:ext cx="10332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43000" y="4462272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prompt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143000" y="4800600"/>
            <a:ext cx="9692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another section created stronger TSR outcomes, was it because of superior strategy, easier competition, lower risk, or better alignment among decisions?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10/24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oral-questioning method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ten questions per team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ORAL FORMAT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97864"/>
            <a:ext cx="2377440" cy="3004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97864"/>
            <a:ext cx="2377440" cy="3004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discipline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743891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798755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246120" y="1743891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98755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from R1 to R5?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77240" y="2344783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99647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246120" y="2344783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399647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you believe about demand, price, tech and rivals?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77240" y="2945674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00538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246120" y="2945674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000538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metric confirms or rejects that belief?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3546566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01430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246120" y="3546566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601430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decision moved the metric?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77240" y="4147457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202321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246120" y="4147457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4202321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you gain and sacrifice?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77240" y="4748349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803213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3246120" y="4748349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803213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rule would govern the next decision?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309360" y="11430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EFF3EB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for asking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1828800"/>
            <a:ext cx="42062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different members of the same team.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accept “we tried our best” as analysis.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 decision and one metric in every answer.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peers to ask one follow-up question.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participation quality immediately.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11/24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Orange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2565.6m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402.7m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19.8%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15.7%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19.9%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1st.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(2565.6m) convert into profit (402.7m)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(AA)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(19.8%)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15.7%?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19.9%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12/24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Red Rangers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1284.7m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252.9m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19.7%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10.9%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2nd.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(1284.7m) convert into profit (252.9m)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(A+)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(9.6%)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19.7%?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10.9%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13/24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Ochre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3027.2m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159.5m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21.1%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12.2%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3rd.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(3027.2m) convert into profit (159.5m)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(A)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(21.1%)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5.3%?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12.2%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14/24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Green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3124.7m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223.6m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28.5%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4th.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(3124.7m) convert into profit (223.6m)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(A)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(28.5%)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7.2%?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9.7%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15/24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Grey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-4.5%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1564.1m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-425.5m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10.3%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-27.2%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-23.5%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B-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5th.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(1564.1m) convert into profit (-425.5m)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(B-)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(10.3%)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-27.2%?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-23.5%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16/24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Blue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-7.6%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1208.3m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182.6m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10.8%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15.1%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10.8%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→ Chahakars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6th.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(1208.3m) convert into profit (182.6m)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(A)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(10.8%)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15.1%?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10.8%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17/24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Grey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11.9%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3245.2m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479.7m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21.5%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14.8%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26.5%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1st.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(3245.2m) convert into profit (479.7m)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(AA)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(21.5%)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14.8%?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26.5%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18/24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HallaBol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3883.6m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159.7m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25.5%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BBB-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→ HallaBol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2nd.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(3883.6m) convert into profit (159.7m)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(BBB-)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(25.5%)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4.1%?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7.5%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19/24</a:t>
            </a: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The Godfathers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2597.2m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175.1m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17.5%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14.6%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AA-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→ The Godfathers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3rd.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(2597.2m) convert into profit (175.1m)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(AA-)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(17.5%)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6.7%?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14.6%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20/24</a:t>
            </a:r>
            <a:endParaRPr lang="en-US" sz="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Green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-4.6%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2069.6m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204.4m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14.4%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15.4%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4th.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(2069.6m) convert into profit (204.4m)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(BBB)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(14.4%)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9.9%?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15.4%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21/24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Ochre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-8.5%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2127.1m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-347.1m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17.2%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-16.3%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-7.5%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5th.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(2127.1m) convert into profit (-347.1m)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(C)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(17.2%)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-16.3%?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-7.5%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22/24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Red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-34.3%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681.2m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-319.3m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-46.9%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6th.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(681.2m) convert into profit (-319.3m)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(CC)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(3.9%)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-46.9%?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2.3%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23/24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Closing: from simulation result to managerial judgement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final workshop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105156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team leaves with three sentences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2103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157984"/>
            <a:ext cx="3139440" cy="2857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19600" y="2103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5320" y="2157984"/>
            <a:ext cx="3139440" cy="2857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650480" y="2103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6200" y="2157984"/>
            <a:ext cx="3139440" cy="2857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requirement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88720" y="2674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729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419600" y="2674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5320" y="2729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decision we will preserve is…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650480" y="2674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6200" y="2729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metric evidence is…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188720" y="3246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3009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419600" y="3246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5320" y="33009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decision we would redesign is…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650480" y="3246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6200" y="33009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causal chain failed at…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1188720" y="3817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3872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419600" y="3817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5320" y="3872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general-management rule is…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650480" y="3817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6200" y="3872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we would test it by watching…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143000" y="4800600"/>
            <a:ext cx="9875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reminder: the strongest team is not always the largest, loudest, most profitable, or most technologically ambitious; it is the team with the most coherent system of value creation.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Integrated Final Workshop Deck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24/24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Great Lakes Institute of Management, Gurgaon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Sec D integrated final CESIM debrief</dc:subject>
  <dc:creator>Dr. Swapnil Sahoo</dc:creator>
  <cp:lastModifiedBy>Dr. Swapnil Sahoo</cp:lastModifiedBy>
  <cp:revision>1</cp:revision>
  <dcterms:created xsi:type="dcterms:W3CDTF">2026-08-29T18:00:29Z</dcterms:created>
  <dcterms:modified xsi:type="dcterms:W3CDTF">2026-08-29T18:00:29Z</dcterms:modified>
</cp:coreProperties>
</file>