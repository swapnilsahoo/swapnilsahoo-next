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Section D Universe 1: Final Round 5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Round 4 → Round 5 comparison with R1–R5 journey and reflective discussion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Section D • Universe 1 • Final workshop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identity map and data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585216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Round continuity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Canonical team used in deck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Blue, Chahakars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Blue / Chahakars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3749039"/>
            <a:ext cx="56692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is read against Round 4 and the complete R1–R5 journey.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Formal rank uses cumulative TSR (p.a.) as reported in the workbook.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Individual reflective questions assess whether each member understands the team decision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mistake would occur if renamed teams were treated as new companies?</a:t>
            </a:r>
            <a:br/>
            <a:r>
              <a:t>• Which metric should determine formal rank?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Identity continuity comes before performance comparison. Otherwise the analysis rewards or punishes the wrong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Round 5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078992"/>
          <a:ext cx="7452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828800"/>
                <a:gridCol w="777240"/>
                <a:gridCol w="1005840"/>
                <a:gridCol w="1005840"/>
                <a:gridCol w="777240"/>
                <a:gridCol w="777240"/>
                <a:gridCol w="77724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TSR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ROS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ROCE %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8.18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$402.7m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$2,565.6m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15.7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19.9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Red Rangers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6.67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$252.9m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$1,284.7m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19.7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10.9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Ochre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5.29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$159.5m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$3,027.2m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5.3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12.2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1.59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$223.6m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$3,124.7m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7.2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9.7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-4.51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$-425.5m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$1,564.1m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-27.2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-23.5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Blue / Chahakars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-7.64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$182.6m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$1,208.3m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15.1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10.8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544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49640" y="109728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225295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50876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Orange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194767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8.18%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097280"/>
            <a:ext cx="73152" cy="96012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286000"/>
            <a:ext cx="2743200" cy="96012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2414016"/>
            <a:ext cx="24140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Deepest repair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697480"/>
            <a:ext cx="24140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Blue / Chahakars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3136392"/>
            <a:ext cx="24140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TSR -7.64%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286000"/>
            <a:ext cx="73152" cy="96012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3657600"/>
            <a:ext cx="3063240" cy="14630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822191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160520"/>
            <a:ext cx="2697480" cy="822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won formally, and who built the best operating platform?</a:t>
            </a:r>
            <a:br/>
            <a:r>
              <a:t>• Which rank hides a deeper strategic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Universe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Sales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$12,774.6m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32.8% vs R4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143000"/>
            <a:ext cx="73152" cy="109728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12264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6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$795.7m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21.2% vs R4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2264" y="1143000"/>
            <a:ext cx="73152" cy="109728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30168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R&amp;D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$1,123.1m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57.5% vs R4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0168" y="1143000"/>
            <a:ext cx="73152" cy="109728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8072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$2,350.5m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-9.4% vs R4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8072" y="1143000"/>
            <a:ext cx="73152" cy="109728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65976" y="1143000"/>
            <a:ext cx="1371600" cy="109728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271016"/>
            <a:ext cx="104241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Market 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554480"/>
            <a:ext cx="104241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$38.74bn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93392"/>
            <a:ext cx="104241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12.9% vs R4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65976" y="1143000"/>
            <a:ext cx="73152" cy="109728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257860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Round 5 profit by team (USD 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381273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2834640"/>
            <a:ext cx="1089660" cy="97809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49780" y="3198342"/>
            <a:ext cx="1089660" cy="61438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406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5160" y="3425421"/>
            <a:ext cx="1089660" cy="38730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3944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540" y="3269685"/>
            <a:ext cx="1089660" cy="54304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482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5920" y="3812730"/>
            <a:ext cx="1089660" cy="1033589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1020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91300" y="3369317"/>
            <a:ext cx="1089660" cy="44341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5580" y="48920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59" y="27889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402.7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59" y="47548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-425.5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Did the universe grow healthier, or merely bigger?</a:t>
            </a:r>
            <a:br/>
            <a:r>
              <a:t>• Which number should worry us most?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Healthy growth means revenue becomes margin, margin becomes cash, and cash remains credible after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Rank movement: Round 4 → Round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914400"/>
            <a:ext cx="33832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1">
                <a:solidFill>
                  <a:srgbClr val="24362F"/>
                </a:solidFill>
              </a:defRPr>
            </a:pPr>
            <a:r>
              <a:t>Round 5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898648" y="1770017"/>
            <a:ext cx="2706624" cy="1254034"/>
          </a:xfrm>
          <a:prstGeom prst="line">
            <a:avLst/>
          </a:prstGeom>
          <a:ln w="254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" y="2877747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28039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3. Orange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23713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674005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1. Orange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98648" y="1770017"/>
            <a:ext cx="2706624" cy="627017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" y="1623713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1674005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1. Red Rangers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50730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301022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2. Red Rangers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98648" y="2397034"/>
            <a:ext cx="2706624" cy="627017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" y="2250730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301022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2. Ochre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77747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928039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3. Ochre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898648" y="3651068"/>
            <a:ext cx="2706624" cy="627017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5256" y="4131781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182073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Green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04764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555056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Green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98648" y="3651068"/>
            <a:ext cx="2706624" cy="627017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" y="3504764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555056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4. Grey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31781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182073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5. Grey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898648" y="4905102"/>
            <a:ext cx="2706624" cy="0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5256" y="4758798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4809090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Blue / Chahakar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58798"/>
            <a:ext cx="1143000" cy="292608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4809090"/>
            <a:ext cx="1069848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6. Blue / Chahakar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improved most in relative rank?</a:t>
            </a:r>
            <a:br/>
            <a:r>
              <a:t>• Which team improved operationally but did not receive full TSR credit?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Rank is relative. A company may improve in absolute terms and still fall if competitors improve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R1 → R5 strategic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6888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6052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43800" y="9144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1143000"/>
            <a:ext cx="0" cy="4297680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14400" y="1143000"/>
            <a:ext cx="1691640" cy="859536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06040" y="1143000"/>
            <a:ext cx="1691640" cy="2578608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97680" y="2862072"/>
            <a:ext cx="1691640" cy="859536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989320" y="1143000"/>
            <a:ext cx="1691640" cy="1719072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54112" y="106984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Orange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2862072"/>
            <a:ext cx="169164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06040" y="2862072"/>
            <a:ext cx="169164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297680" y="1143000"/>
            <a:ext cx="1691640" cy="1719072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89320" y="1143000"/>
            <a:ext cx="1691640" cy="859536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54112" y="1929384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Red Rangers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1143000"/>
            <a:ext cx="1691640" cy="859536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06040" y="1143000"/>
            <a:ext cx="1691640" cy="859536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97680" y="1143000"/>
            <a:ext cx="1691640" cy="859536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89320" y="2002536"/>
            <a:ext cx="1691640" cy="859536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54112" y="2788920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Ochre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" y="5440680"/>
            <a:ext cx="169164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06040" y="5440680"/>
            <a:ext cx="169164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297680" y="4581144"/>
            <a:ext cx="1691640" cy="859536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989320" y="3721608"/>
            <a:ext cx="1691640" cy="859536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54112" y="3648456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581144"/>
            <a:ext cx="1691640" cy="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06040" y="2002536"/>
            <a:ext cx="1691640" cy="2578608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97680" y="2002536"/>
            <a:ext cx="1691640" cy="1719072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89320" y="3721608"/>
            <a:ext cx="1691640" cy="859536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54112" y="4507992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3721608"/>
            <a:ext cx="1691640" cy="0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06040" y="3721608"/>
            <a:ext cx="1691640" cy="859536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97680" y="4581144"/>
            <a:ext cx="1691640" cy="859536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89320" y="5440680"/>
            <a:ext cx="1691640" cy="0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754112" y="536752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Blue / Chahakars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107899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79" y="5376672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simulation?</a:t>
            </a:r>
            <a:br/>
            <a:r>
              <a:t>• Which team repeated the same pattern?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The final rank is a lagging indicator. The journey shows how quickly teams updated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The Round 5 managerial puzzle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88720"/>
          <a:ext cx="6583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Lens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Round 5 signal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8.18% TSR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Profit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$402.7m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Revenue leader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$3,124.7m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Capital productivity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ROCE 19.9%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3657600"/>
            <a:ext cx="6217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formal winner is Orange, but other teams may lead on profit, sales, or capital efficiency.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debrief should separate current accounting performance from valuation confidence.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final reflection should ask each team to explain the causal mechanism behind its rank.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Why might the highest-profit team not win TSR?</a:t>
            </a:r>
            <a:br/>
            <a:r>
              <a:t>• What future cash-flow story is the market pricing?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Valuation rewards expected cash flows after risk, not isolated one-round strength.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Demand and market-share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8/21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Global market share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32021"/>
            <a:ext cx="1089660" cy="1331218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2620" y="2417841"/>
            <a:ext cx="1089660" cy="645398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1643094"/>
            <a:ext cx="1089660" cy="1420145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228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3380" y="1143000"/>
            <a:ext cx="1089660" cy="192024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766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760" y="2368662"/>
            <a:ext cx="1089660" cy="694577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304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4140" y="2337672"/>
            <a:ext cx="1089660" cy="725567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4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28.5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8444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Sales revenue (USD 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102262"/>
            <a:ext cx="1089660" cy="1201257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12620" y="4702007"/>
            <a:ext cx="1089660" cy="601512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690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48000" y="3886149"/>
            <a:ext cx="1089660" cy="1417370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228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3380" y="3840480"/>
            <a:ext cx="1089660" cy="146304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766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8760" y="4571181"/>
            <a:ext cx="1089660" cy="732338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304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4140" y="4737787"/>
            <a:ext cx="1089660" cy="565732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8420" y="534924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3,124.7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share into economic value?</a:t>
            </a:r>
            <a:br/>
            <a:r>
              <a:t>• Who captured activity without sufficient margin?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Market share is valuable only when it produces repeatable contribution, learning, and cash.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Profitability and capital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9/21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ROS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87612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14321"/>
            <a:ext cx="502919" cy="67329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142999"/>
            <a:ext cx="502919" cy="84461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39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761651"/>
            <a:ext cx="502919" cy="225961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1680682"/>
            <a:ext cx="502919" cy="30693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987612"/>
            <a:ext cx="502919" cy="1167067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339490"/>
            <a:ext cx="502919" cy="648121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19.7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-27.2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886968"/>
            <a:ext cx="333756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ROCE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064884"/>
            <a:ext cx="333756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142999"/>
            <a:ext cx="502919" cy="921884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557805"/>
            <a:ext cx="502919" cy="50707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498576"/>
            <a:ext cx="502919" cy="56630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15554"/>
            <a:ext cx="502919" cy="449329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064884"/>
            <a:ext cx="502919" cy="1089795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1562516"/>
            <a:ext cx="502919" cy="50236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200400"/>
            <a:ext cx="594359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19.9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-23.5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22960" y="3749039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1097280"/>
              </a:tblGrid>
              <a:tr h="2481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15.7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19.9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Red Rangers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19.7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10.9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Ochre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5.3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12.2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7.2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9.7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-27.2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-23.5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Blue / Chahakars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15.1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10.8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544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used capital most intelligently?</a:t>
            </a:r>
            <a:br/>
            <a:r>
              <a:t>• Where did current profit mask balance-sheet risk?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ROCE disciplines growth ambition by asking whether resources actually produced returns.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Balance-sheet and financing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10/21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8696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Unplanned short-term debt (USD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063240"/>
            <a:ext cx="1089660" cy="36576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2620" y="1806203"/>
            <a:ext cx="1089660" cy="1257036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2646274"/>
            <a:ext cx="1089660" cy="416965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228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3380" y="2420354"/>
            <a:ext cx="1089660" cy="64288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766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8760" y="1143000"/>
            <a:ext cx="1089660" cy="1920240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304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4140" y="3063240"/>
            <a:ext cx="1089660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420" y="3108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890.0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38728"/>
            <a:ext cx="6858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Net debt to equity / gearing (%)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724547"/>
            <a:ext cx="6858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724547"/>
            <a:ext cx="1089660" cy="624692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12620" y="4724547"/>
            <a:ext cx="1089660" cy="402989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690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48000" y="4724547"/>
            <a:ext cx="1089660" cy="182661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228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3380" y="4373428"/>
            <a:ext cx="1089660" cy="35111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766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18760" y="3794760"/>
            <a:ext cx="1089660" cy="929787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304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4140" y="4724547"/>
            <a:ext cx="1089660" cy="364673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8420" y="5394960"/>
            <a:ext cx="11811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490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83.6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-56.2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firms are surviving by financing rather than operating strength?</a:t>
            </a:r>
            <a:br/>
            <a:r>
              <a:t>• Why does leverage change valuation even when revenue is high?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Risk reduces the present value of future cash flows and constrains future choices.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ESG and HR as capability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ESG reputation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74699"/>
            <a:ext cx="518160" cy="1779980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5400" y="1295047"/>
            <a:ext cx="518160" cy="1859632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96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59280" y="1159458"/>
            <a:ext cx="518160" cy="1995221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3559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143000"/>
            <a:ext cx="518160" cy="201168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7040" y="1349342"/>
            <a:ext cx="518160" cy="1805337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132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50920" y="1232549"/>
            <a:ext cx="518160" cy="192213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52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886968"/>
            <a:ext cx="34290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HR efficiency multiplier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154680"/>
            <a:ext cx="342900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1161825"/>
            <a:ext cx="518160" cy="1992854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35880" y="1237561"/>
            <a:ext cx="518160" cy="1917118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016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99760" y="1323069"/>
            <a:ext cx="518160" cy="1831610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404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386411"/>
            <a:ext cx="518160" cy="1768268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7520" y="1192447"/>
            <a:ext cx="518160" cy="1962232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180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91400" y="1143000"/>
            <a:ext cx="518160" cy="201168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5680" y="3200400"/>
            <a:ext cx="6096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10972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06324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886200"/>
            <a:ext cx="65836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ESG/HR should be read as capability and risk variables, not decorative scores.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A strong reputation still needs operating economics; weak people systems can constrain execution.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In reflective discussions, ask teams how their people, process and sustainability choices supported strategy.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Who converted ESG/HR into competitive strength?</a:t>
            </a:r>
            <a:br/>
            <a:r>
              <a:t>• Where did weak capability show up in financial results?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Stakeholder investments create value when they improve demand, risk, productivity, or resilience.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Relative scorecard: R4 → 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12/21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6812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ROCE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Red Rangers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Ochre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––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Blue / Chahakars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=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5443D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improvement pattern is coherent?</a:t>
            </a:r>
            <a:br/>
            <a:r>
              <a:t>• Which team has one bright spot hiding larger risk?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scorecard prevents metric cherry-picking: good strategy improves the causal chain, not just one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13/21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3.4%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$402.7m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$204.2m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19.9%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10.7%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TSR leader.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$2,565.6m; share 19.8%; ROS 15.7%.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AA; unplanned debt $0.0m; ESG reputation 2.84.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Red Rangers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14/21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2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8.5%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$252.9m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$230.4m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10.9%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11.9%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quality compounder.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$1,284.7m; share 9.6%; ROS 19.7%.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A+; unplanned debt $582.6m; ESG reputation 2.97.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Ochre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15/21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3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5.3%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$159.5m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$10.7m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12.2%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4.9%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mixed platform.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$3,027.2m; share 21.1%; ROS 5.3%.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A; unplanned debt $193.3m; ESG reputation 3.19.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16/21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-5.7%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$223.6m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$193.7m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9.7%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7.5%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rank climber.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$3,124.7m; share 28.5%; ROS 7.2%.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A; unplanned debt $298.0m; ESG reputation 3.21.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Grey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17/21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5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-2.3%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$-425.5m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$-47.8m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C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-23.5%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-0.5%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repair case.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$1,564.1m; share 10.3%; ROS -27.2%.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B-; unplanned debt $890.0m; ESG reputation 2.88.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 profile: Blue / Chahakars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18/21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6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051560"/>
            <a:ext cx="73152" cy="91440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8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TSR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-7.6%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-16.6%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1051560"/>
            <a:ext cx="73152" cy="914400"/>
          </a:xfrm>
          <a:prstGeom prst="rect">
            <a:avLst/>
          </a:prstGeom>
          <a:solidFill>
            <a:srgbClr val="4E7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$182.6m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$65.4m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1051560"/>
            <a:ext cx="73152" cy="91440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051560"/>
            <a:ext cx="1508760" cy="91440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1179576"/>
            <a:ext cx="1179576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1">
                <a:solidFill>
                  <a:srgbClr val="6F786E"/>
                </a:solidFill>
              </a:defRPr>
            </a:pPr>
            <a:r>
              <a:t>ROCE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1463039"/>
            <a:ext cx="1179576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100" b="1">
                <a:solidFill>
                  <a:srgbClr val="24362F"/>
                </a:solidFill>
              </a:defRPr>
            </a:pPr>
            <a:r>
              <a:t>10.8%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1901952"/>
            <a:ext cx="1179576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R4: 7.2%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051560"/>
            <a:ext cx="73152" cy="914400"/>
          </a:xfrm>
          <a:prstGeom prst="rect">
            <a:avLst/>
          </a:prstGeom>
          <a:solidFill>
            <a:srgbClr val="C9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331720"/>
            <a:ext cx="6766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Strategic profile: quality compounder.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$1,208.3m; share 10.8%; ROS 15.1%.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Credit A; unplanned debt $0.0m; ESG reputation 3.07.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Round 5 reflection: explain the one assumption that most shaped your decisions and the evidence that supports or rejects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did this team assume about demand, price, technology, or risk?</a:t>
            </a:r>
            <a:br/>
            <a:r>
              <a:t>• What should it preserve and what must it repair?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Diagnose from evidence: outcome → mechanism → decision → assumption → next rule.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reflective discussion: group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19/21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71323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Each team must explain its R1→R5 journey: strategy, key decisions, pivots, mistakes, and learning.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Every member may be asked an individual question on team logic, not just final rank.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Participation marks will reflect presence, preparation, contribution, and understanding.</a:t>
            </a:r>
          </a:p>
          <a:p>
            <a:pPr>
              <a:spcAft>
                <a:spcPts val="500"/>
              </a:spcAft>
              <a:defRPr sz="1300">
                <a:solidFill>
                  <a:srgbClr val="35443D"/>
                </a:solidFill>
              </a:defRPr>
            </a:pPr>
            <a:r>
              <a:t>The purpose is fairness: to recognise students who contributed and discourage free-riding.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474720"/>
          <a:ext cx="6675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Reflection 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How did your strategy evolve from R1 to R5?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Which metric best proves your learning?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Mistake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decision would you reverse?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5443D"/>
                          </a:solidFill>
                        </a:defRPr>
                      </a:pPr>
                      <a:r>
                        <a:t>What did each member contribute?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Can every member explain the team’s strategy without prompting?</a:t>
            </a:r>
            <a:br/>
            <a:r>
              <a:t>• What evidence separates genuine participation from free-riding?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workshop assesses thinking-in-action: decision quality, reflection quality, and responsible team contribution.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learning: decision rules for general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20/21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143000"/>
          <a:ext cx="7040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76072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Decision rule to articulate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Demand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forecast by region and technology before production.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change price only if volume gain exceeds margin loss.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R&amp;D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invest when readiness, demand and financing can support commercialisation.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produce to demand estimates and inventory thresholds.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We avoid unplanned debt and protect rating guardrails.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Reflection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35443D"/>
                          </a:solidFill>
                        </a:defRPr>
                      </a:pPr>
                      <a:r>
                        <a:t>Every member names one assumption, one evidence point and one change.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rule would have prevented your biggest mistake?</a:t>
            </a:r>
            <a:br/>
            <a:r>
              <a:t>• Which rule will you carry into real management?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Managerial learning becomes durable only when it changes the next decision rule.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Closing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Round 1–5 CESIM Excel results + uploaded dashboard panels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21/21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400" b="1">
                <a:solidFill>
                  <a:srgbClr val="24362F"/>
                </a:solidFill>
              </a:defRPr>
            </a:pPr>
            <a:r>
              <a:t>The strongest team is not simply the one with the highest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58368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0">
                <a:solidFill>
                  <a:srgbClr val="35443D"/>
                </a:solidFill>
              </a:defRPr>
            </a:pPr>
            <a:r>
              <a:t>It is the team whose market choices, operations, finance, people, sustainability and risk form the most coherent system of value creation.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630936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customers?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trade-offs?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did we learn about ourselves as decision-makers?</a:t>
            </a:r>
          </a:p>
          <a:p>
            <a:pPr>
              <a:spcAft>
                <a:spcPts val="500"/>
              </a:spcAft>
              <a:defRPr sz="1400">
                <a:solidFill>
                  <a:srgbClr val="35443D"/>
                </a:solidFill>
              </a:defRPr>
            </a:pPr>
            <a:r>
              <a:t>What would we do differently if the simulation restarted tomorrow?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will your team stop defending and start learning from?</a:t>
            </a:r>
            <a:br/>
            <a:r>
              <a:t>• Which learning will matter most beyond the simulation?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