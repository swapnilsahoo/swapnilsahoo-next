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C Universe 1: Final Round 5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4 → Round 5 comparison with R1–R5 journey and reflective discussion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C • Universe 1 • Final workshop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identity map and data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585216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Round continuity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Canonical team used in deck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Gang, Red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Blue, Lakshmi Chit Fund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Lakshmi Chit Fund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Big Bulls, Orange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Big Bulls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749039"/>
            <a:ext cx="56692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is read against Round 4 and the complete R1–R5 journey.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Formal rank uses cumulative TSR (p.a.) as reported in the workbook.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Individual reflective questions assess whether each member understands the team decision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mistake would occur if renamed teams were treated as new companies?</a:t>
            </a:r>
            <a:br/>
            <a:r>
              <a:t>• Which metric should determine formal rank?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Identity continuity comes before performance comparison. Otherwise the analysis rewards or punishes the wrong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Round 5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78992"/>
          <a:ext cx="7452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777240"/>
                <a:gridCol w="1005840"/>
                <a:gridCol w="1005840"/>
                <a:gridCol w="777240"/>
                <a:gridCol w="777240"/>
                <a:gridCol w="77724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7.80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$195.4m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$3,320.4m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25.1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Big Bulls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1.37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$-17.4m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$1,541.0m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Akatsuki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-4.05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$7.8m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$2,561.3m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Lakshmi Chit Fund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-9.64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$23.7m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$3,329.2m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18.2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CCC-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-9.87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$-605.9m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$1,328.4m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-45.6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CCC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-12.03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$-102.9m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$3,814.1m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Pink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-12.64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$-259.5m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$2,068.7m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-12.5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CCC-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49640" y="109728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225295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50876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194767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7.80%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097280"/>
            <a:ext cx="73152" cy="96012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28600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414016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Deepest repair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9748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Pink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313639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-12.64%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286000"/>
            <a:ext cx="73152" cy="96012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3657600"/>
            <a:ext cx="3063240" cy="14630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822191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60520"/>
            <a:ext cx="269748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won formally, and who built the best operating platform?</a:t>
            </a:r>
            <a:br/>
            <a:r>
              <a:t>• Which rank hides a deeper strategic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Sales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$17,963.1m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15.3% vs R4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73152" cy="10972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2264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$-758.8m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-28.5% vs R4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2264" y="1143000"/>
            <a:ext cx="73152" cy="10972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0168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$1,065.6m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-49.4% vs 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1143000"/>
            <a:ext cx="73152" cy="109728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8072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$5,505.2m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28.9% vs 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8072" y="1143000"/>
            <a:ext cx="73152" cy="109728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65976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Market 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$33.00bn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5.5% vs R4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5976" y="1143000"/>
            <a:ext cx="73152" cy="109728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257860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Round 5 profit by team (USD 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3325158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2834640"/>
            <a:ext cx="927462" cy="49051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87582" y="3325158"/>
            <a:ext cx="927462" cy="43611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41862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60765" y="3305618"/>
            <a:ext cx="927462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5045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33948" y="3265653"/>
            <a:ext cx="927462" cy="5950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8228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7131" y="3325158"/>
            <a:ext cx="927462" cy="1521161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61411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80314" y="3325158"/>
            <a:ext cx="927462" cy="25844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34594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3497" y="3325158"/>
            <a:ext cx="927462" cy="651383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07777" y="48920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59" y="27889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195.4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59" y="47548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-605.9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universe grow healthier, or merely bigger?</a:t>
            </a:r>
            <a:br/>
            <a:r>
              <a:t>• Which number should worry us most?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Healthy growth means revenue becomes margin, margin becomes cash, and cash remains credible after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Rank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5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898648" y="1691640"/>
            <a:ext cx="2706624" cy="548640"/>
          </a:xfrm>
          <a:prstGeom prst="line">
            <a:avLst/>
          </a:prstGeom>
          <a:ln w="254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209397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4426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2. 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4533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59562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Green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1691640"/>
            <a:ext cx="2706624" cy="54864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" y="154533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159562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1. Big Bulls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9397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14426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Big Bulls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98648" y="2788920"/>
            <a:ext cx="2706624" cy="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" y="2642615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69290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Akatsuki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642615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69290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Akatsuki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898648" y="3337560"/>
            <a:ext cx="2706624" cy="164592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" y="483717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88746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7. Lakshmi Chit Fu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19125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24154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Lakshmi Chit Fu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98648" y="3337560"/>
            <a:ext cx="2706624" cy="54864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" y="319125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24154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Grey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73989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790187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Grey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98648" y="4434840"/>
            <a:ext cx="2706624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5256" y="428853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338827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Harshad Mehta 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28853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4338827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Harshad Mehta 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98648" y="3886200"/>
            <a:ext cx="2706624" cy="1097280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05256" y="373989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" y="3790187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Pink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837176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4887468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7. Pink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improved most in relative rank?</a:t>
            </a:r>
            <a:br/>
            <a:r>
              <a:t>• Which team improved operationally but did not receive full TSR credit?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Rank is relative. A company may improve in absolute terms and still fall if competitors improve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R1 → R5 strategic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6888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5440680"/>
            <a:ext cx="1691640" cy="0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06040" y="4008119"/>
            <a:ext cx="1691640" cy="1432561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80" y="1859280"/>
            <a:ext cx="1691640" cy="2148839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89320" y="1143000"/>
            <a:ext cx="1691640" cy="716280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54112" y="10698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14400" y="3291840"/>
            <a:ext cx="1691640" cy="716279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06040" y="2575560"/>
            <a:ext cx="1691640" cy="71628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97680" y="1143000"/>
            <a:ext cx="1691640" cy="143256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89320" y="1143000"/>
            <a:ext cx="1691640" cy="71628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17861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Big Bulls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914400" y="1859280"/>
            <a:ext cx="1691640" cy="71628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40" y="1859280"/>
            <a:ext cx="1691640" cy="143256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297680" y="2575560"/>
            <a:ext cx="1691640" cy="71628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2575560"/>
            <a:ext cx="1691640" cy="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54112" y="250240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Akatsuki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3291840"/>
            <a:ext cx="1691640" cy="143256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06040" y="4724400"/>
            <a:ext cx="1691640" cy="71628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97680" y="5440680"/>
            <a:ext cx="169164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89320" y="3291840"/>
            <a:ext cx="1691640" cy="214884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54112" y="321868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Lakshmi Chit Fun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1143000"/>
            <a:ext cx="1691640" cy="143256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06040" y="1143000"/>
            <a:ext cx="1691640" cy="143256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97680" y="1143000"/>
            <a:ext cx="1691640" cy="214884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3291840"/>
            <a:ext cx="1691640" cy="716279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54112" y="393496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4400" y="1143000"/>
            <a:ext cx="1691640" cy="358140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040" y="1143000"/>
            <a:ext cx="1691640" cy="71628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97680" y="1859280"/>
            <a:ext cx="1691640" cy="286512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4724400"/>
            <a:ext cx="169164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54112" y="46512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Harshad Mehta Ga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4400" y="1859280"/>
            <a:ext cx="1691640" cy="2148839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06040" y="4008119"/>
            <a:ext cx="1691640" cy="716281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97680" y="4008119"/>
            <a:ext cx="1691640" cy="716281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89320" y="4008119"/>
            <a:ext cx="1691640" cy="1432561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754112" y="536752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Pink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79" y="107899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79" y="537667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simulation?</a:t>
            </a:r>
            <a:br/>
            <a:r>
              <a:t>• Which team repeated the same pattern?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The final rank is a lagging indicator. The journey shows how quickly teams updated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The Round 5 managerial puzzle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Lens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Round 5 signal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7.80% TSR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$195.4m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Revenue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$3,814.1m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Capital productivity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25.1%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657600"/>
            <a:ext cx="6217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formal winner is Green, but other teams may lead on profit, sales, or capital efficiency.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separate current accounting performance from valuation confidence.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final reflection should ask each team to explain the causal mechanism behind its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Why might the highest-profit team not win TSR?</a:t>
            </a:r>
            <a:br/>
            <a:r>
              <a:t>• What future cash-flow story is the market pricing?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Valuation rewards expected cash flows after risk, not isolated one-round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Demand and market-share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Global market share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31993"/>
            <a:ext cx="927462" cy="153124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422" y="2389396"/>
            <a:ext cx="927462" cy="673843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4702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3605" y="1643446"/>
            <a:ext cx="927462" cy="1419793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7885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6788" y="1664048"/>
            <a:ext cx="927462" cy="1399191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068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9971" y="2643482"/>
            <a:ext cx="927462" cy="419757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251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3154" y="1143000"/>
            <a:ext cx="927462" cy="1920240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7434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6337" y="1843454"/>
            <a:ext cx="927462" cy="1219785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0617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22.4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8444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Sales revenue (USD 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2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029849"/>
            <a:ext cx="927462" cy="127367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0422" y="4712428"/>
            <a:ext cx="927462" cy="591091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04702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3605" y="4321046"/>
            <a:ext cx="927462" cy="982473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7885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6788" y="4026470"/>
            <a:ext cx="927462" cy="1277049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1068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9971" y="4793960"/>
            <a:ext cx="927462" cy="509559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4251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43154" y="3840480"/>
            <a:ext cx="927462" cy="1463040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97434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16337" y="4510008"/>
            <a:ext cx="927462" cy="793511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0617" y="534924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9476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3,814.1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share into economic value?</a:t>
            </a:r>
            <a:br/>
            <a:r>
              <a:t>• Who captured activity without sufficient margin?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Market share is valuable only when it produces repeatable contribution, learning, and cash.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Profitability and capital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ROS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372868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424542" cy="22986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1782" y="1372868"/>
            <a:ext cx="424542" cy="44037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6062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2045" y="1360997"/>
            <a:ext cx="424542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6325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2308" y="1345056"/>
            <a:ext cx="424542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6588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2571" y="1372868"/>
            <a:ext cx="424542" cy="1781811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6851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2834" y="1372868"/>
            <a:ext cx="424542" cy="10543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7114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3097" y="1372868"/>
            <a:ext cx="424542" cy="489964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7377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5.9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-45.6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ROCE (%)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583923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143000"/>
            <a:ext cx="424542" cy="1440923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2262" y="2401652"/>
            <a:ext cx="424542" cy="18227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6542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12525" y="2403276"/>
            <a:ext cx="424542" cy="18064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6805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2788" y="1538363"/>
            <a:ext cx="424542" cy="104556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37068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3051" y="2583923"/>
            <a:ext cx="424542" cy="15306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7331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23314" y="2470077"/>
            <a:ext cx="424542" cy="11384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77594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93577" y="2583923"/>
            <a:ext cx="424542" cy="570756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7857" y="3200400"/>
            <a:ext cx="51598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25.1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-9.9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822960" y="3749039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97280"/>
              </a:tblGrid>
              <a:tr h="21717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25.1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Big Bulls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-1.1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Akatsuki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Lakshmi Chit Fund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18.2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CCC-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-45.6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CCC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Pink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-12.5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CCC-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used capital most intelligently?</a:t>
            </a:r>
            <a:br/>
            <a:r>
              <a:t>• Where did current profit mask balance-sheet risk?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ROCE disciplines growth ambition by asking whether resources actually produced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Balance-sheet and financing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Unplanned short-term debt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51200"/>
            <a:ext cx="927462" cy="31203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422" y="2619121"/>
            <a:ext cx="927462" cy="444118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4702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3605" y="2678824"/>
            <a:ext cx="927462" cy="384415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7885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6788" y="2311624"/>
            <a:ext cx="927462" cy="751615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068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9971" y="1143000"/>
            <a:ext cx="927462" cy="192024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251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3154" y="2900270"/>
            <a:ext cx="927462" cy="162969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7434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6337" y="2717261"/>
            <a:ext cx="927462" cy="345978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0617" y="3108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3,499.9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3872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Net debt to equity / gearing (%)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20388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794760"/>
            <a:ext cx="927462" cy="152562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0422" y="5320388"/>
            <a:ext cx="927462" cy="36576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04702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3605" y="5312329"/>
            <a:ext cx="927462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7885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6788" y="5320388"/>
            <a:ext cx="927462" cy="36576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1068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9971" y="4823890"/>
            <a:ext cx="927462" cy="49649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4251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43154" y="5130010"/>
            <a:ext cx="927462" cy="19037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97434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16337" y="3882170"/>
            <a:ext cx="927462" cy="143821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0617" y="5394960"/>
            <a:ext cx="1018902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490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573.2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57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-10.8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firms are surviving by financing rather than operating strength?</a:t>
            </a:r>
            <a:br/>
            <a:r>
              <a:t>• Why does leverage change valuation even when revenue is high?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Risk reduces the present value of future cash flows and constrains future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ESG and HR as capability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ESG reputation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23957"/>
            <a:ext cx="437605" cy="193072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4845" y="1157113"/>
            <a:ext cx="437605" cy="1997566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9125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8171" y="1222095"/>
            <a:ext cx="437605" cy="1932584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2451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497" y="1166249"/>
            <a:ext cx="437605" cy="1988430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5777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4822" y="1143000"/>
            <a:ext cx="437605" cy="201168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9102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48148" y="1216847"/>
            <a:ext cx="437605" cy="1937832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2428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1474" y="1517422"/>
            <a:ext cx="437605" cy="1637257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5754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HR efficiency multiplier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368375"/>
            <a:ext cx="437605" cy="178630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55325" y="1307449"/>
            <a:ext cx="437605" cy="1847230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9605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8651" y="1478709"/>
            <a:ext cx="437605" cy="167597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2931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1977" y="1506206"/>
            <a:ext cx="437605" cy="1648473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76257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05302" y="1518981"/>
            <a:ext cx="437605" cy="1635698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9582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8628" y="1143000"/>
            <a:ext cx="437605" cy="2011680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2908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1954" y="1693753"/>
            <a:ext cx="437605" cy="1460926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6234" y="3200400"/>
            <a:ext cx="529045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886200"/>
            <a:ext cx="65836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ESG/HR should be read as capability and risk variables, not decorative scores.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strong reputation still needs operating economics; weak people systems can constrain execution.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 reflective discussions, ask teams how their people, process and sustainability choices supported strategy.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ESG/HR into competitive strength?</a:t>
            </a:r>
            <a:br/>
            <a:r>
              <a:t>• Where did weak capability show up in financial results?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Stakeholder investments create value when they improve demand, risk, productivity, or 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Relative scorecard: R4 → 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12/22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6812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Big Bulls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Akatsuki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Lakshmi Chit Fund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Pink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improvement pattern is coherent?</a:t>
            </a:r>
            <a:br/>
            <a:r>
              <a:t>• Which team has one bright spot hiding larger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scorecard prevents metric cherry-picking: good strategy improves the causal chain, not just one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13/22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$195.4m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$322.3m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25.1%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30.3%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TSR leader.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$3,320.4m; share 17.8%; ROS 5.9%.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BB; unplanned debt $568.7m; ESG reputation 3.09.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Big Bulls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14/22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$-17.4m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$189.2m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7.5%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$1,541.0m; share 7.8%; ROS -1.1%.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BB+; unplanned debt $809.5m; ESG reputation 3.19.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Akatsuki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-2.4%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$7.8m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$-156.9m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-3.9%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mixed platform.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$2,561.3m; share 16.5%; ROS 0.3%.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BB-; unplanned debt $700.6m; ESG reputation 3.09.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Lakshmi Chit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16/22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4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-25.4%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$23.7m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$-588.8m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18.2%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financially fragile.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$3,329.2m; share 16.3%; ROS 0.7%.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CCC-; unplanned debt $1,369.9m; ESG reputation 3.18.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17/22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-4.6%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$-605.9m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$-181.2m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-2.7%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-0.5%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$1,328.4m; share 4.9%; ROS -45.6%.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CCC; unplanned debt $3,499.9m; ESG reputation 3.21.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Harshad Mehta Gang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-12.0%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-21.9%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$-102.9m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$10.9m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$3,814.1m; share 22.4%; ROS -2.7%.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B; unplanned debt $297.0m; ESG reputation 3.10.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19/22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7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-12.6%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-9.9%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$-259.5m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$-186.0m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-9.9%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$2,068.7m; share 14.2%; ROS -12.5%.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CCC-; unplanned debt $630.6m; ESG reputation 2.62.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reflective discussion: group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132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Each team must explain its R1→R5 journey: strategy, key decisions, pivots, mistakes, and learning.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Every member may be asked an individual question on team logic, not just final rank.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Participation marks will reflect presence, preparation, contribution, and understanding.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The purpose is fairness: to recognise students who contributed and discourage free-riding.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47472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Reflection 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How did your strategy evolve from R1 to R5?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Which metric best proves your learning?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Mistake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decision would you reverse?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did each member contribute?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Can every member explain the team’s strategy without prompting?</a:t>
            </a:r>
            <a:br/>
            <a:r>
              <a:t>• What evidence separates genuine participation from free-riding?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assesses thinking-in-action: decision quality, reflection quality, and responsible team contribution.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learning: decision rules for general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21/22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7040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Decision rule to articulate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forecast by region and technology before production.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change price only if volume gain exceeds margin loss.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R&amp;D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invest when readiness, demand and financing can support commercialisation.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produce to demand estimates and inventory thresholds.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avoid unplanned debt and protect rating guardrails.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Reflection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Every member names one assumption, one evidence point and one change.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rule would have prevented your biggest mistake?</a:t>
            </a:r>
            <a:br/>
            <a:r>
              <a:t>• Which rule will you carry into real management?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Managerial learning becomes durable only when it changes the next decision rule.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22/22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400" b="1">
                <a:solidFill>
                  <a:srgbClr val="24362F"/>
                </a:solidFill>
              </a:defRPr>
            </a:pPr>
            <a:r>
              <a:t>The strongest team is not simply the one with the highest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5836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0">
                <a:solidFill>
                  <a:srgbClr val="35443D"/>
                </a:solidFill>
              </a:defRPr>
            </a:pPr>
            <a:r>
              <a:t>It is the team whose market choices, operations, finance, people, sustainability and risk form the most coherent system of value 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63093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customers?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trade-offs?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ourselves as decision-makers?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would we do differently if the simulation restarted tomorrow?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will your team stop defending and start learning from?</a:t>
            </a:r>
            <a:br/>
            <a:r>
              <a:t>• Which learning will matter most beyond the simulation?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