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777240"/>
            <a:ext cx="4114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800" b="1">
                <a:solidFill>
                  <a:srgbClr val="4E7168"/>
                </a:solidFill>
              </a:defRPr>
            </a:pPr>
            <a: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234440"/>
            <a:ext cx="594360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2900" b="1">
                <a:solidFill>
                  <a:srgbClr val="24362F"/>
                </a:solidFill>
              </a:defRPr>
            </a:pPr>
            <a:r>
              <a:t>R1 → R5 Team Flow and Rank 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62179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350" b="0">
                <a:solidFill>
                  <a:srgbClr val="35443D"/>
                </a:solidFill>
              </a:defRPr>
            </a:pPr>
            <a:r>
              <a:t>Sections C and D • both universes • final reflection support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017520"/>
            <a:ext cx="4754880" cy="12344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420624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1">
                <a:solidFill>
                  <a:srgbClr val="4E7168"/>
                </a:solidFill>
              </a:defRPr>
            </a:pPr>
            <a:r>
              <a:t>Core teaching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66160"/>
            <a:ext cx="4206240" cy="4114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400" b="0">
                <a:solidFill>
                  <a:srgbClr val="24362F"/>
                </a:solidFill>
              </a:defRPr>
            </a:pPr>
            <a:r>
              <a:t>Which decisions created durable value, which merely created activity, and what should teams defend in the reflective discussion?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14300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Assumption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114300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28016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Choice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01168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236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01168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4884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Cash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2880360"/>
            <a:ext cx="1600200" cy="502920"/>
          </a:xfrm>
          <a:prstGeom prst="roundRect">
            <a:avLst/>
          </a:prstGeom>
          <a:solidFill>
            <a:srgbClr val="DDE8DE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Risk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880360"/>
            <a:ext cx="1600200" cy="50292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3017520"/>
            <a:ext cx="1600200" cy="2011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1">
                <a:solidFill>
                  <a:srgbClr val="24362F"/>
                </a:solidFill>
              </a:defRPr>
            </a:pPr>
            <a:r>
              <a:t>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172200"/>
            <a:ext cx="50292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900" b="0">
                <a:solidFill>
                  <a:srgbClr val="6F786E"/>
                </a:solidFill>
              </a:defRPr>
            </a:pPr>
            <a:r>
              <a:t>GL Sec C &amp; D • Business Simulation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Section C Universe 1: rank-flow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and D Round 1–5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2/7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46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434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722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010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" y="5440679"/>
            <a:ext cx="1828800" cy="0"/>
          </a:xfrm>
          <a:prstGeom prst="line">
            <a:avLst/>
          </a:prstGeom>
          <a:ln w="29209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51760" y="3977639"/>
            <a:ext cx="1828800" cy="1463040"/>
          </a:xfrm>
          <a:prstGeom prst="line">
            <a:avLst/>
          </a:prstGeom>
          <a:ln w="29209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60" y="1783079"/>
            <a:ext cx="1828800" cy="2194560"/>
          </a:xfrm>
          <a:prstGeom prst="line">
            <a:avLst/>
          </a:prstGeom>
          <a:ln w="29209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09360" y="1051560"/>
            <a:ext cx="1828800" cy="731519"/>
          </a:xfrm>
          <a:prstGeom prst="line">
            <a:avLst/>
          </a:prstGeom>
          <a:ln w="29209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11312" y="97840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822960" y="3246120"/>
            <a:ext cx="1828800" cy="731519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51760" y="2514600"/>
            <a:ext cx="1828800" cy="731520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480560" y="1051560"/>
            <a:ext cx="1828800" cy="1463040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09360" y="1051560"/>
            <a:ext cx="1828800" cy="731519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11312" y="170992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Big Bulls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822960" y="1783079"/>
            <a:ext cx="1828800" cy="731521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651760" y="1783079"/>
            <a:ext cx="1828800" cy="1463041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4480560" y="2514600"/>
            <a:ext cx="1828800" cy="731520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60" y="2514600"/>
            <a:ext cx="1828800" cy="0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11312" y="244144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Akatsuki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3246120"/>
            <a:ext cx="1828800" cy="146304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51760" y="4709160"/>
            <a:ext cx="1828800" cy="731519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80560" y="5440679"/>
            <a:ext cx="1828800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309360" y="3246120"/>
            <a:ext cx="1828800" cy="2194559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11312" y="317296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Lakshmi Chit Fun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1051560"/>
            <a:ext cx="1828800" cy="146304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51760" y="1051560"/>
            <a:ext cx="1828800" cy="146304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80560" y="1051560"/>
            <a:ext cx="1828800" cy="219456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309360" y="3246120"/>
            <a:ext cx="1828800" cy="731519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11312" y="390448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Grey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22960" y="1051560"/>
            <a:ext cx="1828800" cy="365760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51760" y="1051560"/>
            <a:ext cx="1828800" cy="731519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0560" y="1783079"/>
            <a:ext cx="1828800" cy="2926081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9360" y="4709160"/>
            <a:ext cx="1828800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11312" y="4636008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Harshad Mehta Ga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822960" y="1783079"/>
            <a:ext cx="1828800" cy="2194560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651760" y="3977639"/>
            <a:ext cx="1828800" cy="731521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480560" y="3977639"/>
            <a:ext cx="1828800" cy="731521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6309360" y="3977639"/>
            <a:ext cx="1828800" cy="1463040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211312" y="536752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Pink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987551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Best rank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5376671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Lowest rank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learned fastest across the five rounds?</a:t>
            </a:r>
            <a:br/>
            <a:r>
              <a:t>• Which rank movement needs an explanation from the team?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Final rank is an outcome. The flow map exposes the learning path behind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Section C Universe 2: rank-flow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C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and D Round 1–5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3/7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46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434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722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010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" y="1051560"/>
            <a:ext cx="1828800" cy="0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1051560"/>
            <a:ext cx="1828800" cy="1755648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60" y="1051560"/>
            <a:ext cx="1828800" cy="1755648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09360" y="1051560"/>
            <a:ext cx="1828800" cy="0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11312" y="97840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Lehman Bros.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5440679"/>
            <a:ext cx="1828800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51760" y="4562856"/>
            <a:ext cx="1828800" cy="877823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480560" y="1929384"/>
            <a:ext cx="1828800" cy="2633472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09360" y="1929384"/>
            <a:ext cx="1828800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11312" y="1856231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Blues Clues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822960" y="1929384"/>
            <a:ext cx="1828800" cy="1755647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51760" y="1051560"/>
            <a:ext cx="1828800" cy="877824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80560" y="1051560"/>
            <a:ext cx="1828800" cy="1755648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60" y="2807208"/>
            <a:ext cx="1828800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11312" y="2734056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Satyam 2.0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822960" y="2807208"/>
            <a:ext cx="1828800" cy="1755648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651760" y="1929384"/>
            <a:ext cx="1828800" cy="877824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80560" y="1929384"/>
            <a:ext cx="1828800" cy="2633472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309360" y="3685031"/>
            <a:ext cx="1828800" cy="877825"/>
          </a:xfrm>
          <a:prstGeom prst="line">
            <a:avLst/>
          </a:prstGeom>
          <a:ln w="12700">
            <a:solidFill>
              <a:srgbClr val="CF7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11312" y="3611879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SEBI's Watchlist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2807208"/>
            <a:ext cx="1828800" cy="877823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51760" y="3685031"/>
            <a:ext cx="1828800" cy="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80560" y="3685031"/>
            <a:ext cx="1828800" cy="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309360" y="3685031"/>
            <a:ext cx="1828800" cy="877825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11312" y="4489704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T5S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" y="1929384"/>
            <a:ext cx="1828800" cy="2633472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51760" y="4562856"/>
            <a:ext cx="1828800" cy="877823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0560" y="5440679"/>
            <a:ext cx="182880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9360" y="5440679"/>
            <a:ext cx="182880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11312" y="536752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987551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Best rank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5376671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Lowest rank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learned fastest across the five rounds?</a:t>
            </a:r>
            <a:br/>
            <a:r>
              <a:t>• Which rank movement needs an explanation from the team?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Final rank is an outcome. The flow map exposes the learning path behind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Section D Universe 1: rank-flow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and D Round 1–5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46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434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722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010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22960" y="1051560"/>
            <a:ext cx="1828800" cy="877824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1051560"/>
            <a:ext cx="1828800" cy="2633471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480560" y="2807208"/>
            <a:ext cx="1828800" cy="877823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309360" y="1051560"/>
            <a:ext cx="1828800" cy="1755648"/>
          </a:xfrm>
          <a:prstGeom prst="line">
            <a:avLst/>
          </a:prstGeom>
          <a:ln w="29209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11312" y="97840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Orange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2807208"/>
            <a:ext cx="1828800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651760" y="2807208"/>
            <a:ext cx="1828800" cy="0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4480560" y="1051560"/>
            <a:ext cx="1828800" cy="1755648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309360" y="1051560"/>
            <a:ext cx="1828800" cy="877824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11312" y="1856231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Red Rangers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" y="1051560"/>
            <a:ext cx="1828800" cy="877824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51760" y="1051560"/>
            <a:ext cx="1828800" cy="877824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80560" y="1051560"/>
            <a:ext cx="1828800" cy="877824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60" y="1929384"/>
            <a:ext cx="1828800" cy="877824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11312" y="2734056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Ochre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5440679"/>
            <a:ext cx="182880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51760" y="5440679"/>
            <a:ext cx="182880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4480560" y="4562856"/>
            <a:ext cx="1828800" cy="877823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309360" y="3685031"/>
            <a:ext cx="1828800" cy="877825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11312" y="3611879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4562856"/>
            <a:ext cx="1828800" cy="0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51760" y="1929384"/>
            <a:ext cx="1828800" cy="2633472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480560" y="1929384"/>
            <a:ext cx="1828800" cy="1755647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309360" y="3685031"/>
            <a:ext cx="1828800" cy="877825"/>
          </a:xfrm>
          <a:prstGeom prst="line">
            <a:avLst/>
          </a:prstGeom>
          <a:ln w="12700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11312" y="4489704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Grey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" y="3685031"/>
            <a:ext cx="1828800" cy="0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51760" y="3685031"/>
            <a:ext cx="1828800" cy="877825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0560" y="4562856"/>
            <a:ext cx="1828800" cy="877823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9360" y="5440679"/>
            <a:ext cx="1828800" cy="0"/>
          </a:xfrm>
          <a:prstGeom prst="line">
            <a:avLst/>
          </a:prstGeom>
          <a:ln w="12700">
            <a:solidFill>
              <a:srgbClr val="78A7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11312" y="536752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Blue / Chahakars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987551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Best rank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5376671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Lowest rank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learned fastest across the five rounds?</a:t>
            </a:r>
            <a:br/>
            <a:r>
              <a:t>• Which rank movement needs an explanation from the team?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Final rank is an outcome. The flow map exposes the learning path behind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Section D Universe 2: rank-flow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Section D • Universe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and D Round 1–5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5/7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146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434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1722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R4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093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001000" y="822959"/>
            <a:ext cx="27432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800" b="1">
                <a:solidFill>
                  <a:srgbClr val="6F786E"/>
                </a:solidFill>
              </a:defRPr>
            </a:pPr>
            <a:r>
              <a:t>R5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38160" y="1051560"/>
            <a:ext cx="0" cy="4389119"/>
          </a:xfrm>
          <a:prstGeom prst="line">
            <a:avLst/>
          </a:prstGeom>
          <a:ln w="6350">
            <a:solidFill>
              <a:srgbClr val="D6DB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22960" y="1051560"/>
            <a:ext cx="1828800" cy="0"/>
          </a:xfrm>
          <a:prstGeom prst="line">
            <a:avLst/>
          </a:prstGeom>
          <a:ln w="29209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651760" y="1051560"/>
            <a:ext cx="1828800" cy="0"/>
          </a:xfrm>
          <a:prstGeom prst="line">
            <a:avLst/>
          </a:prstGeom>
          <a:ln w="29209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80560" y="1051560"/>
            <a:ext cx="1828800" cy="0"/>
          </a:xfrm>
          <a:prstGeom prst="line">
            <a:avLst/>
          </a:prstGeom>
          <a:ln w="29209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09360" y="1051560"/>
            <a:ext cx="1828800" cy="0"/>
          </a:xfrm>
          <a:prstGeom prst="line">
            <a:avLst/>
          </a:prstGeom>
          <a:ln w="29209">
            <a:solidFill>
              <a:srgbClr val="9A9A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11312" y="97840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1">
                <a:solidFill>
                  <a:srgbClr val="24362F"/>
                </a:solidFill>
              </a:defRPr>
            </a:pPr>
            <a:r>
              <a:t>Grey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822960" y="4562856"/>
            <a:ext cx="1828800" cy="877823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651760" y="3685031"/>
            <a:ext cx="1828800" cy="877825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80560" y="3685031"/>
            <a:ext cx="1828800" cy="1755648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309360" y="1929384"/>
            <a:ext cx="1828800" cy="3511295"/>
          </a:xfrm>
          <a:prstGeom prst="line">
            <a:avLst/>
          </a:prstGeom>
          <a:ln w="12700">
            <a:solidFill>
              <a:srgbClr val="D986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11312" y="1856231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HallaBol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" y="1929384"/>
            <a:ext cx="1828800" cy="877824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651760" y="1929384"/>
            <a:ext cx="1828800" cy="877824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480560" y="1929384"/>
            <a:ext cx="1828800" cy="0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309360" y="1929384"/>
            <a:ext cx="1828800" cy="877824"/>
          </a:xfrm>
          <a:prstGeom prst="line">
            <a:avLst/>
          </a:prstGeom>
          <a:ln w="12700">
            <a:solidFill>
              <a:srgbClr val="6D9E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211312" y="2734056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The Godfathers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822960" y="1929384"/>
            <a:ext cx="1828800" cy="877824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51760" y="1929384"/>
            <a:ext cx="1828800" cy="877824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480560" y="2807208"/>
            <a:ext cx="1828800" cy="877823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309360" y="3685031"/>
            <a:ext cx="1828800" cy="0"/>
          </a:xfrm>
          <a:prstGeom prst="line">
            <a:avLst/>
          </a:prstGeom>
          <a:ln w="12700">
            <a:solidFill>
              <a:srgbClr val="5F8D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211312" y="3611879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Green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3685031"/>
            <a:ext cx="1828800" cy="1755648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651760" y="4562856"/>
            <a:ext cx="1828800" cy="877823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4480560" y="2807208"/>
            <a:ext cx="1828800" cy="1755648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309360" y="2807208"/>
            <a:ext cx="1828800" cy="1755648"/>
          </a:xfrm>
          <a:prstGeom prst="line">
            <a:avLst/>
          </a:prstGeom>
          <a:ln w="12700">
            <a:solidFill>
              <a:srgbClr val="B876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11312" y="4489704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Ochre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822960" y="3685031"/>
            <a:ext cx="1828800" cy="877825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651760" y="3685031"/>
            <a:ext cx="1828800" cy="1755648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80560" y="4562856"/>
            <a:ext cx="1828800" cy="877823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309360" y="4562856"/>
            <a:ext cx="1828800" cy="877823"/>
          </a:xfrm>
          <a:prstGeom prst="line">
            <a:avLst/>
          </a:prstGeom>
          <a:ln w="12700">
            <a:solidFill>
              <a:srgbClr val="BD57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211312" y="5367527"/>
            <a:ext cx="9144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750" b="0">
                <a:solidFill>
                  <a:srgbClr val="24362F"/>
                </a:solidFill>
              </a:defRPr>
            </a:pPr>
            <a:r>
              <a:t>Red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" y="987551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Best rank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0040" y="5376671"/>
            <a:ext cx="457200" cy="1828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700" b="0">
                <a:solidFill>
                  <a:srgbClr val="6F786E"/>
                </a:solidFill>
              </a:defRPr>
            </a:pPr>
            <a:r>
              <a:t>Lowest rank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Which team learned fastest across the five rounds?</a:t>
            </a:r>
            <a:br/>
            <a:r>
              <a:t>• Which rank movement needs an explanation from the team?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Final rank is an outcome. The flow map exposes the learning path behind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Team-name reconciliation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All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and D Round 1–5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6/7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097280"/>
          <a:ext cx="7955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6858000"/>
              </a:tblGrid>
              <a:tr h="512064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Dataset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Renaming / continuity logic</a:t>
                      </a:r>
                    </a:p>
                  </a:txBody>
                  <a:tcPr anchor="ctr" marL="36576" marR="36576">
                    <a:solidFill>
                      <a:srgbClr val="4E716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C 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Harshad Mehta Gang, Red → Harshad Mehta Gang; Blue, Lakshmi Chit Fund → Lakshmi Chit Fund; Big Bulls, Orange → Big Bulls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C 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Satyam 2.0, Vijay Mallya → Satyam 2.0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D U1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Blue, Chahakars → Blue / Chahakars</a:t>
                      </a:r>
                    </a:p>
                  </a:txBody>
                  <a:tcPr anchor="ctr" marL="36576" marR="36576">
                    <a:solidFill>
                      <a:srgbClr val="FCFB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D U2</a:t>
                      </a:r>
                    </a:p>
                  </a:txBody>
                  <a:tcPr anchor="ctr" marL="36576" marR="36576">
                    <a:solidFill>
                      <a:srgbClr val="DDE8D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5443D"/>
                          </a:solidFill>
                        </a:defRPr>
                      </a:pPr>
                      <a:r>
                        <a:t>Blue, The Godfathers → The Godfathers; HallaBol, Orange → HallaBol</a:t>
                      </a:r>
                    </a:p>
                  </a:txBody>
                  <a:tcPr anchor="ctr" marL="36576" marR="36576">
                    <a:solidFill>
                      <a:srgbClr val="EEF3EC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Why is name reconciliation an ethical issue in assessment?</a:t>
            </a:r>
            <a:br/>
            <a:r>
              <a:t>• How does it protect fairness?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Fair analysis requires tracking the same decision-making group across changing labels.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78A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46920" y="-685800"/>
            <a:ext cx="2926080" cy="2560320"/>
          </a:xfrm>
          <a:prstGeom prst="ellipse">
            <a:avLst/>
          </a:prstGeom>
          <a:solidFill>
            <a:srgbClr val="DDE8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822960" y="5806440"/>
            <a:ext cx="2468880" cy="1463040"/>
          </a:xfrm>
          <a:prstGeom prst="ellipse">
            <a:avLst/>
          </a:prstGeom>
          <a:solidFill>
            <a:srgbClr val="EFE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9184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24362F"/>
                </a:solidFill>
              </a:defRPr>
            </a:pPr>
            <a:r>
              <a:t>How to use the flow map in class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47472"/>
            <a:ext cx="21945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F786E"/>
                </a:solidFill>
              </a:defRPr>
            </a:pPr>
            <a:r>
              <a:t>All sections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6F786E"/>
                </a:solidFill>
              </a:defRPr>
            </a:pPr>
            <a:r>
              <a:t>Source: Section C and D Round 1–5 CESIM Excel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5566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F786E"/>
                </a:solidFill>
              </a:defRPr>
            </a:pPr>
            <a:r>
              <a:t>7/7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280160"/>
            <a:ext cx="70408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Ask each team to narrate the movement: one assumption, one decision, one consequence, one correction.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Require every team member to answer at least one evidence-based question.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Do not allow teams to explain away results without metrics.</a:t>
            </a:r>
          </a:p>
          <a:p>
            <a:pPr>
              <a:spcAft>
                <a:spcPts val="500"/>
              </a:spcAft>
              <a:defRPr sz="1500">
                <a:solidFill>
                  <a:srgbClr val="35443D"/>
                </a:solidFill>
              </a:defRPr>
            </a:pPr>
            <a:r>
              <a:t>Reward honest diagnosis and specific learning, not rhetorical defence.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1097280"/>
            <a:ext cx="3063240" cy="1920240"/>
          </a:xfrm>
          <a:prstGeom prst="roundRect">
            <a:avLst/>
          </a:prstGeom>
          <a:solidFill>
            <a:srgbClr val="FCFBF8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1261872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4E7168"/>
                </a:solidFill>
              </a:defRPr>
            </a:pPr>
            <a:r>
              <a:t>Socratic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600200"/>
            <a:ext cx="2697480" cy="1280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100" b="0">
                <a:solidFill>
                  <a:srgbClr val="35443D"/>
                </a:solidFill>
              </a:defRPr>
            </a:pPr>
            <a:r>
              <a:t>• What was your turning point?</a:t>
            </a:r>
            <a:br/>
            <a:r>
              <a:t>• What did your rank movement teach you about strategy?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246120"/>
            <a:ext cx="3063240" cy="1325880"/>
          </a:xfrm>
          <a:prstGeom prst="roundRect">
            <a:avLst/>
          </a:prstGeom>
          <a:solidFill>
            <a:srgbClr val="EFE2CC"/>
          </a:solidFill>
          <a:ln w="9525">
            <a:solidFill>
              <a:srgbClr val="D6DB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392424"/>
            <a:ext cx="269748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00" b="1">
                <a:solidFill>
                  <a:srgbClr val="C98E35"/>
                </a:solidFill>
              </a:defRPr>
            </a:pPr>
            <a:r>
              <a:t>First-principles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3721608"/>
            <a:ext cx="2697480" cy="7772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l">
              <a:defRPr sz="1050" b="0">
                <a:solidFill>
                  <a:srgbClr val="35443D"/>
                </a:solidFill>
              </a:defRPr>
            </a:pPr>
            <a:r>
              <a:t>Learning is the ability to change behaviour when evidence disproves an assumption.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