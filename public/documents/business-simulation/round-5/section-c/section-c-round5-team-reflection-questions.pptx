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3192"/>
            <a:ext cx="12191695" cy="32004"/>
          </a:xfrm>
          <a:prstGeom prst="rect">
            <a:avLst/>
          </a:prstGeom>
          <a:solidFill>
            <a:srgbClr val="8FAEA3"/>
          </a:solidFill>
          <a:ln w="12700">
            <a:solidFill>
              <a:srgbClr val="8FAEA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83096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CESIM Round 4 and Round 5 Excel results; final workshop reflection question bank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052560" y="20116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Workshop Reflection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658600" y="647395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CESIM Final Workshop Reflection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66928" y="1115568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Team-wise Socratic question deck • 10 questions per group • Sections C and D • Universes 1 and 2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685800" y="1828800"/>
            <a:ext cx="5029200" cy="1325880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1070" dirty="0"/>
          </a:p>
          <a:p>
            <a:pPr algn="l" indent="0" marL="0">
              <a:buNone/>
            </a:pPr>
            <a:r>
              <a:rPr lang="en-US" sz="107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these questions to assess whether students understand their decisions, trade-offs, results, participation and learning across the simulation. The aim is accountable managerial reasoning, not explanation after the fact.</a:t>
            </a:r>
            <a:endParaRPr lang="en-US" sz="1070" dirty="0"/>
          </a:p>
        </p:txBody>
      </p:sp>
      <p:sp>
        <p:nvSpPr>
          <p:cNvPr id="9" name="Text 7"/>
          <p:cNvSpPr/>
          <p:nvPr/>
        </p:nvSpPr>
        <p:spPr>
          <a:xfrm>
            <a:off x="6172200" y="1828800"/>
            <a:ext cx="4480560" cy="1325880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Assessment logic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Presence + preparation + causal explanation + individual contribution + team reflection.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3977640"/>
            <a:ext cx="960120" cy="292608"/>
          </a:xfrm>
          <a:prstGeom prst="rect">
            <a:avLst/>
          </a:prstGeom>
          <a:solidFill>
            <a:srgbClr val="EFE5D6"/>
          </a:solidFill>
          <a:ln w="10160">
            <a:solidFill>
              <a:srgbClr val="EFE5D6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Assumption</a:t>
            </a:r>
            <a:endParaRPr lang="en-US" sz="830" dirty="0"/>
          </a:p>
        </p:txBody>
      </p:sp>
      <p:sp>
        <p:nvSpPr>
          <p:cNvPr id="11" name="Text 9"/>
          <p:cNvSpPr/>
          <p:nvPr/>
        </p:nvSpPr>
        <p:spPr>
          <a:xfrm>
            <a:off x="2194560" y="4206240"/>
            <a:ext cx="960120" cy="292608"/>
          </a:xfrm>
          <a:prstGeom prst="rect">
            <a:avLst/>
          </a:prstGeom>
          <a:solidFill>
            <a:srgbClr val="D9E5DD"/>
          </a:solidFill>
          <a:ln w="10160">
            <a:solidFill>
              <a:srgbClr val="D9E5DD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830" dirty="0"/>
          </a:p>
        </p:txBody>
      </p:sp>
      <p:sp>
        <p:nvSpPr>
          <p:cNvPr id="12" name="Text 10"/>
          <p:cNvSpPr/>
          <p:nvPr/>
        </p:nvSpPr>
        <p:spPr>
          <a:xfrm>
            <a:off x="3611880" y="3977640"/>
            <a:ext cx="960120" cy="292608"/>
          </a:xfrm>
          <a:prstGeom prst="rect">
            <a:avLst/>
          </a:prstGeom>
          <a:solidFill>
            <a:srgbClr val="EFE5D6"/>
          </a:solidFill>
          <a:ln w="10160">
            <a:solidFill>
              <a:srgbClr val="EFE5D6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</a:t>
            </a:r>
            <a:endParaRPr lang="en-US" sz="830" dirty="0"/>
          </a:p>
        </p:txBody>
      </p:sp>
      <p:sp>
        <p:nvSpPr>
          <p:cNvPr id="13" name="Text 11"/>
          <p:cNvSpPr/>
          <p:nvPr/>
        </p:nvSpPr>
        <p:spPr>
          <a:xfrm>
            <a:off x="5029200" y="4206240"/>
            <a:ext cx="960120" cy="292608"/>
          </a:xfrm>
          <a:prstGeom prst="rect">
            <a:avLst/>
          </a:prstGeom>
          <a:solidFill>
            <a:srgbClr val="D9E5DD"/>
          </a:solidFill>
          <a:ln w="10160">
            <a:solidFill>
              <a:srgbClr val="D9E5DD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Margin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6446520" y="3977640"/>
            <a:ext cx="960120" cy="292608"/>
          </a:xfrm>
          <a:prstGeom prst="rect">
            <a:avLst/>
          </a:prstGeom>
          <a:solidFill>
            <a:srgbClr val="EFE5D6"/>
          </a:solidFill>
          <a:ln w="10160">
            <a:solidFill>
              <a:srgbClr val="EFE5D6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Cash</a:t>
            </a:r>
            <a:endParaRPr lang="en-US" sz="830" dirty="0"/>
          </a:p>
        </p:txBody>
      </p:sp>
      <p:sp>
        <p:nvSpPr>
          <p:cNvPr id="15" name="Text 13"/>
          <p:cNvSpPr/>
          <p:nvPr/>
        </p:nvSpPr>
        <p:spPr>
          <a:xfrm>
            <a:off x="7863840" y="4206240"/>
            <a:ext cx="960120" cy="292608"/>
          </a:xfrm>
          <a:prstGeom prst="rect">
            <a:avLst/>
          </a:prstGeom>
          <a:solidFill>
            <a:srgbClr val="D9E5DD"/>
          </a:solidFill>
          <a:ln w="10160">
            <a:solidFill>
              <a:srgbClr val="D9E5DD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9281160" y="3977640"/>
            <a:ext cx="960120" cy="292608"/>
          </a:xfrm>
          <a:prstGeom prst="rect">
            <a:avLst/>
          </a:prstGeom>
          <a:solidFill>
            <a:srgbClr val="EFE5D6"/>
          </a:solidFill>
          <a:ln w="10160">
            <a:solidFill>
              <a:srgbClr val="EFE5D6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830" dirty="0"/>
          </a:p>
        </p:txBody>
      </p:sp>
      <p:sp>
        <p:nvSpPr>
          <p:cNvPr id="17" name="Text 15"/>
          <p:cNvSpPr/>
          <p:nvPr/>
        </p:nvSpPr>
        <p:spPr>
          <a:xfrm>
            <a:off x="777240" y="5349240"/>
            <a:ext cx="9875520" cy="457200"/>
          </a:xfrm>
          <a:prstGeom prst="rect">
            <a:avLst/>
          </a:prstGeom>
          <a:solidFill>
            <a:srgbClr val="F7F4EE"/>
          </a:solidFill>
          <a:ln w="10160">
            <a:solidFill>
              <a:srgbClr val="F7F4EE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instructor question: What evidence proves that your team learned rather than merely reacted?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3192"/>
            <a:ext cx="12191695" cy="32004"/>
          </a:xfrm>
          <a:prstGeom prst="rect">
            <a:avLst/>
          </a:prstGeom>
          <a:solidFill>
            <a:srgbClr val="8FAEA3"/>
          </a:solidFill>
          <a:ln w="12700">
            <a:solidFill>
              <a:srgbClr val="8FAEA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83096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CESIM Round 4 and Round 5 Excel results; final workshop reflection question bank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052560" y="20116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Reflection Protocol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658600" y="647395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use this deck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66928" y="1115568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participation visible and fair.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685800" y="1737360"/>
            <a:ext cx="4892040" cy="932688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Ask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Put one question to the team, then assign follow-up parts to different members.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172200" y="1737360"/>
            <a:ext cx="4892040" cy="932688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Test evidence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for the exact metric behind every claim: TSR, ROS, ROCE, share, inventory, debt or ESG.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3063240"/>
            <a:ext cx="4892040" cy="932688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Probe causality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from what happened to which decision caused it and through what mechanism.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72200" y="3063240"/>
            <a:ext cx="4892040" cy="932688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Mark fairly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Reward prepared individual understanding and collective honesty; do not reward excuses.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4983480"/>
            <a:ext cx="10424160" cy="658368"/>
          </a:xfrm>
          <a:prstGeom prst="rect">
            <a:avLst/>
          </a:prstGeom>
          <a:solidFill>
            <a:srgbClr val="EFE5D6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score: 3 = clear evidence and causality; 2 = partial understanding; 1 = vague description; 0 = absent or unable to explain own team result.</a:t>
            </a:r>
            <a:endParaRPr lang="en-US" sz="11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3192"/>
            <a:ext cx="12191695" cy="32004"/>
          </a:xfrm>
          <a:prstGeom prst="rect">
            <a:avLst/>
          </a:prstGeom>
          <a:solidFill>
            <a:srgbClr val="8FAEA3"/>
          </a:solidFill>
          <a:ln w="12700">
            <a:solidFill>
              <a:srgbClr val="8FAEA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83096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CESIM Round 4 and Round 5 Excel results; final workshop reflection question bank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052560" y="20116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Architecture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658600" y="647395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Every team gets the same analytical ladder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66928" y="1115568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questions are comparable, but the answers are team-specific.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731520" y="1691640"/>
            <a:ext cx="1874520" cy="612648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Headline result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2880360" y="1691640"/>
            <a:ext cx="1874520" cy="612648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Activity vs value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5029200" y="1691640"/>
            <a:ext cx="1874520" cy="612648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Round 4 → Round 5 learning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7178040" y="1691640"/>
            <a:ext cx="1874520" cy="612648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Revenue-to-profit conversion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9326880" y="1691640"/>
            <a:ext cx="1874520" cy="612648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Capital productivity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731520" y="2743200"/>
            <a:ext cx="1874520" cy="612648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Market share quality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2880360" y="2743200"/>
            <a:ext cx="1874520" cy="612648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Financing and risk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5029200" y="2743200"/>
            <a:ext cx="1874520" cy="612648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Technology coherence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7178040" y="2743200"/>
            <a:ext cx="1874520" cy="612648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 ESG and HR execution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9326880" y="2743200"/>
            <a:ext cx="1874520" cy="612648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 Next decision rule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777240" y="4617720"/>
            <a:ext cx="9966960" cy="566928"/>
          </a:xfrm>
          <a:prstGeom prst="rect">
            <a:avLst/>
          </a:prstGeom>
          <a:solidFill>
            <a:srgbClr val="F7F4EE"/>
          </a:solidFill>
          <a:ln w="10160">
            <a:solidFill>
              <a:srgbClr val="F7F4EE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Instructor move: ask one member for the observation, another for the mechanism, a third for the trade-off, and the final member for the decision rule.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3192"/>
            <a:ext cx="12191695" cy="32004"/>
          </a:xfrm>
          <a:prstGeom prst="rect">
            <a:avLst/>
          </a:prstGeom>
          <a:solidFill>
            <a:srgbClr val="8FAEA3"/>
          </a:solidFill>
          <a:ln w="12700">
            <a:solidFill>
              <a:srgbClr val="8FAEA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83096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CESIM Round 4 and Round 5 Excel results; final workshop reflection question bank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052560" y="20116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• Universe 1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658600" y="647395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 C • Universe 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66928" y="1115568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Team-specific Socratic question set for Round 5 reflection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731520" y="1600200"/>
            <a:ext cx="4754880" cy="411480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Teams in this section/universe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148840"/>
            <a:ext cx="320040" cy="228600"/>
          </a:xfrm>
          <a:prstGeom prst="rect">
            <a:avLst/>
          </a:prstGeom>
          <a:solidFill>
            <a:srgbClr val="D9E5DD"/>
          </a:solidFill>
          <a:ln w="10160">
            <a:solidFill>
              <a:srgbClr val="D9E5DD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30" dirty="0"/>
          </a:p>
        </p:txBody>
      </p:sp>
      <p:sp>
        <p:nvSpPr>
          <p:cNvPr id="10" name="Text 8"/>
          <p:cNvSpPr/>
          <p:nvPr/>
        </p:nvSpPr>
        <p:spPr>
          <a:xfrm>
            <a:off x="1371600" y="21442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60520" y="21442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7.8% TSR</a:t>
            </a:r>
            <a:endParaRPr lang="en-US" sz="870" dirty="0"/>
          </a:p>
        </p:txBody>
      </p:sp>
      <p:sp>
        <p:nvSpPr>
          <p:cNvPr id="12" name="Text 10"/>
          <p:cNvSpPr/>
          <p:nvPr/>
        </p:nvSpPr>
        <p:spPr>
          <a:xfrm>
            <a:off x="914400" y="2532888"/>
            <a:ext cx="320040" cy="228600"/>
          </a:xfrm>
          <a:prstGeom prst="rect">
            <a:avLst/>
          </a:prstGeom>
          <a:solidFill>
            <a:srgbClr val="EFE5D6"/>
          </a:solidFill>
          <a:ln w="10160">
            <a:solidFill>
              <a:srgbClr val="EFE5D6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30" dirty="0"/>
          </a:p>
        </p:txBody>
      </p:sp>
      <p:sp>
        <p:nvSpPr>
          <p:cNvPr id="13" name="Text 11"/>
          <p:cNvSpPr/>
          <p:nvPr/>
        </p:nvSpPr>
        <p:spPr>
          <a:xfrm>
            <a:off x="1371600" y="252831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Harshad Mehta Gang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60520" y="25283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-12.0% TSR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914400" y="2916936"/>
            <a:ext cx="320040" cy="228600"/>
          </a:xfrm>
          <a:prstGeom prst="rect">
            <a:avLst/>
          </a:prstGeom>
          <a:solidFill>
            <a:srgbClr val="D9E5DD"/>
          </a:solidFill>
          <a:ln w="10160">
            <a:solidFill>
              <a:srgbClr val="D9E5DD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1371600" y="29123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Lakshmi Chit Fund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60520" y="29123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-9.6% TSR</a:t>
            </a:r>
            <a:endParaRPr lang="en-US" sz="870" dirty="0"/>
          </a:p>
        </p:txBody>
      </p:sp>
      <p:sp>
        <p:nvSpPr>
          <p:cNvPr id="18" name="Text 16"/>
          <p:cNvSpPr/>
          <p:nvPr/>
        </p:nvSpPr>
        <p:spPr>
          <a:xfrm>
            <a:off x="914400" y="3300984"/>
            <a:ext cx="320040" cy="228600"/>
          </a:xfrm>
          <a:prstGeom prst="rect">
            <a:avLst/>
          </a:prstGeom>
          <a:solidFill>
            <a:srgbClr val="EFE5D6"/>
          </a:solidFill>
          <a:ln w="10160">
            <a:solidFill>
              <a:srgbClr val="EFE5D6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30" dirty="0"/>
          </a:p>
        </p:txBody>
      </p:sp>
      <p:sp>
        <p:nvSpPr>
          <p:cNvPr id="19" name="Text 17"/>
          <p:cNvSpPr/>
          <p:nvPr/>
        </p:nvSpPr>
        <p:spPr>
          <a:xfrm>
            <a:off x="1371600" y="32964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 Bulls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60520" y="329641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1.4% TSR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914400" y="3685032"/>
            <a:ext cx="320040" cy="228600"/>
          </a:xfrm>
          <a:prstGeom prst="rect">
            <a:avLst/>
          </a:prstGeom>
          <a:solidFill>
            <a:srgbClr val="D9E5DD"/>
          </a:solidFill>
          <a:ln w="10160">
            <a:solidFill>
              <a:srgbClr val="D9E5DD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1371600" y="36804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60520" y="36804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-9.9% TSR</a:t>
            </a:r>
            <a:endParaRPr lang="en-US" sz="870" dirty="0"/>
          </a:p>
        </p:txBody>
      </p:sp>
      <p:sp>
        <p:nvSpPr>
          <p:cNvPr id="24" name="Text 22"/>
          <p:cNvSpPr/>
          <p:nvPr/>
        </p:nvSpPr>
        <p:spPr>
          <a:xfrm>
            <a:off x="914400" y="4069080"/>
            <a:ext cx="320040" cy="228600"/>
          </a:xfrm>
          <a:prstGeom prst="rect">
            <a:avLst/>
          </a:prstGeom>
          <a:solidFill>
            <a:srgbClr val="EFE5D6"/>
          </a:solidFill>
          <a:ln w="10160">
            <a:solidFill>
              <a:srgbClr val="EFE5D6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30" dirty="0"/>
          </a:p>
        </p:txBody>
      </p:sp>
      <p:sp>
        <p:nvSpPr>
          <p:cNvPr id="25" name="Text 23"/>
          <p:cNvSpPr/>
          <p:nvPr/>
        </p:nvSpPr>
        <p:spPr>
          <a:xfrm>
            <a:off x="1371600" y="40645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Akatsuki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60520" y="40645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-4.1% TSR</a:t>
            </a:r>
            <a:endParaRPr lang="en-US" sz="870" dirty="0"/>
          </a:p>
        </p:txBody>
      </p:sp>
      <p:sp>
        <p:nvSpPr>
          <p:cNvPr id="27" name="Text 25"/>
          <p:cNvSpPr/>
          <p:nvPr/>
        </p:nvSpPr>
        <p:spPr>
          <a:xfrm>
            <a:off x="914400" y="4453128"/>
            <a:ext cx="320040" cy="228600"/>
          </a:xfrm>
          <a:prstGeom prst="rect">
            <a:avLst/>
          </a:prstGeom>
          <a:solidFill>
            <a:srgbClr val="D9E5DD"/>
          </a:solidFill>
          <a:ln w="10160">
            <a:solidFill>
              <a:srgbClr val="D9E5DD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30" dirty="0"/>
          </a:p>
        </p:txBody>
      </p:sp>
      <p:sp>
        <p:nvSpPr>
          <p:cNvPr id="28" name="Text 26"/>
          <p:cNvSpPr/>
          <p:nvPr/>
        </p:nvSpPr>
        <p:spPr>
          <a:xfrm>
            <a:off x="1371600" y="444855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Pink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60520" y="444855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-12.6% TSR</a:t>
            </a:r>
            <a:endParaRPr lang="en-US" sz="870" dirty="0"/>
          </a:p>
        </p:txBody>
      </p:sp>
      <p:sp>
        <p:nvSpPr>
          <p:cNvPr id="30" name="Text 28"/>
          <p:cNvSpPr/>
          <p:nvPr/>
        </p:nvSpPr>
        <p:spPr>
          <a:xfrm>
            <a:off x="6172200" y="1600200"/>
            <a:ext cx="4480560" cy="2880360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run this section</a:t>
            </a:r>
            <a:endParaRPr lang="en-US" sz="1060" dirty="0"/>
          </a:p>
          <a:p>
            <a:pPr algn="l" indent="0" marL="0">
              <a:buNone/>
            </a:pPr>
            <a:r>
              <a:rPr lang="en-US" sz="106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team receives ten questions. Ask students to answer with numbers first, then interpretation. Mark participation by how well individual members connect assumptions, decisions, operational consequences, finance and shareholder value.</a:t>
            </a:r>
            <a:endParaRPr lang="en-US" sz="1060" dirty="0"/>
          </a:p>
          <a:p>
            <a:pPr algn="l" indent="0" marL="0">
              <a:buNone/>
            </a:pPr>
            <a:endParaRPr lang="en-US" sz="1060" dirty="0"/>
          </a:p>
          <a:p>
            <a:pPr algn="l" indent="0" marL="0">
              <a:buNone/>
            </a:pPr>
            <a:r>
              <a:rPr lang="en-US" sz="106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accept excuses without causal mechanisms.</a:t>
            </a:r>
            <a:endParaRPr lang="en-US" sz="10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3192"/>
            <a:ext cx="12191695" cy="32004"/>
          </a:xfrm>
          <a:prstGeom prst="rect">
            <a:avLst/>
          </a:prstGeom>
          <a:solidFill>
            <a:srgbClr val="8FAEA3"/>
          </a:solidFill>
          <a:ln w="12700">
            <a:solidFill>
              <a:srgbClr val="8FAEA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83096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CESIM Round 4 and Round 5 Excel results; final workshop reflection question bank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052560" y="20116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• Universe 2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658600" y="647395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 C • Universe 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66928" y="1115568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Team-specific Socratic question set for Round 5 reflection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731520" y="1600200"/>
            <a:ext cx="4754880" cy="411480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Teams in this section/universe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148840"/>
            <a:ext cx="320040" cy="228600"/>
          </a:xfrm>
          <a:prstGeom prst="rect">
            <a:avLst/>
          </a:prstGeom>
          <a:solidFill>
            <a:srgbClr val="D9E5DD"/>
          </a:solidFill>
          <a:ln w="10160">
            <a:solidFill>
              <a:srgbClr val="D9E5DD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30" dirty="0"/>
          </a:p>
        </p:txBody>
      </p:sp>
      <p:sp>
        <p:nvSpPr>
          <p:cNvPr id="10" name="Text 8"/>
          <p:cNvSpPr/>
          <p:nvPr/>
        </p:nvSpPr>
        <p:spPr>
          <a:xfrm>
            <a:off x="1371600" y="21442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60520" y="21442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-15.3% TSR</a:t>
            </a:r>
            <a:endParaRPr lang="en-US" sz="870" dirty="0"/>
          </a:p>
        </p:txBody>
      </p:sp>
      <p:sp>
        <p:nvSpPr>
          <p:cNvPr id="12" name="Text 10"/>
          <p:cNvSpPr/>
          <p:nvPr/>
        </p:nvSpPr>
        <p:spPr>
          <a:xfrm>
            <a:off x="914400" y="2532888"/>
            <a:ext cx="320040" cy="228600"/>
          </a:xfrm>
          <a:prstGeom prst="rect">
            <a:avLst/>
          </a:prstGeom>
          <a:solidFill>
            <a:srgbClr val="EFE5D6"/>
          </a:solidFill>
          <a:ln w="10160">
            <a:solidFill>
              <a:srgbClr val="EFE5D6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30" dirty="0"/>
          </a:p>
        </p:txBody>
      </p:sp>
      <p:sp>
        <p:nvSpPr>
          <p:cNvPr id="13" name="Text 11"/>
          <p:cNvSpPr/>
          <p:nvPr/>
        </p:nvSpPr>
        <p:spPr>
          <a:xfrm>
            <a:off x="1371600" y="252831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Satyam 2.0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60520" y="25283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5.1% TSR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914400" y="2916936"/>
            <a:ext cx="320040" cy="228600"/>
          </a:xfrm>
          <a:prstGeom prst="rect">
            <a:avLst/>
          </a:prstGeom>
          <a:solidFill>
            <a:srgbClr val="D9E5DD"/>
          </a:solidFill>
          <a:ln w="10160">
            <a:solidFill>
              <a:srgbClr val="D9E5DD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1371600" y="29123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Blues Clues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60520" y="29123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13.7% TSR</a:t>
            </a:r>
            <a:endParaRPr lang="en-US" sz="870" dirty="0"/>
          </a:p>
        </p:txBody>
      </p:sp>
      <p:sp>
        <p:nvSpPr>
          <p:cNvPr id="18" name="Text 16"/>
          <p:cNvSpPr/>
          <p:nvPr/>
        </p:nvSpPr>
        <p:spPr>
          <a:xfrm>
            <a:off x="914400" y="3300984"/>
            <a:ext cx="320040" cy="228600"/>
          </a:xfrm>
          <a:prstGeom prst="rect">
            <a:avLst/>
          </a:prstGeom>
          <a:solidFill>
            <a:srgbClr val="EFE5D6"/>
          </a:solidFill>
          <a:ln w="10160">
            <a:solidFill>
              <a:srgbClr val="EFE5D6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30" dirty="0"/>
          </a:p>
        </p:txBody>
      </p:sp>
      <p:sp>
        <p:nvSpPr>
          <p:cNvPr id="19" name="Text 17"/>
          <p:cNvSpPr/>
          <p:nvPr/>
        </p:nvSpPr>
        <p:spPr>
          <a:xfrm>
            <a:off x="1371600" y="32964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Lehman Bros.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60520" y="329641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14.1% TSR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914400" y="3685032"/>
            <a:ext cx="320040" cy="228600"/>
          </a:xfrm>
          <a:prstGeom prst="rect">
            <a:avLst/>
          </a:prstGeom>
          <a:solidFill>
            <a:srgbClr val="D9E5DD"/>
          </a:solidFill>
          <a:ln w="10160">
            <a:solidFill>
              <a:srgbClr val="D9E5DD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1371600" y="36804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T5S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60520" y="36804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-1.3% TSR</a:t>
            </a:r>
            <a:endParaRPr lang="en-US" sz="870" dirty="0"/>
          </a:p>
        </p:txBody>
      </p:sp>
      <p:sp>
        <p:nvSpPr>
          <p:cNvPr id="24" name="Text 22"/>
          <p:cNvSpPr/>
          <p:nvPr/>
        </p:nvSpPr>
        <p:spPr>
          <a:xfrm>
            <a:off x="914400" y="4069080"/>
            <a:ext cx="320040" cy="228600"/>
          </a:xfrm>
          <a:prstGeom prst="rect">
            <a:avLst/>
          </a:prstGeom>
          <a:solidFill>
            <a:srgbClr val="EFE5D6"/>
          </a:solidFill>
          <a:ln w="10160">
            <a:solidFill>
              <a:srgbClr val="EFE5D6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30" dirty="0"/>
          </a:p>
        </p:txBody>
      </p:sp>
      <p:sp>
        <p:nvSpPr>
          <p:cNvPr id="25" name="Text 23"/>
          <p:cNvSpPr/>
          <p:nvPr/>
        </p:nvSpPr>
        <p:spPr>
          <a:xfrm>
            <a:off x="1371600" y="40645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SEBI's Watchlist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60520" y="40645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1.8% TSR</a:t>
            </a:r>
            <a:endParaRPr lang="en-US" sz="870" dirty="0"/>
          </a:p>
        </p:txBody>
      </p:sp>
      <p:sp>
        <p:nvSpPr>
          <p:cNvPr id="27" name="Text 25"/>
          <p:cNvSpPr/>
          <p:nvPr/>
        </p:nvSpPr>
        <p:spPr>
          <a:xfrm>
            <a:off x="6172200" y="1600200"/>
            <a:ext cx="4480560" cy="2880360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run this section</a:t>
            </a:r>
            <a:endParaRPr lang="en-US" sz="1060" dirty="0"/>
          </a:p>
          <a:p>
            <a:pPr algn="l" indent="0" marL="0">
              <a:buNone/>
            </a:pPr>
            <a:r>
              <a:rPr lang="en-US" sz="106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team receives ten questions. Ask students to answer with numbers first, then interpretation. Mark participation by how well individual members connect assumptions, decisions, operational consequences, finance and shareholder value.</a:t>
            </a:r>
            <a:endParaRPr lang="en-US" sz="1060" dirty="0"/>
          </a:p>
          <a:p>
            <a:pPr algn="l" indent="0" marL="0">
              <a:buNone/>
            </a:pPr>
            <a:endParaRPr lang="en-US" sz="1060" dirty="0"/>
          </a:p>
          <a:p>
            <a:pPr algn="l" indent="0" marL="0">
              <a:buNone/>
            </a:pPr>
            <a:r>
              <a:rPr lang="en-US" sz="106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accept excuses without causal mechanisms.</a:t>
            </a:r>
            <a:endParaRPr lang="en-US" sz="10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3192"/>
            <a:ext cx="12191695" cy="32004"/>
          </a:xfrm>
          <a:prstGeom prst="rect">
            <a:avLst/>
          </a:prstGeom>
          <a:solidFill>
            <a:srgbClr val="8FAEA3"/>
          </a:solidFill>
          <a:ln w="12700">
            <a:solidFill>
              <a:srgbClr val="8FAEA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83096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CESIM Round 4 and Round 5 Excel results; final workshop reflection question bank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052560" y="20116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D • Universe 1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658600" y="647395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 D • Universe 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66928" y="1115568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Team-specific Socratic question set for Round 5 reflection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731520" y="1600200"/>
            <a:ext cx="4754880" cy="411480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Teams in this section/universe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148840"/>
            <a:ext cx="320040" cy="228600"/>
          </a:xfrm>
          <a:prstGeom prst="rect">
            <a:avLst/>
          </a:prstGeom>
          <a:solidFill>
            <a:srgbClr val="D9E5DD"/>
          </a:solidFill>
          <a:ln w="10160">
            <a:solidFill>
              <a:srgbClr val="D9E5DD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30" dirty="0"/>
          </a:p>
        </p:txBody>
      </p:sp>
      <p:sp>
        <p:nvSpPr>
          <p:cNvPr id="10" name="Text 8"/>
          <p:cNvSpPr/>
          <p:nvPr/>
        </p:nvSpPr>
        <p:spPr>
          <a:xfrm>
            <a:off x="1371600" y="21442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60520" y="21442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1.6% TSR</a:t>
            </a:r>
            <a:endParaRPr lang="en-US" sz="870" dirty="0"/>
          </a:p>
        </p:txBody>
      </p:sp>
      <p:sp>
        <p:nvSpPr>
          <p:cNvPr id="12" name="Text 10"/>
          <p:cNvSpPr/>
          <p:nvPr/>
        </p:nvSpPr>
        <p:spPr>
          <a:xfrm>
            <a:off x="914400" y="2532888"/>
            <a:ext cx="320040" cy="228600"/>
          </a:xfrm>
          <a:prstGeom prst="rect">
            <a:avLst/>
          </a:prstGeom>
          <a:solidFill>
            <a:srgbClr val="EFE5D6"/>
          </a:solidFill>
          <a:ln w="10160">
            <a:solidFill>
              <a:srgbClr val="EFE5D6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30" dirty="0"/>
          </a:p>
        </p:txBody>
      </p:sp>
      <p:sp>
        <p:nvSpPr>
          <p:cNvPr id="13" name="Text 11"/>
          <p:cNvSpPr/>
          <p:nvPr/>
        </p:nvSpPr>
        <p:spPr>
          <a:xfrm>
            <a:off x="1371600" y="252831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 Rangers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60520" y="25283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6.7% TSR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914400" y="2916936"/>
            <a:ext cx="320040" cy="228600"/>
          </a:xfrm>
          <a:prstGeom prst="rect">
            <a:avLst/>
          </a:prstGeom>
          <a:solidFill>
            <a:srgbClr val="D9E5DD"/>
          </a:solidFill>
          <a:ln w="10160">
            <a:solidFill>
              <a:srgbClr val="D9E5DD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1371600" y="29123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60520" y="29123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-7.6% TSR</a:t>
            </a:r>
            <a:endParaRPr lang="en-US" sz="870" dirty="0"/>
          </a:p>
        </p:txBody>
      </p:sp>
      <p:sp>
        <p:nvSpPr>
          <p:cNvPr id="18" name="Text 16"/>
          <p:cNvSpPr/>
          <p:nvPr/>
        </p:nvSpPr>
        <p:spPr>
          <a:xfrm>
            <a:off x="914400" y="3300984"/>
            <a:ext cx="320040" cy="228600"/>
          </a:xfrm>
          <a:prstGeom prst="rect">
            <a:avLst/>
          </a:prstGeom>
          <a:solidFill>
            <a:srgbClr val="EFE5D6"/>
          </a:solidFill>
          <a:ln w="10160">
            <a:solidFill>
              <a:srgbClr val="EFE5D6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30" dirty="0"/>
          </a:p>
        </p:txBody>
      </p:sp>
      <p:sp>
        <p:nvSpPr>
          <p:cNvPr id="19" name="Text 17"/>
          <p:cNvSpPr/>
          <p:nvPr/>
        </p:nvSpPr>
        <p:spPr>
          <a:xfrm>
            <a:off x="1371600" y="32964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Orange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60520" y="329641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8.2% TSR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914400" y="3685032"/>
            <a:ext cx="320040" cy="228600"/>
          </a:xfrm>
          <a:prstGeom prst="rect">
            <a:avLst/>
          </a:prstGeom>
          <a:solidFill>
            <a:srgbClr val="D9E5DD"/>
          </a:solidFill>
          <a:ln w="10160">
            <a:solidFill>
              <a:srgbClr val="D9E5DD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1371600" y="36804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60520" y="36804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-4.5% TSR</a:t>
            </a:r>
            <a:endParaRPr lang="en-US" sz="870" dirty="0"/>
          </a:p>
        </p:txBody>
      </p:sp>
      <p:sp>
        <p:nvSpPr>
          <p:cNvPr id="24" name="Text 22"/>
          <p:cNvSpPr/>
          <p:nvPr/>
        </p:nvSpPr>
        <p:spPr>
          <a:xfrm>
            <a:off x="914400" y="4069080"/>
            <a:ext cx="320040" cy="228600"/>
          </a:xfrm>
          <a:prstGeom prst="rect">
            <a:avLst/>
          </a:prstGeom>
          <a:solidFill>
            <a:srgbClr val="EFE5D6"/>
          </a:solidFill>
          <a:ln w="10160">
            <a:solidFill>
              <a:srgbClr val="EFE5D6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30" dirty="0"/>
          </a:p>
        </p:txBody>
      </p:sp>
      <p:sp>
        <p:nvSpPr>
          <p:cNvPr id="25" name="Text 23"/>
          <p:cNvSpPr/>
          <p:nvPr/>
        </p:nvSpPr>
        <p:spPr>
          <a:xfrm>
            <a:off x="1371600" y="40645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Ochre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60520" y="40645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5.3% TSR</a:t>
            </a:r>
            <a:endParaRPr lang="en-US" sz="870" dirty="0"/>
          </a:p>
        </p:txBody>
      </p:sp>
      <p:sp>
        <p:nvSpPr>
          <p:cNvPr id="27" name="Text 25"/>
          <p:cNvSpPr/>
          <p:nvPr/>
        </p:nvSpPr>
        <p:spPr>
          <a:xfrm>
            <a:off x="6172200" y="1600200"/>
            <a:ext cx="4480560" cy="2880360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run this section</a:t>
            </a:r>
            <a:endParaRPr lang="en-US" sz="1060" dirty="0"/>
          </a:p>
          <a:p>
            <a:pPr algn="l" indent="0" marL="0">
              <a:buNone/>
            </a:pPr>
            <a:r>
              <a:rPr lang="en-US" sz="106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team receives ten questions. Ask students to answer with numbers first, then interpretation. Mark participation by how well individual members connect assumptions, decisions, operational consequences, finance and shareholder value.</a:t>
            </a:r>
            <a:endParaRPr lang="en-US" sz="1060" dirty="0"/>
          </a:p>
          <a:p>
            <a:pPr algn="l" indent="0" marL="0">
              <a:buNone/>
            </a:pPr>
            <a:endParaRPr lang="en-US" sz="1060" dirty="0"/>
          </a:p>
          <a:p>
            <a:pPr algn="l" indent="0" marL="0">
              <a:buNone/>
            </a:pPr>
            <a:r>
              <a:rPr lang="en-US" sz="106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accept excuses without causal mechanisms.</a:t>
            </a:r>
            <a:endParaRPr lang="en-US" sz="10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3192"/>
            <a:ext cx="12191695" cy="32004"/>
          </a:xfrm>
          <a:prstGeom prst="rect">
            <a:avLst/>
          </a:prstGeom>
          <a:solidFill>
            <a:srgbClr val="8FAEA3"/>
          </a:solidFill>
          <a:ln w="12700">
            <a:solidFill>
              <a:srgbClr val="8FAEA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83096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CESIM Round 4 and Round 5 Excel results; final workshop reflection question bank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052560" y="20116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D • Universe 2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658600" y="647395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 D • Universe 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66928" y="1115568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Team-specific Socratic question set for Round 5 reflection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731520" y="1600200"/>
            <a:ext cx="4754880" cy="411480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Teams in this section/universe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148840"/>
            <a:ext cx="320040" cy="228600"/>
          </a:xfrm>
          <a:prstGeom prst="rect">
            <a:avLst/>
          </a:prstGeom>
          <a:solidFill>
            <a:srgbClr val="D9E5DD"/>
          </a:solidFill>
          <a:ln w="10160">
            <a:solidFill>
              <a:srgbClr val="D9E5DD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30" dirty="0"/>
          </a:p>
        </p:txBody>
      </p:sp>
      <p:sp>
        <p:nvSpPr>
          <p:cNvPr id="10" name="Text 8"/>
          <p:cNvSpPr/>
          <p:nvPr/>
        </p:nvSpPr>
        <p:spPr>
          <a:xfrm>
            <a:off x="1371600" y="21442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60520" y="21442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-4.6% TSR</a:t>
            </a:r>
            <a:endParaRPr lang="en-US" sz="870" dirty="0"/>
          </a:p>
        </p:txBody>
      </p:sp>
      <p:sp>
        <p:nvSpPr>
          <p:cNvPr id="12" name="Text 10"/>
          <p:cNvSpPr/>
          <p:nvPr/>
        </p:nvSpPr>
        <p:spPr>
          <a:xfrm>
            <a:off x="914400" y="2532888"/>
            <a:ext cx="320040" cy="228600"/>
          </a:xfrm>
          <a:prstGeom prst="rect">
            <a:avLst/>
          </a:prstGeom>
          <a:solidFill>
            <a:srgbClr val="EFE5D6"/>
          </a:solidFill>
          <a:ln w="10160">
            <a:solidFill>
              <a:srgbClr val="EFE5D6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30" dirty="0"/>
          </a:p>
        </p:txBody>
      </p:sp>
      <p:sp>
        <p:nvSpPr>
          <p:cNvPr id="13" name="Text 11"/>
          <p:cNvSpPr/>
          <p:nvPr/>
        </p:nvSpPr>
        <p:spPr>
          <a:xfrm>
            <a:off x="1371600" y="252831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60520" y="25283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-34.3% TSR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914400" y="2916936"/>
            <a:ext cx="320040" cy="228600"/>
          </a:xfrm>
          <a:prstGeom prst="rect">
            <a:avLst/>
          </a:prstGeom>
          <a:solidFill>
            <a:srgbClr val="D9E5DD"/>
          </a:solidFill>
          <a:ln w="10160">
            <a:solidFill>
              <a:srgbClr val="D9E5DD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1371600" y="29123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Godfathers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60520" y="29123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2.3% TSR</a:t>
            </a:r>
            <a:endParaRPr lang="en-US" sz="870" dirty="0"/>
          </a:p>
        </p:txBody>
      </p:sp>
      <p:sp>
        <p:nvSpPr>
          <p:cNvPr id="18" name="Text 16"/>
          <p:cNvSpPr/>
          <p:nvPr/>
        </p:nvSpPr>
        <p:spPr>
          <a:xfrm>
            <a:off x="914400" y="3300984"/>
            <a:ext cx="320040" cy="228600"/>
          </a:xfrm>
          <a:prstGeom prst="rect">
            <a:avLst/>
          </a:prstGeom>
          <a:solidFill>
            <a:srgbClr val="EFE5D6"/>
          </a:solidFill>
          <a:ln w="10160">
            <a:solidFill>
              <a:srgbClr val="EFE5D6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30" dirty="0"/>
          </a:p>
        </p:txBody>
      </p:sp>
      <p:sp>
        <p:nvSpPr>
          <p:cNvPr id="19" name="Text 17"/>
          <p:cNvSpPr/>
          <p:nvPr/>
        </p:nvSpPr>
        <p:spPr>
          <a:xfrm>
            <a:off x="1371600" y="32964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HallaBol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60520" y="329641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3.7% TSR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914400" y="3685032"/>
            <a:ext cx="320040" cy="228600"/>
          </a:xfrm>
          <a:prstGeom prst="rect">
            <a:avLst/>
          </a:prstGeom>
          <a:solidFill>
            <a:srgbClr val="D9E5DD"/>
          </a:solidFill>
          <a:ln w="10160">
            <a:solidFill>
              <a:srgbClr val="D9E5DD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1371600" y="36804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60520" y="36804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11.9% TSR</a:t>
            </a:r>
            <a:endParaRPr lang="en-US" sz="870" dirty="0"/>
          </a:p>
        </p:txBody>
      </p:sp>
      <p:sp>
        <p:nvSpPr>
          <p:cNvPr id="24" name="Text 22"/>
          <p:cNvSpPr/>
          <p:nvPr/>
        </p:nvSpPr>
        <p:spPr>
          <a:xfrm>
            <a:off x="914400" y="4069080"/>
            <a:ext cx="320040" cy="228600"/>
          </a:xfrm>
          <a:prstGeom prst="rect">
            <a:avLst/>
          </a:prstGeom>
          <a:solidFill>
            <a:srgbClr val="EFE5D6"/>
          </a:solidFill>
          <a:ln w="10160">
            <a:solidFill>
              <a:srgbClr val="EFE5D6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30" dirty="0"/>
          </a:p>
        </p:txBody>
      </p:sp>
      <p:sp>
        <p:nvSpPr>
          <p:cNvPr id="25" name="Text 23"/>
          <p:cNvSpPr/>
          <p:nvPr/>
        </p:nvSpPr>
        <p:spPr>
          <a:xfrm>
            <a:off x="1371600" y="40645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Ochre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60520" y="40645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-8.5% TSR</a:t>
            </a:r>
            <a:endParaRPr lang="en-US" sz="870" dirty="0"/>
          </a:p>
        </p:txBody>
      </p:sp>
      <p:sp>
        <p:nvSpPr>
          <p:cNvPr id="27" name="Text 25"/>
          <p:cNvSpPr/>
          <p:nvPr/>
        </p:nvSpPr>
        <p:spPr>
          <a:xfrm>
            <a:off x="6172200" y="1600200"/>
            <a:ext cx="4480560" cy="2880360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run this section</a:t>
            </a:r>
            <a:endParaRPr lang="en-US" sz="1060" dirty="0"/>
          </a:p>
          <a:p>
            <a:pPr algn="l" indent="0" marL="0">
              <a:buNone/>
            </a:pPr>
            <a:r>
              <a:rPr lang="en-US" sz="106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team receives ten questions. Ask students to answer with numbers first, then interpretation. Mark participation by how well individual members connect assumptions, decisions, operational consequences, finance and shareholder value.</a:t>
            </a:r>
            <a:endParaRPr lang="en-US" sz="1060" dirty="0"/>
          </a:p>
          <a:p>
            <a:pPr algn="l" indent="0" marL="0">
              <a:buNone/>
            </a:pPr>
            <a:endParaRPr lang="en-US" sz="1060" dirty="0"/>
          </a:p>
          <a:p>
            <a:pPr algn="l" indent="0" marL="0">
              <a:buNone/>
            </a:pPr>
            <a:r>
              <a:rPr lang="en-US" sz="106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accept excuses without causal mechanisms.</a:t>
            </a:r>
            <a:endParaRPr lang="en-US" sz="10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3192"/>
            <a:ext cx="12191695" cy="32004"/>
          </a:xfrm>
          <a:prstGeom prst="rect">
            <a:avLst/>
          </a:prstGeom>
          <a:solidFill>
            <a:srgbClr val="8FAEA3"/>
          </a:solidFill>
          <a:ln w="12700">
            <a:solidFill>
              <a:srgbClr val="8FAEA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83096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CESIM Round 4 and Round 5 Excel results; final workshop reflection question bank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052560" y="20116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• Universe 1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658600" y="647395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Green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66928" y="1115568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 Socratic questions for Sec C • Universe 1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658368" y="1444752"/>
            <a:ext cx="10149840" cy="34747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 7.8% | Profit USD 195.4m | ROS 5.9% | ROCE 25.1% | Share 17.8% | Credit BB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713232" y="1975104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Q1. What is Green's one-line Round 5 story?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3232" y="2688336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Q2. Did the team create shareholder value or only operational activity?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3232" y="3401568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Q3. What changed from Round 4 to Round 5, and did the team learn?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3232" y="4114800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Q4. How efficiently did revenue become profit?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3232" y="4828032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Q5. What does ROCE reveal about capital productivity?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53912" y="1975104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Q6. Is market share helping or hurting the team?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53912" y="2688336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Q7. What is the main balance-sheet or financing risk?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53912" y="3401568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Q8. Was the technology/product strategy coherent?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53912" y="4114800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Q9. What do ESG and HR suggest about the quality of execution?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53912" y="4828032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Q10. What is the single most important decision rule for the next/final reflection?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" y="6016752"/>
            <a:ext cx="9875520" cy="301752"/>
          </a:xfrm>
          <a:prstGeom prst="rect">
            <a:avLst/>
          </a:prstGeom>
          <a:solidFill>
            <a:srgbClr val="F7F4EE"/>
          </a:solidFill>
          <a:ln w="10160">
            <a:solidFill>
              <a:srgbClr val="F7F4EE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Instructor prompt: ask different members to answer different questions; require evidence before opinion.</a:t>
            </a:r>
            <a:endParaRPr lang="en-US" sz="10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3192"/>
            <a:ext cx="12191695" cy="32004"/>
          </a:xfrm>
          <a:prstGeom prst="rect">
            <a:avLst/>
          </a:prstGeom>
          <a:solidFill>
            <a:srgbClr val="8FAEA3"/>
          </a:solidFill>
          <a:ln w="12700">
            <a:solidFill>
              <a:srgbClr val="8FAEA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83096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CESIM Round 4 and Round 5 Excel results; final workshop reflection question bank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052560" y="20116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• Universe 1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658600" y="647395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Harshad Mehta Gang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66928" y="1115568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 Socratic questions for Sec C • Universe 1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658368" y="1444752"/>
            <a:ext cx="10149840" cy="34747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 -12.0% | Profit USD -102.9m | ROS -2.7% | ROCE 2.0% | Share 22.4% | Credit B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713232" y="1975104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Q1. What is Harshad Mehta Gang's one-line Round 5 story?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3232" y="2688336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Q2. Did the team create shareholder value or only operational activity?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3232" y="3401568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Q3. What changed from Round 4 to Round 5, and did the team learn?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3232" y="4114800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Q4. How efficiently did revenue become profit?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3232" y="4828032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Q5. What does ROCE reveal about capital productivity?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53912" y="1975104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Q6. Is market share helping or hurting the team?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53912" y="2688336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Q7. What is the main balance-sheet or financing risk?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53912" y="3401568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Q8. Was the technology/product strategy coherent?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53912" y="4114800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Q9. What do ESG and HR suggest about the quality of execution?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53912" y="4828032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Q10. What is the single most important decision rule for the next/final reflection?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" y="6016752"/>
            <a:ext cx="9875520" cy="301752"/>
          </a:xfrm>
          <a:prstGeom prst="rect">
            <a:avLst/>
          </a:prstGeom>
          <a:solidFill>
            <a:srgbClr val="F7F4EE"/>
          </a:solidFill>
          <a:ln w="10160">
            <a:solidFill>
              <a:srgbClr val="F7F4EE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Instructor prompt: ask different members to answer different questions; require evidence before opinion.</a:t>
            </a:r>
            <a:endParaRPr lang="en-US" sz="10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3192"/>
            <a:ext cx="12191695" cy="32004"/>
          </a:xfrm>
          <a:prstGeom prst="rect">
            <a:avLst/>
          </a:prstGeom>
          <a:solidFill>
            <a:srgbClr val="8FAEA3"/>
          </a:solidFill>
          <a:ln w="12700">
            <a:solidFill>
              <a:srgbClr val="8FAEA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83096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CESIM Round 4 and Round 5 Excel results; final workshop reflection question bank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052560" y="20116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• Universe 1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658600" y="647395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Lakshmi Chit Fund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66928" y="1115568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 Socratic questions for Sec C • Universe 1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658368" y="1444752"/>
            <a:ext cx="10149840" cy="34747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 -9.6% | Profit USD 23.7m | ROS 0.7% | ROCE 18.2% | Share 16.3% | Credit CCC-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713232" y="1975104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Q1. What is Lakshmi Chit Fund's one-line Round 5 story?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3232" y="2688336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Q2. Did the team create shareholder value or only operational activity?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3232" y="3401568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Q3. What changed from Round 4 to Round 5, and did the team learn?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3232" y="4114800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Q4. How efficiently did revenue become profit?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3232" y="4828032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Q5. What does ROCE reveal about capital productivity?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53912" y="1975104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Q6. Is market share helping or hurting the team?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53912" y="2688336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Q7. What is the main balance-sheet or financing risk?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53912" y="3401568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Q8. Was the technology/product strategy coherent?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53912" y="4114800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Q9. What do ESG and HR suggest about the quality of execution?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53912" y="4828032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Q10. What is the single most important decision rule for the next/final reflection?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" y="6016752"/>
            <a:ext cx="9875520" cy="301752"/>
          </a:xfrm>
          <a:prstGeom prst="rect">
            <a:avLst/>
          </a:prstGeom>
          <a:solidFill>
            <a:srgbClr val="F7F4EE"/>
          </a:solidFill>
          <a:ln w="10160">
            <a:solidFill>
              <a:srgbClr val="F7F4EE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Instructor prompt: ask different members to answer different questions; require evidence before opinion.</a:t>
            </a:r>
            <a:endParaRPr lang="en-US" sz="10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3192"/>
            <a:ext cx="12191695" cy="32004"/>
          </a:xfrm>
          <a:prstGeom prst="rect">
            <a:avLst/>
          </a:prstGeom>
          <a:solidFill>
            <a:srgbClr val="8FAEA3"/>
          </a:solidFill>
          <a:ln w="12700">
            <a:solidFill>
              <a:srgbClr val="8FAEA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83096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CESIM Round 4 and Round 5 Excel results; final workshop reflection question bank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052560" y="20116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• Universe 1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658600" y="647395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Big Bulls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66928" y="1115568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 Socratic questions for Sec C • Universe 1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658368" y="1444752"/>
            <a:ext cx="10149840" cy="34747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 1.4% | Profit USD -17.4m | ROS -1.1% | ROCE 3.2% | Share 7.8% | Credit BB+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713232" y="1975104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Q1. What is Big Bulls's one-line Round 5 story?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3232" y="2688336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Q2. Did the team create shareholder value or only operational activity?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3232" y="3401568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Q3. What changed from Round 4 to Round 5, and did the team learn?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3232" y="4114800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Q4. How efficiently did revenue become profit?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3232" y="4828032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Q5. What does ROCE reveal about capital productivity?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53912" y="1975104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Q6. Is market share helping or hurting the team?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53912" y="2688336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Q7. What is the main balance-sheet or financing risk?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53912" y="3401568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Q8. Was the technology/product strategy coherent?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53912" y="4114800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Q9. What do ESG and HR suggest about the quality of execution?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53912" y="4828032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Q10. What is the single most important decision rule for the next/final reflection?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" y="6016752"/>
            <a:ext cx="9875520" cy="301752"/>
          </a:xfrm>
          <a:prstGeom prst="rect">
            <a:avLst/>
          </a:prstGeom>
          <a:solidFill>
            <a:srgbClr val="F7F4EE"/>
          </a:solidFill>
          <a:ln w="10160">
            <a:solidFill>
              <a:srgbClr val="F7F4EE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Instructor prompt: ask different members to answer different questions; require evidence before opinion.</a:t>
            </a:r>
            <a:endParaRPr lang="en-US" sz="10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3192"/>
            <a:ext cx="12191695" cy="32004"/>
          </a:xfrm>
          <a:prstGeom prst="rect">
            <a:avLst/>
          </a:prstGeom>
          <a:solidFill>
            <a:srgbClr val="8FAEA3"/>
          </a:solidFill>
          <a:ln w="12700">
            <a:solidFill>
              <a:srgbClr val="8FAEA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83096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CESIM Round 4 and Round 5 Excel results; final workshop reflection question bank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052560" y="20116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• Universe 1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658600" y="647395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Grey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66928" y="1115568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 Socratic questions for Sec C • Universe 1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658368" y="1444752"/>
            <a:ext cx="10149840" cy="34747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 -9.9% | Profit USD -605.9m | ROS -45.6% | ROCE -2.7% | Share 4.9% | Credit CCC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713232" y="1975104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Q1. What is Grey's one-line Round 5 story?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3232" y="2688336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Q2. Did the team create shareholder value or only operational activity?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3232" y="3401568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Q3. What changed from Round 4 to Round 5, and did the team learn?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3232" y="4114800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Q4. How efficiently did revenue become profit?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3232" y="4828032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Q5. What does ROCE reveal about capital productivity?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53912" y="1975104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Q6. Is market share helping or hurting the team?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53912" y="2688336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Q7. What is the main balance-sheet or financing risk?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53912" y="3401568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Q8. Was the technology/product strategy coherent?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53912" y="4114800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Q9. What do ESG and HR suggest about the quality of execution?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53912" y="4828032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Q10. What is the single most important decision rule for the next/final reflection?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" y="6016752"/>
            <a:ext cx="9875520" cy="301752"/>
          </a:xfrm>
          <a:prstGeom prst="rect">
            <a:avLst/>
          </a:prstGeom>
          <a:solidFill>
            <a:srgbClr val="F7F4EE"/>
          </a:solidFill>
          <a:ln w="10160">
            <a:solidFill>
              <a:srgbClr val="F7F4EE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Instructor prompt: ask different members to answer different questions; require evidence before opinion.</a:t>
            </a:r>
            <a:endParaRPr lang="en-US" sz="10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3192"/>
            <a:ext cx="12191695" cy="32004"/>
          </a:xfrm>
          <a:prstGeom prst="rect">
            <a:avLst/>
          </a:prstGeom>
          <a:solidFill>
            <a:srgbClr val="8FAEA3"/>
          </a:solidFill>
          <a:ln w="12700">
            <a:solidFill>
              <a:srgbClr val="8FAEA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83096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CESIM Round 4 and Round 5 Excel results; final workshop reflection question bank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052560" y="20116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• Universe 1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658600" y="647395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Akatsuki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66928" y="1115568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 Socratic questions for Sec C • Universe 1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658368" y="1444752"/>
            <a:ext cx="10149840" cy="34747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 -4.1% | Profit USD 7.8m | ROS 0.3% | ROCE 3.1% | Share 16.5% | Credit BB-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713232" y="1975104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Q1. What is Akatsuki's one-line Round 5 story?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3232" y="2688336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Q2. Did the team create shareholder value or only operational activity?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3232" y="3401568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Q3. What changed from Round 4 to Round 5, and did the team learn?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3232" y="4114800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Q4. How efficiently did revenue become profit?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3232" y="4828032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Q5. What does ROCE reveal about capital productivity?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53912" y="1975104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Q6. Is market share helping or hurting the team?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53912" y="2688336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Q7. What is the main balance-sheet or financing risk?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53912" y="3401568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Q8. Was the technology/product strategy coherent?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53912" y="4114800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Q9. What do ESG and HR suggest about the quality of execution?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53912" y="4828032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Q10. What is the single most important decision rule for the next/final reflection?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" y="6016752"/>
            <a:ext cx="9875520" cy="301752"/>
          </a:xfrm>
          <a:prstGeom prst="rect">
            <a:avLst/>
          </a:prstGeom>
          <a:solidFill>
            <a:srgbClr val="F7F4EE"/>
          </a:solidFill>
          <a:ln w="10160">
            <a:solidFill>
              <a:srgbClr val="F7F4EE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Instructor prompt: ask different members to answer different questions; require evidence before opinion.</a:t>
            </a:r>
            <a:endParaRPr lang="en-US" sz="10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3192"/>
            <a:ext cx="12191695" cy="32004"/>
          </a:xfrm>
          <a:prstGeom prst="rect">
            <a:avLst/>
          </a:prstGeom>
          <a:solidFill>
            <a:srgbClr val="8FAEA3"/>
          </a:solidFill>
          <a:ln w="12700">
            <a:solidFill>
              <a:srgbClr val="8FAEA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83096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CESIM Round 4 and Round 5 Excel results; final workshop reflection question bank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052560" y="20116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• Universe 1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658600" y="647395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Pink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66928" y="1115568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 Socratic questions for Sec C • Universe 1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658368" y="1444752"/>
            <a:ext cx="10149840" cy="34747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 -12.6% | Profit USD -259.5m | ROS -12.5% | ROCE -9.9% | Share 14.2% | Credit CCC-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713232" y="1975104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Q1. What is Pink's one-line Round 5 story?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3232" y="2688336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Q2. Did the team create shareholder value or only operational activity?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3232" y="3401568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Q3. What changed from Round 4 to Round 5, and did the team learn?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3232" y="4114800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Q4. How efficiently did revenue become profit?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3232" y="4828032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Q5. What does ROCE reveal about capital productivity?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53912" y="1975104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Q6. Is market share helping or hurting the team?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53912" y="2688336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Q7. What is the main balance-sheet or financing risk?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53912" y="3401568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Q8. Was the technology/product strategy coherent?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53912" y="4114800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Q9. What do ESG and HR suggest about the quality of execution?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53912" y="4828032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Q10. What is the single most important decision rule for the next/final reflection?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" y="6016752"/>
            <a:ext cx="9875520" cy="301752"/>
          </a:xfrm>
          <a:prstGeom prst="rect">
            <a:avLst/>
          </a:prstGeom>
          <a:solidFill>
            <a:srgbClr val="F7F4EE"/>
          </a:solidFill>
          <a:ln w="10160">
            <a:solidFill>
              <a:srgbClr val="F7F4EE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Instructor prompt: ask different members to answer different questions; require evidence before opinion.</a:t>
            </a:r>
            <a:endParaRPr lang="en-US" sz="10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3192"/>
            <a:ext cx="12191695" cy="32004"/>
          </a:xfrm>
          <a:prstGeom prst="rect">
            <a:avLst/>
          </a:prstGeom>
          <a:solidFill>
            <a:srgbClr val="8FAEA3"/>
          </a:solidFill>
          <a:ln w="12700">
            <a:solidFill>
              <a:srgbClr val="8FAEA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83096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CESIM Round 4 and Round 5 Excel results; final workshop reflection question bank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052560" y="20116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• Universe 2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658600" y="647395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Green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66928" y="1115568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 Socratic questions for Sec C • Universe 2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658368" y="1444752"/>
            <a:ext cx="10149840" cy="34747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 -15.3% | Profit USD -135.9m | ROS -21.0% | ROCE 3.7% | Share 3.8% | Credit CCC+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713232" y="1975104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Q1. What is Green's one-line Round 5 story?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3232" y="2688336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Q2. Did the team create shareholder value or only operational activity?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3232" y="3401568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Q3. What changed from Round 4 to Round 5, and did the team learn?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3232" y="4114800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Q4. How efficiently did revenue become profit?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3232" y="4828032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Q5. What does ROCE reveal about capital productivity?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53912" y="1975104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Q6. Is market share helping or hurting the team?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53912" y="2688336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Q7. What is the main balance-sheet or financing risk?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53912" y="3401568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Q8. Was the technology/product strategy coherent?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53912" y="4114800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Q9. What do ESG and HR suggest about the quality of execution?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53912" y="4828032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Q10. What is the single most important decision rule for the next/final reflection?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" y="6016752"/>
            <a:ext cx="9875520" cy="301752"/>
          </a:xfrm>
          <a:prstGeom prst="rect">
            <a:avLst/>
          </a:prstGeom>
          <a:solidFill>
            <a:srgbClr val="F7F4EE"/>
          </a:solidFill>
          <a:ln w="10160">
            <a:solidFill>
              <a:srgbClr val="F7F4EE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Instructor prompt: ask different members to answer different questions; require evidence before opinion.</a:t>
            </a:r>
            <a:endParaRPr lang="en-US" sz="10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3192"/>
            <a:ext cx="12191695" cy="32004"/>
          </a:xfrm>
          <a:prstGeom prst="rect">
            <a:avLst/>
          </a:prstGeom>
          <a:solidFill>
            <a:srgbClr val="8FAEA3"/>
          </a:solidFill>
          <a:ln w="12700">
            <a:solidFill>
              <a:srgbClr val="8FAEA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83096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CESIM Round 4 and Round 5 Excel results; final workshop reflection question bank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052560" y="20116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• Universe 2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658600" y="647395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Satyam 2.0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66928" y="1115568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 Socratic questions for Sec C • Universe 2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658368" y="1444752"/>
            <a:ext cx="10149840" cy="34747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 5.1% | Profit USD -240.7m | ROS -9.9% | ROCE -7.2% | Share 20.1% | Credit B+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713232" y="1975104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Q1. What is Satyam 2.0's one-line Round 5 story?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3232" y="2688336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Q2. Did the team create shareholder value or only operational activity?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3232" y="3401568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Q3. What changed from Round 4 to Round 5, and did the team learn?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3232" y="4114800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Q4. How efficiently did revenue become profit?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3232" y="4828032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Q5. What does ROCE reveal about capital productivity?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53912" y="1975104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Q6. Is market share helping or hurting the team?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53912" y="2688336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Q7. What is the main balance-sheet or financing risk?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53912" y="3401568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Q8. Was the technology/product strategy coherent?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53912" y="4114800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Q9. What do ESG and HR suggest about the quality of execution?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53912" y="4828032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Q10. What is the single most important decision rule for the next/final reflection?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" y="6016752"/>
            <a:ext cx="9875520" cy="301752"/>
          </a:xfrm>
          <a:prstGeom prst="rect">
            <a:avLst/>
          </a:prstGeom>
          <a:solidFill>
            <a:srgbClr val="F7F4EE"/>
          </a:solidFill>
          <a:ln w="10160">
            <a:solidFill>
              <a:srgbClr val="F7F4EE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Instructor prompt: ask different members to answer different questions; require evidence before opinion.</a:t>
            </a:r>
            <a:endParaRPr lang="en-US" sz="10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3192"/>
            <a:ext cx="12191695" cy="32004"/>
          </a:xfrm>
          <a:prstGeom prst="rect">
            <a:avLst/>
          </a:prstGeom>
          <a:solidFill>
            <a:srgbClr val="8FAEA3"/>
          </a:solidFill>
          <a:ln w="12700">
            <a:solidFill>
              <a:srgbClr val="8FAEA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83096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CESIM Round 4 and Round 5 Excel results; final workshop reflection question bank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052560" y="20116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• Universe 2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658600" y="647395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Blues Clues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66928" y="1115568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 Socratic questions for Sec C • Universe 2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658368" y="1444752"/>
            <a:ext cx="10149840" cy="34747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 13.7% | Profit USD 599.1m | ROS 12.8% | ROCE 32.3% | Share 35.9% | Credit AA-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713232" y="1975104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Q1. What is Blues Clues's one-line Round 5 story?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3232" y="2688336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Q2. Did the team create shareholder value or only operational activity?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3232" y="3401568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Q3. What changed from Round 4 to Round 5, and did the team learn?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3232" y="4114800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Q4. How efficiently did revenue become profit?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3232" y="4828032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Q5. What does ROCE reveal about capital productivity?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53912" y="1975104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Q6. Is market share helping or hurting the team?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53912" y="2688336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Q7. What is the main balance-sheet or financing risk?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53912" y="3401568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Q8. Was the technology/product strategy coherent?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53912" y="4114800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Q9. What do ESG and HR suggest about the quality of execution?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53912" y="4828032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Q10. What is the single most important decision rule for the next/final reflection?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" y="6016752"/>
            <a:ext cx="9875520" cy="301752"/>
          </a:xfrm>
          <a:prstGeom prst="rect">
            <a:avLst/>
          </a:prstGeom>
          <a:solidFill>
            <a:srgbClr val="F7F4EE"/>
          </a:solidFill>
          <a:ln w="10160">
            <a:solidFill>
              <a:srgbClr val="F7F4EE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Instructor prompt: ask different members to answer different questions; require evidence before opinion.</a:t>
            </a:r>
            <a:endParaRPr lang="en-US" sz="10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3192"/>
            <a:ext cx="12191695" cy="32004"/>
          </a:xfrm>
          <a:prstGeom prst="rect">
            <a:avLst/>
          </a:prstGeom>
          <a:solidFill>
            <a:srgbClr val="8FAEA3"/>
          </a:solidFill>
          <a:ln w="12700">
            <a:solidFill>
              <a:srgbClr val="8FAEA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83096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CESIM Round 4 and Round 5 Excel results; final workshop reflection question bank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052560" y="20116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• Universe 2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658600" y="647395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Lehman Bros.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66928" y="1115568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 Socratic questions for Sec C • Universe 2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658368" y="1444752"/>
            <a:ext cx="10149840" cy="34747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 14.1% | Profit USD 154.8m | ROS 5.9% | ROCE 6.5% | Share 23.3% | Credit AA+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713232" y="1975104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Q1. What is Lehman Bros.'s one-line Round 5 story?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3232" y="2688336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Q2. Did the team create shareholder value or only operational activity?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3232" y="3401568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Q3. What changed from Round 4 to Round 5, and did the team learn?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3232" y="4114800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Q4. How efficiently did revenue become profit?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3232" y="4828032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Q5. What does ROCE reveal about capital productivity?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53912" y="1975104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Q6. Is market share helping or hurting the team?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53912" y="2688336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Q7. What is the main balance-sheet or financing risk?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53912" y="3401568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Q8. Was the technology/product strategy coherent?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53912" y="4114800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Q9. What do ESG and HR suggest about the quality of execution?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53912" y="4828032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Q10. What is the single most important decision rule for the next/final reflection?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" y="6016752"/>
            <a:ext cx="9875520" cy="301752"/>
          </a:xfrm>
          <a:prstGeom prst="rect">
            <a:avLst/>
          </a:prstGeom>
          <a:solidFill>
            <a:srgbClr val="F7F4EE"/>
          </a:solidFill>
          <a:ln w="10160">
            <a:solidFill>
              <a:srgbClr val="F7F4EE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Instructor prompt: ask different members to answer different questions; require evidence before opinion.</a:t>
            </a:r>
            <a:endParaRPr lang="en-US" sz="10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3192"/>
            <a:ext cx="12191695" cy="32004"/>
          </a:xfrm>
          <a:prstGeom prst="rect">
            <a:avLst/>
          </a:prstGeom>
          <a:solidFill>
            <a:srgbClr val="8FAEA3"/>
          </a:solidFill>
          <a:ln w="12700">
            <a:solidFill>
              <a:srgbClr val="8FAEA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83096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CESIM Round 4 and Round 5 Excel results; final workshop reflection question bank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052560" y="20116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• Universe 2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658600" y="647395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T5S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66928" y="1115568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 Socratic questions for Sec C • Universe 2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658368" y="1444752"/>
            <a:ext cx="10149840" cy="34747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 -1.3% | Profit USD -14.2m | ROS -1.7% | ROCE 2.1% | Share 7.2% | Credit BB-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713232" y="1975104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Q1. What is T5S's one-line Round 5 story?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3232" y="2688336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Q2. Did the team create shareholder value or only operational activity?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3232" y="3401568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Q3. What changed from Round 4 to Round 5, and did the team learn?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3232" y="4114800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Q4. How efficiently did revenue become profit?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3232" y="4828032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Q5. What does ROCE reveal about capital productivity?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53912" y="1975104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Q6. Is market share helping or hurting the team?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53912" y="2688336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Q7. What is the main balance-sheet or financing risk?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53912" y="3401568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Q8. Was the technology/product strategy coherent?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53912" y="4114800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Q9. What do ESG and HR suggest about the quality of execution?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53912" y="4828032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Q10. What is the single most important decision rule for the next/final reflection?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" y="6016752"/>
            <a:ext cx="9875520" cy="301752"/>
          </a:xfrm>
          <a:prstGeom prst="rect">
            <a:avLst/>
          </a:prstGeom>
          <a:solidFill>
            <a:srgbClr val="F7F4EE"/>
          </a:solidFill>
          <a:ln w="10160">
            <a:solidFill>
              <a:srgbClr val="F7F4EE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Instructor prompt: ask different members to answer different questions; require evidence before opinion.</a:t>
            </a:r>
            <a:endParaRPr lang="en-US" sz="10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3192"/>
            <a:ext cx="12191695" cy="32004"/>
          </a:xfrm>
          <a:prstGeom prst="rect">
            <a:avLst/>
          </a:prstGeom>
          <a:solidFill>
            <a:srgbClr val="8FAEA3"/>
          </a:solidFill>
          <a:ln w="12700">
            <a:solidFill>
              <a:srgbClr val="8FAEA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83096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CESIM Round 4 and Round 5 Excel results; final workshop reflection question bank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052560" y="20116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• Universe 2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658600" y="647395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SEBI's Watchlist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66928" y="1115568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 Socratic questions for Sec C • Universe 2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658368" y="1444752"/>
            <a:ext cx="10149840" cy="34747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 1.8% | Profit USD -43.0m | ROS -3.0% | ROCE 5.3% | Share 9.7% | Credit B+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713232" y="1975104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Q1. What is SEBI's Watchlist's one-line Round 5 story?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3232" y="2688336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Q2. Did the team create shareholder value or only operational activity?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3232" y="3401568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Q3. What changed from Round 4 to Round 5, and did the team learn?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3232" y="4114800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Q4. How efficiently did revenue become profit?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3232" y="4828032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Q5. What does ROCE reveal about capital productivity?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53912" y="1975104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Q6. Is market share helping or hurting the team?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53912" y="2688336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Q7. What is the main balance-sheet or financing risk?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53912" y="3401568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Q8. Was the technology/product strategy coherent?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53912" y="4114800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Q9. What do ESG and HR suggest about the quality of execution?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53912" y="4828032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Q10. What is the single most important decision rule for the next/final reflection?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" y="6016752"/>
            <a:ext cx="9875520" cy="301752"/>
          </a:xfrm>
          <a:prstGeom prst="rect">
            <a:avLst/>
          </a:prstGeom>
          <a:solidFill>
            <a:srgbClr val="F7F4EE"/>
          </a:solidFill>
          <a:ln w="10160">
            <a:solidFill>
              <a:srgbClr val="F7F4EE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Instructor prompt: ask different members to answer different questions; require evidence before opinion.</a:t>
            </a:r>
            <a:endParaRPr lang="en-US" sz="10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3192"/>
            <a:ext cx="12191695" cy="32004"/>
          </a:xfrm>
          <a:prstGeom prst="rect">
            <a:avLst/>
          </a:prstGeom>
          <a:solidFill>
            <a:srgbClr val="8FAEA3"/>
          </a:solidFill>
          <a:ln w="12700">
            <a:solidFill>
              <a:srgbClr val="8FAEA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83096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CESIM Round 4 and Round 5 Excel results; final workshop reflection question bank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052560" y="20116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D • Universe 1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658600" y="647395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Green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66928" y="1115568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 Socratic questions for Sec D • Universe 1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658368" y="1444752"/>
            <a:ext cx="10149840" cy="34747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 1.6% | Profit USD 223.6m | ROS 7.2% | ROCE 9.7% | Share 28.5% | Credit A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713232" y="1975104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Q1. What is Green's one-line Round 5 story?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3232" y="2688336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Q2. Did the team create shareholder value or only operational activity?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3232" y="3401568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Q3. What changed from Round 4 to Round 5, and did the team learn?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3232" y="4114800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Q4. How efficiently did revenue become profit?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3232" y="4828032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Q5. What does ROCE reveal about capital productivity?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53912" y="1975104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Q6. Is market share helping or hurting the team?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53912" y="2688336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Q7. What is the main balance-sheet or financing risk?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53912" y="3401568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Q8. Was the technology/product strategy coherent?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53912" y="4114800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Q9. What do ESG and HR suggest about the quality of execution?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53912" y="4828032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Q10. What is the single most important decision rule for the next/final reflection?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" y="6016752"/>
            <a:ext cx="9875520" cy="301752"/>
          </a:xfrm>
          <a:prstGeom prst="rect">
            <a:avLst/>
          </a:prstGeom>
          <a:solidFill>
            <a:srgbClr val="F7F4EE"/>
          </a:solidFill>
          <a:ln w="10160">
            <a:solidFill>
              <a:srgbClr val="F7F4EE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Instructor prompt: ask different members to answer different questions; require evidence before opinion.</a:t>
            </a:r>
            <a:endParaRPr lang="en-US" sz="10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3192"/>
            <a:ext cx="12191695" cy="32004"/>
          </a:xfrm>
          <a:prstGeom prst="rect">
            <a:avLst/>
          </a:prstGeom>
          <a:solidFill>
            <a:srgbClr val="8FAEA3"/>
          </a:solidFill>
          <a:ln w="12700">
            <a:solidFill>
              <a:srgbClr val="8FAEA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83096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CESIM Round 4 and Round 5 Excel results; final workshop reflection question bank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052560" y="20116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D • Universe 1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658600" y="647395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Red Rangers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66928" y="1115568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 Socratic questions for Sec D • Universe 1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658368" y="1444752"/>
            <a:ext cx="10149840" cy="34747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 6.7% | Profit USD 252.9m | ROS 19.7% | ROCE 10.9% | Share 9.6% | Credit A+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713232" y="1975104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Q1. What is Red Rangers's one-line Round 5 story?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3232" y="2688336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Q2. Did the team create shareholder value or only operational activity?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3232" y="3401568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Q3. What changed from Round 4 to Round 5, and did the team learn?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3232" y="4114800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Q4. How efficiently did revenue become profit?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3232" y="4828032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Q5. What does ROCE reveal about capital productivity?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53912" y="1975104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Q6. Is market share helping or hurting the team?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53912" y="2688336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Q7. What is the main balance-sheet or financing risk?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53912" y="3401568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Q8. Was the technology/product strategy coherent?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53912" y="4114800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Q9. What do ESG and HR suggest about the quality of execution?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53912" y="4828032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Q10. What is the single most important decision rule for the next/final reflection?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" y="6016752"/>
            <a:ext cx="9875520" cy="301752"/>
          </a:xfrm>
          <a:prstGeom prst="rect">
            <a:avLst/>
          </a:prstGeom>
          <a:solidFill>
            <a:srgbClr val="F7F4EE"/>
          </a:solidFill>
          <a:ln w="10160">
            <a:solidFill>
              <a:srgbClr val="F7F4EE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Instructor prompt: ask different members to answer different questions; require evidence before opinion.</a:t>
            </a:r>
            <a:endParaRPr lang="en-US" sz="10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3192"/>
            <a:ext cx="12191695" cy="32004"/>
          </a:xfrm>
          <a:prstGeom prst="rect">
            <a:avLst/>
          </a:prstGeom>
          <a:solidFill>
            <a:srgbClr val="8FAEA3"/>
          </a:solidFill>
          <a:ln w="12700">
            <a:solidFill>
              <a:srgbClr val="8FAEA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83096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CESIM Round 4 and Round 5 Excel results; final workshop reflection question bank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052560" y="20116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D • Universe 1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658600" y="647395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Blue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66928" y="1115568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 Socratic questions for Sec D • Universe 1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658368" y="1444752"/>
            <a:ext cx="10149840" cy="34747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 -7.6% | Profit USD 182.6m | ROS 15.1% | ROCE 10.8% | Share 10.8% | Credit A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713232" y="1975104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Q1. What is Blue's one-line Round 5 story?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3232" y="2688336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Q2. Did the team create shareholder value or only operational activity?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3232" y="3401568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Q3. What changed from Round 4 to Round 5, and did the team learn?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3232" y="4114800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Q4. How efficiently did revenue become profit?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3232" y="4828032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Q5. What does ROCE reveal about capital productivity?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53912" y="1975104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Q6. Is market share helping or hurting the team?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53912" y="2688336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Q7. What is the main balance-sheet or financing risk?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53912" y="3401568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Q8. Was the technology/product strategy coherent?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53912" y="4114800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Q9. What do ESG and HR suggest about the quality of execution?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53912" y="4828032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Q10. What is the single most important decision rule for the next/final reflection?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" y="6016752"/>
            <a:ext cx="9875520" cy="301752"/>
          </a:xfrm>
          <a:prstGeom prst="rect">
            <a:avLst/>
          </a:prstGeom>
          <a:solidFill>
            <a:srgbClr val="F7F4EE"/>
          </a:solidFill>
          <a:ln w="10160">
            <a:solidFill>
              <a:srgbClr val="F7F4EE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Instructor prompt: ask different members to answer different questions; require evidence before opinion.</a:t>
            </a:r>
            <a:endParaRPr lang="en-US" sz="102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3192"/>
            <a:ext cx="12191695" cy="32004"/>
          </a:xfrm>
          <a:prstGeom prst="rect">
            <a:avLst/>
          </a:prstGeom>
          <a:solidFill>
            <a:srgbClr val="8FAEA3"/>
          </a:solidFill>
          <a:ln w="12700">
            <a:solidFill>
              <a:srgbClr val="8FAEA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83096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CESIM Round 4 and Round 5 Excel results; final workshop reflection question bank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052560" y="20116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D • Universe 1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658600" y="647395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Orange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66928" y="1115568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 Socratic questions for Sec D • Universe 1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658368" y="1444752"/>
            <a:ext cx="10149840" cy="34747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 8.2% | Profit USD 402.7m | ROS 15.7% | ROCE 19.9% | Share 19.8% | Credit AA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713232" y="1975104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Q1. What is Orange's one-line Round 5 story?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3232" y="2688336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Q2. Did the team create shareholder value or only operational activity?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3232" y="3401568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Q3. What changed from Round 4 to Round 5, and did the team learn?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3232" y="4114800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Q4. How efficiently did revenue become profit?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3232" y="4828032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Q5. What does ROCE reveal about capital productivity?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53912" y="1975104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Q6. Is market share helping or hurting the team?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53912" y="2688336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Q7. What is the main balance-sheet or financing risk?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53912" y="3401568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Q8. Was the technology/product strategy coherent?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53912" y="4114800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Q9. What do ESG and HR suggest about the quality of execution?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53912" y="4828032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Q10. What is the single most important decision rule for the next/final reflection?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" y="6016752"/>
            <a:ext cx="9875520" cy="301752"/>
          </a:xfrm>
          <a:prstGeom prst="rect">
            <a:avLst/>
          </a:prstGeom>
          <a:solidFill>
            <a:srgbClr val="F7F4EE"/>
          </a:solidFill>
          <a:ln w="10160">
            <a:solidFill>
              <a:srgbClr val="F7F4EE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Instructor prompt: ask different members to answer different questions; require evidence before opinion.</a:t>
            </a:r>
            <a:endParaRPr lang="en-US" sz="102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3192"/>
            <a:ext cx="12191695" cy="32004"/>
          </a:xfrm>
          <a:prstGeom prst="rect">
            <a:avLst/>
          </a:prstGeom>
          <a:solidFill>
            <a:srgbClr val="8FAEA3"/>
          </a:solidFill>
          <a:ln w="12700">
            <a:solidFill>
              <a:srgbClr val="8FAEA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83096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CESIM Round 4 and Round 5 Excel results; final workshop reflection question bank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052560" y="20116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D • Universe 1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658600" y="647395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Grey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66928" y="1115568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 Socratic questions for Sec D • Universe 1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658368" y="1444752"/>
            <a:ext cx="10149840" cy="34747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 -4.5% | Profit USD -425.5m | ROS -27.2% | ROCE -23.5% | Share 10.3% | Credit B-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713232" y="1975104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Q1. What is Grey's one-line Round 5 story?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3232" y="2688336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Q2. Did the team create shareholder value or only operational activity?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3232" y="3401568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Q3. What changed from Round 4 to Round 5, and did the team learn?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3232" y="4114800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Q4. How efficiently did revenue become profit?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3232" y="4828032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Q5. What does ROCE reveal about capital productivity?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53912" y="1975104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Q6. Is market share helping or hurting the team?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53912" y="2688336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Q7. What is the main balance-sheet or financing risk?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53912" y="3401568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Q8. Was the technology/product strategy coherent?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53912" y="4114800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Q9. What do ESG and HR suggest about the quality of execution?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53912" y="4828032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Q10. What is the single most important decision rule for the next/final reflection?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" y="6016752"/>
            <a:ext cx="9875520" cy="301752"/>
          </a:xfrm>
          <a:prstGeom prst="rect">
            <a:avLst/>
          </a:prstGeom>
          <a:solidFill>
            <a:srgbClr val="F7F4EE"/>
          </a:solidFill>
          <a:ln w="10160">
            <a:solidFill>
              <a:srgbClr val="F7F4EE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Instructor prompt: ask different members to answer different questions; require evidence before opinion.</a:t>
            </a:r>
            <a:endParaRPr lang="en-US" sz="10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3192"/>
            <a:ext cx="12191695" cy="32004"/>
          </a:xfrm>
          <a:prstGeom prst="rect">
            <a:avLst/>
          </a:prstGeom>
          <a:solidFill>
            <a:srgbClr val="8FAEA3"/>
          </a:solidFill>
          <a:ln w="12700">
            <a:solidFill>
              <a:srgbClr val="8FAEA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83096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CESIM Round 4 and Round 5 Excel results; final workshop reflection question bank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052560" y="20116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D • Universe 1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658600" y="647395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Ochre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66928" y="1115568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 Socratic questions for Sec D • Universe 1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658368" y="1444752"/>
            <a:ext cx="10149840" cy="34747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 5.3% | Profit USD 159.5m | ROS 5.3% | ROCE 12.2% | Share 21.1% | Credit A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713232" y="1975104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Q1. What is Ochre's one-line Round 5 story?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3232" y="2688336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Q2. Did the team create shareholder value or only operational activity?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3232" y="3401568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Q3. What changed from Round 4 to Round 5, and did the team learn?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3232" y="4114800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Q4. How efficiently did revenue become profit?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3232" y="4828032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Q5. What does ROCE reveal about capital productivity?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53912" y="1975104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Q6. Is market share helping or hurting the team?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53912" y="2688336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Q7. What is the main balance-sheet or financing risk?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53912" y="3401568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Q8. Was the technology/product strategy coherent?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53912" y="4114800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Q9. What do ESG and HR suggest about the quality of execution?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53912" y="4828032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Q10. What is the single most important decision rule for the next/final reflection?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" y="6016752"/>
            <a:ext cx="9875520" cy="301752"/>
          </a:xfrm>
          <a:prstGeom prst="rect">
            <a:avLst/>
          </a:prstGeom>
          <a:solidFill>
            <a:srgbClr val="F7F4EE"/>
          </a:solidFill>
          <a:ln w="10160">
            <a:solidFill>
              <a:srgbClr val="F7F4EE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Instructor prompt: ask different members to answer different questions; require evidence before opinion.</a:t>
            </a:r>
            <a:endParaRPr lang="en-US" sz="102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3192"/>
            <a:ext cx="12191695" cy="32004"/>
          </a:xfrm>
          <a:prstGeom prst="rect">
            <a:avLst/>
          </a:prstGeom>
          <a:solidFill>
            <a:srgbClr val="8FAEA3"/>
          </a:solidFill>
          <a:ln w="12700">
            <a:solidFill>
              <a:srgbClr val="8FAEA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83096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CESIM Round 4 and Round 5 Excel results; final workshop reflection question bank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052560" y="20116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D • Universe 2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658600" y="647395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Green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66928" y="1115568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 Socratic questions for Sec D • Universe 2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658368" y="1444752"/>
            <a:ext cx="10149840" cy="34747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 -4.6% | Profit USD 204.4m | ROS 9.9% | ROCE 15.4% | Share 14.4% | Credit BBB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713232" y="1975104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Q1. What is Green's one-line Round 5 story?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3232" y="2688336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Q2. Did the team create shareholder value or only operational activity?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3232" y="3401568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Q3. What changed from Round 4 to Round 5, and did the team learn?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3232" y="4114800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Q4. How efficiently did revenue become profit?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3232" y="4828032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Q5. What does ROCE reveal about capital productivity?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53912" y="1975104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Q6. Is market share helping or hurting the team?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53912" y="2688336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Q7. What is the main balance-sheet or financing risk?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53912" y="3401568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Q8. Was the technology/product strategy coherent?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53912" y="4114800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Q9. What do ESG and HR suggest about the quality of execution?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53912" y="4828032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Q10. What is the single most important decision rule for the next/final reflection?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" y="6016752"/>
            <a:ext cx="9875520" cy="301752"/>
          </a:xfrm>
          <a:prstGeom prst="rect">
            <a:avLst/>
          </a:prstGeom>
          <a:solidFill>
            <a:srgbClr val="F7F4EE"/>
          </a:solidFill>
          <a:ln w="10160">
            <a:solidFill>
              <a:srgbClr val="F7F4EE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Instructor prompt: ask different members to answer different questions; require evidence before opinion.</a:t>
            </a:r>
            <a:endParaRPr lang="en-US" sz="102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3192"/>
            <a:ext cx="12191695" cy="32004"/>
          </a:xfrm>
          <a:prstGeom prst="rect">
            <a:avLst/>
          </a:prstGeom>
          <a:solidFill>
            <a:srgbClr val="8FAEA3"/>
          </a:solidFill>
          <a:ln w="12700">
            <a:solidFill>
              <a:srgbClr val="8FAEA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83096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CESIM Round 4 and Round 5 Excel results; final workshop reflection question bank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052560" y="20116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D • Universe 2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658600" y="647395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66928" y="1115568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 Socratic questions for Sec D • Universe 2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658368" y="1444752"/>
            <a:ext cx="10149840" cy="34747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 -34.3% | Profit USD -319.3m | ROS -46.9% | ROCE 2.3% | Share 3.9% | Credit CC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713232" y="1975104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Q1. What is Red's one-line Round 5 story?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3232" y="2688336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Q2. Did the team create shareholder value or only operational activity?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3232" y="3401568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Q3. What changed from Round 4 to Round 5, and did the team learn?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3232" y="4114800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Q4. How efficiently did revenue become profit?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3232" y="4828032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Q5. What does ROCE reveal about capital productivity?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53912" y="1975104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Q6. Is market share helping or hurting the team?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53912" y="2688336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Q7. What is the main balance-sheet or financing risk?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53912" y="3401568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Q8. Was the technology/product strategy coherent?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53912" y="4114800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Q9. What do ESG and HR suggest about the quality of execution?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53912" y="4828032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Q10. What is the single most important decision rule for the next/final reflection?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" y="6016752"/>
            <a:ext cx="9875520" cy="301752"/>
          </a:xfrm>
          <a:prstGeom prst="rect">
            <a:avLst/>
          </a:prstGeom>
          <a:solidFill>
            <a:srgbClr val="F7F4EE"/>
          </a:solidFill>
          <a:ln w="10160">
            <a:solidFill>
              <a:srgbClr val="F7F4EE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Instructor prompt: ask different members to answer different questions; require evidence before opinion.</a:t>
            </a:r>
            <a:endParaRPr lang="en-US" sz="102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3192"/>
            <a:ext cx="12191695" cy="32004"/>
          </a:xfrm>
          <a:prstGeom prst="rect">
            <a:avLst/>
          </a:prstGeom>
          <a:solidFill>
            <a:srgbClr val="8FAEA3"/>
          </a:solidFill>
          <a:ln w="12700">
            <a:solidFill>
              <a:srgbClr val="8FAEA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83096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CESIM Round 4 and Round 5 Excel results; final workshop reflection question bank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052560" y="20116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D • Universe 2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658600" y="647395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Godfathers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66928" y="1115568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 Socratic questions for Sec D • Universe 2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658368" y="1444752"/>
            <a:ext cx="10149840" cy="34747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 2.3% | Profit USD 175.1m | ROS 6.7% | ROCE 14.6% | Share 17.5% | Credit AA-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713232" y="1975104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Q1. What is The Godfathers's one-line Round 5 story?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3232" y="2688336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Q2. Did the team create shareholder value or only operational activity?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3232" y="3401568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Q3. What changed from Round 4 to Round 5, and did the team learn?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3232" y="4114800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Q4. How efficiently did revenue become profit?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3232" y="4828032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Q5. What does ROCE reveal about capital productivity?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53912" y="1975104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Q6. Is market share helping or hurting the team?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53912" y="2688336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Q7. What is the main balance-sheet or financing risk?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53912" y="3401568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Q8. Was the technology/product strategy coherent?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53912" y="4114800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Q9. What do ESG and HR suggest about the quality of execution?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53912" y="4828032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Q10. What is the single most important decision rule for the next/final reflection?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" y="6016752"/>
            <a:ext cx="9875520" cy="301752"/>
          </a:xfrm>
          <a:prstGeom prst="rect">
            <a:avLst/>
          </a:prstGeom>
          <a:solidFill>
            <a:srgbClr val="F7F4EE"/>
          </a:solidFill>
          <a:ln w="10160">
            <a:solidFill>
              <a:srgbClr val="F7F4EE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Instructor prompt: ask different members to answer different questions; require evidence before opinion.</a:t>
            </a:r>
            <a:endParaRPr lang="en-US" sz="102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3192"/>
            <a:ext cx="12191695" cy="32004"/>
          </a:xfrm>
          <a:prstGeom prst="rect">
            <a:avLst/>
          </a:prstGeom>
          <a:solidFill>
            <a:srgbClr val="8FAEA3"/>
          </a:solidFill>
          <a:ln w="12700">
            <a:solidFill>
              <a:srgbClr val="8FAEA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83096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CESIM Round 4 and Round 5 Excel results; final workshop reflection question bank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052560" y="20116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D • Universe 2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658600" y="647395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HallaBol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66928" y="1115568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 Socratic questions for Sec D • Universe 2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658368" y="1444752"/>
            <a:ext cx="10149840" cy="34747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 3.7% | Profit USD 159.7m | ROS 4.1% | ROCE 7.5% | Share 25.5% | Credit BBB-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713232" y="1975104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Q1. What is HallaBol's one-line Round 5 story?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3232" y="2688336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Q2. Did the team create shareholder value or only operational activity?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3232" y="3401568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Q3. What changed from Round 4 to Round 5, and did the team learn?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3232" y="4114800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Q4. How efficiently did revenue become profit?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3232" y="4828032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Q5. What does ROCE reveal about capital productivity?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53912" y="1975104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Q6. Is market share helping or hurting the team?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53912" y="2688336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Q7. What is the main balance-sheet or financing risk?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53912" y="3401568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Q8. Was the technology/product strategy coherent?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53912" y="4114800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Q9. What do ESG and HR suggest about the quality of execution?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53912" y="4828032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Q10. What is the single most important decision rule for the next/final reflection?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" y="6016752"/>
            <a:ext cx="9875520" cy="301752"/>
          </a:xfrm>
          <a:prstGeom prst="rect">
            <a:avLst/>
          </a:prstGeom>
          <a:solidFill>
            <a:srgbClr val="F7F4EE"/>
          </a:solidFill>
          <a:ln w="10160">
            <a:solidFill>
              <a:srgbClr val="F7F4EE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Instructor prompt: ask different members to answer different questions; require evidence before opinion.</a:t>
            </a:r>
            <a:endParaRPr lang="en-US" sz="102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3192"/>
            <a:ext cx="12191695" cy="32004"/>
          </a:xfrm>
          <a:prstGeom prst="rect">
            <a:avLst/>
          </a:prstGeom>
          <a:solidFill>
            <a:srgbClr val="8FAEA3"/>
          </a:solidFill>
          <a:ln w="12700">
            <a:solidFill>
              <a:srgbClr val="8FAEA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83096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CESIM Round 4 and Round 5 Excel results; final workshop reflection question bank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052560" y="20116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D • Universe 2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658600" y="647395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Grey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66928" y="1115568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 Socratic questions for Sec D • Universe 2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658368" y="1444752"/>
            <a:ext cx="10149840" cy="34747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 11.9% | Profit USD 479.7m | ROS 14.8% | ROCE 26.5% | Share 21.5% | Credit AA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713232" y="1975104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Q1. What is Grey's one-line Round 5 story?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3232" y="2688336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Q2. Did the team create shareholder value or only operational activity?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3232" y="3401568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Q3. What changed from Round 4 to Round 5, and did the team learn?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3232" y="4114800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Q4. How efficiently did revenue become profit?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3232" y="4828032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Q5. What does ROCE reveal about capital productivity?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53912" y="1975104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Q6. Is market share helping or hurting the team?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53912" y="2688336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Q7. What is the main balance-sheet or financing risk?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53912" y="3401568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Q8. Was the technology/product strategy coherent?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53912" y="4114800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Q9. What do ESG and HR suggest about the quality of execution?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53912" y="4828032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Q10. What is the single most important decision rule for the next/final reflection?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" y="6016752"/>
            <a:ext cx="9875520" cy="301752"/>
          </a:xfrm>
          <a:prstGeom prst="rect">
            <a:avLst/>
          </a:prstGeom>
          <a:solidFill>
            <a:srgbClr val="F7F4EE"/>
          </a:solidFill>
          <a:ln w="10160">
            <a:solidFill>
              <a:srgbClr val="F7F4EE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Instructor prompt: ask different members to answer different questions; require evidence before opinion.</a:t>
            </a:r>
            <a:endParaRPr lang="en-US" sz="102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3192"/>
            <a:ext cx="12191695" cy="32004"/>
          </a:xfrm>
          <a:prstGeom prst="rect">
            <a:avLst/>
          </a:prstGeom>
          <a:solidFill>
            <a:srgbClr val="8FAEA3"/>
          </a:solidFill>
          <a:ln w="12700">
            <a:solidFill>
              <a:srgbClr val="8FAEA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83096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CESIM Round 4 and Round 5 Excel results; final workshop reflection question bank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052560" y="20116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D • Universe 2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658600" y="647395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Ochre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66928" y="1115568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 Socratic questions for Sec D • Universe 2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658368" y="1444752"/>
            <a:ext cx="10149840" cy="34747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 -8.5% | Profit USD -347.1m | ROS -16.3% | ROCE -7.5% | Share 17.2% | Credit C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713232" y="1975104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Q1. What is Ochre's one-line Round 5 story?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3232" y="2688336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Q2. Did the team create shareholder value or only operational activity?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3232" y="3401568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Q3. What changed from Round 4 to Round 5, and did the team learn?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3232" y="4114800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Q4. How efficiently did revenue become profit?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3232" y="4828032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Q5. What does ROCE reveal about capital productivity?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53912" y="1975104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Q6. Is market share helping or hurting the team?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53912" y="2688336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Q7. What is the main balance-sheet or financing risk?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53912" y="3401568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Q8. Was the technology/product strategy coherent?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53912" y="4114800"/>
            <a:ext cx="4983480" cy="53035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Q9. What do ESG and HR suggest about the quality of execution?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53912" y="4828032"/>
            <a:ext cx="4983480" cy="53035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Q10. What is the single most important decision rule for the next/final reflection?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" y="6016752"/>
            <a:ext cx="9875520" cy="301752"/>
          </a:xfrm>
          <a:prstGeom prst="rect">
            <a:avLst/>
          </a:prstGeom>
          <a:solidFill>
            <a:srgbClr val="F7F4EE"/>
          </a:solidFill>
          <a:ln w="10160">
            <a:solidFill>
              <a:srgbClr val="F7F4EE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Instructor prompt: ask different members to answer different questions; require evidence before opinion.</a:t>
            </a:r>
            <a:endParaRPr lang="en-US" sz="102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3192"/>
            <a:ext cx="12191695" cy="32004"/>
          </a:xfrm>
          <a:prstGeom prst="rect">
            <a:avLst/>
          </a:prstGeom>
          <a:solidFill>
            <a:srgbClr val="8FAEA3"/>
          </a:solidFill>
          <a:ln w="12700">
            <a:solidFill>
              <a:srgbClr val="8FAEA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83096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CESIM Round 4 and Round 5 Excel results; final workshop reflection question bank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052560" y="20116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Closing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658600" y="647395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reflection: make learning accountable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66928" y="1115568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F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 with explicit decision rules and individual accountability.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914400" y="1737360"/>
            <a:ext cx="9875520" cy="43891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1. Which decision from Round 1 would you reverse today, and what evidence changed your mind?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2331720"/>
            <a:ext cx="9875520" cy="43891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2. Which metric did your team ignore for too long?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4400" y="2926080"/>
            <a:ext cx="9875520" cy="43891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3. How did your team balance ambition, cash, risk and shareholder value?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4400" y="3520440"/>
            <a:ext cx="9875520" cy="438912"/>
          </a:xfrm>
          <a:prstGeom prst="rect">
            <a:avLst/>
          </a:prstGeom>
          <a:solidFill>
            <a:srgbClr val="EEF3EC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4. What did you learn about free-riding, team process and managerial accountability?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14400" y="4114800"/>
            <a:ext cx="9875520" cy="438912"/>
          </a:xfrm>
          <a:prstGeom prst="rect">
            <a:avLst/>
          </a:prstGeom>
          <a:solidFill>
            <a:srgbClr val="FCFBF8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5. What one decision rule will you carry into a real managerial role?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68680" y="5394960"/>
            <a:ext cx="9875520" cy="566928"/>
          </a:xfrm>
          <a:prstGeom prst="rect">
            <a:avLst/>
          </a:prstGeom>
          <a:solidFill>
            <a:srgbClr val="EFE5D6"/>
          </a:solidFill>
          <a:ln w="10160">
            <a:solidFill>
              <a:srgbClr val="D6DBD2">
                <a:alpha val="9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24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Closing line: the strongest team is the one whose decisions form a coherent, financially sustainable, competitively defensible and ethically responsible system of value creation.</a:t>
            </a:r>
            <a:endParaRPr lang="en-US" sz="12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Great Lakes Institute of Management, Gurgaon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CESIM Final Reflection Question Deck</dc:title>
  <dc:subject>CESIM final reflection team questions</dc:subject>
  <dc:creator>Dr. Swapnil Sahoo</dc:creator>
  <cp:lastModifiedBy>Dr. Swapnil Sahoo</cp:lastModifiedBy>
  <cp:revision>1</cp:revision>
  <dcterms:created xsi:type="dcterms:W3CDTF">2026-08-29T17:27:23Z</dcterms:created>
  <dcterms:modified xsi:type="dcterms:W3CDTF">2026-08-29T17:27:23Z</dcterms:modified>
</cp:coreProperties>
</file>