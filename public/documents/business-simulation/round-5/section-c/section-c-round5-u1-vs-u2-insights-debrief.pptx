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4114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800" b="1">
                <a:solidFill>
                  <a:srgbClr val="4E7168"/>
                </a:solidFill>
              </a:defRPr>
            </a:pPr>
            <a:r>
              <a:t>CESIM Global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94360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900" b="1">
                <a:solidFill>
                  <a:srgbClr val="24362F"/>
                </a:solidFill>
              </a:defRPr>
            </a:pPr>
            <a:r>
              <a:t>Section C: Universe 1 vs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62179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0">
                <a:solidFill>
                  <a:srgbClr val="35443D"/>
                </a:solidFill>
              </a:defRPr>
            </a:pPr>
            <a:r>
              <a:t>Round 5 cross-universe strategic insight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17520"/>
            <a:ext cx="4754880" cy="12344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4206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4E7168"/>
                </a:solidFill>
              </a:defRPr>
            </a:pPr>
            <a:r>
              <a:t>Core teaching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420624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0">
                <a:solidFill>
                  <a:srgbClr val="24362F"/>
                </a:solidFill>
              </a:defRPr>
            </a:pPr>
            <a:r>
              <a:t>Which decisions created durable value, which merely created activity, and what should teams defend in the reflective discussion?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14300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28016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Assumption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14300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28016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Choice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01168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14884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01168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14884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Cash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88036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301752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88036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301752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72200"/>
            <a:ext cx="5029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Section C • Round 5 • cross-universe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Cross-universe scoreboard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2/11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143000"/>
          <a:ext cx="76809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920240"/>
                <a:gridCol w="914400"/>
                <a:gridCol w="1188720"/>
                <a:gridCol w="1188720"/>
                <a:gridCol w="1005840"/>
                <a:gridCol w="64008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Universe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Leader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Leader TSR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sales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profit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Average TSR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Teams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U1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7.80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$17,963.1m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$-758.8m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-5.58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U2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Lehman Bros.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14.10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$12,630.8m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$320.1m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3.03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universe created stronger value quality?</a:t>
            </a:r>
            <a:br/>
            <a:r>
              <a:t>• Which universe was more competitive or risky?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Do not merge universes into a single leaderboard. Compare market systems, not teams across separate games.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Universe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3/11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978408"/>
            <a:ext cx="29260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Total profit (USD 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831279"/>
            <a:ext cx="292608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31279"/>
            <a:ext cx="1394460" cy="141484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14859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U1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8860" y="1234440"/>
            <a:ext cx="1394460" cy="596839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63140" y="3291840"/>
            <a:ext cx="14859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U2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18872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320.1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546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-758.8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978408"/>
            <a:ext cx="29260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Total sales (USD 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246120"/>
            <a:ext cx="292608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1234440"/>
            <a:ext cx="1394460" cy="201168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291840"/>
            <a:ext cx="14859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U1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75020" y="1831607"/>
            <a:ext cx="1394460" cy="1414512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29300" y="3291840"/>
            <a:ext cx="14859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U2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18872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17,963.1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1546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840480"/>
            <a:ext cx="67665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scale and profit conversion are different tests.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A universe can have higher total sales but weaker TSR if risk, debt, or margin quality is poor.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The debrief should ask what competitive assumptions explain the difference.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Where did revenue become profit?</a:t>
            </a:r>
            <a:br/>
            <a:r>
              <a:t>• Where did competition destroy margin?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Competitive intensity shows up in margins, debt, inventory and TSR dispersion.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Leader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4/11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051560"/>
          <a:ext cx="72237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  <a:gridCol w="292608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U1 leader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U2 leader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TSR %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Green: 7.80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Lehman Bros.: 14.10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Green: $195.4m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Lehman Bros.: $154.8m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Green: $3,320.4m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Lehman Bros.: $2,610.9m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ROS %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Green: 5.9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Lehman Bros.: 5.9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ROCE %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Green: 25.1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Lehman Bros.: 6.5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Credit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Green: BB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Lehman Bros.: AA+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Did the two universes reward the same kind of firm?</a:t>
            </a:r>
            <a:br/>
            <a:r>
              <a:t>• What does the difference teach about competitive systems?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Leadership is context-dependent: the same choices may perform differently under different competitive behaviour.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Risk and balance-sheet discipline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5/11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32688"/>
            <a:ext cx="3383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U1 unplanned debt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108960"/>
            <a:ext cx="338328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96920"/>
            <a:ext cx="431074" cy="312039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54680"/>
            <a:ext cx="522514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8314" y="2664841"/>
            <a:ext cx="431074" cy="444118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2594" y="3154680"/>
            <a:ext cx="522514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Big Bulls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85108" y="2724544"/>
            <a:ext cx="431074" cy="384415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9388" y="3154680"/>
            <a:ext cx="522514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Akatsuki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1902" y="2357344"/>
            <a:ext cx="431074" cy="751615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16182" y="3154680"/>
            <a:ext cx="522514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Lakshmi Chit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38697" y="1188720"/>
            <a:ext cx="431074" cy="1920240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92977" y="3154680"/>
            <a:ext cx="522514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5491" y="2945990"/>
            <a:ext cx="431074" cy="162969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9771" y="3154680"/>
            <a:ext cx="522514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Harshad Meht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92285" y="2762981"/>
            <a:ext cx="431074" cy="345978"/>
          </a:xfrm>
          <a:prstGeom prst="rect">
            <a:avLst/>
          </a:prstGeom>
          <a:solidFill>
            <a:srgbClr val="CF7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6565" y="3154680"/>
            <a:ext cx="522514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Pink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11430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3,499.9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01752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932688"/>
            <a:ext cx="3383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U2 unplanned debt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3108960"/>
            <a:ext cx="338328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63440" y="3108960"/>
            <a:ext cx="510540" cy="36576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Lehman Bros.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9700" y="3108960"/>
            <a:ext cx="510540" cy="36576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73980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Blues Clues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75960" y="2814948"/>
            <a:ext cx="510540" cy="294011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30240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Satyam 2.0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32220" y="1188720"/>
            <a:ext cx="510540" cy="1920240"/>
          </a:xfrm>
          <a:prstGeom prst="rect">
            <a:avLst/>
          </a:prstGeom>
          <a:solidFill>
            <a:srgbClr val="CF7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6500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SEBI's Watch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88480" y="3108960"/>
            <a:ext cx="510540" cy="36576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42760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T5S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44739" y="1451624"/>
            <a:ext cx="510540" cy="1657335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99019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11430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2,463.2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301752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universe used financing as a cushion?</a:t>
            </a:r>
            <a:br/>
            <a:r>
              <a:t>• Where did risk become valuation pressure?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Debt is not bad by itself. Unplanned debt indicates that the operating plan did not fund itself.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Strategic archetypes across universes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6/11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005840"/>
          <a:ext cx="7955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828800"/>
                <a:gridCol w="502920"/>
                <a:gridCol w="1463040"/>
                <a:gridCol w="3474720"/>
              </a:tblGrid>
              <a:tr h="467360"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Universe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Archetype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U1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leader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7.8%, ROS 5.9%, credit BB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U1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Big Bulls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repair case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1.4%, ROS -1.1%, credit BB+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U1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Akatsuki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mixed platform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-4.1%, ROS 0.3%, credit BB-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U1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Lakshmi Chit Fund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financially fragile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-9.6%, ROS 0.7%, credit CCC-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U2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Lehman Bros.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leader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14.1%, ROS 5.9%, credit AA+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U2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Blues Clues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quality compounder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13.7%, ROS 12.8%, credit AA-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U2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Satyam 2.0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repair case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5.1%, ROS -9.9%, credit B+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U2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SEBI's Watchlist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repair case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1.8%, ROS -3.0%, credit B+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archetype is most sustainable?</a:t>
            </a:r>
            <a:br/>
            <a:r>
              <a:t>• Which archetype hides the biggest future risk?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A strategy label is valid only if the metrics support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What Universe 1 can learn from Universe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7/11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7665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Compare pricing discipline, R&amp;D timing, and risk posture.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Ask whether the leader wins through economics, valuation credibility, or competitor errors.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Translate cross-universe lessons into decision rules, not imitation.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evidence would convince a skeptical investor?</a:t>
            </a:r>
            <a:br/>
            <a:r>
              <a:t>• What would you do differently next time?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Reflection must convert experience into a better decision rule.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What Universe 2 can learn from Universe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8/11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7665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Study where stronger volume was or was not converted into margins.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Compare debt and credit rating discipline.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Look for teams that repaired operations faster than 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evidence would convince a skeptical investor?</a:t>
            </a:r>
            <a:br/>
            <a:r>
              <a:t>• What would you do differently next time?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Reflection must convert experience into a better decision rule.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Final workshop question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9/11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7665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What was your initial strategy and how did it change?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Which decision created the most value?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Which decision destroyed value?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Who contributed what to the team process?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What evidence proves learning?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evidence would convince a skeptical investor?</a:t>
            </a:r>
            <a:br/>
            <a:r>
              <a:t>• What would you do differently next time?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Reflection must convert experience into a better decision rule.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Assessment and participation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10/11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7665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Attendance is necessary but not sufficient.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Group reflection assesses team-level strategy understanding.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Individual questions assess involvement and discourage free-riding.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Marks should reward preparation, evidence, honesty, and contribution.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evidence would convince a skeptical investor?</a:t>
            </a:r>
            <a:br/>
            <a:r>
              <a:t>• What would you do differently next time?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Reflection must convert experience into a better decision rule.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Closing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11/11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7665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The simulation is a workshop in responsible management.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Winning is not only profit, share, or growth.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The best team builds a coherent system of value creation.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evidence would convince a skeptical investor?</a:t>
            </a:r>
            <a:br/>
            <a:r>
              <a:t>• What would you do differently next time?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Reflection must convert experience into a better decision rule.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