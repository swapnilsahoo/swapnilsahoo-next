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Section C Universe 2: Final Round 5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Round 4 → Round 5 comparison with R1–R5 journey and reflective discussion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Section C • Universe 2 • Final workshop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identity map and data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585216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Round continuity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Canonical team used in deck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Satyam 2.0, Vijay Mallya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Satyam 2.0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3749039"/>
            <a:ext cx="56692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is read against Round 4 and the complete R1–R5 journey.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Formal rank uses cumulative TSR (p.a.) as reported in the workbook.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Individual reflective questions assess whether each member understands the team decision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mistake would occur if renamed teams were treated as new companies?</a:t>
            </a:r>
            <a:br/>
            <a:r>
              <a:t>• Which metric should determine formal rank?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Identity continuity comes before performance comparison. Otherwise the analysis rewards or punishes the wrong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Round 5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78992"/>
          <a:ext cx="7452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28800"/>
                <a:gridCol w="777240"/>
                <a:gridCol w="1005840"/>
                <a:gridCol w="1005840"/>
                <a:gridCol w="777240"/>
                <a:gridCol w="777240"/>
                <a:gridCol w="77724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TSR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ROS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ROCE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Lehman Bros.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14.10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$154.8m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$2,610.9m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AA+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Blues Clues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13.72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$599.1m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$4,668.5m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12.8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32.3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AA-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Satyam 2.0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5.12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$-240.7m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$2,436.3m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-7.2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SEBI's Watchlist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1.85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$-43.0m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$1,447.4m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-3.0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5.3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T5S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-1.29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$-14.2m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$819.7m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BB-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-15.34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$-135.9m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$648.1m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-21.0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CCC+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49640" y="109728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225295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50876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Lehman Bros.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194767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14.10%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097280"/>
            <a:ext cx="73152" cy="96012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28600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2414016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Deepest repair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69748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313639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-15.34%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286000"/>
            <a:ext cx="73152" cy="96012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3657600"/>
            <a:ext cx="3063240" cy="14630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822191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160520"/>
            <a:ext cx="269748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won formally, and who built the best operating platform?</a:t>
            </a:r>
            <a:br/>
            <a:r>
              <a:t>• Which rank hides a deeper strategic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Universe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Sales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$12,630.8m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5.1% vs R4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73152" cy="109728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12264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6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$320.1m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-71.7% vs R4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2264" y="1143000"/>
            <a:ext cx="73152" cy="109728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0168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R&amp;D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$1,185.0m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-37.0% vs R4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0168" y="1143000"/>
            <a:ext cx="73152" cy="109728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8072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$4,801.2m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53.0% vs R4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8072" y="1143000"/>
            <a:ext cx="73152" cy="109728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65976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Market 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$43.55bn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0.5% vs R4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5976" y="1143000"/>
            <a:ext cx="73152" cy="109728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257860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Round 5 profit by team (USD 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269765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3898849"/>
            <a:ext cx="1089660" cy="37091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49780" y="2834639"/>
            <a:ext cx="1089660" cy="143512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406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5160" y="4269765"/>
            <a:ext cx="1089660" cy="576554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944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540" y="4269765"/>
            <a:ext cx="1089660" cy="103115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482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5920" y="4269765"/>
            <a:ext cx="1089660" cy="36576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020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91300" y="4269765"/>
            <a:ext cx="1089660" cy="325469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558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59" y="27889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599.1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59" y="47548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-240.7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Did the universe grow healthier, or merely bigger?</a:t>
            </a:r>
            <a:br/>
            <a:r>
              <a:t>• Which number should worry us most?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Healthy growth means revenue becomes margin, margin becomes cash, and cash remains credible after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Rank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98648" y="1770017"/>
            <a:ext cx="2706624" cy="0"/>
          </a:xfrm>
          <a:prstGeom prst="line">
            <a:avLst/>
          </a:prstGeom>
          <a:ln w="254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" y="1623713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674005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1. Lehman Bros.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23713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74005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1. Lehman Bros.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98648" y="2397034"/>
            <a:ext cx="2706624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" y="2250730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301022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2. Blues Clues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50730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301022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2. Blues Clues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98648" y="3024051"/>
            <a:ext cx="2706624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" y="2877747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928039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3. Satyam 2.0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77747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928039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3. Satyam 2.0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898648" y="3651068"/>
            <a:ext cx="2706624" cy="627017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5256" y="4131781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182073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SEBI's Watchlis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04764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555056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SEBI's Watchlis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98648" y="3651068"/>
            <a:ext cx="2706624" cy="627017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" y="3504764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555056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T5S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31781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182073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T5S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98648" y="4905102"/>
            <a:ext cx="2706624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5256" y="4758798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809090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Green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58798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4809090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Green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improved most in relative rank?</a:t>
            </a:r>
            <a:br/>
            <a:r>
              <a:t>• Which team improved operationally but did not receive full TSR credit?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Rank is relative. A company may improve in absolute terms and still fall if competitors improve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R1 → R5 strategic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6888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6052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4380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1143000"/>
            <a:ext cx="1691640" cy="0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06040" y="1143000"/>
            <a:ext cx="1691640" cy="1719072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97680" y="1143000"/>
            <a:ext cx="1691640" cy="1719072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1143000"/>
            <a:ext cx="1691640" cy="0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54112" y="106984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Lehman Bros.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5440680"/>
            <a:ext cx="169164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06040" y="4581144"/>
            <a:ext cx="1691640" cy="859536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297680" y="2002536"/>
            <a:ext cx="1691640" cy="2578608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89320" y="2002536"/>
            <a:ext cx="169164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54112" y="1929384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Blues Clues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914400" y="2002536"/>
            <a:ext cx="1691640" cy="1719072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06040" y="1143000"/>
            <a:ext cx="1691640" cy="859536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97680" y="1143000"/>
            <a:ext cx="1691640" cy="1719072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89320" y="2862072"/>
            <a:ext cx="169164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54112" y="2788920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Satyam 2.0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914400" y="2862072"/>
            <a:ext cx="1691640" cy="1719072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606040" y="2002536"/>
            <a:ext cx="1691640" cy="859536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97680" y="2002536"/>
            <a:ext cx="1691640" cy="2578608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989320" y="3721608"/>
            <a:ext cx="1691640" cy="859536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54112" y="3648456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SEBI's Watchlist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2862072"/>
            <a:ext cx="1691640" cy="859536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6040" y="3721608"/>
            <a:ext cx="1691640" cy="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97680" y="3721608"/>
            <a:ext cx="1691640" cy="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89320" y="3721608"/>
            <a:ext cx="1691640" cy="859536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54112" y="4507992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T5S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2002536"/>
            <a:ext cx="1691640" cy="2578608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06040" y="4581144"/>
            <a:ext cx="1691640" cy="859536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97680" y="5440680"/>
            <a:ext cx="169164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89320" y="5440680"/>
            <a:ext cx="169164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754112" y="536752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107899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79" y="537667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simulation?</a:t>
            </a:r>
            <a:br/>
            <a:r>
              <a:t>• Which team repeated the same pattern?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The final rank is a lagging indicator. The journey shows how quickly teams updated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The Round 5 managerial puzzle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6583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Lens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Round 5 signal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14.10% TSR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Profit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Blues Clues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$599.1m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Revenue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Blues Clues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$4,668.5m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Capital productivity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Blues Clues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ROCE 32.3%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3657600"/>
            <a:ext cx="6217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formal winner is Lehman Bros., but other teams may lead on profit, sales, or capital efficiency.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debrief should separate current accounting performance from valuation confidence.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final reflection should ask each team to explain the causal mechanism behind its rank.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Why might the highest-profit team not win TSR?</a:t>
            </a:r>
            <a:br/>
            <a:r>
              <a:t>• What future cash-flow story is the market pricing?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Valuation rewards expected cash flows after risk, not isolated one-round strength.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Demand and market-share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8/21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Global market share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19065"/>
            <a:ext cx="1089660" cy="1244174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2620" y="1143000"/>
            <a:ext cx="1089660" cy="1920240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1990620"/>
            <a:ext cx="1089660" cy="1072619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228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3380" y="2542696"/>
            <a:ext cx="1089660" cy="520543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766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760" y="2680047"/>
            <a:ext cx="1089660" cy="383192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304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4140" y="2859972"/>
            <a:ext cx="1089660" cy="20326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4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35.9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8444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Sales revenue (USD 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485304"/>
            <a:ext cx="1089660" cy="818215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12620" y="3840480"/>
            <a:ext cx="1089660" cy="1463040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690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48000" y="4540011"/>
            <a:ext cx="1089660" cy="763508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228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3380" y="4849932"/>
            <a:ext cx="1089660" cy="453587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766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8760" y="5046635"/>
            <a:ext cx="1089660" cy="256884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304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4140" y="5100425"/>
            <a:ext cx="1089660" cy="20309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842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4,668.5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share into economic value?</a:t>
            </a:r>
            <a:br/>
            <a:r>
              <a:t>• Who captured activity without sufficient margin?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Market share is valuable only when it produces repeatable contribution, learning, and cash.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Profitability and capital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9/21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ROS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06815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3825"/>
            <a:ext cx="502919" cy="35299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143000"/>
            <a:ext cx="502919" cy="76381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39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906815"/>
            <a:ext cx="502919" cy="588004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1906815"/>
            <a:ext cx="502919" cy="177017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906815"/>
            <a:ext cx="502919" cy="103316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906815"/>
            <a:ext cx="502919" cy="1247864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12.8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-21.0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ROCE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786434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2454202"/>
            <a:ext cx="502919" cy="332231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142999"/>
            <a:ext cx="502919" cy="164343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786434"/>
            <a:ext cx="502919" cy="368245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518591"/>
            <a:ext cx="502919" cy="267843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678134"/>
            <a:ext cx="502919" cy="1083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600210"/>
            <a:ext cx="502919" cy="18622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32.3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-7.2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22960" y="3749039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1097280"/>
              </a:tblGrid>
              <a:tr h="2481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Lehman Bros.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5.9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AA+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Blues Clues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12.8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32.3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AA-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Satyam 2.0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-7.2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SEBI's Watchlist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-3.0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5.3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T5S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-1.7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BB-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-21.0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CCC+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used capital most intelligently?</a:t>
            </a:r>
            <a:br/>
            <a:r>
              <a:t>• Where did current profit mask balance-sheet risk?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ROCE disciplines growth ambition by asking whether resources actually produced returns.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Balance-sheet and financing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10/21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Unplanned short-term debt (USD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063240"/>
            <a:ext cx="1089660" cy="36576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2620" y="3063240"/>
            <a:ext cx="1089660" cy="36576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2769228"/>
            <a:ext cx="1089660" cy="294011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228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3380" y="1143000"/>
            <a:ext cx="1089660" cy="1920240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766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760" y="3063240"/>
            <a:ext cx="1089660" cy="36576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304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4140" y="1405904"/>
            <a:ext cx="1089660" cy="165733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4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2,463.2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3872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Net debt to equity / gearing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646529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646529"/>
            <a:ext cx="1089660" cy="70271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12620" y="4256339"/>
            <a:ext cx="1089660" cy="39019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690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48000" y="4320856"/>
            <a:ext cx="1089660" cy="325673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228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3380" y="3960050"/>
            <a:ext cx="1089660" cy="68647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766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8760" y="4646529"/>
            <a:ext cx="1089660" cy="47465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304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4140" y="3794760"/>
            <a:ext cx="1089660" cy="85176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842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490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73.8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-60.9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firms are surviving by financing rather than operating strength?</a:t>
            </a:r>
            <a:br/>
            <a:r>
              <a:t>• Why does leverage change valuation even when revenue is high?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Risk reduces the present value of future cash flows and constrains future choices.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ESG and HR as capability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ESG reputation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26224"/>
            <a:ext cx="518160" cy="1928455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5400" y="1143000"/>
            <a:ext cx="518160" cy="2011680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96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59280" y="1498111"/>
            <a:ext cx="518160" cy="1656568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59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454728"/>
            <a:ext cx="518160" cy="1699951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7040" y="1356454"/>
            <a:ext cx="518160" cy="1798225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132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50920" y="1517476"/>
            <a:ext cx="518160" cy="1637203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52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HR efficiency multiplier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419320"/>
            <a:ext cx="518160" cy="1735359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35880" y="1143000"/>
            <a:ext cx="518160" cy="2011680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016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99760" y="3154680"/>
            <a:ext cx="518160" cy="36576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404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154680"/>
            <a:ext cx="518160" cy="36576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7520" y="1178066"/>
            <a:ext cx="518160" cy="1976613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18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91400" y="1178066"/>
            <a:ext cx="518160" cy="1976613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56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886200"/>
            <a:ext cx="65836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ESG/HR should be read as capability and risk variables, not decorative scores.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A strong reputation still needs operating economics; weak people systems can constrain execution.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 reflective discussions, ask teams how their people, process and sustainability choices supported strategy.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ESG/HR into competitive strength?</a:t>
            </a:r>
            <a:br/>
            <a:r>
              <a:t>• Where did weak capability show up in financial results?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Stakeholder investments create value when they improve demand, risk, productivity, or resilience.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Relative scorecard: R4 → 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12/21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6812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Lehman Bros.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Blues Clues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Satyam 2.0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SEBI's Watchlist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T5S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improvement pattern is coherent?</a:t>
            </a:r>
            <a:br/>
            <a:r>
              <a:t>• Which team has one bright spot hiding larger risk?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scorecard prevents metric cherry-picking: good strategy improves the causal chain, not just one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Lehman Bros.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13/21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22.3%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$154.8m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$198.6m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6.5%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9.7%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TSR leader.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$2,610.9m; share 23.3%; ROS 5.9%.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AA+; unplanned debt $0.0m; ESG reputation 3.27.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Blues Clues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14/21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7.0%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$599.1m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$342.1m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13.5%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quality compounder.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$4,668.5m; share 35.9%; ROS 12.8%.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AA-; unplanned debt $0.0m; ESG reputation 3.41.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Satyam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15/21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5.1%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5.7%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$-240.7m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$-3.3m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-7.2%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3.2%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$2,436.3m; share 20.1%; ROS -9.9%.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B+; unplanned debt $377.1m; ESG reputation 2.81.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SEBI's Watchlist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16/21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-4.1%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$-43.0m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$410.5m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5.3%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15.7%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$1,447.4m; share 9.7%; ROS -3.0%.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B+; unplanned debt $2,463.2m; ESG reputation 2.88.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T5S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17/21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5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$-14.2m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$145.0m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8.5%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$819.7m; share 7.2%; ROS -1.7%.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BB-; unplanned debt $0.0m; ESG reputation 3.05.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18/21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6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-15.3%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-7.8%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$-135.9m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$38.6m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6.6%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$648.1m; share 3.8%; ROS -21.0%.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CCC+; unplanned debt $2,125.9m; ESG reputation 2.78.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reflective discussion: group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19/21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1323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Each team must explain its R1→R5 journey: strategy, key decisions, pivots, mistakes, and learning.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Every member may be asked an individual question on team logic, not just final rank.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Participation marks will reflect presence, preparation, contribution, and understanding.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The purpose is fairness: to recognise students who contributed and discourage free-riding.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474720"/>
          <a:ext cx="6675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Reflection 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How did your strategy evolve from R1 to R5?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Which metric best proves your learning?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Mistake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decision would you reverse?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did each member contribute?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Can every member explain the team’s strategy without prompting?</a:t>
            </a:r>
            <a:br/>
            <a:r>
              <a:t>• What evidence separates genuine participation from free-riding?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assesses thinking-in-action: decision quality, reflection quality, and responsible team contribution.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learning: decision rules for general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20/21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7040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76072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Decision rule to articulate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Demand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forecast by region and technology before production.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change price only if volume gain exceeds margin loss.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R&amp;D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invest when readiness, demand and financing can support commercialisation.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produce to demand estimates and inventory thresholds.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avoid unplanned debt and protect rating guardrails.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Reflection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Every member names one assumption, one evidence point and one change.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rule would have prevented your biggest mistake?</a:t>
            </a:r>
            <a:br/>
            <a:r>
              <a:t>• Which rule will you carry into real management?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Managerial learning becomes durable only when it changes the next decision rule.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Closing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400" b="1">
                <a:solidFill>
                  <a:srgbClr val="24362F"/>
                </a:solidFill>
              </a:defRPr>
            </a:pPr>
            <a:r>
              <a:t>The strongest team is not simply the one with the highest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58368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0">
                <a:solidFill>
                  <a:srgbClr val="35443D"/>
                </a:solidFill>
              </a:defRPr>
            </a:pPr>
            <a:r>
              <a:t>It is the team whose market choices, operations, finance, people, sustainability and risk form the most coherent system of value creation.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630936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customers?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trade-offs?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ourselves as decision-makers?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would we do differently if the simulation restarted tomorrow?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will your team stop defending and start learning from?</a:t>
            </a:r>
            <a:br/>
            <a:r>
              <a:t>• Which learning will matter most beyond the simulation?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