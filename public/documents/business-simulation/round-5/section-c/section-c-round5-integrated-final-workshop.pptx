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49377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94360" y="1143000"/>
            <a:ext cx="8138160" cy="51206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Integrated Final Workshop Deck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12648" y="1783080"/>
            <a:ext cx="86868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1 → Round 5 • both universes • final reflection • team oral questions • inter-section insights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4937760" cy="1325880"/>
          </a:xfrm>
          <a:prstGeom prst="roundRect">
            <a:avLst>
              <a:gd name="adj" fmla="val 5517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724912"/>
            <a:ext cx="4389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3035808"/>
            <a:ext cx="4389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built a coherent system of value creation, and which teams mistook activity for strategy?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92240" y="214884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2423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03720" y="2560320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32520" y="2423160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23960" y="2560320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812280" y="317296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03720" y="3310128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732520" y="317296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23960" y="3310128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12280" y="39227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D7E4DA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732520" y="3922776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EFE1CD"/>
          </a:solidFill>
          <a:ln w="12700">
            <a:solidFill>
              <a:srgbClr val="D3D7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23960" y="4059936"/>
            <a:ext cx="137160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1/25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use this single deck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final two workshops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3672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8244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move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33360" y="11430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79080" y="1197864"/>
            <a:ext cx="3505200" cy="350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purpose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23672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8244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expectations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833360" y="184404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79080" y="189890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Workshop, not lecture. Participation is assessed through reflection and evidence.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008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23672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8244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final results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833360" y="254508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9080" y="259994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TSR for rank; use operations, finance, HR/ESG and value creation to explain rank.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4008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23672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8244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universes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833360" y="324612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79080" y="330098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what one universe did better than the other.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4008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3672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8244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Interrogate teams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833360" y="394716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79080" y="400202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ten questions per team. Ask different members, not only the strongest speaker.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4008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23672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8244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with learning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833360" y="4648200"/>
            <a:ext cx="3569208" cy="595884"/>
          </a:xfrm>
          <a:prstGeom prst="roundRect">
            <a:avLst>
              <a:gd name="adj" fmla="val 12276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79080" y="4703064"/>
            <a:ext cx="3505200" cy="3364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states one preserved decision, one corrected decision, and one general-management rule.</a:t>
            </a:r>
            <a:endParaRPr lang="en-US" sz="820" dirty="0"/>
          </a:p>
        </p:txBody>
      </p:sp>
      <p:sp>
        <p:nvSpPr>
          <p:cNvPr id="43" name="Text 40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44" name="Text 41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2/25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two-session reflection protocol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participation and fairness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58368" y="1097280"/>
            <a:ext cx="530352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33502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Student-facing principle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66344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Simulation is a workshop: learning comes from decisions, experimentation, results and reflection.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final sessions begin with group reflective discussion from Round 1 to Round 5.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team member can be questioned individually on decisions, rationale, outcomes and learning.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Attendance and participation marks depend on presence, active contribution and performance in reflection.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0972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56832" y="1335024"/>
            <a:ext cx="4389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Fairness mechanism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56832" y="1737360"/>
            <a:ext cx="438912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Discourage free-riding and just-in-time attendance.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students who came on time, stayed, discussed and contributed.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quiet members first; rotate questions within each team.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only answers that cite decisions, metrics and causal mechanisms.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56832" y="4069080"/>
            <a:ext cx="429768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grading lens: presence + evidence + causal explanation + team contribution + reflection quality.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3/25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scope and team identity mapping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both universes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2245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702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team name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882128" y="1060704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27848" y="1115568"/>
            <a:ext cx="3566160" cy="1688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 across rounds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669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42245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7882128" y="139832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7848" y="145319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5669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2245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702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882128" y="1735953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27848" y="1790817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→ Harshad Mehta Gang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5669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2245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702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7882128" y="2073578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27848" y="2128442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Lakshmi Chit Fund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5669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2245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702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7882128" y="241120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27848" y="246606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→ Big Bulls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5669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42245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702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882128" y="2748827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27848" y="2803691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5669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26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42245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02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882128" y="3086452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27848" y="3141316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5669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42245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702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7882128" y="342407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27848" y="347894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5669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26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42245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702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7882128" y="3761701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27848" y="3816565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5669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42245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2702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7882128" y="4099326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27848" y="4154190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Mallya → Satyam 2.0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5669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126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2245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2702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70" name="Shape 68"/>
          <p:cNvSpPr/>
          <p:nvPr/>
        </p:nvSpPr>
        <p:spPr>
          <a:xfrm>
            <a:off x="7882128" y="4436950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27848" y="4491814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72" name="Shape 70"/>
          <p:cNvSpPr/>
          <p:nvPr/>
        </p:nvSpPr>
        <p:spPr>
          <a:xfrm>
            <a:off x="5669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26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42245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702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76" name="Shape 74"/>
          <p:cNvSpPr/>
          <p:nvPr/>
        </p:nvSpPr>
        <p:spPr>
          <a:xfrm>
            <a:off x="7882128" y="4774575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927848" y="4829439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78" name="Shape 76"/>
          <p:cNvSpPr/>
          <p:nvPr/>
        </p:nvSpPr>
        <p:spPr>
          <a:xfrm>
            <a:off x="5669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126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42245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702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7882128" y="5112199"/>
            <a:ext cx="3630168" cy="286981"/>
          </a:xfrm>
          <a:prstGeom prst="roundRect">
            <a:avLst>
              <a:gd name="adj" fmla="val 25490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927848" y="5167063"/>
            <a:ext cx="3566160" cy="1620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20" dirty="0"/>
          </a:p>
        </p:txBody>
      </p:sp>
      <p:sp>
        <p:nvSpPr>
          <p:cNvPr id="84" name="Text 82"/>
          <p:cNvSpPr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continuity is mapped by workbook column position across rounds. Renamed teams are treated as the same company, not new entrants.</a:t>
            </a:r>
            <a:endParaRPr lang="en-US" sz="1300" dirty="0"/>
          </a:p>
        </p:txBody>
      </p:sp>
      <p:sp>
        <p:nvSpPr>
          <p:cNvPr id="86" name="Text 83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87" name="Text 84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4/25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leaderboard: both universes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cumulative TSR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9436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16152"/>
            <a:ext cx="4983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472184"/>
            <a:ext cx="4983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ranking after Round 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1755648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00668" y="1755648"/>
            <a:ext cx="933765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2274" y="1737360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22960" y="2363071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900668" y="2363071"/>
            <a:ext cx="163992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2274" y="2344783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22960" y="2970494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16038" y="2970494"/>
            <a:ext cx="484629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2274" y="2952206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3577917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7087" y="3577917"/>
            <a:ext cx="1153581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2274" y="3559629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-9.6%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22960" y="4185339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19361" y="4185339"/>
            <a:ext cx="1181307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2274" y="4167051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" y="4792762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461078" y="4792762"/>
            <a:ext cx="1439590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2274" y="4774474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22960" y="5400185"/>
            <a:ext cx="1369771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88413" y="5400185"/>
            <a:ext cx="1512255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2274" y="5381897"/>
            <a:ext cx="684886" cy="3644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-12.6%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63640" y="1051560"/>
            <a:ext cx="5349240" cy="5166360"/>
          </a:xfrm>
          <a:prstGeom prst="roundRect">
            <a:avLst>
              <a:gd name="adj" fmla="val 1416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216152"/>
            <a:ext cx="49834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1472184"/>
            <a:ext cx="4983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ranking after Round 5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17556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331982" y="1755648"/>
            <a:ext cx="1171730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01554" y="17373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92240" y="246430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331982" y="2464308"/>
            <a:ext cx="1140000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01554" y="244602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13.7%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492240" y="317296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331982" y="3172968"/>
            <a:ext cx="425606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01554" y="315468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492240" y="388162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31982" y="3881628"/>
            <a:ext cx="153688" cy="146304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01554" y="386334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1.8%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492240" y="459028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9224728" y="4590288"/>
            <a:ext cx="107254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601554" y="457200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-1.3%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492240" y="5298948"/>
            <a:ext cx="1369771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8057693" y="5298948"/>
            <a:ext cx="1274290" cy="146304"/>
          </a:xfrm>
          <a:prstGeom prst="rect">
            <a:avLst/>
          </a:prstGeom>
          <a:solidFill>
            <a:srgbClr val="C65B53"/>
          </a:solidFill>
          <a:ln w="12700">
            <a:solidFill>
              <a:srgbClr val="C65B5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601554" y="5280660"/>
            <a:ext cx="684886" cy="4251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-15.3%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3" name="Text 50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managerial puzzles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profit is not the same as value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PUZZLES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078992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08666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leader: 7.8%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290962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profit: 195.4m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7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68680" y="373258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share: 22.4%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8680" y="416052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55554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TSR: -12.6%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question: Which number is most seductive but least sufficient?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078992"/>
            <a:ext cx="5074920" cy="4754880"/>
          </a:xfrm>
          <a:prstGeom prst="roundRect">
            <a:avLst>
              <a:gd name="adj" fmla="val 1538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298448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37960" y="169164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537960" y="208666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leader: 14.1%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537960" y="251460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37960" y="290962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profit: 599.1m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37960" y="333756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77C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537960" y="373258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share: 35.9%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537960" y="4160520"/>
            <a:ext cx="4572000" cy="3803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4555541"/>
            <a:ext cx="4572000" cy="26334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TSR: -15.3%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537960" y="5074920"/>
            <a:ext cx="4480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question: Which number is most seductive but least sufficient?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6/25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1 rank flow: Round 1 to Round 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movement map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0827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14316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03620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92924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2228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71532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32604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2604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1908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1908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11212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1212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00516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0516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89820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1998617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 Bulls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32604" y="1998617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2604" y="2016905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1908" y="1998617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1908" y="2016905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11212" y="1998617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1212" y="2016905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00516" y="1998617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0516" y="2016905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89820" y="1998617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9820" y="2016905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" y="2579914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832604" y="2579914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2604" y="2598202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1908" y="2579914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1908" y="2598202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11212" y="2579914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1212" y="2598202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700516" y="2579914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0516" y="2598202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989820" y="2579914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89820" y="2598202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3161211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Lakshmi Chit Fund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832604" y="3161211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2604" y="3179499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1908" y="3161211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1908" y="3179499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11212" y="3161211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1212" y="3179499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700516" y="3161211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0516" y="3179499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989820" y="3161211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89820" y="3179499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" y="3742509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832604" y="3742509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2604" y="3760797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21908" y="3742509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1908" y="3760797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11212" y="3742509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1212" y="3760797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700516" y="3742509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0516" y="3760797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989820" y="3742509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9820" y="3760797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1520" y="4323806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Harshad Mehta Gang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832604" y="4323806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32604" y="4342094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21908" y="4323806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1908" y="4342094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11212" y="4323806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1212" y="4342094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700516" y="4323806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00516" y="4342094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989820" y="4323806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89820" y="4342094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731520" y="4905103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820" dirty="0"/>
          </a:p>
        </p:txBody>
      </p:sp>
      <p:sp>
        <p:nvSpPr>
          <p:cNvPr id="79" name="Shape 77"/>
          <p:cNvSpPr/>
          <p:nvPr/>
        </p:nvSpPr>
        <p:spPr>
          <a:xfrm>
            <a:off x="4832604" y="4905103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32604" y="4923391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121908" y="4905103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121908" y="4923391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411212" y="4905103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411212" y="4923391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8700516" y="4905103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700516" y="4923391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9989820" y="4905103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989820" y="4923391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slide to ask: who learned, who merely moved, and who converted learning into TSR?</a:t>
            </a:r>
            <a:endParaRPr lang="en-US" sz="1300" dirty="0"/>
          </a:p>
        </p:txBody>
      </p:sp>
      <p:sp>
        <p:nvSpPr>
          <p:cNvPr id="91" name="Text 88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7/25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 2 rank flow: Round 1 to Round 5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movement map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72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082796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814316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103620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392924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2228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971532" y="1097280"/>
            <a:ext cx="1289304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R5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31520" y="14173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832604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32604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21908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1908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11212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11212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8700516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00516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989820" y="14173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89820" y="14356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31520" y="209550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4832604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32604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21908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1908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7411212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11212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700516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00516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9989820" y="209550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89820" y="211378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731520" y="277368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Satyam 2.0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832604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2604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21908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21908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411212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7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11212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C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8700516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00516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9989820" y="277368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989820" y="279196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31520" y="345186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832604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32604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21908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1908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411212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11212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8700516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700516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989820" y="345186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89820" y="347014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31520" y="413004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820" dirty="0"/>
          </a:p>
        </p:txBody>
      </p:sp>
      <p:sp>
        <p:nvSpPr>
          <p:cNvPr id="57" name="Shape 55"/>
          <p:cNvSpPr/>
          <p:nvPr/>
        </p:nvSpPr>
        <p:spPr>
          <a:xfrm>
            <a:off x="4832604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2604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121908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1908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411212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11212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700516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0516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9989820" y="413004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989820" y="414832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731520" y="4808220"/>
            <a:ext cx="4082796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4832604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E7F0EF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832604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6121908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121908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7411212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11212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8700516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00516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9989820" y="4808220"/>
            <a:ext cx="1074420" cy="201168"/>
          </a:xfrm>
          <a:prstGeom prst="roundRect">
            <a:avLst>
              <a:gd name="adj" fmla="val 36364"/>
            </a:avLst>
          </a:prstGeom>
          <a:solidFill>
            <a:srgbClr val="F1EEE8"/>
          </a:solidFill>
          <a:ln w="12700">
            <a:solidFill>
              <a:srgbClr val="E1E2D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989820" y="4826508"/>
            <a:ext cx="10744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65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91440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students to explain whether rank movement came from better decisions or competitor errors.</a:t>
            </a:r>
            <a:endParaRPr lang="en-US" sz="1300" dirty="0"/>
          </a:p>
        </p:txBody>
      </p:sp>
      <p:sp>
        <p:nvSpPr>
          <p:cNvPr id="80" name="Text 77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8/25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Intra-section insight: Universe 1 vs Universe 2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same section, different competitive systems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19456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4904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TSR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4924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TSR teams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5800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pool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41248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pool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966960" y="118872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12680" y="1243584"/>
            <a:ext cx="1463040" cy="243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 signal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U1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219456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4028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74904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530352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85800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18.0mm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841248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5820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-758.8m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9966960" y="167640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12680" y="173126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4008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U2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219456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374904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9476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530352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4924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85800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12.6mm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841248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5820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320.1m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9966960" y="2164080"/>
            <a:ext cx="1527048" cy="414528"/>
          </a:xfrm>
          <a:prstGeom prst="roundRect">
            <a:avLst>
              <a:gd name="adj" fmla="val 1764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12680" y="2218944"/>
            <a:ext cx="1463040" cy="23408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22960" y="3063240"/>
            <a:ext cx="50292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515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051560" y="3657600"/>
            <a:ext cx="42976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rewarded scale more strongly?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converted profit into value better?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universe carried greater repair/risk cases?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3063240"/>
            <a:ext cx="4663440" cy="2011680"/>
          </a:xfrm>
          <a:prstGeom prst="roundRect">
            <a:avLst>
              <a:gd name="adj" fmla="val 3636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3273552"/>
            <a:ext cx="2194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move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537960" y="3657600"/>
            <a:ext cx="402336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combine universes into one artificial ranking.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patterns: pricing, risk, investment, value creation.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1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Ask: what would the losing universe copy?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9/25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Inter-section insight: Section C vs Section 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deck includes cross-section lens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CROSS-SECTION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5364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936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leader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6720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1292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 TSR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TSR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89432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4004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pool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707880" y="1143000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1197864"/>
            <a:ext cx="17221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leader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U1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5364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9936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26720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1292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08076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2/7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89432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4004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-758.8m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707880" y="1655064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3600" y="1709928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64008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U2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245364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9936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426720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1292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608076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789432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4004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320.1m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9707880" y="2167128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753600" y="2221992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64008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U1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245364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9936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426720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1292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8.2%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08076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4/6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89432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4004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795.7m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9707880" y="2679192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753600" y="2734056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64008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580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D U2</a:t>
            </a:r>
            <a:endParaRPr lang="en-US" sz="820" dirty="0"/>
          </a:p>
        </p:txBody>
      </p:sp>
      <p:sp>
        <p:nvSpPr>
          <p:cNvPr id="56" name="Shape 54"/>
          <p:cNvSpPr/>
          <p:nvPr/>
        </p:nvSpPr>
        <p:spPr>
          <a:xfrm>
            <a:off x="245364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9936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58" name="Shape 56"/>
          <p:cNvSpPr/>
          <p:nvPr/>
        </p:nvSpPr>
        <p:spPr>
          <a:xfrm>
            <a:off x="426720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1292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08076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12648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3/6</a:t>
            </a:r>
            <a:endParaRPr lang="en-US" sz="820" dirty="0"/>
          </a:p>
        </p:txBody>
      </p:sp>
      <p:sp>
        <p:nvSpPr>
          <p:cNvPr id="62" name="Shape 60"/>
          <p:cNvSpPr/>
          <p:nvPr/>
        </p:nvSpPr>
        <p:spPr>
          <a:xfrm>
            <a:off x="789432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4004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352.4m</a:t>
            </a:r>
            <a:endParaRPr lang="en-US" sz="820" dirty="0"/>
          </a:p>
        </p:txBody>
      </p:sp>
      <p:sp>
        <p:nvSpPr>
          <p:cNvPr id="64" name="Shape 62"/>
          <p:cNvSpPr/>
          <p:nvPr/>
        </p:nvSpPr>
        <p:spPr>
          <a:xfrm>
            <a:off x="9707880" y="3191256"/>
            <a:ext cx="1786128" cy="435254"/>
          </a:xfrm>
          <a:prstGeom prst="roundRect">
            <a:avLst>
              <a:gd name="adj" fmla="val 16807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753600" y="3246120"/>
            <a:ext cx="1722120" cy="24579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914400" y="4251960"/>
            <a:ext cx="10332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43000" y="4462272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prompt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143000" y="4800600"/>
            <a:ext cx="969264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another section created stronger TSR outcomes, was it because of superior strategy, easier competition, lower risk, or better alignment among decisions?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71" name="Text 68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10/25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oral-questioning method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ten questions per team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ORAL FORMAT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777240" y="1143000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197864"/>
            <a:ext cx="2377440" cy="3004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97864"/>
            <a:ext cx="2377440" cy="30044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discipline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77240" y="1743891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798755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3246120" y="1743891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798755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 from R1 to R5?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77240" y="2344783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399647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246120" y="2344783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399647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believe about demand, price, tech and rivals?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77240" y="2945674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000538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246120" y="2945674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3000538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metric confirms or rejects that belief?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777240" y="3546566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601430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3246120" y="3546566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601430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decision moved the metric?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77240" y="4147457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202321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Trade-off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246120" y="4147457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4202321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did you gain and sacrifice?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77240" y="4748349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803213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3246120" y="4748349"/>
            <a:ext cx="2441448" cy="510758"/>
          </a:xfrm>
          <a:prstGeom prst="roundRect">
            <a:avLst>
              <a:gd name="adj" fmla="val 14322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91840" y="4803213"/>
            <a:ext cx="2377440" cy="2884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rule would govern the next decision?</a:t>
            </a:r>
            <a:endParaRPr lang="en-US" sz="820" dirty="0"/>
          </a:p>
        </p:txBody>
      </p:sp>
      <p:sp>
        <p:nvSpPr>
          <p:cNvPr id="34" name="Shape 32"/>
          <p:cNvSpPr/>
          <p:nvPr/>
        </p:nvSpPr>
        <p:spPr>
          <a:xfrm>
            <a:off x="6309360" y="114300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EFF3EB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for asking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83680" y="1828800"/>
            <a:ext cx="420624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different members of the same team.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“we tried our best” as analysis.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 one decision and one metric in every answer.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Invite peers to ask one follow-up question.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20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participation quality immediately.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39" name="Text 36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11/25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3320.4m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195.4m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25.1%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1st.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(3320.4m) convert into profit (195.4m)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(17.8%)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5.9%?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25.1%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12/25</a:t>
            </a:r>
            <a:endParaRPr lang="en-US" sz="7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Big Bulls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1541.0m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-1.1%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 → Big Bulls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2nd.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(1541.0m) convert into profit (-17.4m)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(7.8%)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-1.1%?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3.2%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13/25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Akatsuki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-4.1%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2561.3m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16.5%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3.1%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Akatsuki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3rd.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(2561.3m) convert into profit (7.8m)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(16.5%)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0.3%?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3.1%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14/25</a:t>
            </a:r>
            <a:endParaRPr lang="en-US" sz="7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Lakshmi Chit Fund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3329.2m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23.7m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16.3%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→ Lakshmi Chit Fund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4th.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(3329.2m) convert into profit (23.7m)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(CCC-)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(16.3%)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0.7%?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18.2%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15/25</a:t>
            </a:r>
            <a:endParaRPr lang="en-US" sz="7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1328.4m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-605.9m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-45.6%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5th.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(1328.4m) convert into profit (-605.9m)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(CCC)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(4.9%)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-45.6%?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-2.7%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16/25</a:t>
            </a:r>
            <a:endParaRPr lang="en-US" sz="7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Harshad Mehta Gang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3814.1m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-102.9m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22.4%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2.0%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→ Harshad Mehta Gang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6th.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(3814.1m) convert into profit (-102.9m)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(22.4%)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-2.7%?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2.0%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17/25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Pink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1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-12.6%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2068.7m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-259.5m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14.2%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-12.5%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Pink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7th.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(2068.7m) convert into profit (-259.5m)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(CCC-)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(14.2%)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-12.5%?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-9.9%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18/25</a:t>
            </a:r>
            <a:endParaRPr lang="en-US" sz="7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Lehman Bros.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14.1%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2610.9m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154.8m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23.3%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5.9%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Lehman Bros.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1st.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(2610.9m) convert into profit (154.8m)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(AA+)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(23.3%)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5.9%?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6.5%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19/25</a:t>
            </a:r>
            <a:endParaRPr lang="en-US" sz="7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Blues Clues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2nd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13.7%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4668.5m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599.1m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35.9%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12.8%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32.3%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Blues Clues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2nd.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(4668.5m) convert into profit (599.1m)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(AA-)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(35.9%)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12.8%?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32.3%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20/25</a:t>
            </a:r>
            <a:endParaRPr lang="en-US" sz="7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Satyam 2.0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3rd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2436.3m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-240.7m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20.1%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-9.9%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-7.2%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Vijay Mallya → Satyam 2.0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3rd.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(2436.3m) convert into profit (-240.7m)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(20.1%)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-9.9%?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-7.2%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21/25</a:t>
            </a:r>
            <a:endParaRPr lang="en-US" sz="7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SEBI's Watchlist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1447.4m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-43.0m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9.7%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SEBI's Watchlist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4th.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(1447.4m) convert into profit (-43.0m)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(9.7%)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-3.0%?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5.3%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22/25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T5S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-1.3%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819.7m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-14.2m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-1.7%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BB-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5th.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(819.7m) convert into profit (-14.2m)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(BB-)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(7.2%)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-1.7%?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2.1%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23/25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questions: Green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Universe 2 • R1→R5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ORALS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468880" cy="5193792"/>
          </a:xfrm>
          <a:prstGeom prst="roundRect">
            <a:avLst>
              <a:gd name="adj" fmla="val 2963"/>
            </a:avLst>
          </a:prstGeom>
          <a:solidFill>
            <a:srgbClr val="FFFCF6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1031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dashboard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3232" y="157276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64592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45920" y="163677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13232" y="206654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213969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45920" y="213055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-15.3%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3232" y="256032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263347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45920" y="262432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648.1m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" y="3054096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127248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-135.9m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" y="3547872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621024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45920" y="3611880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3.8%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3232" y="4041648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" y="4114800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645920" y="4105656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-21.0%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13232" y="4535424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EFF3EB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4608576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645920" y="4599432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3232" y="5029200"/>
            <a:ext cx="2029968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6E3D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5102352"/>
            <a:ext cx="731520" cy="1097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5093208"/>
            <a:ext cx="960120" cy="1280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CCC+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596128"/>
            <a:ext cx="100584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trail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85800" y="5797296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246120" y="1024128"/>
            <a:ext cx="8366760" cy="5193792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56432" y="1188720"/>
            <a:ext cx="585216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any ten: evidence → mechanism → decision rule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493008" y="1572768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1645920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Your final TSR rank is 6th. What decision logic best explains this outcome?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424928" y="1572768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1645920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Did your R&amp;D/technology choices create options, or did they burden current economics?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93008" y="2377440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0" y="2450592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Did your revenue scale (648.1m) convert into profit (-135.9m) and shareholder value?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7424928" y="2377440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89520" y="2450592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What does your credit rating (CCC+) tell us about risk and financing credibility?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493008" y="3182112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0" y="3255264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your market share (3.8%) say about customer acceptance versus value capture?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7424928" y="3182112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89520" y="3255264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Which Round 1–5 decision should your team preserve if the game continued?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93008" y="3986784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0" y="4059936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Which cost or pricing decision most explains ROS of -21.0%?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424928" y="3986784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FFFCF6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89520" y="4059936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Which decision would you reverse or slow down with hindsight?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493008" y="4791456"/>
            <a:ext cx="3749040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0" y="4864608"/>
            <a:ext cx="34290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Does ROCE of 3.7% show disciplined capital use or trapped capital?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24928" y="4791456"/>
            <a:ext cx="3822192" cy="658368"/>
          </a:xfrm>
          <a:prstGeom prst="roundRect">
            <a:avLst>
              <a:gd name="adj" fmla="val 11111"/>
            </a:avLst>
          </a:prstGeom>
          <a:solidFill>
            <a:srgbClr val="EFF3EB"/>
          </a:solidFill>
          <a:ln w="12700">
            <a:solidFill>
              <a:srgbClr val="E0E2D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4864608"/>
            <a:ext cx="3493008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State one decision rule you would use as a general manager in the next round.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24/25</a:t>
            </a:r>
            <a:endParaRPr lang="en-US" sz="7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536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Closing: from simulation result to managerial judgement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8595360" y="320040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final workshop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02920" y="758952"/>
            <a:ext cx="1280160" cy="228600"/>
          </a:xfrm>
          <a:prstGeom prst="roundRect">
            <a:avLst>
              <a:gd name="adj" fmla="val 20000"/>
            </a:avLst>
          </a:prstGeom>
          <a:solidFill>
            <a:srgbClr val="D7E4DA"/>
          </a:solidFill>
          <a:ln w="12700">
            <a:solidFill>
              <a:srgbClr val="D7E4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95528"/>
            <a:ext cx="114300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72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8DE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team leaves with three sentences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#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1960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532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Statement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650480" y="2103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3B6D63"/>
          </a:solidFill>
          <a:ln w="12700">
            <a:solidFill>
              <a:srgbClr val="3B6D6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96200" y="2157984"/>
            <a:ext cx="3139440" cy="28575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requirement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8872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41960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6532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we will preserve is…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7650480" y="2674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96200" y="2729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metric evidence is…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118872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41960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532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we would redesign is…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7650480" y="32461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EFF3EB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96200" y="33009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causal chain failed at…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118872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3444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441960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6532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general-management rule is…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650480" y="3817620"/>
            <a:ext cx="3203448" cy="485775"/>
          </a:xfrm>
          <a:prstGeom prst="roundRect">
            <a:avLst>
              <a:gd name="adj" fmla="val 15059"/>
            </a:avLst>
          </a:prstGeom>
          <a:solidFill>
            <a:srgbClr val="FFFFFF"/>
          </a:solidFill>
          <a:ln w="12700">
            <a:solidFill>
              <a:srgbClr val="E5E3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96200" y="3872484"/>
            <a:ext cx="31394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we would test it by watching…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1143000" y="4800600"/>
            <a:ext cx="98755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6D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reminder: the strongest team is not always the largest, loudest, most profitable, or most technologically ambitious; it is the team with the most coherent system of value creation.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02920" y="6556248"/>
            <a:ext cx="45720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 C • Integrated Final Workshop Deck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11064240" y="6556248"/>
            <a:ext cx="6400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720" dirty="0">
                <a:solidFill>
                  <a:srgbClr val="6674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25/25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Great Lakes Institute of Management, Gurgaon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Sec C integrated final CESIM debrief</dc:subject>
  <dc:creator>Dr. Swapnil Sahoo</dc:creator>
  <cp:lastModifiedBy>Dr. Swapnil Sahoo</cp:lastModifiedBy>
  <cp:revision>1</cp:revision>
  <dcterms:created xsi:type="dcterms:W3CDTF">2026-08-29T18:00:29Z</dcterms:created>
  <dcterms:modified xsi:type="dcterms:W3CDTF">2026-08-29T18:00:29Z</dcterms:modified>
</cp:coreProperties>
</file>