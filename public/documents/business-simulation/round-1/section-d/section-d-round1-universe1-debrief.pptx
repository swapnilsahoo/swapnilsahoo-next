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pnil Sahoo" userId="48431bda-869d-4724-9fe5-6fee7651c80b" providerId="ADAL" clId="{167503DB-08FA-4198-998D-96CDA02B011C}"/>
    <pc:docChg chg="modSld">
      <pc:chgData name="Swapnil Sahoo" userId="48431bda-869d-4724-9fe5-6fee7651c80b" providerId="ADAL" clId="{167503DB-08FA-4198-998D-96CDA02B011C}" dt="2026-07-15T04:41:17.349" v="2" actId="1076"/>
      <pc:docMkLst>
        <pc:docMk/>
      </pc:docMkLst>
      <pc:sldChg chg="modSp mod">
        <pc:chgData name="Swapnil Sahoo" userId="48431bda-869d-4724-9fe5-6fee7651c80b" providerId="ADAL" clId="{167503DB-08FA-4198-998D-96CDA02B011C}" dt="2026-07-15T04:41:17.349" v="2" actId="1076"/>
        <pc:sldMkLst>
          <pc:docMk/>
          <pc:sldMk cId="0" sldId="256"/>
        </pc:sldMkLst>
        <pc:spChg chg="mod">
          <ac:chgData name="Swapnil Sahoo" userId="48431bda-869d-4724-9fe5-6fee7651c80b" providerId="ADAL" clId="{167503DB-08FA-4198-998D-96CDA02B011C}" dt="2026-07-15T04:41:17.349" v="2" actId="1076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230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39700" y="-26974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F2937"/>
                </a:solidFill>
              </a:rPr>
              <a:t>CESIM Global Challenge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94944" y="14447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71920"/>
                </a:solidFill>
              </a:rPr>
              <a:t>Universe 1 • Round 1 Debrief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94944" y="195681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</a:rPr>
              <a:t>GL Sec D Group July 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4944" y="2450592"/>
            <a:ext cx="5943600" cy="0"/>
          </a:xfrm>
          <a:prstGeom prst="line">
            <a:avLst/>
          </a:prstGeom>
          <a:noFill/>
          <a:ln w="254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3232" y="29077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7A7"/>
                </a:solidFill>
              </a:rPr>
              <a:t>Core teaching 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24612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What did the market reward, what did it punish, and what should each team do differently in Round 2?</a:t>
            </a:r>
            <a:endParaRPr lang="en-US" sz="2400" dirty="0"/>
          </a:p>
        </p:txBody>
      </p:sp>
      <p:pic>
        <p:nvPicPr>
          <p:cNvPr id="9" name="Image 0" descr="/mnt/data/cesim_u1_assets/profit_vs_ts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626408"/>
            <a:ext cx="4069080" cy="24738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Before seeing the results, what did you think the market would reward?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Which single decision did your team believe mattered most?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1/25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How we will read the round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2/25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Do not start with rank; start with the causal chain behind rank.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73352" y="2788920"/>
            <a:ext cx="502920" cy="0"/>
          </a:xfrm>
          <a:prstGeom prst="line">
            <a:avLst/>
          </a:prstGeom>
          <a:noFill/>
          <a:ln w="17780">
            <a:solidFill>
              <a:srgbClr val="0097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27832" y="2788920"/>
            <a:ext cx="502920" cy="0"/>
          </a:xfrm>
          <a:prstGeom prst="line">
            <a:avLst/>
          </a:prstGeom>
          <a:noFill/>
          <a:ln w="17780">
            <a:solidFill>
              <a:srgbClr val="0097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82312" y="2788920"/>
            <a:ext cx="502920" cy="0"/>
          </a:xfrm>
          <a:prstGeom prst="line">
            <a:avLst/>
          </a:prstGeom>
          <a:noFill/>
          <a:ln w="17780">
            <a:solidFill>
              <a:srgbClr val="0097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336792" y="2788920"/>
            <a:ext cx="502920" cy="0"/>
          </a:xfrm>
          <a:prstGeom prst="line">
            <a:avLst/>
          </a:prstGeom>
          <a:noFill/>
          <a:ln w="17780">
            <a:solidFill>
              <a:srgbClr val="0097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891272" y="2788920"/>
            <a:ext cx="502920" cy="0"/>
          </a:xfrm>
          <a:prstGeom prst="line">
            <a:avLst/>
          </a:prstGeom>
          <a:noFill/>
          <a:ln w="17780">
            <a:solidFill>
              <a:srgbClr val="0097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9445752" y="2788920"/>
            <a:ext cx="502920" cy="0"/>
          </a:xfrm>
          <a:prstGeom prst="line">
            <a:avLst/>
          </a:prstGeom>
          <a:noFill/>
          <a:ln w="17780">
            <a:solidFill>
              <a:srgbClr val="0097A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331720"/>
            <a:ext cx="1143000" cy="731520"/>
          </a:xfrm>
          <a:prstGeom prst="rect">
            <a:avLst/>
          </a:prstGeom>
          <a:solidFill>
            <a:srgbClr val="F3F9FA"/>
          </a:solidFill>
          <a:ln>
            <a:solidFill>
              <a:srgbClr val="BDE3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Demand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48840" y="2331720"/>
            <a:ext cx="1143000" cy="731520"/>
          </a:xfrm>
          <a:prstGeom prst="rect">
            <a:avLst/>
          </a:prstGeom>
          <a:solidFill>
            <a:srgbClr val="F3F9FA"/>
          </a:solidFill>
          <a:ln>
            <a:solidFill>
              <a:srgbClr val="BDE3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Revenue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2331720"/>
            <a:ext cx="1143000" cy="731520"/>
          </a:xfrm>
          <a:prstGeom prst="rect">
            <a:avLst/>
          </a:prstGeom>
          <a:solidFill>
            <a:srgbClr val="F3F9FA"/>
          </a:solidFill>
          <a:ln>
            <a:solidFill>
              <a:srgbClr val="BDE3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Margin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57800" y="2331720"/>
            <a:ext cx="1143000" cy="731520"/>
          </a:xfrm>
          <a:prstGeom prst="rect">
            <a:avLst/>
          </a:prstGeom>
          <a:solidFill>
            <a:srgbClr val="F3F9FA"/>
          </a:solidFill>
          <a:ln>
            <a:solidFill>
              <a:srgbClr val="BDE3E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</a:rPr>
              <a:t>Cash flow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2331720"/>
            <a:ext cx="1143000" cy="731520"/>
          </a:xfrm>
          <a:prstGeom prst="rect">
            <a:avLst/>
          </a:prstGeom>
          <a:solidFill>
            <a:srgbClr val="FDEBEC"/>
          </a:solidFill>
          <a:ln>
            <a:solidFill>
              <a:srgbClr val="F3B6B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71920"/>
                </a:solidFill>
              </a:rPr>
              <a:t>Risk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2331720"/>
            <a:ext cx="1143000" cy="731520"/>
          </a:xfrm>
          <a:prstGeom prst="rect">
            <a:avLst/>
          </a:prstGeom>
          <a:solidFill>
            <a:srgbClr val="FDEBEC"/>
          </a:solidFill>
          <a:ln>
            <a:solidFill>
              <a:srgbClr val="F3B6B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71920"/>
                </a:solidFill>
              </a:rPr>
              <a:t>Share price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21240" y="2331720"/>
            <a:ext cx="1143000" cy="731520"/>
          </a:xfrm>
          <a:prstGeom prst="rect">
            <a:avLst/>
          </a:prstGeom>
          <a:solidFill>
            <a:srgbClr val="FDEBEC"/>
          </a:solidFill>
          <a:ln>
            <a:solidFill>
              <a:srgbClr val="F3B6B9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71920"/>
                </a:solidFill>
              </a:rPr>
              <a:t>TSR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3794760"/>
            <a:ext cx="1051560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Demand → Revenue → Margin → Cash flow → Risk → Share price → TSR.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A round can look profitable and still lose valuation strength if growth quality or risk is weak.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</a:rPr>
              <a:t>• Round 1 is an early signal; it is not the final destiny of the game.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must be true for a high-profit firm to have a lower TSR?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Where in this chain can a seemingly good decision become harmful?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Round 1 leaderboard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3/25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Ochre leads TSR, while Green is sharply penalised.</a:t>
            </a:r>
            <a:endParaRPr lang="en-US" sz="1500" dirty="0"/>
          </a:p>
        </p:txBody>
      </p:sp>
      <p:pic>
        <p:nvPicPr>
          <p:cNvPr id="8" name="Image 0" descr="/mnt/data/cesim_u1_assets/leaderboard_ts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4529"/>
            <a:ext cx="6675120" cy="35117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Ochre: highest TSR at 37.3%.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Orange and Red Rangers are almost tied on TSR, though Red Rangers has the highest profit.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Green posts a negative TSR despite having cash on the balance sheet.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did the market see in Ochre that it did not see in Red Rangers?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did Green do that converted activity into value destruction?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The first managerial puzzle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4/25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The most profitable team did not win the round.</a:t>
            </a:r>
            <a:endParaRPr lang="en-US" sz="1500" dirty="0"/>
          </a:p>
        </p:txBody>
      </p:sp>
      <p:pic>
        <p:nvPicPr>
          <p:cNvPr id="8" name="Image 0" descr="/mnt/data/cesim_u1_assets/profit_vs_ts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31295"/>
            <a:ext cx="6675120" cy="40582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Red Rangers earned the highest profit: USD 373.7m.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Ochre earned USD 213.5m, but had the highest TSR and market capitalisation.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The simulation is valuing future cash flows and risk, not only current earnings.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If you were an investor, why might you pay more for Ochre than for Red Rangers?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is the difference between accounting profit and economic value?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498080" y="3611880"/>
            <a:ext cx="1517904" cy="265176"/>
          </a:xfrm>
          <a:prstGeom prst="rect">
            <a:avLst/>
          </a:prstGeom>
          <a:solidFill>
            <a:srgbClr val="D71920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Team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9015984" y="3611880"/>
            <a:ext cx="1138428" cy="265176"/>
          </a:xfrm>
          <a:prstGeom prst="rect">
            <a:avLst/>
          </a:prstGeom>
          <a:solidFill>
            <a:srgbClr val="D71920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Profit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154412" y="3611880"/>
            <a:ext cx="1138428" cy="265176"/>
          </a:xfrm>
          <a:prstGeom prst="rect">
            <a:avLst/>
          </a:prstGeom>
          <a:solidFill>
            <a:srgbClr val="D71920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</a:rPr>
              <a:t>TSR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498080" y="3877056"/>
            <a:ext cx="1517904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</a:rPr>
              <a:t>Red Rangers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9015984" y="3877056"/>
            <a:ext cx="1138428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</a:rPr>
              <a:t>373.7m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154412" y="3877056"/>
            <a:ext cx="1138428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</a:rPr>
              <a:t>34.9%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7498080" y="4142232"/>
            <a:ext cx="1517904" cy="26517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</a:rPr>
              <a:t>Orange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9015984" y="4142232"/>
            <a:ext cx="1138428" cy="26517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</a:rPr>
              <a:t>366.0m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154412" y="4142232"/>
            <a:ext cx="1138428" cy="26517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</a:rPr>
              <a:t>35.0%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7498080" y="4407408"/>
            <a:ext cx="1517904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</a:rPr>
              <a:t>Ochre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015984" y="4407408"/>
            <a:ext cx="1138428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</a:rPr>
              <a:t>213.5m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154412" y="4407408"/>
            <a:ext cx="1138428" cy="265176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</a:rPr>
              <a:t>37.3%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498080" y="4672584"/>
            <a:ext cx="1517904" cy="26517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F2937"/>
                </a:solidFill>
              </a:rPr>
              <a:t>Green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9015984" y="4672584"/>
            <a:ext cx="1138428" cy="26517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</a:rPr>
              <a:t>–903.3m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0154412" y="4672584"/>
            <a:ext cx="1138428" cy="265176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1F2937"/>
                </a:solidFill>
              </a:rPr>
              <a:t>–32.3%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First-principles value logic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5/25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TSR is the market’s judgement on expected cash flows after risk.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651760" y="2331720"/>
            <a:ext cx="320040" cy="0"/>
          </a:xfrm>
          <a:prstGeom prst="line">
            <a:avLst/>
          </a:prstGeom>
          <a:noFill/>
          <a:ln w="15240">
            <a:solidFill>
              <a:srgbClr val="0097A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92040" y="2331720"/>
            <a:ext cx="320040" cy="0"/>
          </a:xfrm>
          <a:prstGeom prst="line">
            <a:avLst/>
          </a:prstGeom>
          <a:noFill/>
          <a:ln w="15240">
            <a:solidFill>
              <a:srgbClr val="0097A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132320" y="2331720"/>
            <a:ext cx="320040" cy="0"/>
          </a:xfrm>
          <a:prstGeom prst="line">
            <a:avLst/>
          </a:prstGeom>
          <a:noFill/>
          <a:ln w="15240">
            <a:solidFill>
              <a:srgbClr val="0097A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9372600" y="2331720"/>
            <a:ext cx="320040" cy="0"/>
          </a:xfrm>
          <a:prstGeom prst="line">
            <a:avLst/>
          </a:prstGeom>
          <a:noFill/>
          <a:ln w="15240">
            <a:solidFill>
              <a:srgbClr val="0097A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1920240"/>
            <a:ext cx="2057400" cy="822960"/>
          </a:xfrm>
          <a:prstGeom prst="rect">
            <a:avLst/>
          </a:prstGeom>
          <a:solidFill>
            <a:srgbClr val="F5FAFA"/>
          </a:solidFill>
          <a:ln>
            <a:solidFill>
              <a:srgbClr val="BDE3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Price × Volume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Revenue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1920240"/>
            <a:ext cx="2057400" cy="822960"/>
          </a:xfrm>
          <a:prstGeom prst="rect">
            <a:avLst/>
          </a:prstGeom>
          <a:solidFill>
            <a:srgbClr val="F5FAFA"/>
          </a:solidFill>
          <a:ln>
            <a:solidFill>
              <a:srgbClr val="BDE3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Revenue – Costs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EBITDA / EBIT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1920240"/>
            <a:ext cx="2057400" cy="822960"/>
          </a:xfrm>
          <a:prstGeom prst="rect">
            <a:avLst/>
          </a:prstGeom>
          <a:solidFill>
            <a:srgbClr val="F5FAFA"/>
          </a:solidFill>
          <a:ln>
            <a:solidFill>
              <a:srgbClr val="BDE3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EBIT – Tax – Investment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Free Cash Flow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1920240"/>
            <a:ext cx="2057400" cy="822960"/>
          </a:xfrm>
          <a:prstGeom prst="rect">
            <a:avLst/>
          </a:prstGeom>
          <a:solidFill>
            <a:srgbClr val="F5FAFA"/>
          </a:solidFill>
          <a:ln>
            <a:solidFill>
              <a:srgbClr val="BDE3E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FCF ÷ Risk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Enterprise Value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920240"/>
            <a:ext cx="2057400" cy="822960"/>
          </a:xfrm>
          <a:prstGeom prst="rect">
            <a:avLst/>
          </a:prstGeom>
          <a:solidFill>
            <a:srgbClr val="FDEBEC"/>
          </a:solidFill>
          <a:ln>
            <a:solidFill>
              <a:srgbClr val="F3B6B9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71920"/>
                </a:solidFill>
              </a:rPr>
              <a:t>Equity Value ÷ Shares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D71920"/>
                </a:solidFill>
              </a:rPr>
              <a:t>Share Price / TSR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657600"/>
            <a:ext cx="1060704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Price × volume creates revenue.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Revenue minus operating choices creates EBITDA/EBIT.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Investments, working capital, and financing shape free cash flow and risk.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• Share price translates that value into TSR.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Which decision in Round 1 most directly affected cash flow?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Which decision most directly affected risk?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Revenue and market share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6/25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Scale mattered, but the quality of scale mattered more.</a:t>
            </a:r>
            <a:endParaRPr lang="en-US" sz="1500" dirty="0"/>
          </a:p>
        </p:txBody>
      </p:sp>
      <p:pic>
        <p:nvPicPr>
          <p:cNvPr id="8" name="Image 0" descr="/mnt/data/cesim_u1_assets/revenue_market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5958"/>
            <a:ext cx="6675120" cy="36689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Red Rangers leads sales revenue at USD 1.913bn.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Ochre leads global market share at 22.2%.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Green is smallest on revenue and second-lowest on global market share.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Is the aim to maximise market share, or to maximise value from share?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Where did scale translate into valuation, and where did it not?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Regional battle map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7/25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No team won everywhere; regional fit drove the round.</a:t>
            </a:r>
            <a:endParaRPr lang="en-US" sz="1500" dirty="0"/>
          </a:p>
        </p:txBody>
      </p:sp>
      <p:pic>
        <p:nvPicPr>
          <p:cNvPr id="8" name="Image 0" descr="/mnt/data/cesim_u1_assets/regional_shar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38690"/>
            <a:ext cx="6675120" cy="3443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Ochre is strong in USA and Europe and competitive in Asia.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Red Rangers has the strongest Asia share and strong Europe share.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Green is weak in Europe and Asia despite large investments.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Which market punished premium pricing most severely?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Where should each team focus in Round 2: defend, attack, or exit?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Pricing and volume: Tech 1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8/25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Round 1 demand rewarded aggressive price-volume positioning more than feature-heavy premium positioning.</a:t>
            </a:r>
            <a:endParaRPr lang="en-US" sz="1500" dirty="0"/>
          </a:p>
        </p:txBody>
      </p:sp>
      <p:pic>
        <p:nvPicPr>
          <p:cNvPr id="8" name="Image 0" descr="/mnt/data/cesim_u1_assets/tech1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7833"/>
            <a:ext cx="6675120" cy="36651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Green offered many features with high prices, but captured very low Tech 1 volume in Europe.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Ochre and Red Rangers used stronger volume positions across regions.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Feature richness alone did not compensate for price sensitivity.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customer problem did extra features solve in Round 1?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When does premium pricing become arrogance rather than strategy?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Technology timing: Tech 2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9/25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Being early is not enough; technology must meet demand at the right price and capacity.</a:t>
            </a:r>
            <a:endParaRPr lang="en-US" sz="1500" dirty="0"/>
          </a:p>
        </p:txBody>
      </p:sp>
      <p:pic>
        <p:nvPicPr>
          <p:cNvPr id="8" name="Image 0" descr="/mnt/data/cesim_u1_assets/tech2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7833"/>
            <a:ext cx="6675120" cy="36651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Green sold the largest Tech 2 volume in USA but left significant demand unsatisfied in Europe.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Red Rangers captured Tech 2 share efficiently in Asia and Europe.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Technology choices must be tied to market coverage and logistics.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Was Tech 2 a product advantage or a capacity-management problem?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Which team timed technology rather than merely buying technology?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R&amp;D and licensing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10/25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Green over-accelerated technology spending relative to realised Round 1 demand.</a:t>
            </a:r>
            <a:endParaRPr lang="en-US" sz="1500" dirty="0"/>
          </a:p>
        </p:txBody>
      </p:sp>
      <p:pic>
        <p:nvPicPr>
          <p:cNvPr id="8" name="Image 0" descr="/mnt/data/cesim_u1_assets/rnd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7833"/>
            <a:ext cx="6675120" cy="36651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Green spent USD 1.078bn on R&amp;D/licensing, far above all teams.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Ochre also invested heavily, but combined it with stronger market capture.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Blue invested least and still generated solid profit and TSR.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When is R&amp;D an investment, and when is it an expense without strategic discipline?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evidence would justify a large one-round technology bet?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R&amp;D versus ROCE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11/25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Investment quality, not investment size, separated teams.</a:t>
            </a:r>
            <a:endParaRPr lang="en-US" sz="1500" dirty="0"/>
          </a:p>
        </p:txBody>
      </p:sp>
      <p:pic>
        <p:nvPicPr>
          <p:cNvPr id="8" name="Image 0" descr="/mnt/data/cesim_u1_assets/rnd_ro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7033"/>
            <a:ext cx="6675120" cy="40667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Red Rangers, Orange, and Blue converted moderate investment into strong ROCE.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Green’s very large R&amp;D spend produced negative ROCE in Round 1.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The next question is whether Green’s bet pays back in later rounds.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Should we call Green’s move foolish, or premature? What evidence is needed?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return threshold should govern R&amp;D spending?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Cost structure explains the profit gap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12/25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The P&amp;L story is mainly about R&amp;D, contract manufacturing, and manufacturing cost discipline.</a:t>
            </a:r>
            <a:endParaRPr lang="en-US" sz="1500" dirty="0"/>
          </a:p>
        </p:txBody>
      </p:sp>
      <p:pic>
        <p:nvPicPr>
          <p:cNvPr id="8" name="Image 0" descr="/mnt/data/cesim_u1_assets/cost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6862"/>
            <a:ext cx="6675120" cy="36671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Green’s total costs exceeded sales by a wide margin.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Red Rangers and Orange balanced sales growth with cost control.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Ochre accepted higher R&amp;D, but also achieved the strongest demand position.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Which cost was strategic, and which cost was waste?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Where did teams buy flexibility at the cost of margin?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Capacity and production choices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13/25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Several teams used capacity tightly, but inventory outcomes show forecasting quality.</a:t>
            </a:r>
            <a:endParaRPr lang="en-US" sz="1500" dirty="0"/>
          </a:p>
        </p:txBody>
      </p:sp>
      <p:pic>
        <p:nvPicPr>
          <p:cNvPr id="8" name="Image 0" descr="/mnt/data/cesim_u1_assets/capacity_u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7833"/>
            <a:ext cx="6675120" cy="36651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Green, Blue, and Orange ran USA Tech 1 at full capacity.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Green still ended with very high inventory, signalling mismatch between product mix and demand.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Ochre and Red Rangers protected volume through contract manufacturing and market fit.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is the difference between high utilisation and good utilisation?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How would you test whether your production plan follows demand or hope?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Inventory and cash-flow trap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14/25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Green’s weak demand conversion tied up cash and created negative operating cash flow.</a:t>
            </a:r>
            <a:endParaRPr lang="en-US" sz="1500" dirty="0"/>
          </a:p>
        </p:txBody>
      </p:sp>
      <p:pic>
        <p:nvPicPr>
          <p:cNvPr id="8" name="Image 0" descr="/mnt/data/cesim_u1_assets/inventory_cash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7833"/>
            <a:ext cx="6675120" cy="36651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Green ended with USD 467.7m inventory and cash flow before financing of –USD 1.414bn.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Orange had the best cash-flow position before financing.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Inventory is not an asset if it reflects unsold wrong bets.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When does inventory become evidence of strategic error?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would you cut first: production, features, price, or R&amp;D?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Financing and risk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15/25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The market punished financial risk and unplanned debt sharply.</a:t>
            </a:r>
            <a:endParaRPr lang="en-US" sz="1500" dirty="0"/>
          </a:p>
        </p:txBody>
      </p:sp>
      <p:pic>
        <p:nvPicPr>
          <p:cNvPr id="8" name="Image 0" descr="/mnt/data/cesim_u1_assets/gearing_cr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7833"/>
            <a:ext cx="6675120" cy="36651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Green is the only team with B– credit rating.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Other teams retained AA– ratings.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Gearing and short-term debt raise required return and reduce valuation.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Why does the same cash flow become less valuable when risk rises?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Is debt a problem here, or is unplanned debt the problem?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Market capitalisation view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16/25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Investors valued Ochre’s future position slightly above the close runners-up.</a:t>
            </a:r>
            <a:endParaRPr lang="en-US" sz="1500" dirty="0"/>
          </a:p>
        </p:txBody>
      </p:sp>
      <p:pic>
        <p:nvPicPr>
          <p:cNvPr id="8" name="Image 0" descr="/mnt/data/cesim_u1_assets/market_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2911"/>
            <a:ext cx="6675120" cy="3515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Ochre market cap: USD 7.775bn.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Orange and Red Rangers are close behind at about USD 7.65bn and USD 7.64bn.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Green fell to USD 4.916bn despite issuing equity and holding cash.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must Ochre protect now to justify this valuation?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would make Red Rangers overtake Ochre next round?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Winner profile: Ochre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17/25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Ochre won by combining market share leadership with credible future value.</a:t>
            </a:r>
            <a:endParaRPr lang="en-US" sz="1500" dirty="0"/>
          </a:p>
        </p:txBody>
      </p:sp>
      <p:pic>
        <p:nvPicPr>
          <p:cNvPr id="8" name="Image 0" descr="/mnt/data/cesim_u1_assets/market_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2911"/>
            <a:ext cx="6675120" cy="3515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Highest TSR and share price.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Highest global market share.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Lower profit than Red/Orange, but stronger market valuation.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is the hidden risk in Ochre’s position?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Should Ochre now defend share or improve margins?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543800" y="2468880"/>
            <a:ext cx="2087118" cy="335280"/>
          </a:xfrm>
          <a:prstGeom prst="rect">
            <a:avLst/>
          </a:prstGeom>
          <a:solidFill>
            <a:srgbClr val="B8860B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9630918" y="2468880"/>
            <a:ext cx="1707642" cy="335280"/>
          </a:xfrm>
          <a:prstGeom prst="rect">
            <a:avLst/>
          </a:prstGeom>
          <a:solidFill>
            <a:srgbClr val="B8860B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Ochre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543800" y="2804160"/>
            <a:ext cx="2087118" cy="3352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TSR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9630918" y="2804160"/>
            <a:ext cx="1707642" cy="3352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37.3%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543800" y="3139440"/>
            <a:ext cx="2087118" cy="3352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Share price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630918" y="3139440"/>
            <a:ext cx="1707642" cy="3352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$259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543800" y="3474720"/>
            <a:ext cx="2087118" cy="3352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Global share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9630918" y="3474720"/>
            <a:ext cx="1707642" cy="3352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22.2%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543800" y="3810000"/>
            <a:ext cx="2087118" cy="3352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Profit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9630918" y="3810000"/>
            <a:ext cx="1707642" cy="3352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213.5m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543800" y="4145280"/>
            <a:ext cx="2087118" cy="3352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Market cap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630918" y="4145280"/>
            <a:ext cx="1707642" cy="3352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7,775m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Profit leader profile: Red Rangers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18/25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Red Rangers built the strongest current earnings engine.</a:t>
            </a:r>
            <a:endParaRPr lang="en-US" sz="1500" dirty="0"/>
          </a:p>
        </p:txBody>
      </p:sp>
      <p:pic>
        <p:nvPicPr>
          <p:cNvPr id="8" name="Image 0" descr="/mnt/data/cesim_u1_assets/revenue_market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5958"/>
            <a:ext cx="6675120" cy="36689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Highest profit: USD 373.7m.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Highest sales revenue: USD 1.913bn.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Strong ROCE and solid market share, especially Asia and Europe.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Why did Red Rangers not top TSR despite the highest profit?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one move could make Red Rangers the next leader?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543800" y="2468880"/>
            <a:ext cx="2087118" cy="335280"/>
          </a:xfrm>
          <a:prstGeom prst="rect">
            <a:avLst/>
          </a:prstGeom>
          <a:solidFill>
            <a:srgbClr val="D71920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9630918" y="2468880"/>
            <a:ext cx="1707642" cy="335280"/>
          </a:xfrm>
          <a:prstGeom prst="rect">
            <a:avLst/>
          </a:prstGeom>
          <a:solidFill>
            <a:srgbClr val="D71920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Red Rangers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543800" y="2804160"/>
            <a:ext cx="2087118" cy="3352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Profit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9630918" y="2804160"/>
            <a:ext cx="1707642" cy="3352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373.7m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543800" y="3139440"/>
            <a:ext cx="2087118" cy="3352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Revenue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630918" y="3139440"/>
            <a:ext cx="1707642" cy="3352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1,913m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543800" y="3474720"/>
            <a:ext cx="2087118" cy="3352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ROCE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9630918" y="3474720"/>
            <a:ext cx="1707642" cy="3352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36.7%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543800" y="3810000"/>
            <a:ext cx="2087118" cy="3352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Asia share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9630918" y="3810000"/>
            <a:ext cx="1707642" cy="33528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22.3%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543800" y="4145280"/>
            <a:ext cx="2087118" cy="3352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Europe share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630918" y="4145280"/>
            <a:ext cx="1707642" cy="33528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22.0%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Efficiency profile: Orange and Blue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19/25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Orange and Blue show disciplined conversion from moderate investment to strong returns.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2304288" cy="556260"/>
          </a:xfrm>
          <a:prstGeom prst="rect">
            <a:avLst/>
          </a:prstGeom>
          <a:solidFill>
            <a:srgbClr val="0097A7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98648" y="1417320"/>
            <a:ext cx="1728216" cy="556260"/>
          </a:xfrm>
          <a:prstGeom prst="rect">
            <a:avLst/>
          </a:prstGeom>
          <a:solidFill>
            <a:srgbClr val="0097A7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Orange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26864" y="1417320"/>
            <a:ext cx="1728216" cy="556260"/>
          </a:xfrm>
          <a:prstGeom prst="rect">
            <a:avLst/>
          </a:prstGeom>
          <a:solidFill>
            <a:srgbClr val="0097A7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Blue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973580"/>
            <a:ext cx="2304288" cy="5562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TSR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98648" y="1973580"/>
            <a:ext cx="1728216" cy="5562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35.0%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26864" y="1973580"/>
            <a:ext cx="1728216" cy="5562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24.8%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529840"/>
            <a:ext cx="2304288" cy="55626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Profit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98648" y="2529840"/>
            <a:ext cx="1728216" cy="55626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366.0m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2529840"/>
            <a:ext cx="1728216" cy="55626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318.8m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086100"/>
            <a:ext cx="2304288" cy="5562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ROCE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98648" y="3086100"/>
            <a:ext cx="1728216" cy="5562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35.2%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3086100"/>
            <a:ext cx="1728216" cy="5562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32.3%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3642360"/>
            <a:ext cx="2304288" cy="55626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R&amp;D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98648" y="3642360"/>
            <a:ext cx="1728216" cy="55626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171.4m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26864" y="3642360"/>
            <a:ext cx="1728216" cy="55626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110.0m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198620"/>
            <a:ext cx="2304288" cy="5562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Cash-flow before financing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98648" y="4198620"/>
            <a:ext cx="1728216" cy="5562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25.7m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26864" y="4198620"/>
            <a:ext cx="1728216" cy="5562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–75.4m</a:t>
            </a:r>
            <a:endParaRPr lang="en-US" sz="1000" dirty="0"/>
          </a:p>
        </p:txBody>
      </p:sp>
      <p:pic>
        <p:nvPicPr>
          <p:cNvPr id="26" name="Image 0" descr="/mnt/data/cesim_u1_assets/share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10101"/>
            <a:ext cx="4846320" cy="2551999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77240" y="4800600"/>
            <a:ext cx="1088136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Orange: strong TSR, high ROS, positive cash flow before financing.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Blue: lower investment, solid profit, good margins.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Both illustrate disciplined execution rather than dramatic bets.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Is disciplined moderation safer, or does it risk falling behind technology shifts?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Which of these teams has the better Round 2 platform?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Warning case: Green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20/25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Green illustrates the danger of confusing strategic ambition with strategic fit.</a:t>
            </a:r>
            <a:endParaRPr lang="en-US" sz="1500" dirty="0"/>
          </a:p>
        </p:txBody>
      </p:sp>
      <p:pic>
        <p:nvPicPr>
          <p:cNvPr id="8" name="Image 0" descr="/mnt/data/cesim_u1_assets/inventory_cash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27833"/>
            <a:ext cx="6675120" cy="36651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343400" cy="41605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Highest R&amp;D/licensing spend and the only negative profit.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Largest inventory and severe negative operating cash flow.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• B– credit rating raises valuation risk.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assumption did Green make about demand and technology adoption?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is the first rescue move Green should make?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543800" y="2377440"/>
            <a:ext cx="2087118" cy="342900"/>
          </a:xfrm>
          <a:prstGeom prst="rect">
            <a:avLst/>
          </a:prstGeom>
          <a:solidFill>
            <a:srgbClr val="1B9E77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9630918" y="2377440"/>
            <a:ext cx="1707642" cy="342900"/>
          </a:xfrm>
          <a:prstGeom prst="rect">
            <a:avLst/>
          </a:prstGeom>
          <a:solidFill>
            <a:srgbClr val="1B9E77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</a:rPr>
              <a:t>Green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543800" y="2720340"/>
            <a:ext cx="2087118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R&amp;D/licensing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9630918" y="2720340"/>
            <a:ext cx="1707642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1,077.7m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543800" y="3063240"/>
            <a:ext cx="2087118" cy="3429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Profit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630918" y="3063240"/>
            <a:ext cx="1707642" cy="3429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–903.3m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7543800" y="3406140"/>
            <a:ext cx="2087118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Inventory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9630918" y="3406140"/>
            <a:ext cx="1707642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467.7m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543800" y="3749040"/>
            <a:ext cx="2087118" cy="3429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Cash-flow before financing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9630918" y="3749040"/>
            <a:ext cx="1707642" cy="34290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–1,414.4m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7543800" y="4091940"/>
            <a:ext cx="2087118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</a:rPr>
              <a:t>Credit rating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630918" y="4091940"/>
            <a:ext cx="1707642" cy="34290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</a:rPr>
              <a:t>B–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What the market rewarded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21/25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Round 1 rewarded disciplined demand capture and credible future cash-flow potential.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</a:rPr>
              <a:t>Reward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527048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97A7"/>
                </a:solidFill>
              </a:rPr>
              <a:t>Demand capture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64408" y="1325880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</a:rPr>
              <a:t>Reward 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64408" y="1527048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97A7"/>
                </a:solidFill>
              </a:rPr>
              <a:t>Margins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117336" y="1325880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</a:rPr>
              <a:t>Reward 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17336" y="1527048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97A7"/>
                </a:solidFill>
              </a:rPr>
              <a:t>Risk control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70264" y="1325880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</a:rPr>
              <a:t>Reward 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970264" y="1527048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97A7"/>
                </a:solidFill>
              </a:rPr>
              <a:t>Future options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2240280"/>
            <a:ext cx="1005840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• Strong market share with acceptable margins.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• Moderate or well-timed R&amp;D.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• Sound working-capital control.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• Low financial risk and strong credit rating.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Which reward was most important: share, margin, risk, or growth option?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Can a team maximise all four at once?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What the market punished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22/25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Round 1 punished expensive bets without demand validation.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</a:rPr>
              <a:t>Penalty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527048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71920"/>
                </a:solidFill>
              </a:rPr>
              <a:t>Mistimed R&amp;D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264408" y="1325880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</a:rPr>
              <a:t>Penalty 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64408" y="1527048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71920"/>
                </a:solidFill>
              </a:rPr>
              <a:t>Inventory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117336" y="1325880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</a:rPr>
              <a:t>Penalty 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17336" y="1527048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71920"/>
                </a:solidFill>
              </a:rPr>
              <a:t>Debt risk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970264" y="1325880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</a:rPr>
              <a:t>Penalty 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970264" y="1527048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71920"/>
                </a:solidFill>
              </a:rPr>
              <a:t>Weak fit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2240280"/>
            <a:ext cx="1005840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• Overspending ahead of market readiness.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• Inventory caused by poor price-product-market fit.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• Unplanned short-term debt and weakened credit rating.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F2937"/>
                </a:solidFill>
              </a:rPr>
              <a:t>• Premium features without proven willingness to pay.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Which punished decision was reversible? Which was sticky?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data should teams check before submitting Round 2 decisions?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Socratic question bank for Universe 1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23/25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Use questions to make students explain causality, not defend outcomes.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5632704" cy="694944"/>
          </a:xfrm>
          <a:prstGeom prst="rect">
            <a:avLst/>
          </a:prstGeom>
          <a:solidFill>
            <a:srgbClr val="0097A7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Step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47104" y="1463040"/>
            <a:ext cx="4608576" cy="694944"/>
          </a:xfrm>
          <a:prstGeom prst="rect">
            <a:avLst/>
          </a:prstGeom>
          <a:solidFill>
            <a:srgbClr val="0097A7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Question to ask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157984"/>
            <a:ext cx="5632704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</a:rPr>
              <a:t>Assumption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47104" y="2157984"/>
            <a:ext cx="4608576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1F2937"/>
                </a:solidFill>
              </a:rPr>
              <a:t>What did we believe about demand?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852928"/>
            <a:ext cx="5632704" cy="694944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</a:rPr>
              <a:t>Evidence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47104" y="2852928"/>
            <a:ext cx="4608576" cy="694944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1F2937"/>
                </a:solidFill>
              </a:rPr>
              <a:t>Which result confirms or rejects it?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547872"/>
            <a:ext cx="5632704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</a:rPr>
              <a:t>Trade-off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47104" y="3547872"/>
            <a:ext cx="4608576" cy="694944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1F2937"/>
                </a:solidFill>
              </a:rPr>
              <a:t>What did we sacrifice?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242816"/>
            <a:ext cx="5632704" cy="694944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</a:rPr>
              <a:t>Action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47104" y="4242816"/>
            <a:ext cx="4608576" cy="694944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00" dirty="0">
                <a:solidFill>
                  <a:srgbClr val="1F2937"/>
                </a:solidFill>
              </a:rPr>
              <a:t>What will we change in Round 2?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did the market reward? What did it punish?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Was your result a strategy or a lucky accident?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Round 2 decision checklist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24/25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Make the next decision from evidence, not emotion.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5632704" cy="579120"/>
          </a:xfrm>
          <a:prstGeom prst="rect">
            <a:avLst/>
          </a:prstGeom>
          <a:solidFill>
            <a:srgbClr val="D71920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 area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47104" y="1463040"/>
            <a:ext cx="4608576" cy="579120"/>
          </a:xfrm>
          <a:prstGeom prst="rect">
            <a:avLst/>
          </a:prstGeom>
          <a:solidFill>
            <a:srgbClr val="D71920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</a:rPr>
              <a:t>Round 2 question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042160"/>
            <a:ext cx="5632704" cy="5791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</a:rPr>
              <a:t>Demand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47104" y="2042160"/>
            <a:ext cx="4608576" cy="5791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</a:rPr>
              <a:t>Where is demand most price-sensitive?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621280"/>
            <a:ext cx="5632704" cy="57912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</a:rPr>
              <a:t>Price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47104" y="2621280"/>
            <a:ext cx="4608576" cy="57912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</a:rPr>
              <a:t>What price protects volume and margin?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5632704" cy="5791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</a:rPr>
              <a:t>R&amp;D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47104" y="3200400"/>
            <a:ext cx="4608576" cy="5791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</a:rPr>
              <a:t>What must be ready now vs later?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779520"/>
            <a:ext cx="5632704" cy="57912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</a:rPr>
              <a:t>Production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47104" y="3779520"/>
            <a:ext cx="4608576" cy="579120"/>
          </a:xfrm>
          <a:prstGeom prst="rect">
            <a:avLst/>
          </a:prstGeom>
          <a:solidFill>
            <a:srgbClr val="F3F4F6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</a:rPr>
              <a:t>What should we make, where, and how much?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358640"/>
            <a:ext cx="5632704" cy="5791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</a:rPr>
              <a:t>Finance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47104" y="4358640"/>
            <a:ext cx="4608576" cy="57912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1F2937"/>
                </a:solidFill>
              </a:rPr>
              <a:t>Will cash flow and rating survive the plan?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Which single metric will your team watch first next round?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decision rule will prevent repeating your Round 1 mistake?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7"/>
                </a:solidFill>
              </a:rPr>
              <a:t>Closing reflection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594360"/>
            <a:ext cx="11292840" cy="0"/>
          </a:xfrm>
          <a:prstGeom prst="line">
            <a:avLst/>
          </a:prstGeom>
          <a:noFill/>
          <a:ln w="1778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64739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GL Sec D • U1 R1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55680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25/25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675120" y="6473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</a:rPr>
              <a:t>Source: Universe 1 results + CESIM materials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11292840" cy="411480"/>
          </a:xfrm>
          <a:prstGeom prst="rect">
            <a:avLst/>
          </a:prstGeom>
          <a:solidFill>
            <a:srgbClr val="EAF6F8"/>
          </a:solidFill>
          <a:ln w="6350">
            <a:solidFill>
              <a:srgbClr val="BDE3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The best strategy is not the boldest; it is the most coherent.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103327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</a:rPr>
              <a:t>Coherence is the discipline of making all choices point in the same strategic direction.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2971800"/>
            <a:ext cx="969264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• Coherence links market choice, product choice, operations, finance, and risk.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• Round 1 winners built credible value stories.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• Round 1 underperformance can still become learning advantage.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56509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71920"/>
                </a:solidFill>
              </a:rPr>
              <a:t>Socratic questions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5897880"/>
            <a:ext cx="1129284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will your team stop doing immediately?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? What will your team do more deliberately in Round 2?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3811</Words>
  <Application>Microsoft Office PowerPoint</Application>
  <PresentationFormat>Widescreen</PresentationFormat>
  <Paragraphs>447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GL Sec D Group July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CESIM Global Challenge Debrief - GL Sec D Group July 2026</dc:title>
  <dc:subject>CESIM Global Challenge Universe 1 Round 1 Debrief</dc:subject>
  <dc:creator>OpenAI</dc:creator>
  <cp:lastModifiedBy>Swapnil Sahoo</cp:lastModifiedBy>
  <cp:revision>1</cp:revision>
  <dcterms:created xsi:type="dcterms:W3CDTF">2026-07-15T03:49:00Z</dcterms:created>
  <dcterms:modified xsi:type="dcterms:W3CDTF">2026-07-15T04:41:28Z</dcterms:modified>
</cp:coreProperties>
</file>