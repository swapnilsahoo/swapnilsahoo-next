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TSR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Grey</c:v>
                  </c:pt>
                  <c:pt idx="1">
                    <c:v>Pink</c:v>
                  </c:pt>
                  <c:pt idx="2">
                    <c:v>Akatsuki</c:v>
                  </c:pt>
                  <c:pt idx="3">
                    <c:v>Blue</c:v>
                  </c:pt>
                  <c:pt idx="4">
                    <c:v>Orange</c:v>
                  </c:pt>
                  <c:pt idx="5">
                    <c:v>Red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35.5219903499595</c:v>
                </c:pt>
                <c:pt idx="1">
                  <c:v>31.2940033693683</c:v>
                </c:pt>
                <c:pt idx="2">
                  <c:v>31.206508835322</c:v>
                </c:pt>
                <c:pt idx="3">
                  <c:v>27.1869712417314</c:v>
                </c:pt>
                <c:pt idx="4">
                  <c:v>26.057419859183</c:v>
                </c:pt>
                <c:pt idx="5">
                  <c:v>24.6669127423461</c:v>
                </c:pt>
                <c:pt idx="6">
                  <c:v>-49.5328047333891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Pink</c:v>
                  </c:pt>
                  <c:pt idx="1">
                    <c:v>Akatsuki</c:v>
                  </c:pt>
                  <c:pt idx="2">
                    <c:v>Orange</c:v>
                  </c:pt>
                  <c:pt idx="3">
                    <c:v>Blue</c:v>
                  </c:pt>
                  <c:pt idx="4">
                    <c:v>Grey</c:v>
                  </c:pt>
                  <c:pt idx="5">
                    <c:v>Red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441.900096783196</c:v>
                </c:pt>
                <c:pt idx="1">
                  <c:v>348.182809779646</c:v>
                </c:pt>
                <c:pt idx="2">
                  <c:v>300.69758083217397</c:v>
                </c:pt>
                <c:pt idx="3">
                  <c:v>192.686571518878</c:v>
                </c:pt>
                <c:pt idx="4">
                  <c:v>190.128628307973</c:v>
                </c:pt>
                <c:pt idx="5">
                  <c:v>46.0801578625579</c:v>
                </c:pt>
                <c:pt idx="6">
                  <c:v>-737.416536009369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8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TSR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Grey</c:v>
                  </c:pt>
                  <c:pt idx="1">
                    <c:v>Pink</c:v>
                  </c:pt>
                  <c:pt idx="2">
                    <c:v>Akatsuki</c:v>
                  </c:pt>
                  <c:pt idx="3">
                    <c:v>Blue</c:v>
                  </c:pt>
                  <c:pt idx="4">
                    <c:v>Orange</c:v>
                  </c:pt>
                  <c:pt idx="5">
                    <c:v>Red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35.5219903499595</c:v>
                </c:pt>
                <c:pt idx="1">
                  <c:v>31.2940033693683</c:v>
                </c:pt>
                <c:pt idx="2">
                  <c:v>31.206508835322</c:v>
                </c:pt>
                <c:pt idx="3">
                  <c:v>27.1869712417314</c:v>
                </c:pt>
                <c:pt idx="4">
                  <c:v>26.057419859183</c:v>
                </c:pt>
                <c:pt idx="5">
                  <c:v>24.6669127423461</c:v>
                </c:pt>
                <c:pt idx="6">
                  <c:v>-49.5328047333891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$m</c:v>
                </c:pt>
              </c:strCache>
            </c:strRef>
          </c:tx>
          <c:spPr>
            <a:solidFill>
              <a:srgbClr val="0EA5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Blue</c:v>
                  </c:pt>
                  <c:pt idx="1">
                    <c:v>Grey</c:v>
                  </c:pt>
                  <c:pt idx="2">
                    <c:v>Red</c:v>
                  </c:pt>
                  <c:pt idx="3">
                    <c:v>Orange</c:v>
                  </c:pt>
                  <c:pt idx="4">
                    <c:v>Akatsuki</c:v>
                  </c:pt>
                  <c:pt idx="5">
                    <c:v>Pink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2009.51612859707</c:v>
                </c:pt>
                <c:pt idx="1">
                  <c:v>1926.87897492618</c:v>
                </c:pt>
                <c:pt idx="2">
                  <c:v>1828.39718026426</c:v>
                </c:pt>
                <c:pt idx="3">
                  <c:v>1666.34786746939</c:v>
                </c:pt>
                <c:pt idx="4">
                  <c:v>1552.0575283969501</c:v>
                </c:pt>
                <c:pt idx="5">
                  <c:v>1428.27200737009</c:v>
                </c:pt>
                <c:pt idx="6">
                  <c:v>665.7368001383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Profit, $m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Blue</c:v>
                  </c:pt>
                  <c:pt idx="1">
                    <c:v>Grey</c:v>
                  </c:pt>
                  <c:pt idx="2">
                    <c:v>Red</c:v>
                  </c:pt>
                  <c:pt idx="3">
                    <c:v>Orange</c:v>
                  </c:pt>
                  <c:pt idx="4">
                    <c:v>Akatsuki</c:v>
                  </c:pt>
                  <c:pt idx="5">
                    <c:v>Pink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192.686571518878</c:v>
                </c:pt>
                <c:pt idx="1">
                  <c:v>190.128628307973</c:v>
                </c:pt>
                <c:pt idx="2">
                  <c:v>46.0801578625579</c:v>
                </c:pt>
                <c:pt idx="3">
                  <c:v>300.69758083217397</c:v>
                </c:pt>
                <c:pt idx="4">
                  <c:v>348.182809779646</c:v>
                </c:pt>
                <c:pt idx="5">
                  <c:v>441.900096783196</c:v>
                </c:pt>
                <c:pt idx="6">
                  <c:v>-737.416536009369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ROS %</c:v>
                </c:pt>
              </c:strCache>
            </c:strRef>
          </c:tx>
          <c:spPr>
            <a:solidFill>
              <a:srgbClr val="0EA5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Pink</c:v>
                  </c:pt>
                  <c:pt idx="1">
                    <c:v>Akatsuki</c:v>
                  </c:pt>
                  <c:pt idx="2">
                    <c:v>Orange</c:v>
                  </c:pt>
                  <c:pt idx="3">
                    <c:v>Grey</c:v>
                  </c:pt>
                  <c:pt idx="4">
                    <c:v>Blue</c:v>
                  </c:pt>
                  <c:pt idx="5">
                    <c:v>Red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30.9394915326302</c:v>
                </c:pt>
                <c:pt idx="1">
                  <c:v>22.4336278397662</c:v>
                </c:pt>
                <c:pt idx="2">
                  <c:v>18.0453065474756</c:v>
                </c:pt>
                <c:pt idx="3">
                  <c:v>9.86718059525543</c:v>
                </c:pt>
                <c:pt idx="4">
                  <c:v>9.58870490148296</c:v>
                </c:pt>
                <c:pt idx="5">
                  <c:v>2.52024879276493</c:v>
                </c:pt>
                <c:pt idx="6">
                  <c:v>-110.766978159564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ROCE %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Pink</c:v>
                  </c:pt>
                  <c:pt idx="1">
                    <c:v>Akatsuki</c:v>
                  </c:pt>
                  <c:pt idx="2">
                    <c:v>Orange</c:v>
                  </c:pt>
                  <c:pt idx="3">
                    <c:v>Grey</c:v>
                  </c:pt>
                  <c:pt idx="4">
                    <c:v>Blue</c:v>
                  </c:pt>
                  <c:pt idx="5">
                    <c:v>Red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39.3662119394008</c:v>
                </c:pt>
                <c:pt idx="1">
                  <c:v>33.4807412465788</c:v>
                </c:pt>
                <c:pt idx="2">
                  <c:v>28.0609912137427</c:v>
                </c:pt>
                <c:pt idx="3">
                  <c:v>23.7404568855091</c:v>
                </c:pt>
                <c:pt idx="4">
                  <c:v>23.056988331031</c:v>
                </c:pt>
                <c:pt idx="5">
                  <c:v>14.8769868598679</c:v>
                </c:pt>
                <c:pt idx="6">
                  <c:v>-32.0586161700319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Manufacturing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67.2932565164196</c:v>
                </c:pt>
                <c:pt idx="1">
                  <c:v>558.819662988052</c:v>
                </c:pt>
                <c:pt idx="2">
                  <c:v>508.46567751819</c:v>
                </c:pt>
                <c:pt idx="3">
                  <c:v>454.216761841451</c:v>
                </c:pt>
                <c:pt idx="4">
                  <c:v>552.1682252556731</c:v>
                </c:pt>
                <c:pt idx="5">
                  <c:v>479.05054729548596</c:v>
                </c:pt>
                <c:pt idx="6">
                  <c:v>447.61429680809294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R&amp;D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691.689</c:v>
                </c:pt>
                <c:pt idx="1">
                  <c:v>491.365</c:v>
                </c:pt>
                <c:pt idx="2">
                  <c:v>445</c:v>
                </c:pt>
                <c:pt idx="3">
                  <c:v>255</c:v>
                </c:pt>
                <c:pt idx="4">
                  <c:v>436.365</c:v>
                </c:pt>
                <c:pt idx="5">
                  <c:v>136.365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22.2869120233912</c:v>
                </c:pt>
                <c:pt idx="1">
                  <c:v>74.0475982958142</c:v>
                </c:pt>
                <c:pt idx="2">
                  <c:v>183.17028387854998</c:v>
                </c:pt>
                <c:pt idx="3">
                  <c:v>73.38470406531751</c:v>
                </c:pt>
                <c:pt idx="4">
                  <c:v>164.18944371747799</c:v>
                </c:pt>
                <c:pt idx="5">
                  <c:v>112.77</c:v>
                </c:pt>
                <c:pt idx="6">
                  <c:v>69.636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Logistics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3.23737677124713</c:v>
                </c:pt>
                <c:pt idx="1">
                  <c:v>86.3114528995358</c:v>
                </c:pt>
                <c:pt idx="2">
                  <c:v>89.72580917715959</c:v>
                </c:pt>
                <c:pt idx="3">
                  <c:v>103.164683583876</c:v>
                </c:pt>
                <c:pt idx="4">
                  <c:v>94.7227448577729</c:v>
                </c:pt>
                <c:pt idx="5">
                  <c:v>109.565481367789</c:v>
                </c:pt>
                <c:pt idx="6">
                  <c:v>100.49979699059901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Grey</c:v>
                  </c:pt>
                  <c:pt idx="4">
                    <c:v>Orange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691.689</c:v>
                </c:pt>
                <c:pt idx="1">
                  <c:v>491.365</c:v>
                </c:pt>
                <c:pt idx="2">
                  <c:v>445</c:v>
                </c:pt>
                <c:pt idx="3">
                  <c:v>436.365</c:v>
                </c:pt>
                <c:pt idx="4">
                  <c:v>255</c:v>
                </c:pt>
                <c:pt idx="5">
                  <c:v>136.365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In-house R&amp;D</c:v>
                </c:pt>
              </c:strCache>
            </c:strRef>
          </c:tx>
          <c:spPr>
            <a:solidFill>
              <a:srgbClr val="0EA5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486.689</c:v>
                </c:pt>
                <c:pt idx="1">
                  <c:v>221.365</c:v>
                </c:pt>
                <c:pt idx="2">
                  <c:v>0</c:v>
                </c:pt>
                <c:pt idx="3">
                  <c:v>50</c:v>
                </c:pt>
                <c:pt idx="4">
                  <c:v>121.365</c:v>
                </c:pt>
                <c:pt idx="5">
                  <c:v>81.365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Licensing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205</c:v>
                </c:pt>
                <c:pt idx="1">
                  <c:v>270</c:v>
                </c:pt>
                <c:pt idx="2">
                  <c:v>445</c:v>
                </c:pt>
                <c:pt idx="3">
                  <c:v>205</c:v>
                </c:pt>
                <c:pt idx="4">
                  <c:v>315</c:v>
                </c:pt>
                <c:pt idx="5">
                  <c:v>55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 2 global share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Blue</c:v>
                  </c:pt>
                  <c:pt idx="1">
                    <c:v>Grey</c:v>
                  </c:pt>
                  <c:pt idx="2">
                    <c:v>Red</c:v>
                  </c:pt>
                  <c:pt idx="3">
                    <c:v>Orange</c:v>
                  </c:pt>
                  <c:pt idx="4">
                    <c:v>Green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34.2531653265438</c:v>
                </c:pt>
                <c:pt idx="1">
                  <c:v>26.8907635919555</c:v>
                </c:pt>
                <c:pt idx="2">
                  <c:v>16.6673910785395</c:v>
                </c:pt>
                <c:pt idx="3">
                  <c:v>14.0544471581265</c:v>
                </c:pt>
                <c:pt idx="4">
                  <c:v>8.13423284483469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 Tech 1 price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450</c:v>
                </c:pt>
                <c:pt idx="1">
                  <c:v>300</c:v>
                </c:pt>
                <c:pt idx="2">
                  <c:v>305</c:v>
                </c:pt>
                <c:pt idx="3">
                  <c:v>285</c:v>
                </c:pt>
                <c:pt idx="4">
                  <c:v>320</c:v>
                </c:pt>
                <c:pt idx="5">
                  <c:v>285</c:v>
                </c:pt>
                <c:pt idx="6">
                  <c:v>280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 Tech 1 price</c:v>
                </c:pt>
              </c:strCache>
            </c:strRef>
          </c:tx>
          <c:spPr>
            <a:solidFill>
              <a:srgbClr val="0EA5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300</c:v>
                </c:pt>
                <c:pt idx="1">
                  <c:v>180</c:v>
                </c:pt>
                <c:pt idx="2">
                  <c:v>170</c:v>
                </c:pt>
                <c:pt idx="3">
                  <c:v>155</c:v>
                </c:pt>
                <c:pt idx="4">
                  <c:v>185</c:v>
                </c:pt>
                <c:pt idx="5">
                  <c:v>152</c:v>
                </c:pt>
                <c:pt idx="6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4.76457922125912</c:v>
                </c:pt>
                <c:pt idx="1">
                  <c:v>15.7998687771071</c:v>
                </c:pt>
                <c:pt idx="2">
                  <c:v>19.3942438849202</c:v>
                </c:pt>
                <c:pt idx="3">
                  <c:v>13.0415254372488</c:v>
                </c:pt>
                <c:pt idx="4">
                  <c:v>17.7053018435906</c:v>
                </c:pt>
                <c:pt idx="5">
                  <c:v>15.0238203370504</c:v>
                </c:pt>
                <c:pt idx="6">
                  <c:v>14.2706604988237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3.23970814831871</c:v>
                </c:pt>
                <c:pt idx="1">
                  <c:v>16.8907095569194</c:v>
                </c:pt>
                <c:pt idx="2">
                  <c:v>16.5410392039181</c:v>
                </c:pt>
                <c:pt idx="3">
                  <c:v>16.6374909493748</c:v>
                </c:pt>
                <c:pt idx="4">
                  <c:v>13.0797350747579</c:v>
                </c:pt>
                <c:pt idx="5">
                  <c:v>17.5523912986324</c:v>
                </c:pt>
                <c:pt idx="6">
                  <c:v>16.0589257680788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0EA5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3.62794290871526</c:v>
                </c:pt>
                <c:pt idx="1">
                  <c:v>16.399157461806</c:v>
                </c:pt>
                <c:pt idx="2">
                  <c:v>15.3370254093324</c:v>
                </c:pt>
                <c:pt idx="3">
                  <c:v>18.3031207677534</c:v>
                </c:pt>
                <c:pt idx="4">
                  <c:v>20.3765837951541</c:v>
                </c:pt>
                <c:pt idx="5">
                  <c:v>13.4485415561105</c:v>
                </c:pt>
                <c:pt idx="6">
                  <c:v>12.5076281011284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Blue</c:v>
                  </c:pt>
                  <c:pt idx="2">
                    <c:v>Orange</c:v>
                  </c:pt>
                  <c:pt idx="3">
                    <c:v>Red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7591.74</c:v>
                </c:pt>
                <c:pt idx="1">
                  <c:v>2377.54</c:v>
                </c:pt>
                <c:pt idx="2">
                  <c:v>1883.32</c:v>
                </c:pt>
                <c:pt idx="3">
                  <c:v>1507.367</c:v>
                </c:pt>
                <c:pt idx="4">
                  <c:v>1264.1100000000001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Logistics cost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Akatsuki</c:v>
                  </c:pt>
                  <c:pt idx="1">
                    <c:v>Orange</c:v>
                  </c:pt>
                  <c:pt idx="2">
                    <c:v>Pink</c:v>
                  </c:pt>
                  <c:pt idx="3">
                    <c:v>Grey</c:v>
                  </c:pt>
                  <c:pt idx="4">
                    <c:v>Blue</c:v>
                  </c:pt>
                  <c:pt idx="5">
                    <c:v>Red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109.565481367789</c:v>
                </c:pt>
                <c:pt idx="1">
                  <c:v>103.164683583876</c:v>
                </c:pt>
                <c:pt idx="2">
                  <c:v>100.49979699059901</c:v>
                </c:pt>
                <c:pt idx="3">
                  <c:v>94.7227448577729</c:v>
                </c:pt>
                <c:pt idx="4">
                  <c:v>89.72580917715959</c:v>
                </c:pt>
                <c:pt idx="5">
                  <c:v>86.3114528995358</c:v>
                </c:pt>
                <c:pt idx="6">
                  <c:v>3.23737677124713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Long-term debt, $m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Blue</c:v>
                  </c:pt>
                  <c:pt idx="2">
                    <c:v>Red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509.788929829001</c:v>
                </c:pt>
                <c:pt idx="1">
                  <c:v>509.788929829001</c:v>
                </c:pt>
                <c:pt idx="2">
                  <c:v>659.788929829001</c:v>
                </c:pt>
                <c:pt idx="3">
                  <c:v>509.788929829001</c:v>
                </c:pt>
                <c:pt idx="4">
                  <c:v>509.788929829001</c:v>
                </c:pt>
                <c:pt idx="5">
                  <c:v>509.788929829001</c:v>
                </c:pt>
                <c:pt idx="6">
                  <c:v>509.788929829001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Short-term debt, $m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Blue</c:v>
                  </c:pt>
                  <c:pt idx="2">
                    <c:v>Red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1510.7745338421598</c:v>
                </c:pt>
                <c:pt idx="1">
                  <c:v>412.361758574368</c:v>
                </c:pt>
                <c:pt idx="2">
                  <c:v>0.252024022775284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Grey</c:v>
                  </c:pt>
                  <c:pt idx="1">
                    <c:v>Orange</c:v>
                  </c:pt>
                  <c:pt idx="2">
                    <c:v>Pink</c:v>
                  </c:pt>
                  <c:pt idx="3">
                    <c:v>Akatsuki</c:v>
                  </c:pt>
                  <c:pt idx="4">
                    <c:v>Blue</c:v>
                  </c:pt>
                  <c:pt idx="5">
                    <c:v>Red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8.08643557079283</c:v>
                </c:pt>
                <c:pt idx="1">
                  <c:v>7.85502771431931</c:v>
                </c:pt>
                <c:pt idx="2">
                  <c:v>7.4375776627853805</c:v>
                </c:pt>
                <c:pt idx="3">
                  <c:v>7.43262124912339</c:v>
                </c:pt>
                <c:pt idx="4">
                  <c:v>7.20492141323133</c:v>
                </c:pt>
                <c:pt idx="5">
                  <c:v>7.06216446833713</c:v>
                </c:pt>
                <c:pt idx="6">
                  <c:v>2.8588791154642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ESG reputation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7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Pink</c:v>
                  </c:pt>
                  <c:pt idx="2">
                    <c:v>Akatsuki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Red</c:v>
                  </c:pt>
                  <c:pt idx="6">
                    <c:v>Blue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3.04093960745444</c:v>
                </c:pt>
                <c:pt idx="1">
                  <c:v>3.01186933740736</c:v>
                </c:pt>
                <c:pt idx="2">
                  <c:v>3.00647231929717</c:v>
                </c:pt>
                <c:pt idx="3">
                  <c:v>2.99288666645167</c:v>
                </c:pt>
                <c:pt idx="4">
                  <c:v>2.99258283235795</c:v>
                </c:pt>
                <c:pt idx="5">
                  <c:v>2.99017435730035</c:v>
                </c:pt>
                <c:pt idx="6">
                  <c:v>2.97887560917926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.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Profit, $m</c:v>
                </c:pt>
              </c:strCache>
            </c:strRef>
          </c:tx>
          <c:spPr>
            <a:solidFill>
              <a:srgbClr val="0EA5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Pink</c:v>
                  </c:pt>
                  <c:pt idx="1">
                    <c:v>Akatsuki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441.900096783196</c:v>
                </c:pt>
                <c:pt idx="1">
                  <c:v>348.182809779646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R&amp;D, $m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Pink</c:v>
                  </c:pt>
                  <c:pt idx="1">
                    <c:v>Akatsuki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136.365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TSR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Pink</c:v>
                  </c:pt>
                  <c:pt idx="1">
                    <c:v>Akatsuki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31.2940033693683</c:v>
                </c:pt>
                <c:pt idx="1">
                  <c:v>31.206508835322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$m</c:v>
                </c:pt>
              </c:strCache>
            </c:strRef>
          </c:tx>
          <c:spPr>
            <a:solidFill>
              <a:srgbClr val="0EA5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Red</c:v>
                  </c:pt>
                  <c:pt idx="1">
                    <c:v>Blue</c:v>
                  </c:pt>
                  <c:pt idx="2">
                    <c:v>Orange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1828.39718026426</c:v>
                </c:pt>
                <c:pt idx="1">
                  <c:v>2009.51612859707</c:v>
                </c:pt>
                <c:pt idx="2">
                  <c:v>1666.34786746939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Profit, $m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Red</c:v>
                  </c:pt>
                  <c:pt idx="1">
                    <c:v>Blue</c:v>
                  </c:pt>
                  <c:pt idx="2">
                    <c:v>Orange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46.0801578625579</c:v>
                </c:pt>
                <c:pt idx="1">
                  <c:v>192.686571518878</c:v>
                </c:pt>
                <c:pt idx="2">
                  <c:v>300.69758083217397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R&amp;D, $m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Red</c:v>
                  </c:pt>
                  <c:pt idx="1">
                    <c:v>Blue</c:v>
                  </c:pt>
                  <c:pt idx="2">
                    <c:v>Orange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491.365</c:v>
                </c:pt>
                <c:pt idx="1">
                  <c:v>445</c:v>
                </c:pt>
                <c:pt idx="2">
                  <c:v>255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8368" y="7498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CESIM Global Challenge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Universe 1 • Round 1 Debrief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GL Sec C Group July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Growth, profit conversion, risk, and valuation discipline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B7"/>
                </a:solidFill>
              </a:rPr>
              <a:t>Core teaching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What did the market reward, what did it punish, and what should each team do differently in Round 2?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166420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5528" y="43159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$11.08bn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46177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Universe revenue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97480" y="4160520"/>
            <a:ext cx="166420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07208" y="43159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$782.3m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07208" y="46177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Universe profit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09160" y="4160520"/>
            <a:ext cx="166420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18888" y="431596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85.1 pts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18888" y="46177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TSR spread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Prepared for the classroom debrief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How we will read Round 1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The goal is to connect decisions to cash flows, cash flows to valuation, and valuation to TSR.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685800" y="1143000"/>
            <a:ext cx="58521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</a:rPr>
              <a:t>First principle: TSR is not “profit only”; it reflects share price, dividends, debt, cash, risk and future cash-flow expectations.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A high-revenue team may lose valuation if costs, inventory, leverage or risk rise faster than sales.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We will compare teams, not to shame mistakes, but to identify decision logic worth repeating or correcting.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05156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059168" y="1124712"/>
            <a:ext cx="36576" cy="85953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205472" y="1161288"/>
            <a:ext cx="3977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3A8A"/>
                </a:solidFill>
              </a:rPr>
              <a:t>Round 1 question: Did each team buy growth, earn growth, or destroy value while chasing growth?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423160"/>
          <a:ext cx="429768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Lens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What we test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Market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Demand, price, share, product mix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Operations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Capacity, inventory, outsourcing, logistics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Finance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Profit, cash, debt, risk, valuation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Learning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What to change next round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If TSR is the objective, which decisions are only short-term and which create future value?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Universe 1 at a glance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The market created large dispersion: one team won TSR decisively, while one team’s loss distorted the universe average.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B7"/>
                </a:solidFill>
              </a:rPr>
              <a:t>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0515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B7"/>
                </a:solidFill>
              </a:rPr>
              <a:t>$11.08bn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0" y="10515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B7"/>
                </a:solidFill>
              </a:rPr>
              <a:t>$782.3m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Total profit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0" y="1051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B7"/>
                </a:solidFill>
              </a:rPr>
              <a:t>7.1%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Aggregate ROS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778240" y="10515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B7"/>
                </a:solidFill>
              </a:rPr>
              <a:t>85.1 pts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7824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TSR spread</a:t>
            </a:r>
            <a:endParaRPr lang="en-US" sz="8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31520" y="2240280"/>
          <a:ext cx="5029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Chart 1" descr=""/>
          <p:cNvGraphicFramePr/>
          <p:nvPr/>
        </p:nvGraphicFramePr>
        <p:xfrm>
          <a:off x="6309360" y="224028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result should we explain first: highest TSR, highest profit, or biggest loss? Why?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Leaderboard: TSR shows what shareholders rewarded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3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Grey leads by TSR, but the top cluster is close; Green is the clear negative outlier.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5486400" cy="4389120"/>
        </p:xfrm>
        <a:graphic>
          <a:graphicData uri="http://schemas.openxmlformats.org/drawingml/2006/table">
            <a:tbl>
              <a:tblPr/>
              <a:tblGrid>
                <a:gridCol w="502920"/>
                <a:gridCol w="1143000"/>
                <a:gridCol w="1005840"/>
                <a:gridCol w="109728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TSR p.a.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Share price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Market cap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35.5%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$255.9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$8.09bn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31.3%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$247.9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$7.44bn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31.2%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$247.8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$7.43bn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27.2%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$240.2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$7.20bn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26.1%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$238.0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$7.86bn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24.7%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$235.4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$7.06bn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-49.5%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$95.3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$2.86bn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583680" y="1143000"/>
          <a:ext cx="4754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What did shareholders seem to reward beyond current-period profit?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Revenue is not profit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4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Blue produced the highest revenue, but Pink and Akatsuki converted smaller revenue into stronger profit.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4300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25880"/>
          <a:ext cx="3931920" cy="237744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highest revenue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$2,009.5m revenue; $192.7m profit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highest profit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$1,428.3m revenue; $441.9m profit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largest loss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$665.7m revenue; $-737.4m profit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406640" y="39319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424928" y="4005072"/>
            <a:ext cx="36576" cy="76809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7571232" y="4041648"/>
            <a:ext cx="3611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64E3B"/>
                </a:solidFill>
              </a:rPr>
              <a:t>First principle: profit is not created by selling more units; profit is created when price and volume exceed the full economic cost of serving that demand.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teams bought revenue and which teams earned profit?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Profit conversion: ROS and ROCE separate disciplined operators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5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Pink and Akatsuki had the strongest profit conversion; Green’s negative ROS reflects costs far above revenue.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14300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170432"/>
          <a:ext cx="3657600" cy="420624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100584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EBIT margin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30.9%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39.4%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38.9%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22.4%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33.5%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29.4%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18.0%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28.1%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26.9%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9.9%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23.7%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9.6%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23.1%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10.5%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-110.8%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-32.1%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-75.9%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profitability ratio best captures managerial discipline in this round?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Cost architecture: the hidden story behind Round 1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Green’s R&amp;D burden dominates its cost structure; Blue and Grey chose costly features and technology investment.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05156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097280"/>
          <a:ext cx="3657600" cy="4114800"/>
        </p:xfrm>
        <a:graphic>
          <a:graphicData uri="http://schemas.openxmlformats.org/drawingml/2006/table">
            <a:tbl>
              <a:tblPr/>
              <a:tblGrid>
                <a:gridCol w="914400"/>
                <a:gridCol w="960120"/>
                <a:gridCol w="914400"/>
                <a:gridCol w="1005840"/>
              </a:tblGrid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Costs / Sales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R&amp;D / Sales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Promotion / Sales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103.9%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83%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26.9%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22.1%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22.6%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8.8%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52%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cost was an investment for future value, and which cost was merely leakage?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R&amp;D timing: commitment, timing and affordability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7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Green made the largest R&amp;D commitment; Pink spent nothing on R&amp;D and won current profit—but may face a technology question later.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1430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400800" y="114300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Was each team’s R&amp;D spend synchronized with market readiness and financial capacity?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Technology and product mix: Tech 2 created opportunity and complexity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8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Blue took the largest global Tech 2 share; Green entered Tech 2 but did not convert it into profit.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430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4754880" cy="420624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188720"/>
                <a:gridCol w="128016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Tech 1 share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Tech 2 share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Tech 2 unit mix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8.1%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23.2%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10.7%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34.3%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21.5%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9.2%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26.9%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Is entering a new technology enough, or must it be tied to price, capacity and features?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Pricing: market position is visible in the price ladder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9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Green priced very high with low demand; Pink and Akatsuki priced aggressively and protected margin through cost discipline.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097280"/>
          <a:ext cx="5577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097280"/>
          <a:ext cx="4572000" cy="429768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914400"/>
                <a:gridCol w="91440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USA T1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USA T2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Europe T1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Europe T2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450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650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450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350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180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330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305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450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275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285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289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320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420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185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260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285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280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What price assumption did your team make about customer willingness to pay?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Market share: volume leadership differs by region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10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Akatsuki leads Asia; Blue leads USA; Grey leads Europe and global valuation.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078992"/>
          <a:ext cx="6858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188720"/>
          <a:ext cx="3337560" cy="402336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594360"/>
                <a:gridCol w="594360"/>
                <a:gridCol w="594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Global share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USA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Asia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Europe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19.4%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13.0%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18.3%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13.1%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20.4%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13.4%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12.5%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region did your team implicitly prioritise, and did the result validate that priority?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Production discipline: inventory is a decision shadow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Green and Blue carried large inventory; Akatsuki and Pink ended with zero inventory but also some unmet European demand.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09728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115568"/>
          <a:ext cx="4937760" cy="420624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280160"/>
                <a:gridCol w="128016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Inventory units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Inventory / assets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EU unmet T1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7,592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45.1%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1,507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8.2%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2,378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22.4%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1,153k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1,883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15.7%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1,264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638k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427k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is more dangerous: unsold stock or unsatisfied demand? Under what conditions?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Logistics: local production versus export economics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12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Europe cannot be produced locally; teams must choose between production cost and transport/tariff burden.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18872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234440"/>
          <a:ext cx="4709160" cy="384048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280160"/>
                <a:gridCol w="109728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USA plants after next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Asia plants after next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Logistics cost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$3.2m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$86.3m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$89.7m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$103.2m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$94.7m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$109.6m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$100.5m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46520" y="525780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464808" y="5330952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611112" y="536752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2D12"/>
                </a:solidFill>
              </a:rPr>
              <a:t>Key issue for Round 2: capacity expansion choices come with delay. A late correction can become expensive.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Should your next plant follow low production cost, market proximity, or future technology readiness?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Financing and risk: capital structure affected valuation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13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Green’s unplanned short-term debt and C rating raised perceived risk; top teams preserved stronger credit quality.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097280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097280"/>
          <a:ext cx="4389120" cy="4297680"/>
        </p:xfrm>
        <a:graphic>
          <a:graphicData uri="http://schemas.openxmlformats.org/drawingml/2006/table">
            <a:tbl>
              <a:tblPr/>
              <a:tblGrid>
                <a:gridCol w="822960"/>
                <a:gridCol w="685800"/>
                <a:gridCol w="685800"/>
                <a:gridCol w="1051560"/>
                <a:gridCol w="10058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WACC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Equity ratio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Cash/assets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10.9%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17.4%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51.2%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36.4%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47.7%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34.3%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73.6%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46.0%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AA-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68.0%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47.2%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AA-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65.7%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50.5%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AA-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67.8%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53.5%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How did the balance sheet tell the market whether a strategy was credible?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Valuation logic: market cap is not accounting profit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14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Enterprise value, cash, debt and share count translate operating choices into share price and TSR.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0972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097280"/>
          <a:ext cx="4983480" cy="4206240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  <a:gridCol w="914400"/>
                <a:gridCol w="914400"/>
                <a:gridCol w="109728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Enterprise value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Cash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Debt value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Market cap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$7.80bn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$797.1m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$509.8m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$8.09bn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$7.44bn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$928.3m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$509.8m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$7.86bn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$7.07bn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$879.5m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$509.8m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$7.44bn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$7.16bn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$784.3m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$509.8m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$7.43bn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$7.51bn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$621.6m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$922.2m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$7.20bn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$7.21bn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$510.0m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$660.0m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$7.06bn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$3.85bn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$336.1m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$1,323.8m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$2.86bn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team’s valuation reflects confidence in future cash flows rather than only current earnings?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ESG demand impacts: small signals, long-term reputation logic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15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ESG effects are modest in Round 1, but Green’s low volume lowered unit-linked environmental impact while high inefficiency offset part of that.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188720"/>
          <a:ext cx="52120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188720"/>
          <a:ext cx="4800600" cy="4069080"/>
        </p:xfrm>
        <a:graphic>
          <a:graphicData uri="http://schemas.openxmlformats.org/drawingml/2006/table">
            <a:tbl>
              <a:tblPr/>
              <a:tblGrid>
                <a:gridCol w="822960"/>
                <a:gridCol w="1143000"/>
                <a:gridCol w="1051560"/>
                <a:gridCol w="914400"/>
                <a:gridCol w="914400"/>
              </a:tblGrid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Environmental score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ESG reputation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Sold units impact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Efficiency impact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3.23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3.04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+5.5%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-2.1%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2.95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2.99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-1.3%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+0.1%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2.88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2.98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-1.9%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-0.6%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2.96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2.99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+0.2%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2.96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2.99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+0.2%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3.04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3.01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-0.4%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+1.1%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3.07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3.01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+0.2%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+1.1%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How should ESG be managed without treating it as window dressing?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Diagnostic: Green’s loss is a system failure, not one bad number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High R&amp;D, weak sales conversion, massive inventory and unplanned debt combined into negative TSR.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B23"/>
                </a:solidFill>
              </a:rPr>
              <a:t>-49.5%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TSR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0058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B23"/>
                </a:solidFill>
              </a:rPr>
              <a:t>$-737.4m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1444752"/>
            <a:ext cx="1645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Profit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0" y="10058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B23"/>
                </a:solidFill>
              </a:rPr>
              <a:t>103.9%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R&amp;D / sales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0" y="1005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B23"/>
                </a:solidFill>
              </a:rPr>
              <a:t>45.1%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Inventory/assets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0" y="10058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B23"/>
                </a:solidFill>
              </a:rPr>
              <a:t>$1,510.8m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Short debt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40280"/>
          <a:ext cx="10424160" cy="292608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630936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Cause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Managerial lesson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Technology bet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$691.7m R&amp;D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Investment must be paced with affordability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Low conversion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-110.8% ROS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High gross margin alone is not enough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Forecast mismatch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7,592k inventory units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Demand estimates must discipline production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Financing strain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$1,510.8m short debt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Unplanned debt destroys valuation trust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If you were Green’s CEO, what one decision would you reverse first?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Diagnostic: Pink and Akatsuki converted discipline into profit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17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Pink and Akatsuki protected margin with low R&amp;D burden and strong operating conversion; the next question is future readiness.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43000"/>
          <a:ext cx="10607040" cy="146304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371600"/>
                <a:gridCol w="1371600"/>
                <a:gridCol w="1645920"/>
                <a:gridCol w="146304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R&amp;D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TSR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$441.9m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30.9%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39.4%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$0.0m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31.3%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$348.2m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22.4%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33.5%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$136.4m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31.2%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1005840" y="274320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6949440" y="28803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967728" y="2953512"/>
            <a:ext cx="36576" cy="95097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7114032" y="2990088"/>
            <a:ext cx="3794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31843"/>
                </a:solidFill>
              </a:rPr>
              <a:t>Teaching tension: efficiency wins the round, but technology neglect can become future vulnerability if market migration accelerates.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Are Pink and Akatsuki efficient followers, or are they under-investing in the future?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Diagnostic: Grey won TSR through balanced valuation trust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18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Grey did not maximize profit, but combined scale, decent margin, strong market cap and low WACC.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35.5%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TSR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051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$1,926.9m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0560" y="1051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$8.09bn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Market cap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75120" y="10515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6.5%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WACC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0" y="10515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AA-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Credit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23160"/>
          <a:ext cx="100584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603504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Debrief reading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Market value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$8.09bn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Investors rewarded future cash-flow confidence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Scale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$1,926.9m revenue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Large top line with positive profit base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Risk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6.5% WACC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Lower risk improved valuation multiple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What exactly did Grey do that others can imitate without blindly copying?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Middle pack: Red, Blue and Orange show three different trade-offs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19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Blue led revenue; Orange converted better; Red spent heavily but earned weak profit.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14300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280160"/>
          <a:ext cx="4480560" cy="3200400"/>
        </p:xfrm>
        <a:graphic>
          <a:graphicData uri="http://schemas.openxmlformats.org/drawingml/2006/table">
            <a:tbl>
              <a:tblPr/>
              <a:tblGrid>
                <a:gridCol w="777240"/>
                <a:gridCol w="731520"/>
                <a:gridCol w="731520"/>
                <a:gridCol w="914400"/>
                <a:gridCol w="1325880"/>
              </a:tblGrid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TSR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Tech 2 share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Issue to discuss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24.7%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16.7%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Revenue with weak profit conversion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27.2%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9.6%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34.3%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Technology/share leadership with cost burden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26.1%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18.0%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Better conversion, but not top valuation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middle-pack team has the easiest path to a top-three TSR next round?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The decision chain: assumptions became outcomes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20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Every team made an implicit theory of demand, cost and capital. Round 1 tested those theories.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9808" y="1216152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125272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Demand estimate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114300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75888" y="1216152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22192" y="125272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Price + promotion +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1430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33488" y="1216152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79792" y="1252728"/>
            <a:ext cx="2971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Sales volume and share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1216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1216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2167128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2240280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96112" y="2276856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Production plan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16712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675888" y="2240280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22192" y="2276856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Capacity + sourcing + logistics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2167128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333488" y="2240280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79792" y="2276856"/>
            <a:ext cx="2971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Inventory or lost demand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2240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12280" y="2240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1520" y="3191256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9808" y="3264408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96112" y="3300984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Innovation bet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3191256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675888" y="3264408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822192" y="3300984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R&amp;D + licensing timing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0" y="3191256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333488" y="3264408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479792" y="3300984"/>
            <a:ext cx="2971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Cost today; option value tomorrow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154680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12280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31520" y="4215384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49808" y="4288536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96112" y="4325112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Finance plan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0" y="4215384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3675888" y="4288536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822192" y="4325112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Debt + cash + equity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0" y="4215384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333488" y="4288536"/>
            <a:ext cx="36576" cy="3566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479792" y="4325112"/>
            <a:ext cx="2971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Risk, WACC and share price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154680" y="42885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812280" y="42885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Where did your team’s assumption break: demand, cost, capacity, or finance?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What the market rewarded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The simulation rewarded profit conversion, valuation trust, and risk discipline more than raw volume alone.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143000"/>
          <a:ext cx="1042416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585216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Rewarded logic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Managerial principle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Profit conversion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Pink: 30.9% ROS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Price-cost discipline created earnings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Risk discipline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Grey: 6.5% WACC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Lower perceived risk improved valuation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Capital productivity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Pink: 39.4% ROCE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Capital was used efficiently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Focused operations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Akatsuki/Pink: zero inventory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Lower working-capital drag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371600" y="4572000"/>
            <a:ext cx="9326880" cy="73152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389888" y="4645152"/>
            <a:ext cx="36576" cy="585216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536192" y="4681728"/>
            <a:ext cx="9006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5E59"/>
                </a:solidFill>
              </a:rPr>
              <a:t>The winner was not merely the team that sold the most; it was the team whose strategy looked financially credible to shareholders.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What did your team do that shareholders would regard as credible?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What the market punished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22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The market punished mis-timed investment, production-demand mismatch, unplanned debt and weak conversion.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143000"/>
          <a:ext cx="10424160" cy="329184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54864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Punished logic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Managerial principle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Mis-timed investment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Green: R&amp;D equals 103.9% of sales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Future bets require present carrying capacity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Demand-production mismatch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Green: 7,592k inventory units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Forecasts must discipline production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Balance sheet distress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Green: $1,510.8m short debt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Unplanned borrowing destroys trust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Weak conversion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Red: 2.5% ROS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Revenue without margin is not value creation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punished behavior is your team most at risk of repeating?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Socratic question set for Universe 1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23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Use these questions to move the class from result reading to managerial reasoning.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05840"/>
          <a:ext cx="10332720" cy="4389120"/>
        </p:xfrm>
        <a:graphic>
          <a:graphicData uri="http://schemas.openxmlformats.org/drawingml/2006/table">
            <a:tbl>
              <a:tblPr/>
              <a:tblGrid>
                <a:gridCol w="1828800"/>
                <a:gridCol w="8503920"/>
              </a:tblGrid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Lens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Assumption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What did your team believe customers would value most: price, features, technology or availability?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Causality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Which decision had the largest unintended consequence?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Trade-off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Did you choose present profit, future capability, or both?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Finance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How did your capital structure support or weaken your strategy?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Operations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Where did your forecast error become visible: inventory, unmet demand, debt or lost margin?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Next action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What single correction would improve your TSR probability in Round 2?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one question would make your team uncomfortable—but useful?</a:t>
            </a:r>
            <a:endParaRPr lang="en-US" sz="8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Seven learning insights from Round 1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24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Round 1 teaches managerial integration: no decision is isolated from valuation.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822960" y="1051560"/>
            <a:ext cx="106070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1. TSR rewards credible future cash flows, not just current sales.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2. Profit conversion matters more than size when costs rise faster than revenue.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3. R&amp;D creates future options, but poor timing can destroy current value.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4. Inventory and unmet demand are both symptoms of forecasting discipline.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5. Pricing is a theory of customer value; it must be tested by demand response.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6. Balance-sheet quality affects WACC, credit rating and market capitalization.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7. Regional strategy must combine demand, logistics, tariffs and capacity delay.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learning insight matters most for your Round 2 decision meeting?</a:t>
            </a:r>
            <a:endParaRPr lang="en-US" sz="8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Next-round decision checklist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25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Before submitting Round 2, each team should stress-test demand, cost, cash and valuation effects.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05840"/>
          <a:ext cx="10332720" cy="4297680"/>
        </p:xfrm>
        <a:graphic>
          <a:graphicData uri="http://schemas.openxmlformats.org/drawingml/2006/table">
            <a:tbl>
              <a:tblPr/>
              <a:tblGrid>
                <a:gridCol w="1920240"/>
                <a:gridCol w="8412480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Round 2 action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Demand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Re-forecast market demand by region and technology; test price elasticity.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Product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Decide whether Tech 2 timing is a growth option or a cost trap.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Production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Align capacity and sourcing with realistic demand; avoid both dead stock and lost demand.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Finance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Check cash, planned debt, unplanned debt risk and WACC before submitting.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Valuation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Estimate how decisions affect share price, not just profit.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Team process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Assign a CEO for the round and lock a decision deadline before CESIM deadline.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What one decision will you not submit until you have checked its cash-flow effect?</a:t>
            </a:r>
            <a:endParaRPr lang="en-US" sz="8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Suggested 75-minute facilitation flow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Move from scoreboard to causes, from causes to questions, and from questions to Round 2 commitments.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051560"/>
          <a:ext cx="987552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8046720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Classroom move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0–10 min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Frame TSR and first principles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10–25 min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Leaderboard: TSR, profit, revenue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25–40 min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Deep dives: pricing, R&amp;D, production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40–55 min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Team diagnostics: Green, Grey, Pink/Akatsuki, middle pack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55–68 min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Socratic team questions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68–75 min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Round 2 checklist and commitments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Where should I slow down if students become defensive rather than analytical?</a:t>
            </a:r>
            <a:endParaRPr lang="en-US" sz="8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 Appendix: Round 1 KPI table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27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A compact reference for live classroom comparison.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484632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554480"/>
                <a:gridCol w="1463040"/>
                <a:gridCol w="914400"/>
                <a:gridCol w="914400"/>
                <a:gridCol w="1463040"/>
                <a:gridCol w="914400"/>
              </a:tblGrid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TSR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ROS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ROCE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Market cap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Green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-49.5%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$665.7m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$-737.4m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-110.8%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-32.1%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$2.86bn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C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1B23"/>
                          </a:solidFill>
                        </a:rPr>
                        <a:t>Red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24.7%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$1,828.4m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$46.1m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14.9%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$7.06bn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Blue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27.2%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$2,009.5m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$192.7m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9.6%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23.1%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$7.20bn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A7A00"/>
                          </a:solidFill>
                        </a:rPr>
                        <a:t>Orange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26.1%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$1,666.3m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$300.7m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18.0%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28.1%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$7.86bn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</a:rPr>
                        <a:t>Grey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35.5%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$1,926.9m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$190.1m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9.9%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23.7%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$8.09bn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AA-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Akatsuki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31.2%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$1,552.1m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$348.2m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22.4%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33.5%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$7.43bn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AA-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B2777"/>
                          </a:solidFill>
                        </a:rPr>
                        <a:t>Pink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31.3%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$1,428.3m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$441.9m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30.9%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39.4%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$7.44bn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AA-</a:t>
                      </a:r>
                      <a:endParaRPr lang="en-US" sz="800" dirty="0"/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Which KPI best explains your team’s position, and which KPI is a warning sign?</a:t>
            </a:r>
            <a:endParaRPr lang="en-US" sz="8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011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 Closing reflection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3726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GL Sec C • U1 R1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1475720" y="228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28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02336" y="5669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Round 1 is not the final verdict; it is feedback on the quality of each team’s assumptions.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84048" y="658368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Source: Universe 1 Round 1 results + CESIM materials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9601200" y="6583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94A3B8"/>
                </a:solidFill>
              </a:rPr>
              <a:t>CESIM Global Challenge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8229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1B23"/>
                </a:solidFill>
              </a:rPr>
              <a:t>The core lesson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5544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strategy is only as good as the assumptions it survives.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9966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Translate every major decision into cash-flow impact.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Pressure-test every forecast against capacity and working capital.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Ask whether today’s profit sacrifices tomorrow’s option value—or whether future investment is unaffordable today.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Make Round 2 a deliberate correction, not an emotional reaction.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" y="6163056"/>
            <a:ext cx="11201400" cy="347472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625449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7C2D12"/>
                </a:solidFill>
              </a:rPr>
              <a:t>Ask: What will your team do differently before the next deadline?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Global Challenge | GL Sec C Universe 1 Round 1 Debrief</dc:title>
  <dc:subject>CESIM Global Challenge debrief: GL Sec C Universe 1 Round 1</dc:subject>
  <dc:creator>OpenAI</dc:creator>
  <cp:lastModifiedBy>OpenAI</cp:lastModifiedBy>
  <cp:revision>1</cp:revision>
  <dcterms:created xsi:type="dcterms:W3CDTF">2026-07-15T13:54:50Z</dcterms:created>
  <dcterms:modified xsi:type="dcterms:W3CDTF">2026-07-15T13:54:50Z</dcterms:modified>
</cp:coreProperties>
</file>