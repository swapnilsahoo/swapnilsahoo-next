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6400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CESIM Global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98755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Universe 1 • Round 2 Comparative Debrief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7315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D8E0E8"/>
                </a:solidFill>
                <a:latin typeface="Aptos"/>
              </a:rPr>
              <a:t>GL Sec C Group July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3464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834640"/>
            <a:ext cx="73152" cy="123444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944368"/>
            <a:ext cx="2606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R2 leader by TSR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18688"/>
            <a:ext cx="2606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Harshad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83464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2834640"/>
            <a:ext cx="73152" cy="123444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0791" y="2944368"/>
            <a:ext cx="2606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R2 profit leader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791" y="3218688"/>
            <a:ext cx="2606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Big Bulls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283464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2834640"/>
            <a:ext cx="73152" cy="1234440"/>
          </a:xfrm>
          <a:prstGeom prst="rect">
            <a:avLst/>
          </a:prstGeom>
          <a:solidFill>
            <a:srgbClr val="2FA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1" y="2944368"/>
            <a:ext cx="2606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Biggest rescue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3218688"/>
            <a:ext cx="2606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Green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283464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12680" y="2834640"/>
            <a:ext cx="73152" cy="1234440"/>
          </a:xfrm>
          <a:prstGeom prst="rect">
            <a:avLst/>
          </a:prstGeom>
          <a:solidFill>
            <a:srgbClr val="1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77272" y="2944368"/>
            <a:ext cx="2606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Largest warning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2" y="3218688"/>
            <a:ext cx="2606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Lakshmi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800600"/>
            <a:ext cx="5669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965192"/>
            <a:ext cx="52120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303520"/>
            <a:ext cx="519379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Round 2 is not just a ranking; it is a test of whether teams learned from Round 1.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We will compare R1 to R2, then diagnose Round 2 from first principles: demand, margin, cash flow, risk and TSR.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4800600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4965192"/>
            <a:ext cx="50292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1" y="5303520"/>
            <a:ext cx="501091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did the market reward in Round 2?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teams created real value, and which merely created activity?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should each team stop doing before Round 3?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95960" y="7818120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00" b="0">
                <a:solidFill>
                  <a:srgbClr val="D8E0E8"/>
                </a:solidFill>
                <a:latin typeface="Aptos"/>
              </a:rPr>
              <a:t>1/30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How to read Round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Start with the causal chain, not the leaderboard.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2/30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Demand creates revenue; costs and capacity decide margins; cash and debt shape risk; risk changes valuation.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Cumulative TSR after Round 2 reflects two years of decisions, not only the latest round.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Therefore, round-to-round learning matters more than one score.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number is an outcome, and which number is a cause?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Where did your team’s strategy break: demand, cost, cash, or risk?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743200"/>
            <a:ext cx="1417320" cy="640080"/>
          </a:xfrm>
          <a:prstGeom prst="round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907792"/>
            <a:ext cx="13258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2898648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87383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79" y="2743200"/>
            <a:ext cx="1417320" cy="640080"/>
          </a:xfrm>
          <a:prstGeom prst="roundRect">
            <a:avLst/>
          </a:prstGeom>
          <a:solidFill>
            <a:srgbClr val="1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199" y="2907792"/>
            <a:ext cx="13258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2898648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87383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2743200"/>
            <a:ext cx="1417320" cy="640080"/>
          </a:xfrm>
          <a:prstGeom prst="round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907792"/>
            <a:ext cx="13258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608" y="2898648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87383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2743200"/>
            <a:ext cx="1417320" cy="640080"/>
          </a:xfrm>
          <a:prstGeom prst="roundRect">
            <a:avLst/>
          </a:prstGeom>
          <a:solidFill>
            <a:srgbClr val="2FA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907792"/>
            <a:ext cx="13258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Cash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2898648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87383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2743200"/>
            <a:ext cx="1417320" cy="6400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2907792"/>
            <a:ext cx="13258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2898648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87383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95560" y="2743200"/>
            <a:ext cx="1417320" cy="640080"/>
          </a:xfrm>
          <a:prstGeom prst="round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2907792"/>
            <a:ext cx="13258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Share price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31168" y="2898648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687383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70080" y="2743200"/>
            <a:ext cx="1417320" cy="640080"/>
          </a:xfrm>
          <a:prstGeom prst="roundRect">
            <a:avLst/>
          </a:prstGeom>
          <a:solidFill>
            <a:srgbClr val="17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5800" y="2907792"/>
            <a:ext cx="13258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TSR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Universe-level movement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Growth came with better absolute profit, but not better profit quality.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3/30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600200"/>
            <a:ext cx="28346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600200"/>
            <a:ext cx="73152" cy="150876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709928"/>
            <a:ext cx="2606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Sales revenue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984248"/>
            <a:ext cx="2606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+33.6%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404872"/>
            <a:ext cx="2578608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87383"/>
                </a:solidFill>
                <a:latin typeface="Aptos"/>
              </a:rPr>
              <a:t>Aggregate sales grew strongly across the universe.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1600200"/>
            <a:ext cx="28346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9080" y="1600200"/>
            <a:ext cx="73152" cy="1508760"/>
          </a:xfrm>
          <a:prstGeom prst="rect">
            <a:avLst/>
          </a:prstGeom>
          <a:solidFill>
            <a:srgbClr val="2FA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33672" y="1709928"/>
            <a:ext cx="2606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Profit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1984248"/>
            <a:ext cx="2606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+27.8%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3672" y="2404872"/>
            <a:ext cx="2578608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87383"/>
                </a:solidFill>
                <a:latin typeface="Aptos"/>
              </a:rPr>
              <a:t>Absolute profit improved, but unevenly.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1600200"/>
            <a:ext cx="28346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1600200"/>
            <a:ext cx="73152" cy="150876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1709928"/>
            <a:ext cx="2606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Profit 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1984248"/>
            <a:ext cx="2606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7.1% → 6.8%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2404872"/>
            <a:ext cx="2578608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87383"/>
                </a:solidFill>
                <a:latin typeface="Aptos"/>
              </a:rPr>
              <a:t>Margin slipped despite scale.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52760" y="1600200"/>
            <a:ext cx="28346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52760" y="1600200"/>
            <a:ext cx="73152" cy="150876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1709928"/>
            <a:ext cx="2606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Average TSR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17352" y="1984248"/>
            <a:ext cx="26060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18.1% → 10.2%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7352" y="2404872"/>
            <a:ext cx="2578608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87383"/>
                </a:solidFill>
                <a:latin typeface="Aptos"/>
              </a:rPr>
              <a:t>Cumulative TSR was dragged down by severe losers.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886200"/>
            <a:ext cx="63093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050791"/>
            <a:ext cx="5852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" y="4389120"/>
            <a:ext cx="5833872" cy="1481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Round 2 is a more competitive universe: revenue grew 33.6%, yet aggregate margin fell from 7.1% to 6.8%.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The market rewarded teams that grew while preserving margins and credit quality.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3886200"/>
            <a:ext cx="5760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9" y="4050791"/>
            <a:ext cx="5303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1" y="4389120"/>
            <a:ext cx="5285231" cy="1481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Is this good growth or expensive growth?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Why can profit rise while the quality of profit falls?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would make investors discount this growth?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Leaderboard after Round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Harshad leads TSR; Big Bulls leads profit; Grey is the quiet compounder.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4/30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tsr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Harshad Mehta Gang moves from a mid-table Round 1 position to the top TSR position.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Grey remains strong with improved profit and AA rating.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Big Bulls has the strongest Round 2 profit but a lower cumulative TSR than Harshad and Grey.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did Harshad do that converted scale into valuation?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Why does the profit leader not automatically become the TSR leader?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The major Round 2 puzzle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The best current profit does not produce the highest TSR.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5/30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r2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Big Bulls has the highest Round 2 profit at $482.0m.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Harshad has lower Round 2 profit but the highest cumulative TSR and share price.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Valuation sees more than current income: it prices scale, risk and future cash-flow credibility.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Would you invest in Big Bulls or Harshad today? Why?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signal should dominate: profit, share, ROCE or risk?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Revenue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Harshad captured the largest scale shift from Round 1 to Round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6/30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revenue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Universe revenue increased by 33.6%.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Harshad added roughly $1.57bn in revenue; Green added $1.19bn after a poor Round 1.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Lakshmi and Big Bulls shrank revenue, but their profit outcomes diverged sharply.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When is revenue growth a sign of strategic health?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team grew because of fit, and which grew despite inefficiency?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Profit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Profit movements reveal learning, rescue and deterioration.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7/30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profit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Green improved by roughly $833m, moving from deep loss to positive profit.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Lakshmi fell by about $958m, the largest deterioration.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Pink shifted from the highest Round 1 profit to a Round 2 loss.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team learned fastest from Round 1?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must have gone wrong when high Round 1 profit becomes Round 2 loss?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Strategic movement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The best movement is profitable growth, not growth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8/30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quadrant_growth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Harshad and Green show strong revenue-and-profit improvement.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Grey has measured revenue growth with meaningful profit improvement.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Lakshmi is the danger case: lower revenue and much lower profit.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quadrant is strategically strongest?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Can Green’s improvement be called a turnaround if debt remains high?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Round 2 value-quality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TSR rises when margin, market share and risk tell the same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9/30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scatter_ros_t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Harshad sits in the high-TSR zone with solid ROS and high global share.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Big Bulls has the highest ROS but lower cumulative TSR because value is cumulative and risk-sensitive.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Lakshmi’s negative ROS is immediately visible as value destruction.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combination of signals would make a share price rise?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team is under-valued or over-valued relative to its operating performance?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Market share battle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Harshad becomes the global market-share leader.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10/30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share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Harshad’s global market share rose from 16.5% to 20.4%.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Green recovered share from 3.7% to 13.0%, but still carries financial strain.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Lakshmi lost share sharply, from 16.9% to 10.1%.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Did the market reward low price, features, capacity, or timing?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Is market share an objective or only a means to cash flow?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Regional battle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No team won everywhere; Round 2 required regional precision.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11/30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regional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Harshad is consistently strong across USA, Asia and Europe.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Grey dominates USA and Europe but is weaker in Asia.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Akatsuki leads Asia but has zero Europe sales in the extracted Round 2 market report.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region should each team defend, attack, or abandon?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assumption about one global market did the results reject?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Pricing and technology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Premium features worked only where the customer accepted the value proposition.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12/30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600200"/>
            <a:ext cx="4114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600200"/>
            <a:ext cx="73152" cy="1920240"/>
          </a:xfrm>
          <a:prstGeom prst="rect">
            <a:avLst/>
          </a:prstGeom>
          <a:solidFill>
            <a:srgbClr val="1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709928"/>
            <a:ext cx="38862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USA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984248"/>
            <a:ext cx="38862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Grey: 22.7%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404872"/>
            <a:ext cx="385876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87383"/>
                </a:solidFill>
                <a:latin typeface="Aptos"/>
              </a:rPr>
              <a:t>Grey used a relatively low Tech 1 price with 6 features and captured the highest USA share.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600200"/>
            <a:ext cx="4114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57800" y="1600200"/>
            <a:ext cx="73152" cy="19202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22392" y="1709928"/>
            <a:ext cx="38862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Asia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1984248"/>
            <a:ext cx="38862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Akatsuki: 22.0%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2404872"/>
            <a:ext cx="385876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87383"/>
                </a:solidFill>
                <a:latin typeface="Aptos"/>
              </a:rPr>
              <a:t>Akatsuki led Asia, but unsatisfied demand suggests capacity or allocation constraints.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1600200"/>
            <a:ext cx="4114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38360" y="1600200"/>
            <a:ext cx="73152" cy="1920240"/>
          </a:xfrm>
          <a:prstGeom prst="rect">
            <a:avLst/>
          </a:prstGeom>
          <a:solidFill>
            <a:srgbClr val="687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2952" y="1709928"/>
            <a:ext cx="38862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Europe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1984248"/>
            <a:ext cx="38862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Grey: 25.1%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2" y="2404872"/>
            <a:ext cx="385876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87383"/>
                </a:solidFill>
                <a:latin typeface="Aptos"/>
              </a:rPr>
              <a:t>Grey combined competitive pricing with strong demand capture in Europe.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251960"/>
            <a:ext cx="63093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416552"/>
            <a:ext cx="5852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" y="4754880"/>
            <a:ext cx="5833872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Lakshmi carried the heaviest feature load but suffered weak profit and CC credit rating.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Feature richness is not strategy unless customers pay enough to cover cost and risk.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Round 2 rewarded market-specific price-feature fit.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4251960"/>
            <a:ext cx="5852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79" y="4416552"/>
            <a:ext cx="5394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1" y="4754880"/>
            <a:ext cx="5376672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willingness-to-pay assumption did your team make?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Where did customers refuse to pay for features?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How would you redesign the price-feature bundle for Round 3?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R&amp;D and option discipline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Technology investment must be timed against market readiness and cash capacity.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13/30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In CESIM, R&amp;D can create future options, but it hits the income statement immediately.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Teams with heavy spending need evidence that demand and capacity will convert the option into cash.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Green recovered operationally, while Lakshmi’s risk profile deteriorated sharply.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evidence justifies an aggressive R&amp;D bet?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When is R&amp;D leadership a strength, and when is it self-inflicted fragility?</a:t>
            </a:r>
          </a:p>
        </p:txBody>
      </p:sp>
      <p:pic>
        <p:nvPicPr>
          <p:cNvPr id="18" name="Picture 17" descr="rd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Margin discipline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Big Bulls proves that lower revenue can still create high profit when margin is protected.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14/30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r2_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Big Bulls has the highest ROS at 30.0%.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Grey also shows strong margin quality at 19.7%.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Lakshmi and Pink show the danger of weak conversion from sales to profit.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Would you rather have Harshad’s scale or Big Bulls’ margin?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is the minimum margin your team will defend in Round 3?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Capital productivity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Harshad’s strongest managerial signal is ROCE.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15/30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r2_ro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Harshad delivers the highest ROCE at 47.2%.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Grey follows with strong capital productivity and low WACC.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Lakshmi destroys capital with negative ROCE.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capital was employed, and what return did it generate?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team should grow capacity, and which should pause?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Inventory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Inventory tells us where forecasting, pricing, product mix or capacity went wrong.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16/30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inventory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Green still carries over $1.0bn inventory after Round 2.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Lakshmi and Big Bulls also carry high inventory, though their profit outcomes differ.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Akatsuki has no inventory, but no Europe sales: low inventory can also mean missed opportunity.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Is inventory a buffer or a symptom?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inventory should be liquidated, and which should be strategically held?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Cash and financing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Debt and credit ratings show which strategies were financially fragile.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17/30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debt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Green, Lakshmi and Pink carry unplanned short-term debt.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Lakshmi’s credit rating falls to CC; Green remains risky at B.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Harshad, Big Bulls, Grey and Akatsuki preserve strong credit quality.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Why does the same operating profit become less valuable with more risk?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team needs a cash rescue before a growth plan?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Valuation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The market valued Harshad’s scale and quality above the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18/30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mcap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Harshad has the highest market capitalisation at about $11.0bn.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Grey and Akatsuki sit in the next value tier.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Lakshmi and Green remain valuation laggards despite very different operating stories.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exactly is the market capitalising here?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team has the highest upside if it fixes one weakness?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Relative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A state-of-play view: where each team is strong or exposed.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19/30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pic>
        <p:nvPicPr>
          <p:cNvPr id="12" name="Picture 11" descr="heatmap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412480" cy="4114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Harshad is broadly strong across TSR, revenue, ROCE and market share.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Grey scores well across risk, margins and valuation strength.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Lakshmi is weak on margin, risk and shareholder return.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column explains your team’s score most powerfully?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weakness is easiest to repair before Round 3?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Winner profile: Harshad Mehta Gang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Scale + ROCE + market share made Harshad the Round 2 value leader.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20/30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508760"/>
            <a:ext cx="73152" cy="118872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TSR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39.8%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508760"/>
            <a:ext cx="73152" cy="118872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$426m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508760"/>
            <a:ext cx="73152" cy="118872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12.5%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1508760"/>
            <a:ext cx="73152" cy="118872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995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47.2%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0140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201400" y="1508760"/>
            <a:ext cx="73152" cy="118872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6599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Credit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AA-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200400"/>
            <a:ext cx="6217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364992"/>
            <a:ext cx="5760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" y="3703320"/>
            <a:ext cx="5742431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Highest cumulative TSR: 39.8%.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Highest revenue: $3.40bn.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Highest ROCE: 47.2%.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Global share leader: 20.4%.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3200400"/>
            <a:ext cx="5852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9" y="3364992"/>
            <a:ext cx="5394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1" y="3703320"/>
            <a:ext cx="5376672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must Harshad protect: share, margin, or ROCE?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Can Harshad keep growing without inviting price retaliation?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Compounder profile: Grey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Grey is the quiet strategist: lower drama, high quality.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21/30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508760"/>
            <a:ext cx="73152" cy="1188720"/>
          </a:xfrm>
          <a:prstGeom prst="rect">
            <a:avLst/>
          </a:prstGeom>
          <a:solidFill>
            <a:srgbClr val="687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TSR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25.1%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508760"/>
            <a:ext cx="73152" cy="1188720"/>
          </a:xfrm>
          <a:prstGeom prst="rect">
            <a:avLst/>
          </a:prstGeom>
          <a:solidFill>
            <a:srgbClr val="687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$470m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508760"/>
            <a:ext cx="73152" cy="1188720"/>
          </a:xfrm>
          <a:prstGeom prst="rect">
            <a:avLst/>
          </a:prstGeom>
          <a:solidFill>
            <a:srgbClr val="687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19.7%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1508760"/>
            <a:ext cx="73152" cy="1188720"/>
          </a:xfrm>
          <a:prstGeom prst="rect">
            <a:avLst/>
          </a:prstGeom>
          <a:solidFill>
            <a:srgbClr val="687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995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33.8%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0140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201400" y="1508760"/>
            <a:ext cx="73152" cy="1188720"/>
          </a:xfrm>
          <a:prstGeom prst="rect">
            <a:avLst/>
          </a:prstGeom>
          <a:solidFill>
            <a:srgbClr val="687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6599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Credit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AA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200400"/>
            <a:ext cx="6217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364992"/>
            <a:ext cx="5760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" y="3703320"/>
            <a:ext cx="5742431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Second-highest profit: $470.5m.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Strong ROS: 19.7%; ROCE: 33.8%.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Best Europe share and strongest USA share.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AA credit rating and lowest WACC.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3200400"/>
            <a:ext cx="5852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9" y="3364992"/>
            <a:ext cx="5394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1" y="3703320"/>
            <a:ext cx="5376672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Is Grey the most strategically coherent team?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Should Grey attack Asia or deepen its USA/Europe strength?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Profit leader profile: Big Bulls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Big Bulls created the strongest Round 2 profit engine, but not the best cumulative TSR.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22/30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508760"/>
            <a:ext cx="73152" cy="118872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TSR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16.8%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508760"/>
            <a:ext cx="73152" cy="118872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$482m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508760"/>
            <a:ext cx="73152" cy="118872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30.0%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1508760"/>
            <a:ext cx="73152" cy="118872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995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28.7%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0140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201400" y="1508760"/>
            <a:ext cx="73152" cy="118872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6599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Credit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AA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200400"/>
            <a:ext cx="6217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364992"/>
            <a:ext cx="5760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" y="3703320"/>
            <a:ext cx="5742431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Highest Round 2 profit: $482.0m.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Highest ROS: 30.0%.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Lower revenue and lower global share than in Round 1.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Strong AA credit rating.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3200400"/>
            <a:ext cx="5852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9" y="3364992"/>
            <a:ext cx="5394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1" y="3703320"/>
            <a:ext cx="5376672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Is Big Bulls too disciplined or too cautious?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How can Big Bulls convert margin into shareholder return?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Regional specialist profile: Akatsuki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Akatsuki has strong value and Asia leadership, but Europe is a major question.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23/30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508760"/>
            <a:ext cx="73152" cy="1188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TSR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27.1%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508760"/>
            <a:ext cx="73152" cy="1188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$305m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508760"/>
            <a:ext cx="73152" cy="1188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14.9%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1508760"/>
            <a:ext cx="73152" cy="1188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995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23.9%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0140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201400" y="1508760"/>
            <a:ext cx="73152" cy="1188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6599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Credit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AA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200400"/>
            <a:ext cx="6217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364992"/>
            <a:ext cx="5760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" y="3703320"/>
            <a:ext cx="5742431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TSR remains strong at 27.1%.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Asia share leader: 22.0%.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Zero Europe sales in the extracted Round 2 report despite European demand.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AA credit rating and high cash.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3200400"/>
            <a:ext cx="5852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9" y="3364992"/>
            <a:ext cx="5394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1" y="3703320"/>
            <a:ext cx="5376672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Was the Europe outcome intentional focus or execution failure?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Can a regional specialist win a global valuation game?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Turnaround profile: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Green recovered operationally, but the balance sheet is still wounded.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24/30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508760"/>
            <a:ext cx="73152" cy="1188720"/>
          </a:xfrm>
          <a:prstGeom prst="rect">
            <a:avLst/>
          </a:prstGeom>
          <a:solidFill>
            <a:srgbClr val="2FA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TSR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-30.4%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508760"/>
            <a:ext cx="73152" cy="1188720"/>
          </a:xfrm>
          <a:prstGeom prst="rect">
            <a:avLst/>
          </a:prstGeom>
          <a:solidFill>
            <a:srgbClr val="2FA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$95m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508760"/>
            <a:ext cx="73152" cy="1188720"/>
          </a:xfrm>
          <a:prstGeom prst="rect">
            <a:avLst/>
          </a:prstGeom>
          <a:solidFill>
            <a:srgbClr val="2FA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5.1%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1508760"/>
            <a:ext cx="73152" cy="1188720"/>
          </a:xfrm>
          <a:prstGeom prst="rect">
            <a:avLst/>
          </a:prstGeom>
          <a:solidFill>
            <a:srgbClr val="2FA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995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22.7%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0140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201400" y="1508760"/>
            <a:ext cx="73152" cy="1188720"/>
          </a:xfrm>
          <a:prstGeom prst="rect">
            <a:avLst/>
          </a:prstGeom>
          <a:solidFill>
            <a:srgbClr val="2FA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6599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Credit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200400"/>
            <a:ext cx="6217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364992"/>
            <a:ext cx="5760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" y="3703320"/>
            <a:ext cx="5742431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Profit improved by about $833m from Round 1.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Global share rose from 3.7% to 13.0%.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Still has over $1.4bn unplanned short-term debt.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Credit rating remains weak at B.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3200400"/>
            <a:ext cx="5852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9" y="3364992"/>
            <a:ext cx="5394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1" y="3703320"/>
            <a:ext cx="5376672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Is Green now a turnaround story or still a risk story?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is the first discipline Green must impose?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Warning profile: Pink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Pink lost profit quality despite reasonable cumulative TSR.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25/30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508760"/>
            <a:ext cx="73152" cy="1188720"/>
          </a:xfrm>
          <a:prstGeom prst="rect">
            <a:avLst/>
          </a:prstGeom>
          <a:solidFill>
            <a:srgbClr val="E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TSR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16.0%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508760"/>
            <a:ext cx="73152" cy="1188720"/>
          </a:xfrm>
          <a:prstGeom prst="rect">
            <a:avLst/>
          </a:prstGeom>
          <a:solidFill>
            <a:srgbClr val="E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$-12m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508760"/>
            <a:ext cx="73152" cy="1188720"/>
          </a:xfrm>
          <a:prstGeom prst="rect">
            <a:avLst/>
          </a:prstGeom>
          <a:solidFill>
            <a:srgbClr val="E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-0.7%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1508760"/>
            <a:ext cx="73152" cy="1188720"/>
          </a:xfrm>
          <a:prstGeom prst="rect">
            <a:avLst/>
          </a:prstGeom>
          <a:solidFill>
            <a:srgbClr val="E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995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6.8%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0140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201400" y="1508760"/>
            <a:ext cx="73152" cy="1188720"/>
          </a:xfrm>
          <a:prstGeom prst="rect">
            <a:avLst/>
          </a:prstGeom>
          <a:solidFill>
            <a:srgbClr val="E6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6599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Credit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BBB+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200400"/>
            <a:ext cx="6217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364992"/>
            <a:ext cx="5760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" y="3703320"/>
            <a:ext cx="5742431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Profit fell from $441.9m to a loss of $12.5m.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Credit rating declined to BBB+.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Unplanned short-term debt appeared.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Global share slipped from 14.7% to 12.7%.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3200400"/>
            <a:ext cx="5852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9" y="3364992"/>
            <a:ext cx="5394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1" y="3703320"/>
            <a:ext cx="5376672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changed between Round 1 and Round 2?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cost or market assumption must Pink challenge first?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Crisis profile: Lakshmi Chit 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Lakshmi is the clearest case of value destruction in Round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26/30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508760"/>
            <a:ext cx="73152" cy="1188720"/>
          </a:xfrm>
          <a:prstGeom prst="rect">
            <a:avLst/>
          </a:prstGeom>
          <a:solidFill>
            <a:srgbClr val="1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TSR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-22.9%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508760"/>
            <a:ext cx="73152" cy="1188720"/>
          </a:xfrm>
          <a:prstGeom prst="rect">
            <a:avLst/>
          </a:prstGeom>
          <a:solidFill>
            <a:srgbClr val="1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$-766m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508760"/>
            <a:ext cx="73152" cy="1188720"/>
          </a:xfrm>
          <a:prstGeom prst="rect">
            <a:avLst/>
          </a:prstGeom>
          <a:solidFill>
            <a:srgbClr val="1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-41.9%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1508760"/>
            <a:ext cx="73152" cy="1188720"/>
          </a:xfrm>
          <a:prstGeom prst="rect">
            <a:avLst/>
          </a:prstGeom>
          <a:solidFill>
            <a:srgbClr val="1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995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ROCE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-14.0%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01400" y="1508760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201400" y="1508760"/>
            <a:ext cx="73152" cy="1188720"/>
          </a:xfrm>
          <a:prstGeom prst="rect">
            <a:avLst/>
          </a:prstGeom>
          <a:solidFill>
            <a:srgbClr val="1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65992" y="1618488"/>
            <a:ext cx="2148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Credit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1892807"/>
            <a:ext cx="2148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CC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200400"/>
            <a:ext cx="62179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364992"/>
            <a:ext cx="5760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" y="3703320"/>
            <a:ext cx="5742431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Round 2 loss: $765.7m.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TSR fell to -22.9%.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Credit rating declined to CC.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High inventory and high unplanned debt.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3200400"/>
            <a:ext cx="5852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9" y="3364992"/>
            <a:ext cx="53949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1" y="3703320"/>
            <a:ext cx="5376672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assumption failed most badly: demand, pricing, features, capacity or financing?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would a credible rescue plan include?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What the market rewarded in Round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Coherent strategies beat isolated brilliance.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27/30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Scale with capital productivity: Harshad.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Margin with discipline: Big Bulls and Grey.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Risk control: Grey, Akatsuki, Big Bulls and Harshad.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Regional clarity: Grey in USA/Europe and Akatsuki in Asia.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reward was most important in your team’s result?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Can your team explain its result through one coherent strategic logic?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2120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5212080"/>
            <a:ext cx="73152" cy="9144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321808"/>
            <a:ext cx="24231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5596128"/>
            <a:ext cx="2423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Reward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52120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5212080"/>
            <a:ext cx="73152" cy="9144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2" y="5321808"/>
            <a:ext cx="24231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5596128"/>
            <a:ext cx="2423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Reward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19" y="52120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19" y="5212080"/>
            <a:ext cx="73152" cy="9144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25511" y="5321808"/>
            <a:ext cx="24231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Risk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5511" y="5596128"/>
            <a:ext cx="2423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Reward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07039" y="52120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39" y="5212080"/>
            <a:ext cx="73152" cy="914400"/>
          </a:xfrm>
          <a:prstGeom prst="rect">
            <a:avLst/>
          </a:prstGeom>
          <a:solidFill>
            <a:srgbClr val="1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71631" y="5321808"/>
            <a:ext cx="24231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Regional 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1631" y="5596128"/>
            <a:ext cx="2423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Reward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What the market punished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Round 2 punished mismatch more than ambition.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28/30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Feature-heavy or technology-heavy offers without sufficient willingness to pay.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Inventory that reveals forecast error or product-market mismatch.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Unplanned debt that increases risk and lowers valuation.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Regional neglect: either missing demand or selling into the wrong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punished decision is reversible before Round 3?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Which punished decision will haunt your team for several rounds?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2120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5212080"/>
            <a:ext cx="73152" cy="9144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321808"/>
            <a:ext cx="24231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Mismatch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5596128"/>
            <a:ext cx="2423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Penalty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52120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5212080"/>
            <a:ext cx="73152" cy="9144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2" y="5321808"/>
            <a:ext cx="24231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5596128"/>
            <a:ext cx="2423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Penalty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19" y="52120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19" y="5212080"/>
            <a:ext cx="73152" cy="914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25511" y="5321808"/>
            <a:ext cx="24231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Unplanned debt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5511" y="5596128"/>
            <a:ext cx="2423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Penalty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07039" y="521208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39" y="5212080"/>
            <a:ext cx="73152" cy="914400"/>
          </a:xfrm>
          <a:prstGeom prst="rect">
            <a:avLst/>
          </a:prstGeom>
          <a:solidFill>
            <a:srgbClr val="687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71631" y="5321808"/>
            <a:ext cx="24231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Regional neglect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1631" y="5596128"/>
            <a:ext cx="2423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Penalty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01752"/>
            <a:ext cx="978408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72238"/>
                </a:solidFill>
                <a:latin typeface="Aptos"/>
              </a:rPr>
              <a:t>Round 3 decision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41248"/>
            <a:ext cx="10424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87383"/>
                </a:solidFill>
                <a:latin typeface="Aptos"/>
              </a:rPr>
              <a:t>Make the next decision from evidence, not from emotional reaction.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4747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GL Sec C • U1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95960" y="34747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87383"/>
                </a:solidFill>
                <a:latin typeface="Aptos"/>
              </a:rPr>
              <a:t>29/30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243584"/>
            <a:ext cx="1920240" cy="36576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7818120"/>
            <a:ext cx="98755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687383"/>
                </a:solidFill>
                <a:latin typeface="Aptos"/>
              </a:rPr>
              <a:t>Source: Section C Universe 1 Round 1 &amp; Round 2 results + CESIM valuation/results guides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1508760"/>
            <a:ext cx="4572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67335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3A6"/>
                </a:solidFill>
                <a:latin typeface="Aptos"/>
              </a:rPr>
              <a:t>Teaching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72" y="2011680"/>
            <a:ext cx="4096512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Demand: where do we have demonstrated willingness to pay?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Price-feature: which bundle has the highest contribution margin?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Production: what should be made locally, outsourced, or stopped?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Finance: what cash-flow guardrail cannot be violated?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• Technology: which option must be ready now, and which can wait?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388620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4050791"/>
            <a:ext cx="4114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4389120"/>
            <a:ext cx="4096512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one metric will your team monitor first after Round 3?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decision rule will prevent repeating your Round 2 mistake?</a:t>
            </a:r>
          </a:p>
        </p:txBody>
      </p:sp>
      <p:sp>
        <p:nvSpPr>
          <p:cNvPr id="18" name="Chevron 17"/>
          <p:cNvSpPr/>
          <p:nvPr/>
        </p:nvSpPr>
        <p:spPr>
          <a:xfrm>
            <a:off x="822960" y="5760720"/>
            <a:ext cx="1828800" cy="594360"/>
          </a:xfrm>
          <a:prstGeom prst="chevron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934456"/>
            <a:ext cx="1417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Demand</a:t>
            </a:r>
          </a:p>
        </p:txBody>
      </p:sp>
      <p:sp>
        <p:nvSpPr>
          <p:cNvPr id="20" name="Chevron 19"/>
          <p:cNvSpPr/>
          <p:nvPr/>
        </p:nvSpPr>
        <p:spPr>
          <a:xfrm>
            <a:off x="2971800" y="5760720"/>
            <a:ext cx="1828800" cy="594360"/>
          </a:xfrm>
          <a:prstGeom prst="chevron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5934456"/>
            <a:ext cx="1417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Price</a:t>
            </a:r>
          </a:p>
        </p:txBody>
      </p:sp>
      <p:sp>
        <p:nvSpPr>
          <p:cNvPr id="22" name="Chevron 21"/>
          <p:cNvSpPr/>
          <p:nvPr/>
        </p:nvSpPr>
        <p:spPr>
          <a:xfrm>
            <a:off x="5120640" y="5760720"/>
            <a:ext cx="1828800" cy="594360"/>
          </a:xfrm>
          <a:prstGeom prst="chevron">
            <a:avLst/>
          </a:prstGeom>
          <a:solidFill>
            <a:srgbClr val="1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5934456"/>
            <a:ext cx="1417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Product</a:t>
            </a:r>
          </a:p>
        </p:txBody>
      </p:sp>
      <p:sp>
        <p:nvSpPr>
          <p:cNvPr id="24" name="Chevron 23"/>
          <p:cNvSpPr/>
          <p:nvPr/>
        </p:nvSpPr>
        <p:spPr>
          <a:xfrm>
            <a:off x="7269480" y="5760720"/>
            <a:ext cx="1828800" cy="594360"/>
          </a:xfrm>
          <a:prstGeom prst="chevron">
            <a:avLst/>
          </a:prstGeom>
          <a:solidFill>
            <a:srgbClr val="2FA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5934456"/>
            <a:ext cx="1417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Production</a:t>
            </a:r>
          </a:p>
        </p:txBody>
      </p:sp>
      <p:sp>
        <p:nvSpPr>
          <p:cNvPr id="26" name="Chevron 25"/>
          <p:cNvSpPr/>
          <p:nvPr/>
        </p:nvSpPr>
        <p:spPr>
          <a:xfrm>
            <a:off x="9418320" y="5760720"/>
            <a:ext cx="1828800" cy="594360"/>
          </a:xfrm>
          <a:prstGeom prst="chevron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5934456"/>
            <a:ext cx="1417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Finance</a:t>
            </a:r>
          </a:p>
        </p:txBody>
      </p:sp>
      <p:sp>
        <p:nvSpPr>
          <p:cNvPr id="28" name="Chevron 27"/>
          <p:cNvSpPr/>
          <p:nvPr/>
        </p:nvSpPr>
        <p:spPr>
          <a:xfrm>
            <a:off x="11567160" y="5760720"/>
            <a:ext cx="1828800" cy="594360"/>
          </a:xfrm>
          <a:prstGeom prst="chevron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612880" y="5934456"/>
            <a:ext cx="1417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Technology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8229600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09344" y="0"/>
            <a:ext cx="658368" cy="8229600"/>
          </a:xfrm>
          <a:prstGeom prst="rect">
            <a:avLst/>
          </a:prstGeom>
          <a:solidFill>
            <a:srgbClr val="F0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40864" y="0"/>
            <a:ext cx="658368" cy="822960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5486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Closing reflection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91440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2F6FA"/>
                </a:solidFill>
                <a:latin typeface="Aptos"/>
              </a:rPr>
              <a:t>The best strategy is not the boldest. It is the most coherent.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20700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D8E0E8"/>
                </a:solidFill>
                <a:latin typeface="Aptos"/>
              </a:rPr>
              <a:t>Round 2 shows four management truths: growth is not enough; margins are fragile; inventory is judgment made visible; and financial risk changes the value of every future cash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977639"/>
            <a:ext cx="60350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42231"/>
            <a:ext cx="55778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08A24"/>
                </a:solidFill>
                <a:latin typeface="Aptos"/>
              </a:rPr>
              <a:t>Socratic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4480559"/>
            <a:ext cx="5559552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will your team stop doing immediately?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will your team do more deliberately in Round 3?</a:t>
            </a:r>
          </a:p>
          <a:p>
            <a:pPr>
              <a:spcAft>
                <a:spcPts val="500"/>
              </a:spcAft>
              <a:defRPr sz="950">
                <a:solidFill>
                  <a:srgbClr val="172238"/>
                </a:solidFill>
              </a:defRPr>
            </a:pPr>
            <a:r>
              <a:t>? What would your investors ask you before giving you more capital?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977639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3977639"/>
            <a:ext cx="73152" cy="2194560"/>
          </a:xfrm>
          <a:prstGeom prst="rect">
            <a:avLst/>
          </a:prstGeom>
          <a:solidFill>
            <a:srgbClr val="00A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1" y="4087368"/>
            <a:ext cx="525780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87383"/>
                </a:solidFill>
                <a:latin typeface="Aptos"/>
              </a:rPr>
              <a:t>Final teaching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1" y="4361688"/>
            <a:ext cx="52578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238"/>
                </a:solidFill>
                <a:latin typeface="Aptos"/>
              </a:rPr>
              <a:t>Coherence creates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1" y="4782312"/>
            <a:ext cx="523036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87383"/>
                </a:solidFill>
                <a:latin typeface="Aptos"/>
              </a:rPr>
              <a:t>A coherent team links market choice, price, product, production, finance and risk into one clear managerial logic.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95960" y="7818120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700" b="0">
                <a:solidFill>
                  <a:srgbClr val="D8E0E8"/>
                </a:solidFill>
                <a:latin typeface="Aptos"/>
              </a:rPr>
              <a:t>30/30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