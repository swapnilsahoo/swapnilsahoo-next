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and profit, USD bn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U1 Sales</c:v>
                  </c:pt>
                  <c:pt idx="1">
                    <c:v>U2 Sales</c:v>
                  </c:pt>
                  <c:pt idx="2">
                    <c:v>U1 Profit</c:v>
                  </c:pt>
                  <c:pt idx="3">
                    <c:v>U2 Profit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14.800893072000521</c:v>
                </c:pt>
                <c:pt idx="1">
                  <c:v>11.121224516036206</c:v>
                </c:pt>
                <c:pt idx="2">
                  <c:v>0.9996586409805749</c:v>
                </c:pt>
                <c:pt idx="3">
                  <c:v>3.376576235365961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ROS (%)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Universe 1</c:v>
                  </c:pt>
                  <c:pt idx="1">
                    <c:v>Universe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6.754042719703661</c:v>
                </c:pt>
                <c:pt idx="1">
                  <c:v>30.361550839092587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from R1 to R2 (%) / pp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U1 Sales</c:v>
                  </c:pt>
                  <c:pt idx="1">
                    <c:v>U2 Sales</c:v>
                  </c:pt>
                  <c:pt idx="2">
                    <c:v>U1 Profit</c:v>
                  </c:pt>
                  <c:pt idx="3">
                    <c:v>U2 Profit</c:v>
                  </c:pt>
                  <c:pt idx="4">
                    <c:v>U1 Inventory</c:v>
                  </c:pt>
                  <c:pt idx="5">
                    <c:v>U2 Inventory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33.615754921186934</c:v>
                </c:pt>
                <c:pt idx="1">
                  <c:v>14.97620274352173</c:v>
                </c:pt>
                <c:pt idx="2">
                  <c:v>27.791210584962183</c:v>
                </c:pt>
                <c:pt idx="3">
                  <c:v>72.77554177460456</c:v>
                </c:pt>
                <c:pt idx="4">
                  <c:v>55.49251462708917</c:v>
                </c:pt>
                <c:pt idx="5">
                  <c:v>15.402982852488453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profit / team, USD bn</c:v>
                </c:pt>
              </c:strCache>
            </c:strRef>
          </c:tx>
          <c:spPr>
            <a:solidFill>
              <a:srgbClr val="229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Universe 1</c:v>
                  </c:pt>
                  <c:pt idx="1">
                    <c:v>Universe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0.14280837728293927</c:v>
                </c:pt>
                <c:pt idx="1">
                  <c:v>0.5627627058943268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2 TSR by team: Universe 1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Harshad Mehta Gang</c:v>
                  </c:pt>
                  <c:pt idx="2">
                    <c:v>Lakshmi Chit Fund</c:v>
                  </c:pt>
                  <c:pt idx="3">
                    <c:v>Big Bulls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-30.382615</c:v>
                </c:pt>
                <c:pt idx="1">
                  <c:v>39.760683</c:v>
                </c:pt>
                <c:pt idx="2">
                  <c:v>-22.909601</c:v>
                </c:pt>
                <c:pt idx="3">
                  <c:v>16.847099</c:v>
                </c:pt>
                <c:pt idx="4">
                  <c:v>25.128017</c:v>
                </c:pt>
                <c:pt idx="5">
                  <c:v>27.119186</c:v>
                </c:pt>
                <c:pt idx="6">
                  <c:v>15.987749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2 TSR by team: Universe 2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25.567419</c:v>
                </c:pt>
                <c:pt idx="1">
                  <c:v>38.345918</c:v>
                </c:pt>
                <c:pt idx="2">
                  <c:v>-31.705986</c:v>
                </c:pt>
                <c:pt idx="3">
                  <c:v>48.183506</c:v>
                </c:pt>
                <c:pt idx="4">
                  <c:v>27.600122</c:v>
                </c:pt>
                <c:pt idx="5">
                  <c:v>34.653217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 spending, Round 2 (USD bn)</c:v>
                </c:pt>
              </c:strCache>
            </c:strRef>
          </c:tx>
          <c:spPr>
            <a:solidFill>
              <a:srgbClr val="7A3E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U1 total</c:v>
                  </c:pt>
                  <c:pt idx="1">
                    <c:v>U2 total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3.618325</c:v>
                </c:pt>
                <c:pt idx="1">
                  <c:v>0.513176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change from R1 to R2 (%)</c:v>
                </c:pt>
              </c:strCache>
            </c:strRef>
          </c:tx>
          <c:spPr>
            <a:solidFill>
              <a:srgbClr val="229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Universe 1</c:v>
                  </c:pt>
                  <c:pt idx="1">
                    <c:v>Universe 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27.791210584962183</c:v>
                </c:pt>
                <c:pt idx="1">
                  <c:v>72.77554177460456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2 inventory by team: Universe 1 (USD bn)</c:v>
                </c:pt>
              </c:strCache>
            </c:strRef>
          </c:tx>
          <c:spPr>
            <a:solidFill>
              <a:srgbClr val="D08C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Green</c:v>
                  </c:pt>
                  <c:pt idx="1">
                    <c:v>Harshad Mehta Gang</c:v>
                  </c:pt>
                  <c:pt idx="2">
                    <c:v>Lakshmi Chit Fund</c:v>
                  </c:pt>
                  <c:pt idx="3">
                    <c:v>Big Bulls</c:v>
                  </c:pt>
                  <c:pt idx="4">
                    <c:v>Grey</c:v>
                  </c:pt>
                  <c:pt idx="5">
                    <c:v>Akatsuki</c:v>
                  </c:pt>
                  <c:pt idx="6">
                    <c:v>Pink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1.016020695312</c:v>
                </c:pt>
                <c:pt idx="1">
                  <c:v>0.045741570365</c:v>
                </c:pt>
                <c:pt idx="2">
                  <c:v>0.798083497385</c:v>
                </c:pt>
                <c:pt idx="3">
                  <c:v>0.651870045067</c:v>
                </c:pt>
                <c:pt idx="4">
                  <c:v>0.10258332312099999</c:v>
                </c:pt>
                <c:pt idx="5">
                  <c:v>0</c:v>
                </c:pt>
                <c:pt idx="6">
                  <c:v>0.253091827582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Round 2 inventory by team: Universe 2 (USD bn)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Vijay Mallya</c:v>
                  </c:pt>
                  <c:pt idx="2">
                    <c:v>Blues Clues</c:v>
                  </c:pt>
                  <c:pt idx="3">
                    <c:v>Lehman Bros.</c:v>
                  </c:pt>
                  <c:pt idx="4">
                    <c:v>T5S</c:v>
                  </c:pt>
                  <c:pt idx="5">
                    <c:v>SEBI's Watchlist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0.169893159362</c:v>
                </c:pt>
                <c:pt idx="2">
                  <c:v>0.867342828357</c:v>
                </c:pt>
                <c:pt idx="3">
                  <c:v>0</c:v>
                </c:pt>
                <c:pt idx="4">
                  <c:v>0</c:v>
                </c:pt>
                <c:pt idx="5">
                  <c:v>0.600388242352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regional market shares (%)</c:v>
                </c:pt>
              </c:strCache>
            </c:strRef>
          </c:tx>
          <c:spPr>
            <a:solidFill>
              <a:srgbClr val="10A7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U1 USA</c:v>
                  </c:pt>
                  <c:pt idx="1">
                    <c:v>U2 USA</c:v>
                  </c:pt>
                  <c:pt idx="2">
                    <c:v>U1 Asia</c:v>
                  </c:pt>
                  <c:pt idx="3">
                    <c:v>U2 Asia</c:v>
                  </c:pt>
                  <c:pt idx="4">
                    <c:v>U1 Europe</c:v>
                  </c:pt>
                  <c:pt idx="5">
                    <c:v>U2 Europe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14.285714285714267</c:v>
                </c:pt>
                <c:pt idx="1">
                  <c:v>16.66666666666666</c:v>
                </c:pt>
                <c:pt idx="2">
                  <c:v>14.285714285714304</c:v>
                </c:pt>
                <c:pt idx="3">
                  <c:v>16.666666666666657</c:v>
                </c:pt>
                <c:pt idx="4">
                  <c:v>14.285714285714286</c:v>
                </c:pt>
                <c:pt idx="5">
                  <c:v>16.66666666666666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dispUnits>
          <c:builtInUnit val="none"/>
        </c:dispUnits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chart" Target="../charts/chart1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1.xml"/><Relationship Id="rId2" Type="http://schemas.openxmlformats.org/officeDocument/2006/relationships/chart" Target="..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3.xml"/><Relationship Id="rId2" Type="http://schemas.openxmlformats.org/officeDocument/2006/relationships/chart" Target="../charts/chart2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25.xml"/><Relationship Id="rId2" Type="http://schemas.openxmlformats.org/officeDocument/2006/relationships/chart" Target="../charts/chart2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A7A1"/>
          </a:solidFill>
          <a:ln w="12700">
            <a:solidFill>
              <a:srgbClr val="10A7A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28016"/>
            <a:ext cx="12191695" cy="100584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E4F0"/>
                </a:solidFill>
              </a:rPr>
              <a:t>CESIM Global Challenge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Universe 1 vs Universe 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13232" y="202996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0"/>
                </a:solidFill>
              </a:rPr>
              <a:t>Round 2 cross-universe insight deck • GL Sec C Group July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C84B"/>
                </a:solidFill>
              </a:rPr>
              <a:t>Core teaching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82112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Why did one universe create more revenue while the other created far more profit and valuation quality?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909560" y="5074920"/>
            <a:ext cx="3474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0" y="51846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046720" y="5422392"/>
            <a:ext cx="320040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universe looked bigger? Which looked healthier?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can Universe 1 learn from Universe 2, and vice versa?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713232" y="644652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CA3AF"/>
                </a:solidFill>
              </a:rPr>
              <a:t>Source: Section C Universe 1 and Universe 2 Round 1 &amp; Round 2 CESIM results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exactly is being compared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1 and Universe 2 are separate competitive markets with different team counts.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2/19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Because Universe 1 has seven teams and Universe 2 has six, compare both totals and per-team averages.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9784080" cy="1737360"/>
        </p:xfrm>
        <a:graphic>
          <a:graphicData uri="http://schemas.openxmlformats.org/drawingml/2006/table">
            <a:tbl>
              <a:tblPr/>
              <a:tblGrid>
                <a:gridCol w="1143000"/>
                <a:gridCol w="685800"/>
                <a:gridCol w="4251960"/>
                <a:gridCol w="274320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1→Round 2 name continuity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comparison lens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Green, Harshad Mehta Gang, Lakshmi Chit Fund, Big Bulls, Grey, Akatsuki, Pink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Totals + per-team averages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Green, Vijay Mallya, Blues Clues, Lehman Bros., T5S, SEBI’s Watchlist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Totals + per-team averages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3977640"/>
            <a:ext cx="694944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Universe 1 Round 1 names were mapped to Round 2 renamed teams for valid comparison.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Universe 2 team names stayed consistent from Round 1 to Round 2.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The cross-universe task is not to rank classes but to compare strategic learning patterns.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40690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092440" y="417880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092440" y="4416552"/>
            <a:ext cx="301752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Why can total sales mislead when team counts differ?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denominator should we use for a fair cross-universe discussion?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executive dashboard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1 is larger; Universe 2 is much more profitable.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3/19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49808" y="132588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9536" y="14356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U1 sales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859536" y="16093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C2B"/>
                </a:solidFill>
              </a:rPr>
              <a:t>$14.8bn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9536" y="1874520"/>
            <a:ext cx="1472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7 teams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33472" y="132588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743200" y="14356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U2 sales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2743200" y="16093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7A1"/>
                </a:solidFill>
              </a:rPr>
              <a:t>$11.1bn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1874520"/>
            <a:ext cx="1472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 teams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17136" y="132588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26864" y="14356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U1 profit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626864" y="16093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8C2B"/>
                </a:solidFill>
              </a:rPr>
              <a:t>$1.0bn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26864" y="1874520"/>
            <a:ext cx="1472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6.8% ROS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169164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10528" y="1435608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U2 profit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510528" y="16093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A7A1"/>
                </a:solidFill>
              </a:rPr>
              <a:t>$3.4bn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10528" y="1874520"/>
            <a:ext cx="1472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30.4% ROS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8284464" y="1325880"/>
            <a:ext cx="187452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FE7EF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394192" y="1435608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67085"/>
                </a:solidFill>
              </a:rPr>
              <a:t>Top TSR gap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8394192" y="1609344"/>
            <a:ext cx="1655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3E9D"/>
                </a:solidFill>
              </a:rPr>
              <a:t>8.4%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394192" y="1874520"/>
            <a:ext cx="1655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</a:rPr>
              <a:t>U2 top exceeds U1 top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22960" y="238658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Total sales and profit, USD bn</a:t>
            </a:r>
            <a:endParaRPr lang="en-US" sz="8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822960" y="2606040"/>
          <a:ext cx="46634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6309360" y="2386584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Aggregate ROS (%)</a:t>
            </a:r>
            <a:endParaRPr lang="en-US" sz="85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6309360" y="260604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7818120" y="5230368"/>
            <a:ext cx="33832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7955280" y="53400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955280" y="5577840"/>
            <a:ext cx="3108960" cy="521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universe created more revenue? Which created more value?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operational choices explain the profit gap?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growth-quality paradox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1 grew faster in sales; Universe 2 grew faster in profit.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4/19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The managerial lesson is simple: revenue growth without margin quality does not create strong valuation.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5120640" cy="2560320"/>
        </p:xfrm>
        <a:graphic>
          <a:graphicData uri="http://schemas.openxmlformats.org/drawingml/2006/table">
            <a:tbl>
              <a:tblPr/>
              <a:tblGrid>
                <a:gridCol w="1508760"/>
                <a:gridCol w="155448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1 change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2 change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+72.8%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Aggregate ROS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+10.2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+47.3%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0" y="160934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Change from R1 to R2 (%) / pp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0" y="182880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498080" y="47091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635240" y="48188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35240" y="5056632"/>
            <a:ext cx="3200400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universe made the better trade-off between growth and discipline?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When does growth become a trap?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Per-team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Even after adjusting for team count, Universe 2 produced much more profit per company.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5/19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Average profit per team: U1 $143m vs U2 $563m.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645920"/>
          <a:ext cx="5669280" cy="2468880"/>
        </p:xfrm>
        <a:graphic>
          <a:graphicData uri="http://schemas.openxmlformats.org/drawingml/2006/table">
            <a:tbl>
              <a:tblPr/>
              <a:tblGrid>
                <a:gridCol w="1645920"/>
                <a:gridCol w="1234440"/>
                <a:gridCol w="1234440"/>
                <a:gridCol w="123444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sales / team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$2.1bn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$1.9bn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$0.3bn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profit / team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$563m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$-420m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TSR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ROCE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-18.1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086600" y="170078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Average profit / team, USD bn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086600" y="1920240"/>
          <a:ext cx="32918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452360" y="4617720"/>
            <a:ext cx="3200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B1F3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589520" y="47274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589520" y="4965192"/>
            <a:ext cx="2926080" cy="6766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does the average reveal that the total hides?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Should a team prefer a larger but less profitable universe?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TSR ecosystem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2’s best company created a stronger valuation story than Universe 1’s leader.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6/19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Top TSR: U1 Harshad Mehta Gang at 39.8%; U2 Lehman Bros. at 48.2%.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51790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2 TSR by team: Universe 1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77240" y="1737360"/>
          <a:ext cx="48463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263640" y="151790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2 TSR by team: Universe 2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63640" y="1737360"/>
          <a:ext cx="48463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822960" y="4526280"/>
            <a:ext cx="6583680" cy="777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Both universes have at least one severe negative TSR case.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U2 has a higher leader and stronger average TSR despite fewer teams.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U1 has a wider pattern of strategic inconsistency.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2668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863840" y="46817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863840" y="4919472"/>
            <a:ext cx="31089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is the market saying about future cash-flow credibility in each universe?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negative TSR case is more recoverable?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Top-team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Harshad Mehta Gang led U1; Lehman Bros. led U2 with a stronger all-round valuation profile.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7/19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6035040" cy="3108960"/>
        </p:xfrm>
        <a:graphic>
          <a:graphicData uri="http://schemas.openxmlformats.org/drawingml/2006/table">
            <a:tbl>
              <a:tblPr/>
              <a:tblGrid>
                <a:gridCol w="1097280"/>
                <a:gridCol w="2103120"/>
                <a:gridCol w="21031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leader: Harshad Mehta Gang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leader: Lehman Bros.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39.8%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48.2%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$3.4bn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$2.6bn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$426m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$832m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12.5%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31.6%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47.2%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54.0%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Global share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20.4%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22.7%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rating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178040" y="1737360"/>
            <a:ext cx="356616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Harshad Mehta Gang has larger sales and strong TSR, but lower profit conversion.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Lehman Bros. has a stronger profit/ROS/ROCE combination.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The cross-universe lesson: scale is not enough; conversion quality matters.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98080" y="457200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635240" y="468172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35240" y="4919472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If you had to invest in one leader, what would you ask before buying?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leader has the better Round 3 vulnerability?</a:t>
            </a:r>
            <a:endParaRPr lang="en-US" sz="8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Profit-leader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U2’s profit leader created almost twice the profit of U1’s profit leader.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8/19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63040"/>
          <a:ext cx="6309360" cy="3108960"/>
        </p:xfrm>
        <a:graphic>
          <a:graphicData uri="http://schemas.openxmlformats.org/drawingml/2006/table">
            <a:tbl>
              <a:tblPr/>
              <a:tblGrid>
                <a:gridCol w="1051560"/>
                <a:gridCol w="2240280"/>
                <a:gridCol w="224028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profit leader: Big Bulls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profit leader: SEBI’s Watchlist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$482m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$867m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$1.6bn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$2.3bn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$652m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$600m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rating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60920" y="1737360"/>
            <a:ext cx="3383280" cy="1600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80" dirty="0">
                <a:solidFill>
                  <a:srgbClr val="111827"/>
                </a:solidFill>
              </a:rPr>
              <a:t>Big Bulls has high ROS but weak TSR relative to its profit.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SEBI’s Watchlist has very high profit and ROS, but inventory still needs attention.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Both prove the same lesson: profit does not automatically settle valuation.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7543800" y="4572000"/>
            <a:ext cx="3383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29954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680960" y="4681728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9954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680960" y="4919472"/>
            <a:ext cx="310896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Why might the profit leader not become the TSR leader?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does inventory do to investor confidence?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and investment discipline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1 increased R&amp;D sharply while Universe 2 cut R&amp;D and improved profit.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9/19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R&amp;D change: U1 +47.3% vs U2 -55.5%.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15179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R&amp;D spending, Round 2 (USD bn)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77240" y="1737360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989320" y="151790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Profit change from R1 to R2 (%)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5989320" y="1737360"/>
          <a:ext cx="42976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868680" y="4389120"/>
            <a:ext cx="6400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00" dirty="0">
                <a:solidFill>
                  <a:srgbClr val="111827"/>
                </a:solidFill>
              </a:rPr>
              <a:t>U1 may have bought future technology options, but Round 2 profit did not yet justify the expense.</a:t>
            </a:r>
            <a:endParaRPr lang="en-US" sz="1200" dirty="0"/>
          </a:p>
          <a:p>
            <a:r>
              <a:rPr lang="en-US" sz="1200" dirty="0">
                <a:solidFill>
                  <a:srgbClr val="111827"/>
                </a:solidFill>
              </a:rPr>
              <a:t>U2 may have timed R&amp;D better, but must guard against future underinvestment.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543800" y="452628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7A3E9D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680960" y="463600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3E9D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680960" y="4873752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universe is more exposed to future technology risk?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evidence makes R&amp;D spending value creating?</a:t>
            </a:r>
            <a:endParaRPr lang="en-US" sz="8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demand forecasting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1 has a much deeper inventory problem than Universe 2.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10/19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Inventory rose +55.5% in U1 and +15.4% in U2.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1517904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2 inventory by team: Universe 1 (USD bn)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31520" y="1737360"/>
          <a:ext cx="507492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263640" y="151790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Round 2 inventory by team: Universe 2 (USD bn)</a:t>
            </a:r>
            <a:endParaRPr lang="en-US" sz="85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263640" y="1737360"/>
          <a:ext cx="457200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822960" y="4617720"/>
            <a:ext cx="6812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180" dirty="0">
                <a:solidFill>
                  <a:srgbClr val="111827"/>
                </a:solidFill>
              </a:rPr>
              <a:t>U1 has large inventory across multiple teams, not only one distressed team.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U2 inventory is concentrated mainly in Blues Clues and SEBI’s Watchlist.</a:t>
            </a:r>
            <a:endParaRPr lang="en-US" sz="1180" dirty="0"/>
          </a:p>
          <a:p>
            <a:r>
              <a:rPr lang="en-US" sz="1180" dirty="0">
                <a:solidFill>
                  <a:srgbClr val="111827"/>
                </a:solidFill>
              </a:rPr>
              <a:t>Inventory shows which forecasts did not meet the market.</a:t>
            </a:r>
            <a:endParaRPr lang="en-US" sz="1180" dirty="0"/>
          </a:p>
        </p:txBody>
      </p:sp>
      <p:sp>
        <p:nvSpPr>
          <p:cNvPr id="16" name="Shape 12"/>
          <p:cNvSpPr/>
          <p:nvPr/>
        </p:nvSpPr>
        <p:spPr>
          <a:xfrm>
            <a:off x="7818120" y="461772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7955280" y="4727448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7955280" y="4965192"/>
            <a:ext cx="30632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kind of false belief creates inventory?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Should teams first cut production, reduce price, or change features?</a:t>
            </a:r>
            <a:endParaRPr lang="en-US" sz="8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credit quality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Universe 2 has one extreme distress case; Universe 1 has more broad-based rating weakness.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11/19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508760"/>
          <a:ext cx="9692640" cy="2194560"/>
        </p:xfrm>
        <a:graphic>
          <a:graphicData uri="http://schemas.openxmlformats.org/drawingml/2006/table">
            <a:tbl>
              <a:tblPr/>
              <a:tblGrid>
                <a:gridCol w="1188720"/>
                <a:gridCol w="2834640"/>
                <a:gridCol w="2011680"/>
                <a:gridCol w="29260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Best rating pattern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Distress cases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Teaching signal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Several AA teams, but Green B, Lakshmi CC, Pink BBB+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Green, Lakshmi Chit Fund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Investment ambition and inventory damaged risk quality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2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Most teams AA/AA–; one CCC+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Blues Clues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severe broken business model weakens the average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68680" y="4160520"/>
            <a:ext cx="6400800" cy="731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Credit rating matters because it changes the cost of capital and valuation.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Risk is not just a finance-page detail; it is the market’s patience with your future story.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0" y="429768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B1F3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909560" y="440740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909560" y="4645152"/>
            <a:ext cx="29718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universe has more recoverable risk?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must a low-rated team prove before asking for investor confidence?</a:t>
            </a:r>
            <a:endParaRPr lang="en-US" sz="8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comparison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Regional battles differ, but both universes need sharper market selection.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12/19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The first strategic question is not “where can we sell?” but “where can we win profitably?”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45920"/>
          <a:ext cx="3840480" cy="192024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2344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U1 average share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U2 average share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14.3%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Asia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14.3%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Europe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14.3%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16.7%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577840" y="1563624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</a:rPr>
              <a:t>Average regional market shares (%)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577840" y="1783080"/>
          <a:ext cx="48463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0"/>
          <p:cNvSpPr/>
          <p:nvPr/>
        </p:nvSpPr>
        <p:spPr>
          <a:xfrm>
            <a:off x="7452360" y="4617720"/>
            <a:ext cx="34290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7589520" y="47274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589520" y="4965192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region should your team defend, attack, or exit?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Where did regional ambition outrun operational ability?</a:t>
            </a:r>
            <a:endParaRPr lang="en-US" sz="8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archetypes across universes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Four archetypes emerged from Round 2.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13/19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Each archetype needs a different Round 3 discipline.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058400" cy="301752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2926080"/>
                <a:gridCol w="29260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Archetype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First-principle concern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3 discipline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Scale leader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Harshad Mehta Gang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scale convert into margin?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Protect share without overpaying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 engine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SEBI’s Watchlist / Big Bulls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 profit repeatable and low-risk?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inventory and explain future cash flow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valuer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Lehman Bros.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coherence be sustained?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Defend advantage while investing selectively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Distress case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Lakshmi Chit Fund / Blues Clues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did demand-cost-risk break?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Stabilise cash, stock and price-market fit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726680" y="48006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863840" y="49103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863840" y="5148072"/>
            <a:ext cx="30175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archetype is your team becoming?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discipline does your archetype require now?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1 can learn from Universe 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U1 needs stronger profit conversion and tighter inventory discipline.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14/19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The lesson is not to copy U2 decisions, but to copy its conversion discipline.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676656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Do not let sales growth hide margin weakness.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Treat R&amp;D as a timed option, not as a prestige signal.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Set inventory guardrails before deciding production volume.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Watch credit quality before the valuation model punishes the team.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26680" y="182880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63840" y="1938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63840" y="2176272"/>
            <a:ext cx="3017520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U1 team would benefit most from U2-style discipline?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metric should U1 teams monitor first before Round 3?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Universe 2 can learn from Universe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U2 should not become overconfident: lower R&amp;D may become future vulnerability.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15/19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Short-term profitability can become long-term fragility if technology transitions are missed.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691640"/>
            <a:ext cx="626364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20" dirty="0">
                <a:solidFill>
                  <a:srgbClr val="111827"/>
                </a:solidFill>
              </a:rPr>
              <a:t>Ask whether lower R&amp;D is discipline or underinvestment.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Do not let current cash buffers reduce alertness to future technology demand.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Convert strong profit into credible long-term market leadership.</a:t>
            </a:r>
            <a:endParaRPr lang="en-US" sz="1320" dirty="0"/>
          </a:p>
          <a:p>
            <a:r>
              <a:rPr lang="en-US" sz="1320" dirty="0">
                <a:solidFill>
                  <a:srgbClr val="111827"/>
                </a:solidFill>
              </a:rPr>
              <a:t>Handle the Blues Clues distress case as a class-level warning about fit.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8001000" y="1828800"/>
            <a:ext cx="31546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138160" y="19385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138160" y="2176272"/>
            <a:ext cx="2880360" cy="8412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U2 team may be most exposed to technology underinvestment?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future signal would tell U2 to accelerate R&amp;D?</a:t>
            </a:r>
            <a:endParaRPr lang="en-US" sz="8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Socratic question bank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Questions should force causal explanation, not defence.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16/19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8412480" cy="3291840"/>
        </p:xfrm>
        <a:graphic>
          <a:graphicData uri="http://schemas.openxmlformats.org/drawingml/2006/table">
            <a:tbl>
              <a:tblPr/>
              <a:tblGrid>
                <a:gridCol w="1371600"/>
                <a:gridCol w="6217920"/>
              </a:tblGrid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Theme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Growth quality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universe created better growth, and what evidence proves it?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did the market reward one leader more than another?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 investment timed to market readiness or to team anxiety?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forecast error is visible on the balance sheet?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teams must repair credibility before pursuing growth?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did your universe learn faster than the other?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9418320" y="2194560"/>
            <a:ext cx="2011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0B1F33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555480" y="23042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1F33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9555480" y="2542032"/>
            <a:ext cx="173736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question creates the most uncomfortable learning?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answer would change your Round 3 plan?</a:t>
            </a:r>
            <a:endParaRPr lang="en-US" sz="8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Cross-universe classroom exercise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Make two teams from different universes diagnose each other.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17/19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1208" y="987552"/>
            <a:ext cx="104241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</a:rPr>
              <a:t>Peer diagnosis reduces self-defence and improves causal thinking.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8046720" cy="2560320"/>
        </p:xfrm>
        <a:graphic>
          <a:graphicData uri="http://schemas.openxmlformats.org/drawingml/2006/table">
            <a:tbl>
              <a:tblPr/>
              <a:tblGrid>
                <a:gridCol w="548640"/>
                <a:gridCol w="6583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Instruction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Pair a strong U1 team with a strong U2 team, and a distressed U1 team with a distressed U2 team.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team states the other team’s strongest evidence-based insight.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team names one hidden risk in the other team’s strategy.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team proposes one Round 3 decision rule for the other.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955280" y="457200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0A7A1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092440" y="4681728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A7A1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092440" y="4919472"/>
            <a:ext cx="297180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did the other universe see that your team missed?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hidden assumption must you test before Round 3?</a:t>
            </a:r>
            <a:endParaRPr lang="en-US" sz="8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checklist across both universes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Convert the debrief into a decision rule.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18/19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17320"/>
          <a:ext cx="7589520" cy="3246120"/>
        </p:xfrm>
        <a:graphic>
          <a:graphicData uri="http://schemas.openxmlformats.org/drawingml/2006/table">
            <a:tbl>
              <a:tblPr/>
              <a:tblGrid>
                <a:gridCol w="1097280"/>
                <a:gridCol w="5669280"/>
              </a:tblGrid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is demand real, and where did we merely hope?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price protects both volume and contribution margin?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be ready now, and what can wait?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inventory threshold will force a plan change?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credit rating do we refuse to fall below?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future cash-flow story will investors believe?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8732520" y="21488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869680" y="2258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869680" y="2496312"/>
            <a:ext cx="2240280" cy="8869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is your one non-negotiable guardrail?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Which metric will you check first when results come out?</a:t>
            </a:r>
            <a:endParaRPr lang="en-US" sz="8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08C2B"/>
          </a:solidFill>
          <a:ln w="12700">
            <a:solidFill>
              <a:srgbClr val="D08C2B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64592" y="0"/>
            <a:ext cx="12027103" cy="10972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0175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12064" y="713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The comparison is not about which universe is better; it is about which logic is better.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15400" y="34747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GL Sec C • Cross-Universe Insight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64922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B8794"/>
                </a:solidFill>
              </a:rPr>
              <a:t>GL Sec C • Cross-Universe Insight | Source: CESIM results files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1292840" y="64922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19/19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960120" y="1600200"/>
            <a:ext cx="987552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417320" y="1920240"/>
            <a:ext cx="896112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B1F33"/>
                </a:solidFill>
              </a:rPr>
              <a:t>Universe 1 teaches the danger of sales without conversion. Universe 2 teaches the power — and the future risk — of disciplined profit quality.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828800" y="32461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Round 3 belongs to the teams that can turn evidence into coherent action.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0" y="482803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8C2B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51960" y="49377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08C2B"/>
                </a:solidFill>
              </a:rPr>
              <a:t>Socratic questions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51960" y="5175504"/>
            <a:ext cx="37490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will you stop doing because of this comparison?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334155"/>
                </a:solidFill>
              </a:rPr>
              <a:t>? What will you do more deliberately?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Great Lakes Institute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</dc:creator>
  <cp:lastModifiedBy>OpenAI</cp:lastModifiedBy>
  <cp:revision>1</cp:revision>
  <dcterms:created xsi:type="dcterms:W3CDTF">2026-07-23T08:40:49Z</dcterms:created>
  <dcterms:modified xsi:type="dcterms:W3CDTF">2026-07-23T08:40:49Z</dcterms:modified>
</cp:coreProperties>
</file>