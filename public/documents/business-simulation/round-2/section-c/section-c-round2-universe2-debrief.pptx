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and profit by team, USD bn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1.380187980808</c:v>
                </c:pt>
                <c:pt idx="1">
                  <c:v>2.7031272854479997</c:v>
                </c:pt>
                <c:pt idx="2">
                  <c:v>0.5240623301690001</c:v>
                </c:pt>
                <c:pt idx="3">
                  <c:v>2.6310419563389997</c:v>
                </c:pt>
                <c:pt idx="4">
                  <c:v>1.6165846448999999</c:v>
                </c:pt>
                <c:pt idx="5">
                  <c:v>2.266220318372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by team, USD bn</c:v>
                </c:pt>
              </c:strCache>
            </c:strRef>
          </c:tx>
          <c:spPr>
            <a:solidFill>
              <a:srgbClr val="229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0.509509662129</c:v>
                </c:pt>
                <c:pt idx="1">
                  <c:v>0.750954447514</c:v>
                </c:pt>
                <c:pt idx="2">
                  <c:v>-0.16772884744000002</c:v>
                </c:pt>
                <c:pt idx="3">
                  <c:v>0.832471557719</c:v>
                </c:pt>
                <c:pt idx="4">
                  <c:v>0.58460638657</c:v>
                </c:pt>
                <c:pt idx="5">
                  <c:v>0.8667630288739999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($bn)</c:v>
                </c:pt>
              </c:strCache>
            </c:strRef>
          </c:tx>
          <c:spPr>
            <a:solidFill>
              <a:srgbClr val="10A7A1"/>
            </a:solidFill>
            <a:ln w="25400" cap="flat">
              <a:solidFill>
                <a:srgbClr val="10A7A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A7A1"/>
              </a:solidFill>
              <a:ln w="9525" cap="flat">
                <a:solidFill>
                  <a:srgbClr val="10A7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R1</c:v>
                  </c:pt>
                  <c:pt idx="1">
                    <c:v>R2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9.67263159737881</c:v>
                </c:pt>
                <c:pt idx="1">
                  <c:v>11.121224516036206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($bn)</c:v>
                </c:pt>
              </c:strCache>
            </c:strRef>
          </c:tx>
          <c:spPr>
            <a:solidFill>
              <a:srgbClr val="229954"/>
            </a:solidFill>
            <a:ln w="25400" cap="flat">
              <a:solidFill>
                <a:srgbClr val="2299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9954"/>
              </a:solidFill>
              <a:ln w="9525" cap="flat">
                <a:solidFill>
                  <a:srgbClr val="2299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R1</c:v>
                  </c:pt>
                  <c:pt idx="1">
                    <c:v>R2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1.9543137881002248</c:v>
                </c:pt>
                <c:pt idx="1">
                  <c:v>3.376576235365961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 cap ($bn)</c:v>
                </c:pt>
              </c:strCache>
            </c:strRef>
          </c:tx>
          <c:spPr>
            <a:solidFill>
              <a:srgbClr val="7A3E9D"/>
            </a:solidFill>
            <a:ln w="25400" cap="flat">
              <a:solidFill>
                <a:srgbClr val="7A3E9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3E9D"/>
              </a:solidFill>
              <a:ln w="9525" cap="flat">
                <a:solidFill>
                  <a:srgbClr val="7A3E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R1</c:v>
                  </c:pt>
                  <c:pt idx="1">
                    <c:v>R2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43.99930103854256</c:v>
                </c:pt>
                <c:pt idx="1">
                  <c:v>53.775390240106276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TSR by team (%)</c:v>
                </c:pt>
              </c:strCache>
            </c:strRef>
          </c:tx>
          <c:spPr>
            <a:solidFill>
              <a:srgbClr val="D08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Lehman Bros.</c:v>
                  </c:pt>
                  <c:pt idx="1">
                    <c:v>Vijay Mallya</c:v>
                  </c:pt>
                  <c:pt idx="2">
                    <c:v>SEBI's Watchlist</c:v>
                  </c:pt>
                  <c:pt idx="3">
                    <c:v>T5S</c:v>
                  </c:pt>
                  <c:pt idx="4">
                    <c:v>Green</c:v>
                  </c:pt>
                  <c:pt idx="5">
                    <c:v>Blues Clues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48.183506</c:v>
                </c:pt>
                <c:pt idx="1">
                  <c:v>38.345918</c:v>
                </c:pt>
                <c:pt idx="2">
                  <c:v>34.653217</c:v>
                </c:pt>
                <c:pt idx="3">
                  <c:v>27.600122</c:v>
                </c:pt>
                <c:pt idx="4">
                  <c:v>25.567419</c:v>
                </c:pt>
                <c:pt idx="5">
                  <c:v>-31.705986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1 vs Round 2: universe totals</c:v>
                </c:pt>
              </c:strCache>
            </c:strRef>
          </c:tx>
          <c:spPr>
            <a:solidFill>
              <a:srgbClr val="229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Sales</c:v>
                  </c:pt>
                  <c:pt idx="1">
                    <c:v>Profit</c:v>
                  </c:pt>
                  <c:pt idx="2">
                    <c:v>Market cap</c:v>
                  </c:pt>
                  <c:pt idx="3">
                    <c:v>Cash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14.97620274352173</c:v>
                </c:pt>
                <c:pt idx="1">
                  <c:v>72.77554177460456</c:v>
                </c:pt>
                <c:pt idx="2">
                  <c:v>22.218737504489088</c:v>
                </c:pt>
                <c:pt idx="3">
                  <c:v>89.09415783691558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change from R1 to R2 (%)</c:v>
                </c:pt>
              </c:strCache>
            </c:strRef>
          </c:tx>
          <c:spPr>
            <a:solidFill>
              <a:srgbClr val="D08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14.824744</c:v>
                </c:pt>
                <c:pt idx="1">
                  <c:v>221.709126</c:v>
                </c:pt>
                <c:pt idx="2">
                  <c:v>-179.1913</c:v>
                </c:pt>
                <c:pt idx="3">
                  <c:v>76.241005</c:v>
                </c:pt>
                <c:pt idx="4">
                  <c:v>100.797137</c:v>
                </c:pt>
                <c:pt idx="5">
                  <c:v>187.13517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on sales (%)</c:v>
                </c:pt>
              </c:strCache>
            </c:strRef>
          </c:tx>
          <c:spPr>
            <a:solidFill>
              <a:srgbClr val="1E5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36.915961</c:v>
                </c:pt>
                <c:pt idx="1">
                  <c:v>27.78095</c:v>
                </c:pt>
                <c:pt idx="2">
                  <c:v>-32.005515</c:v>
                </c:pt>
                <c:pt idx="3">
                  <c:v>31.640376</c:v>
                </c:pt>
                <c:pt idx="4">
                  <c:v>36.163055</c:v>
                </c:pt>
                <c:pt idx="5">
                  <c:v>38.247077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ROCE (%)</c:v>
                </c:pt>
              </c:strCache>
            </c:strRef>
          </c:tx>
          <c:spPr>
            <a:solidFill>
              <a:srgbClr val="7A3E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34.729846</c:v>
                </c:pt>
                <c:pt idx="1">
                  <c:v>49.920547</c:v>
                </c:pt>
                <c:pt idx="2">
                  <c:v>2.56812</c:v>
                </c:pt>
                <c:pt idx="3">
                  <c:v>54.008352</c:v>
                </c:pt>
                <c:pt idx="4">
                  <c:v>43.771255</c:v>
                </c:pt>
                <c:pt idx="5">
                  <c:v>51.215943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Momentum indicators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Sales Δ%</c:v>
                  </c:pt>
                  <c:pt idx="1">
                    <c:v>Profit Δ%</c:v>
                  </c:pt>
                  <c:pt idx="2">
                    <c:v>TSR Δ pp</c:v>
                  </c:pt>
                  <c:pt idx="3">
                    <c:v>Share Δ pp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68.434141</c:v>
                </c:pt>
                <c:pt idx="1">
                  <c:v>221.709126</c:v>
                </c:pt>
                <c:pt idx="2">
                  <c:v>14.148958</c:v>
                </c:pt>
                <c:pt idx="3">
                  <c:v>9.84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market-share change, R2 – R1 (percentage points)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-2.544318</c:v>
                </c:pt>
                <c:pt idx="1">
                  <c:v>9.84</c:v>
                </c:pt>
                <c:pt idx="2">
                  <c:v>-9.29</c:v>
                </c:pt>
                <c:pt idx="3">
                  <c:v>-0.78</c:v>
                </c:pt>
                <c:pt idx="4">
                  <c:v>-0.4</c:v>
                </c:pt>
                <c:pt idx="5">
                  <c:v>3.17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2 global market share (%)</c:v>
                </c:pt>
              </c:strCache>
            </c:strRef>
          </c:tx>
          <c:spPr>
            <a:solidFill>
              <a:srgbClr val="D08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14.391633</c:v>
                </c:pt>
                <c:pt idx="1">
                  <c:v>26.11</c:v>
                </c:pt>
                <c:pt idx="2">
                  <c:v>1.6</c:v>
                </c:pt>
                <c:pt idx="3">
                  <c:v>22.68</c:v>
                </c:pt>
                <c:pt idx="4">
                  <c:v>16.53</c:v>
                </c:pt>
                <c:pt idx="5">
                  <c:v>18.68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averages: U2 R2</c:v>
                </c:pt>
              </c:strCache>
            </c:strRef>
          </c:tx>
          <c:spPr>
            <a:solidFill>
              <a:srgbClr val="1E5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</c:v>
                  </c:pt>
                  <c:pt idx="1">
                    <c:v>Asia</c:v>
                  </c:pt>
                  <c:pt idx="2">
                    <c:v>Europe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16.66666666666666</c:v>
                </c:pt>
                <c:pt idx="1">
                  <c:v>16.666666666666657</c:v>
                </c:pt>
                <c:pt idx="2">
                  <c:v>16.66666666666666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 spend by team, R2 (USD bn)</c:v>
                </c:pt>
              </c:strCache>
            </c:strRef>
          </c:tx>
          <c:spPr>
            <a:solidFill>
              <a:srgbClr val="7A3E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0.11</c:v>
                </c:pt>
                <c:pt idx="2">
                  <c:v>0.1105</c:v>
                </c:pt>
                <c:pt idx="3">
                  <c:v>0.271311</c:v>
                </c:pt>
                <c:pt idx="4">
                  <c:v>0.021365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ROCE by team (%)</c:v>
                </c:pt>
              </c:strCache>
            </c:strRef>
          </c:tx>
          <c:spPr>
            <a:solidFill>
              <a:srgbClr val="229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34.729846</c:v>
                </c:pt>
                <c:pt idx="1">
                  <c:v>49.920547</c:v>
                </c:pt>
                <c:pt idx="2">
                  <c:v>2.56812</c:v>
                </c:pt>
                <c:pt idx="3">
                  <c:v>54.008352</c:v>
                </c:pt>
                <c:pt idx="4">
                  <c:v>43.771255</c:v>
                </c:pt>
                <c:pt idx="5">
                  <c:v>51.215943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by team, R2 (USD bn)</c:v>
                </c:pt>
              </c:strCache>
            </c:strRef>
          </c:tx>
          <c:spPr>
            <a:solidFill>
              <a:srgbClr val="E15D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0.169893159362</c:v>
                </c:pt>
                <c:pt idx="2">
                  <c:v>0.867342828357</c:v>
                </c:pt>
                <c:pt idx="3">
                  <c:v>0</c:v>
                </c:pt>
                <c:pt idx="4">
                  <c:v>0</c:v>
                </c:pt>
                <c:pt idx="5">
                  <c:v>0.600388242352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by team, R2 (USD bn)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1.501041343392</c:v>
                </c:pt>
                <c:pt idx="1">
                  <c:v>1.346563724254</c:v>
                </c:pt>
                <c:pt idx="2">
                  <c:v>0.807268089778</c:v>
                </c:pt>
                <c:pt idx="3">
                  <c:v>1.500306709158</c:v>
                </c:pt>
                <c:pt idx="4">
                  <c:v>1.12483408732</c:v>
                </c:pt>
                <c:pt idx="5">
                  <c:v>1.210190085228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chart" Target="../charts/chart1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chart" Target="..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ADC"/>
                </a:solidFill>
              </a:rPr>
              <a:t>CESIM Global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Universe 2 • Round 2 Comparative Debrief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029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</a:rPr>
              <a:t>GL Sec C Group July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871216"/>
            <a:ext cx="64008" cy="950976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852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8D5"/>
                </a:solidFill>
              </a:rPr>
              <a:t>Core teaching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changed from Round 1 to Round 2, which choices created durable value, and which choices created avoidable risk?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863840" y="51206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01000" y="52303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01000" y="5468112"/>
            <a:ext cx="324612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did the market reward twice?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changed between rounds that should change your Round 3 decisions?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713232" y="644652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Source: Section C Universe 2 Round 1 &amp; Round 2 CESIM results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will read the round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Start with the causal mechanism, not with the rank.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Value is created when demand is converted into profitable cash flows at acceptable risk.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" y="2240280"/>
            <a:ext cx="1170432" cy="658368"/>
          </a:xfrm>
          <a:prstGeom prst="chevron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3816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Demand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58568" y="2240280"/>
            <a:ext cx="1170432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322576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Revenue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67328" y="2240280"/>
            <a:ext cx="1170432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31336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Margin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76088" y="2240280"/>
            <a:ext cx="1170432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40096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Cash flow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84848" y="2240280"/>
            <a:ext cx="1170432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48856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93608" y="2240280"/>
            <a:ext cx="1170432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57616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Share price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02368" y="2240280"/>
            <a:ext cx="1170432" cy="6583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866376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TSR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3383280"/>
            <a:ext cx="65836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50" dirty="0">
                <a:solidFill>
                  <a:srgbClr val="111827"/>
                </a:solidFill>
              </a:rPr>
              <a:t>TSR is not a moral reward; it is a valuation signal.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Accounting profit matters, but expected future cash flows and risk change the share price.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Round 2 tells us not merely who won, but whose causal logic is working.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046720" y="324612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83880" y="335584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83880" y="3593592"/>
            <a:ext cx="315468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Where can a good sales decision become a bad valuation decision?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must be true for a high-profit firm to not top TSR?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2 executive dashboard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2 improved profit quality, though TSR dispersion widened.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3/27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18745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9536" y="143560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Sales revenue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59536" y="1609344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7A1"/>
                </a:solidFill>
              </a:rPr>
              <a:t>$11.1bn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1874520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+15.0% vs R1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88920" y="1325880"/>
            <a:ext cx="18745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898648" y="143560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Profit for round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898648" y="1609344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9954"/>
                </a:solidFill>
              </a:rPr>
              <a:t>$3.4bn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98648" y="1874520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+72.8% vs R1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28032" y="1325880"/>
            <a:ext cx="18745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37760" y="143560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Aggregate 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937760" y="1609344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9A"/>
                </a:solidFill>
              </a:rPr>
              <a:t>30.4%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+10.2 pp vs R1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67144" y="1325880"/>
            <a:ext cx="18745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76872" y="143560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Total market cap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976872" y="1609344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E9D"/>
                </a:solidFill>
              </a:rPr>
              <a:t>$53.8bn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76872" y="1874520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+22.2% vs R1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906256" y="1325880"/>
            <a:ext cx="23317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015984" y="1435608"/>
            <a:ext cx="2112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Best TSR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9015984" y="160934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8C2B"/>
                </a:solidFill>
              </a:rPr>
              <a:t>Lehman Bros.: 48.2%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15984" y="1874520"/>
            <a:ext cx="21122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Round 2 leader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4672" y="238658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Sales and profit by team, USD bn</a:t>
            </a:r>
            <a:endParaRPr lang="en-US" sz="8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804672" y="2606040"/>
          <a:ext cx="48463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6263640" y="238658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Profit by team, USD bn</a:t>
            </a:r>
            <a:endParaRPr lang="en-US" sz="85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6263640" y="2606040"/>
          <a:ext cx="46634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30"/>
          <p:cNvSpPr/>
          <p:nvPr/>
        </p:nvSpPr>
        <p:spPr>
          <a:xfrm>
            <a:off x="7818120" y="5230368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7955280" y="53400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955280" y="5577840"/>
            <a:ext cx="32461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Is Universe 2 growing because it sells more, or because it converts sales better?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team is expanding the market, and which team is merely surviving it?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movement from Round 1 to Round 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universe became more profitable even as average annualised TSR declined.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4/27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Do not read lower average TSR as operational failure; read it alongside better profit and sharper dispersion.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600200"/>
          <a:ext cx="498348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23444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1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2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9.67bn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11.12bn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+1.45bn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1.95bn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3.38bn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+1.42bn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20.2%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30.4%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+10.2 pp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 cap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44.00bn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53.78bn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+9.78bn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1.42bn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1.64bn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+0.22bn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217920" y="1655064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Round trajectory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217920" y="1856232"/>
          <a:ext cx="4617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822960" y="4279392"/>
            <a:ext cx="66751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40" dirty="0">
                <a:solidFill>
                  <a:srgbClr val="111827"/>
                </a:solidFill>
              </a:rPr>
              <a:t>Profit growth outran revenue growth: a sign of improved operating discipline.</a:t>
            </a:r>
            <a:endParaRPr lang="en-US" sz="1140" dirty="0"/>
          </a:p>
          <a:p>
            <a:r>
              <a:rPr lang="en-US" sz="1140" dirty="0">
                <a:solidFill>
                  <a:srgbClr val="111827"/>
                </a:solidFill>
              </a:rPr>
              <a:t>R&amp;D spending fell sharply, suggesting fewer lump-sum technology bets.</a:t>
            </a:r>
            <a:endParaRPr lang="en-US" sz="1140" dirty="0"/>
          </a:p>
          <a:p>
            <a:r>
              <a:rPr lang="en-US" sz="1140" dirty="0">
                <a:solidFill>
                  <a:srgbClr val="111827"/>
                </a:solidFill>
              </a:rPr>
              <a:t>Inventory still rose; one team’s inventory problem became the main warning signal.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7909560" y="480060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046720" y="49103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046720" y="5148072"/>
            <a:ext cx="301752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metric improved most: sales, margin, cash, or valuation?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Why can a higher-profit universe still have lower average annualised TSR?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2 leaderboard by TSR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Lehman Bros. leads TSR; SEBI’s Watchlist leads profit.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5/27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The winner is not simply the largest seller or the highest current profit maker.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6537960" cy="2926080"/>
        </p:xfrm>
        <a:graphic>
          <a:graphicData uri="http://schemas.openxmlformats.org/drawingml/2006/table">
            <a:tbl>
              <a:tblPr/>
              <a:tblGrid>
                <a:gridCol w="411480"/>
                <a:gridCol w="1508760"/>
                <a:gridCol w="640080"/>
                <a:gridCol w="777240"/>
                <a:gridCol w="777240"/>
                <a:gridCol w="640080"/>
                <a:gridCol w="64008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price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Rating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48.2%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$415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$832m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31.6%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38.3%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$361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$751m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27.8%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SEBI's Watchlist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34.7%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$342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$867m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38.2%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27.6%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$307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$585m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36.2%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25.6%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$298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$510m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36.9%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-31.7%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$88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$-168m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-32.0%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80960" y="1591056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TSR by team (%)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680960" y="1810512"/>
          <a:ext cx="34290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772400" y="46177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909560" y="47274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909560" y="4965192"/>
            <a:ext cx="310896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Why did Lehman Bros. top TSR when SEBI’s Watchlist earned more profit?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would an investor trust in Lehman’s future cash flows?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central puzzle of Round 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best profit engine did not become the highest TSR engine.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6/27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CESIM rewards durable value, not just current-period accounting profit.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6583680" cy="292608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691640"/>
                <a:gridCol w="146304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SEBI’s Watchlist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48.2%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34.7%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38.3%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$832m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$867m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$751m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$2.6bn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$2.3bn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$2.7bn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31.6%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38.2%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27.8%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 share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22.7%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18.7%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26.1%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 rating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80960" y="1691640"/>
            <a:ext cx="333756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</a:rPr>
              <a:t>Lehman combines high profit, high market cap, strong ROCE and AA rating.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SEBI’s Watchlist has higher profit and ROS but lower market share and a lower rating.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Vijay Mallya is the strongest turnaround story by sales and profit momentum.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26680" y="46177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863840" y="47274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863840" y="4965192"/>
            <a:ext cx="301752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If you were buying shares, which signal would dominate your judgement?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is the difference between profit leadership and valuation leadership?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Sales-profit bridge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Round 2 converted a moderate sales increase into a large profit increase.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7/27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A 15.0% sales increase produced a 72.8% profit increase. That is margin expansion, not merely growth.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" y="1536192"/>
          <a:ext cx="493776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Measure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1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2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revenue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$9.7bn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$11.1bn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+15.0%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$2.0bn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$3.4bn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+72.8%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Aggregate ROS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20.2%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30.4%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+10.2 pp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$1.2bn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$0.5bn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-55.5%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$4.0bn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$7.5bn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+89.1%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09360" y="156362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Round 1 vs Round 2: universe totals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09360" y="1783080"/>
          <a:ext cx="4480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804672" y="4572000"/>
            <a:ext cx="62179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80" dirty="0">
                <a:solidFill>
                  <a:srgbClr val="111827"/>
                </a:solidFill>
              </a:rPr>
              <a:t>The profit bridge improves because several teams cut or better timed R&amp;D.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Inventory and weak demand conversion prevent this from being a perfect round.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Cash reserves increased sharply, strengthening financial flexibility.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7863840" y="4599432"/>
            <a:ext cx="33649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2995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001000" y="4709160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9954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001000" y="4946904"/>
            <a:ext cx="3090672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operating choice usually allows profit to grow faster than sales?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Is the lower R&amp;D spend a sign of discipline or future underinvestment?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momentum 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Vijay Mallya and SEBI’s Watchlist created the strongest positive momentum; Blues Clues destroyed it.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8/27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Momentum should be judged by what changed, not only where the team stands now.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17320"/>
          <a:ext cx="6720840" cy="288036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868680"/>
                <a:gridCol w="822960"/>
                <a:gridCol w="73152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Δ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 Δ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Δ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 Δ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Rating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-3.9%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+14.8%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-7.9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AA-→AA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+68.4%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+221.7%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+9.8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+14.1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A+→AA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-60.3%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-179.2%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-9.3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-48.2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A+→CCC+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+19.8%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+76.2%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-0.8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-3.3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AA-→AA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+4.2%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+100.8%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-0.4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-4.3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AA-→AA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SEBI's Watchlist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+44.9%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+187.1%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+3.2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+13.0 pp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A+→AA-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35240" y="14996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Profit change from R1 to R2 (%)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635240" y="1719072"/>
          <a:ext cx="3383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818120" y="45720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955280" y="468172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955280" y="4919472"/>
            <a:ext cx="297180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team genuinely learned from Round 1?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team confused activity with traction?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Profitability landscape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Round 2 separated efficient operators from demand-mismatched operators.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9/27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High ROS and high ROCE signal disciplined conversion; low share with negative ROS signals strategic mismatch.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151790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Return on sales (%)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13232" y="1737360"/>
          <a:ext cx="4709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172200" y="151790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ROCE (%)</a:t>
            </a:r>
            <a:endParaRPr lang="en-US" sz="8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172200" y="1737360"/>
          <a:ext cx="4709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749808" y="4709160"/>
            <a:ext cx="65836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60" dirty="0">
                <a:solidFill>
                  <a:srgbClr val="111827"/>
                </a:solidFill>
              </a:rPr>
              <a:t>SEBI’s Watchlist, Green and T5S show very high ROS; they convert revenue efficiently.</a:t>
            </a:r>
            <a:endParaRPr lang="en-US" sz="1160" dirty="0"/>
          </a:p>
          <a:p>
            <a:r>
              <a:rPr lang="en-US" sz="1160" dirty="0">
                <a:solidFill>
                  <a:srgbClr val="111827"/>
                </a:solidFill>
              </a:rPr>
              <a:t>Lehman Bros. and SEBI’s Watchlist are strongest on ROCE, showing superior capital productivity.</a:t>
            </a:r>
            <a:endParaRPr lang="en-US" sz="1160" dirty="0"/>
          </a:p>
          <a:p>
            <a:r>
              <a:rPr lang="en-US" sz="1160" dirty="0">
                <a:solidFill>
                  <a:srgbClr val="111827"/>
                </a:solidFill>
              </a:rPr>
              <a:t>Blues Clues has negative ROS and weak ROCE, pointing to a failed demand-cost equation.</a:t>
            </a:r>
            <a:endParaRPr lang="en-US" sz="1160" dirty="0"/>
          </a:p>
        </p:txBody>
      </p:sp>
      <p:sp>
        <p:nvSpPr>
          <p:cNvPr id="16" name="Shape 12"/>
          <p:cNvSpPr/>
          <p:nvPr/>
        </p:nvSpPr>
        <p:spPr>
          <a:xfrm>
            <a:off x="7818120" y="4663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A3E9D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955280" y="47731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3E9D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955280" y="5010912"/>
            <a:ext cx="29718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metric is harder to game: ROS or ROCE?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would you ask a team whose market share collapses but inventory rises?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Winner profile: Lehman Bros.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Lehman Bros. won by combining scale, profitability, ROCE and risk control.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10/27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3232" y="1389888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49961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22960" y="1673352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8C2B"/>
                </a:solidFill>
              </a:rPr>
              <a:t>48.2%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1289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#1 in U2 R2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95728" y="1389888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05456" y="149961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505456" y="1673352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9954"/>
                </a:solidFill>
              </a:rPr>
              <a:t>$832m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05456" y="1938528"/>
            <a:ext cx="1289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#2 profit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078224" y="1389888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87952" y="149961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ROCE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187952" y="1673352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E9D"/>
                </a:solidFill>
              </a:rPr>
              <a:t>54.0%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87952" y="1938528"/>
            <a:ext cx="1289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Capital discipline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760720" y="1389888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70448" y="149961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Market cap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870448" y="1673352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7A1"/>
                </a:solidFill>
              </a:rPr>
              <a:t>$12.4bn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70448" y="1938528"/>
            <a:ext cx="1289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Highest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606040"/>
          <a:ext cx="4937760" cy="2057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$2.6bn sales; 22.7% share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 quality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31.6% ROS; 54.0% ROCE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 rating; no inventory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Future story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valuation despite not being the top profit 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400800" y="2788920"/>
            <a:ext cx="39319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The win is not one metric; it is coherence among metrics.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The main Round 3 risk is complacency: defending share while preserving margin.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635240" y="48006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772400" y="49103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72400" y="5148072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must Lehman Bros. protect first in Round 3: share, margin, cash or technology?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could make this position fragile?</a:t>
            </a:r>
            <a:endParaRPr lang="en-US" sz="8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 leader profile: SEBI’s Watchlist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SEBI’s Watchlist created the strongest accounting profit but not the highest TSR.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11/27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3232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Profit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22960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9954"/>
                </a:solidFill>
              </a:rPr>
              <a:t>$867m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Highest in U2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32304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42032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ROS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542032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9954"/>
                </a:solidFill>
              </a:rPr>
              <a:t>38.2%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42032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Highest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51376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61104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TSR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261104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8C2B"/>
                </a:solidFill>
              </a:rPr>
              <a:t>34.7%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61104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#3 in U2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70448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80176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Inventory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980176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5D44"/>
                </a:solidFill>
              </a:rPr>
              <a:t>$600m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80176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Warning sign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606040"/>
          <a:ext cx="5577840" cy="2057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not #1 TSR?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Valuation considers risk, future cash flow and market position.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worked?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Pricing-cost conversion produced the highest profit and ROS.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to watch?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 and AA– rating create valuation questions.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3 choice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Protect margin without choking demand.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498080" y="31089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2995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35240" y="32186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9954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635240" y="3456432"/>
            <a:ext cx="320040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Does the profit leader need more market share, or less risk?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assumption explains high inventory despite high profit?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Turnaround profile: Vijay Mallya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Vijay Mallya produced the most dramatic demand and earnings acceleration.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12/27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Sales rose +68.4% and profit rose +221.7%.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5029200" cy="2743200"/>
        </p:xfrm>
        <a:graphic>
          <a:graphicData uri="http://schemas.openxmlformats.org/drawingml/2006/table">
            <a:tbl>
              <a:tblPr/>
              <a:tblGrid>
                <a:gridCol w="1051560"/>
                <a:gridCol w="100584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R1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R2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$1.6bn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$2.7bn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+68.4%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$233m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$751m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+221.7%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 share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+9.8 pp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+14.1 pp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Rating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46520" y="160934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Momentum indicators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46520" y="182880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543800" y="470916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680960" y="481888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680960" y="5056632"/>
            <a:ext cx="324612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specific Round 2 decision most likely drove the turnaround?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How do you distinguish a real turnaround from a one-round spike?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Warning case: Blues Clues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Blues Clues shows how demand collapse, inventory and credit risk reinforce one another.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13/27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3232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22960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5D44"/>
                </a:solidFill>
              </a:rPr>
              <a:t>-31.7%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Lowest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32304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42032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542032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5D44"/>
                </a:solidFill>
              </a:rPr>
              <a:t>$-168m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42032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Loss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51376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61104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Market share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261104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5D44"/>
                </a:solidFill>
              </a:rPr>
              <a:t>1.6%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61104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Collapsed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70448" y="138988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80176" y="1499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Rating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980176" y="16733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</a:rPr>
              <a:t>CCC+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80176" y="1938528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Distress</a:t>
            </a:r>
            <a:endParaRPr lang="en-US" sz="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651760"/>
          <a:ext cx="4937760" cy="2057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 signal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2 evidence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-60.3% vs R1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-179.2% vs R1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$867m remaining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 → CCC+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355080" y="2743200"/>
            <a:ext cx="40233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30" dirty="0">
                <a:solidFill>
                  <a:srgbClr val="111827"/>
                </a:solidFill>
              </a:rPr>
              <a:t>The rescue question is not “how to regain everything,” but “where is the bleeding?”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Round 3 should prioritise demand validation, inventory liquidation and credit repair.</a:t>
            </a:r>
            <a:endParaRPr lang="en-US" sz="1230" dirty="0"/>
          </a:p>
        </p:txBody>
      </p:sp>
      <p:sp>
        <p:nvSpPr>
          <p:cNvPr id="28" name="Shape 25"/>
          <p:cNvSpPr/>
          <p:nvPr/>
        </p:nvSpPr>
        <p:spPr>
          <a:xfrm>
            <a:off x="7635240" y="475488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5D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772400" y="486460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5D44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72400" y="5102352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Was the failure caused first by price, product, production or financing?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should the team stop doing immediately?</a:t>
            </a:r>
            <a:endParaRPr lang="en-US" sz="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Steady operators: Green and T5S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Green and T5S look financially strong, but they must watch growth-option risk.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14/27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High cash and high ROS are strengths; shrinking share or low R&amp;D may become future weakness.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489204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2344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$1.4bn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$1.6bn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$510m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$585m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$1.5bn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$1.1bn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 share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27648" y="1828800"/>
            <a:ext cx="402336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Green has outstanding ROS and cash, but negative sales momentum and lower share.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T5S doubled profit with lower R&amp;D and clean inventory; the question is whether this is prudent or too conservative.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Both teams should articulate a Round 3 innovation guardrail.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0" y="4709160"/>
            <a:ext cx="349300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E5B9A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26680" y="48188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B9A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726680" y="5056632"/>
            <a:ext cx="321868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When does financial discipline become strategic underinvestment?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evidence would justify increasing R&amp;D now?</a:t>
            </a:r>
            <a:endParaRPr lang="en-US" sz="8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Market-share shifts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Vijay Mallya captured the biggest share gain; Blues Clues lost its strategic footing.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15/27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Market share is a result of fit: price, features, technology, promotion and availability.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472184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Global market-share change, R2 – R1 (percentage points)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77240" y="1691640"/>
          <a:ext cx="5577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766560" y="147218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Round 2 global market share (%)</a:t>
            </a:r>
            <a:endParaRPr lang="en-US" sz="8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766560" y="1691640"/>
          <a:ext cx="42976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804672" y="4800600"/>
            <a:ext cx="67665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80" dirty="0">
                <a:solidFill>
                  <a:srgbClr val="111827"/>
                </a:solidFill>
              </a:rPr>
              <a:t>Vijay Mallya’s +9.84 pp shift is the largest structural gain.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Blues Clues fell to 1.6% global share, which explains the revenue collapse.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Lehman retained leadership-range share while improving profitability.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7818120" y="4709160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955280" y="48188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955280" y="5056632"/>
            <a:ext cx="301752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team bought share, and which team earned share?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is one data point you need before changing price in Round 3?</a:t>
            </a:r>
            <a:endParaRPr lang="en-US" sz="8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battle 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Different teams dominate different regions; no one owns the whole game.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16/27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International strategy means choosing where to defend, where to attack and where to stop wasting resources.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035040" cy="2926080"/>
        </p:xfrm>
        <a:graphic>
          <a:graphicData uri="http://schemas.openxmlformats.org/drawingml/2006/table">
            <a:tbl>
              <a:tblPr/>
              <a:tblGrid>
                <a:gridCol w="1417320"/>
                <a:gridCol w="822960"/>
                <a:gridCol w="822960"/>
                <a:gridCol w="868680"/>
                <a:gridCol w="86868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USA share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Asia share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Europe share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share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20.9%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14.4%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22.8%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25.2%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31.8%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26.1%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19.2%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16.8%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39.8%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22.7%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11.7%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23.2%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6.8%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16.5%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SEBI's Watchlist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24.1%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17.8%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14.6%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18.7%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315200" y="1609344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Regional averages: U2 R2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315200" y="1828800"/>
          <a:ext cx="34290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54380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5B9A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680960" y="46817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B9A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680960" y="4919472"/>
            <a:ext cx="31089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region is your best strategic battleground?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Where are you competing out of habit rather than evidence?</a:t>
            </a:r>
            <a:endParaRPr lang="en-US" sz="8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and product-positioning signals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Product-market fit mattered more than mere technology possession.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17/27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Technology only creates value when it meets coverage, price, feature and capacity logic.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08760"/>
          <a:ext cx="5577840" cy="2880360"/>
        </p:xfrm>
        <a:graphic>
          <a:graphicData uri="http://schemas.openxmlformats.org/drawingml/2006/table">
            <a:tbl>
              <a:tblPr/>
              <a:tblGrid>
                <a:gridCol w="1417320"/>
                <a:gridCol w="868680"/>
                <a:gridCol w="868680"/>
                <a:gridCol w="82296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 1 share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 2 share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share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19.1%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14.4%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20.0%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26.1%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5.6%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$111m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22.7%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$271m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21.5%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16.5%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$21m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SEBI's Watchlist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24.4%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18.7%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720840" y="1783080"/>
            <a:ext cx="40233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30" dirty="0">
                <a:solidFill>
                  <a:srgbClr val="111827"/>
                </a:solidFill>
              </a:rPr>
              <a:t>Lehman Bros. and Vijay Mallya converted product-market fit into high share.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Blues Clues had technology activity but weak demand conversion.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R&amp;D must be tied to network coverage forecasts and willingness to pay.</a:t>
            </a:r>
            <a:endParaRPr lang="en-US" sz="1230" dirty="0"/>
          </a:p>
        </p:txBody>
      </p:sp>
      <p:sp>
        <p:nvSpPr>
          <p:cNvPr id="13" name="Shape 10"/>
          <p:cNvSpPr/>
          <p:nvPr/>
        </p:nvSpPr>
        <p:spPr>
          <a:xfrm>
            <a:off x="7498080" y="45720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635240" y="468172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635240" y="4919472"/>
            <a:ext cx="32461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technology was economically ready for your chosen markets?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customer behaviour would falsify your feature strategy?</a:t>
            </a:r>
            <a:endParaRPr lang="en-US" sz="8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timing and valuation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R&amp;D fell sharply, while profits rose sharply; this is good only if future readiness is not sacrificed.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18/27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Total R&amp;D declined -55.5%, while total profit increased +72.8%.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1517904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R&amp;D spend by team, R2 (USD bn)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49808" y="1737360"/>
          <a:ext cx="50292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263640" y="1517904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ROCE by team (%)</a:t>
            </a:r>
            <a:endParaRPr lang="en-US" sz="8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263640" y="1737360"/>
          <a:ext cx="44348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777240" y="4526280"/>
            <a:ext cx="64922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90" dirty="0">
                <a:solidFill>
                  <a:srgbClr val="111827"/>
                </a:solidFill>
              </a:rPr>
              <a:t>The best question is not “more or less R&amp;D?” but “R&amp;D for which market and when?”</a:t>
            </a:r>
            <a:endParaRPr lang="en-US" sz="1190" dirty="0"/>
          </a:p>
          <a:p>
            <a:r>
              <a:rPr lang="en-US" sz="1190" dirty="0">
                <a:solidFill>
                  <a:srgbClr val="111827"/>
                </a:solidFill>
              </a:rPr>
              <a:t>A low-R&amp;D round may reflect discipline after prior investment, or may signal future technological vulnerability.</a:t>
            </a:r>
            <a:endParaRPr lang="en-US" sz="1190" dirty="0"/>
          </a:p>
        </p:txBody>
      </p:sp>
      <p:sp>
        <p:nvSpPr>
          <p:cNvPr id="16" name="Shape 12"/>
          <p:cNvSpPr/>
          <p:nvPr/>
        </p:nvSpPr>
        <p:spPr>
          <a:xfrm>
            <a:off x="7726680" y="45720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A3E9D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863840" y="46817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3E9D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863840" y="4919472"/>
            <a:ext cx="315468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When is R&amp;D a strategic option, and when is it just an expense?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Round 3 evidence would justify a large technology bet?</a:t>
            </a:r>
            <a:endParaRPr lang="en-US" sz="8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and cash discipline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Cash strengthened, but inventory still signals demand-matching problems.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19/27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Cash increased +89.1%; inventory increased +15.4%.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151790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Inventory by team, R2 (USD bn)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49808" y="1737360"/>
          <a:ext cx="48463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263640" y="15179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Cash by team, R2 (USD bn)</a:t>
            </a:r>
            <a:endParaRPr lang="en-US" sz="8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263640" y="1737360"/>
          <a:ext cx="46634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777240" y="4572000"/>
            <a:ext cx="64008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Blues Clues and SEBI’s Watchlist hold the most inventory; only one has the profit to absorb the risk.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Green, Lehman Bros. and T5S have clean inventory positions and strong cash buffers.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26680" y="452628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5D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863840" y="46360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5D44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863840" y="4873752"/>
            <a:ext cx="310896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When is inventory an asset, and when is it evidence of a false forecast?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How much cash buffer is enough for Round 3 technology uncertainty?</a:t>
            </a:r>
            <a:endParaRPr lang="en-US" sz="8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Financing and risk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Credit quality mostly improved, but one team is now a valuation risk.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20/27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Risk reduces value because uncertain cash flows are discounted more heavily.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508760"/>
          <a:ext cx="5806440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822960"/>
                <a:gridCol w="9144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R1 rating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R2 rating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Gearing R2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debt R2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-60.7%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-50.3%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118.3%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$1155m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-49.9%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-48.8%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SEBI's Watchlist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-27.0%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$234m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086600" y="1737360"/>
            <a:ext cx="352044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Most teams reached AA/AA– quality.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Blues Clues fell to CCC+, making every future cash-flow claim less valuable.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Financing choices are strategic because they alter the required return.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45720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B1F3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543800" y="46817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543800" y="4919472"/>
            <a:ext cx="320040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Why does the same expected profit become less valuable when risk rises?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Is debt the problem, or unplanned debt and weak cash conversion?</a:t>
            </a:r>
            <a:endParaRPr lang="en-US" sz="8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ESG and operational legitimacy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ESG is enabled; it should be treated as a demand and risk variable, not decoration.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21/27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Teams must decide whether ESG choices support demand, cost efficiency and long-term legitimacy.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6309360" cy="292608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960120"/>
                <a:gridCol w="1005840"/>
                <a:gridCol w="100584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Environmental score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ESG reputation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 USA total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CO2 Asia total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2.7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SEBI's Watchlist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315200" y="1783080"/>
            <a:ext cx="34290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Ask whether ESG spending is aligned with customer segments and regional demand.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ESG choices may affect reputation, demand impacts and long-term risk.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Good ESG logic is not charity; it is integrated strategy.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45720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995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543800" y="46817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9954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543800" y="4919472"/>
            <a:ext cx="320040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Where does ESG enter the value chain: demand, cost, risk, or reputation?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Can a low-margin team afford ESG neglect?</a:t>
            </a:r>
            <a:endParaRPr lang="en-US" sz="8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Universe 2 rewarded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Round 2 rewarded coherent demand capture with disciplined cost and risk control.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22/27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Winning choices made the whole value chain point in the same direction.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0A7A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875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A7A1"/>
                </a:solidFill>
              </a:rPr>
              <a:t>Demand capture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875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Vijay Mallya gained share sharply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0A7A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307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A7A1"/>
                </a:solidFill>
              </a:rPr>
              <a:t>Profit conversion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7307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SEBI’s Watchlist led profit and ROS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0A7A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39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A7A1"/>
                </a:solidFill>
              </a:rPr>
              <a:t>Capital discipline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4739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Lehman led ROCE and valuation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0A7A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171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A7A1"/>
                </a:solidFill>
              </a:rPr>
              <a:t>Risk control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2171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AA/AA– teams retained valuation strength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6126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40" dirty="0">
                <a:solidFill>
                  <a:srgbClr val="111827"/>
                </a:solidFill>
              </a:rPr>
              <a:t>The market rewarded teams that did not optimise one function while damaging another.</a:t>
            </a:r>
            <a:endParaRPr lang="en-US" sz="1240" dirty="0"/>
          </a:p>
          <a:p>
            <a:r>
              <a:rPr lang="en-US" sz="1240" dirty="0">
                <a:solidFill>
                  <a:srgbClr val="111827"/>
                </a:solidFill>
              </a:rPr>
              <a:t>Coherence beats theatrical aggressiveness.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7635240" y="44348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0" y="45445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0" y="4782312"/>
            <a:ext cx="32004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reward factor was most decisive in your team’s result?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Where did your team’s choices become incoherent?</a:t>
            </a:r>
            <a:endParaRPr lang="en-US" sz="8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Universe 2 punished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market punished demand failure, inventory accumulation and credit deterioration.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23/27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Poor strategic fit becomes financial risk very quickly.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5D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875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15D44"/>
                </a:solidFill>
              </a:rPr>
              <a:t>Demand failure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875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Blues Clues lost 9.3 pp market share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5D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307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15D44"/>
                </a:solidFill>
              </a:rPr>
              <a:t>Inventory trap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7307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Unsold stock tied up cash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5D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39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15D44"/>
                </a:solidFill>
              </a:rPr>
              <a:t>Credit risk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4739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CCC+ rating damages valuation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874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5D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17152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E15D44"/>
                </a:solidFill>
              </a:rPr>
              <a:t>Technology mismatch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217152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R&amp;D without adoption does not create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649224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40" dirty="0">
                <a:solidFill>
                  <a:srgbClr val="111827"/>
                </a:solidFill>
              </a:rPr>
              <a:t>Round 3 recovery must start with the first broken assumption, not cosmetic adjustments.</a:t>
            </a:r>
            <a:endParaRPr lang="en-US" sz="1240" dirty="0"/>
          </a:p>
          <a:p>
            <a:r>
              <a:rPr lang="en-US" sz="1240" dirty="0">
                <a:solidFill>
                  <a:srgbClr val="111827"/>
                </a:solidFill>
              </a:rPr>
              <a:t>A team in distress must fix cash and demand before making another large bet.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7635240" y="44348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5D4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0" y="45445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5D44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0" y="4782312"/>
            <a:ext cx="32004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punished decision is reversible now? Which is sticky?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data must a distressed team inspect before touching price?</a:t>
            </a:r>
            <a:endParaRPr lang="en-US" sz="8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Team-specific Socratic prompts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Use one sharp question to move each team from defence to diagnosis.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24/27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89888"/>
          <a:ext cx="7680960" cy="329184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 to ask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must you protect first to sustain the highest TSR?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SEBI’s Watchlist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did the highest profit not translate into the highest TSR?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Vijay Mallya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Round 2 assumption created the turnaround?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 you underinvesting for future technology shifts?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T5S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 your discipline prudence or strategic conservatism?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did the causal chain break first?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823960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961120" y="21214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961120" y="2359152"/>
            <a:ext cx="2377440" cy="9326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evidence would make your answer convincing?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would you do differently if this were real money?</a:t>
            </a:r>
            <a:endParaRPr lang="en-US" sz="8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First-principle decision rules for Round 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Make decisions from constraints, not from emotion.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25/27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Round 3 needs explicit guardrails on demand, cash, risk and technology timing.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7909560" cy="3383280"/>
        </p:xfrm>
        <a:graphic>
          <a:graphicData uri="http://schemas.openxmlformats.org/drawingml/2006/table">
            <a:tbl>
              <a:tblPr/>
              <a:tblGrid>
                <a:gridCol w="1325880"/>
                <a:gridCol w="553212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area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First-principle test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the price reflect willingness to pay by region and technology?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Will the technology be economically viable before the cash burden bites?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 we making the right product in the right place for real demand?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Marketing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 we spending where contribution margin supports promotion?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the balance sheet survive if demand is 10% lower than forecast?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ESG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ESG support reputation, demand or risk reduction?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9006840" y="219456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44000" y="23042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0" y="2542032"/>
            <a:ext cx="219456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is your non-negotiable Round 3 guardrail?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decision will you not repeat without evidence?</a:t>
            </a:r>
            <a:endParaRPr lang="en-US" sz="8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exercise: one-minute CEO brief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Each team explains a causal diagnosis, not a justification.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26/27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Format: assumption → evidence → trade-off → decision rule.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600200"/>
          <a:ext cx="7406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4572000"/>
                <a:gridCol w="91440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Prompt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 Assumption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did we believe about customer demand?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 sec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 Evidence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result confirmed or rejected the assumption?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 sec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 Trade-off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did we sacrifice: margin, share, cash or risk?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 sec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 Action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will we change in Round 3?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 sec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024128" y="4251960"/>
            <a:ext cx="5669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No team may answer only with rank.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Every answer must name one causal link.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The class may ask one follow-up question.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83880" y="40233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B1F3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321040" y="4133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321040" y="4370832"/>
            <a:ext cx="2651760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Was your result strategy, luck or competitor error?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evidence would make you change your mind?</a:t>
            </a:r>
            <a:endParaRPr lang="en-US" sz="87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best strategy is not the boldest; it is the most coherent.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Universe 2 • Round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Universe 2 • Round 2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27/27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60120" y="1600200"/>
            <a:ext cx="98755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25880" y="1920240"/>
            <a:ext cx="9144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Coherence is the discipline of making market choice, product choice, operations, finance and risk point in the same strategic direction.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828800" y="3063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Universe 2 improved profit quality. Now the task is to make that quality repeatable under technological change.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0" y="482803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51960" y="49377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5175504"/>
            <a:ext cx="3749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will your team stop doing immediately?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will your team do more deliberately in Round 3?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Great Lakes Institute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Global Challenge Debrief</dc:title>
  <dc:subject>CESIM Global Challenge debrief</dc:subject>
  <dc:creator>OpenAI</dc:creator>
  <cp:lastModifiedBy>OpenAI</cp:lastModifiedBy>
  <cp:revision>1</cp:revision>
  <dcterms:created xsi:type="dcterms:W3CDTF">2026-07-23T08:40:49Z</dcterms:created>
  <dcterms:modified xsi:type="dcterms:W3CDTF">2026-07-23T08:40:49Z</dcterms:modified>
</cp:coreProperties>
</file>