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TSR</c:v>
                </c:pt>
              </c:strCache>
            </c:strRef>
          </c:tx>
          <c:spPr>
            <a:solidFill>
              <a:srgbClr val="F28E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8E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886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31B2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F80E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A7A7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4A35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Orange</c:v>
                  </c:pt>
                  <c:pt idx="1">
                    <c:v>Ochre</c:v>
                  </c:pt>
                  <c:pt idx="2">
                    <c:v>Red Rangers</c:v>
                  </c:pt>
                  <c:pt idx="3">
                    <c:v>Chahakars</c:v>
                  </c:pt>
                  <c:pt idx="4">
                    <c:v>Grey</c:v>
                  </c:pt>
                  <c:pt idx="5">
                    <c:v>Green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24.0993988398004</c:v>
                </c:pt>
                <c:pt idx="1">
                  <c:v>23.605343228051</c:v>
                </c:pt>
                <c:pt idx="2">
                  <c:v>16.2612089068482</c:v>
                </c:pt>
                <c:pt idx="3">
                  <c:v>9.4708072865503</c:v>
                </c:pt>
                <c:pt idx="4">
                  <c:v>8.98787058163011</c:v>
                </c:pt>
                <c:pt idx="5">
                  <c:v>-48.6122345223704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-5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R1 share price</c:v>
                </c:pt>
              </c:strCache>
            </c:strRef>
          </c:tx>
          <c:spPr>
            <a:solidFill>
              <a:srgbClr val="00A6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Chahakars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122.903181417004</c:v>
                </c:pt>
                <c:pt idx="1">
                  <c:v>254.771795956243</c:v>
                </c:pt>
                <c:pt idx="2">
                  <c:v>235.699211401405</c:v>
                </c:pt>
                <c:pt idx="3">
                  <c:v>254.947980893656</c:v>
                </c:pt>
                <c:pt idx="4">
                  <c:v>220.400930800349</c:v>
                </c:pt>
                <c:pt idx="5">
                  <c:v>259.176520534037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R2 share price</c:v>
                </c:pt>
              </c:strCache>
            </c:strRef>
          </c:tx>
          <c:spPr>
            <a:solidFill>
              <a:srgbClr val="E31B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Chahakars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44.4137383368851</c:v>
                </c:pt>
                <c:pt idx="1">
                  <c:v>255.231949142921</c:v>
                </c:pt>
                <c:pt idx="2">
                  <c:v>226.288253002648</c:v>
                </c:pt>
                <c:pt idx="3">
                  <c:v>290.806911110894</c:v>
                </c:pt>
                <c:pt idx="4">
                  <c:v>221.962756606079</c:v>
                </c:pt>
                <c:pt idx="5">
                  <c:v>288.49604105284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change %</c:v>
                </c:pt>
              </c:strCache>
            </c:strRef>
          </c:tx>
          <c:spPr>
            <a:solidFill>
              <a:srgbClr val="00A6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Chahakars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144.39953854118687</c:v>
                </c:pt>
                <c:pt idx="1">
                  <c:v>-11.223602141339484</c:v>
                </c:pt>
                <c:pt idx="2">
                  <c:v>-35.21923085016307</c:v>
                </c:pt>
                <c:pt idx="3">
                  <c:v>37.577892341691225</c:v>
                </c:pt>
                <c:pt idx="4">
                  <c:v>3.7825788430883245</c:v>
                </c:pt>
                <c:pt idx="5">
                  <c:v>0.006980285080881998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change %</c:v>
                </c:pt>
              </c:strCache>
            </c:strRef>
          </c:tx>
          <c:spPr>
            <a:solidFill>
              <a:srgbClr val="F28E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Chahakars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117.4</c:v>
                </c:pt>
                <c:pt idx="1">
                  <c:v>9.156653185782249</c:v>
                </c:pt>
                <c:pt idx="2">
                  <c:v>-38.04683000941398</c:v>
                </c:pt>
                <c:pt idx="3">
                  <c:v>-83.58970018920829</c:v>
                </c:pt>
                <c:pt idx="4">
                  <c:v>-72.11348544015486</c:v>
                </c:pt>
                <c:pt idx="5">
                  <c:v>81.50121055001654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"/>
          <c:min val="-1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4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R1</c:v>
                </c:pt>
              </c:strCache>
            </c:strRef>
          </c:tx>
          <c:spPr>
            <a:solidFill>
              <a:srgbClr val="00A6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Chahakars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8.49816861330669</c:v>
                </c:pt>
                <c:pt idx="1">
                  <c:v>20.84</c:v>
                </c:pt>
                <c:pt idx="2">
                  <c:v>17.22</c:v>
                </c:pt>
                <c:pt idx="3">
                  <c:v>18.06</c:v>
                </c:pt>
                <c:pt idx="4">
                  <c:v>13.17</c:v>
                </c:pt>
                <c:pt idx="5">
                  <c:v>22.21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R2</c:v>
                </c:pt>
              </c:strCache>
            </c:strRef>
          </c:tx>
          <c:spPr>
            <a:solidFill>
              <a:srgbClr val="E31B2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Chahakars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23.5838775770321</c:v>
                </c:pt>
                <c:pt idx="1">
                  <c:v>16.76</c:v>
                </c:pt>
                <c:pt idx="2">
                  <c:v>9.02</c:v>
                </c:pt>
                <c:pt idx="3">
                  <c:v>21.03</c:v>
                </c:pt>
                <c:pt idx="4">
                  <c:v>11.11</c:v>
                </c:pt>
                <c:pt idx="5">
                  <c:v>18.5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Unmet demand</c:v>
                </c:pt>
              </c:strCache>
            </c:strRef>
          </c:tx>
          <c:spPr>
            <a:solidFill>
              <a:srgbClr val="24A3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4A35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31B2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F80E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28E2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A7A7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8860B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Chahakars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2524.1720000000005</c:v>
                </c:pt>
                <c:pt idx="1">
                  <c:v>0</c:v>
                </c:pt>
                <c:pt idx="2">
                  <c:v>0</c:v>
                </c:pt>
                <c:pt idx="3">
                  <c:v>326.01800000000003</c:v>
                </c:pt>
                <c:pt idx="4">
                  <c:v>98.64700000000005</c:v>
                </c:pt>
                <c:pt idx="5">
                  <c:v>526.03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7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5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R1 R&amp;D</c:v>
                </c:pt>
              </c:strCache>
            </c:strRef>
          </c:tx>
          <c:spPr>
            <a:solidFill>
              <a:srgbClr val="00A6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Chahakars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1077.733</c:v>
                </c:pt>
                <c:pt idx="1">
                  <c:v>215</c:v>
                </c:pt>
                <c:pt idx="2">
                  <c:v>110</c:v>
                </c:pt>
                <c:pt idx="3">
                  <c:v>171.365</c:v>
                </c:pt>
                <c:pt idx="4">
                  <c:v>190.9</c:v>
                </c:pt>
                <c:pt idx="5">
                  <c:v>411.365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R2 R&amp;D</c:v>
                </c:pt>
              </c:strCache>
            </c:strRef>
          </c:tx>
          <c:spPr>
            <a:solidFill>
              <a:srgbClr val="F28E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Chahakars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342.62</c:v>
                </c:pt>
                <c:pt idx="1">
                  <c:v>55</c:v>
                </c:pt>
                <c:pt idx="2">
                  <c:v>63.8</c:v>
                </c:pt>
                <c:pt idx="3">
                  <c:v>581.311</c:v>
                </c:pt>
                <c:pt idx="4">
                  <c:v>271.311</c:v>
                </c:pt>
                <c:pt idx="5">
                  <c:v>266.443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 change, USD m</c:v>
                </c:pt>
              </c:strCache>
            </c:strRef>
          </c:tx>
          <c:spPr>
            <a:solidFill>
              <a:srgbClr val="F28E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Chahakars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-467.734408929986</c:v>
                </c:pt>
                <c:pt idx="1">
                  <c:v>15.45019318962202</c:v>
                </c:pt>
                <c:pt idx="2">
                  <c:v>247.939641201899</c:v>
                </c:pt>
                <c:pt idx="3">
                  <c:v>26.211066784072013</c:v>
                </c:pt>
                <c:pt idx="4">
                  <c:v>185.83604452802197</c:v>
                </c:pt>
                <c:pt idx="5">
                  <c:v>10.075280086712398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Parent cash flow before financing, USD m</c:v>
                </c:pt>
              </c:strCache>
            </c:strRef>
          </c:tx>
          <c:spPr>
            <a:solidFill>
              <a:srgbClr val="00A6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Chahakars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-747.4086288178729</c:v>
                </c:pt>
                <c:pt idx="1">
                  <c:v>24.713460208494404</c:v>
                </c:pt>
                <c:pt idx="2">
                  <c:v>-253.689901393154</c:v>
                </c:pt>
                <c:pt idx="3">
                  <c:v>-392.02823735047804</c:v>
                </c:pt>
                <c:pt idx="4">
                  <c:v>-344.18030065578296</c:v>
                </c:pt>
                <c:pt idx="5">
                  <c:v>-60.868139558638404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"/>
          <c:min val="-8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Environmental score</c:v>
                </c:pt>
              </c:strCache>
            </c:strRef>
          </c:tx>
          <c:spPr>
            <a:solidFill>
              <a:srgbClr val="24A3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Chahakars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3.66400834814951</c:v>
                </c:pt>
                <c:pt idx="1">
                  <c:v>2.53095597252495</c:v>
                </c:pt>
                <c:pt idx="2">
                  <c:v>3.12604865915931</c:v>
                </c:pt>
                <c:pt idx="3">
                  <c:v>2.9974927748185</c:v>
                </c:pt>
                <c:pt idx="4">
                  <c:v>2.96147659390288</c:v>
                </c:pt>
                <c:pt idx="5">
                  <c:v>2.57908933508042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ESG reputation</c:v>
                </c:pt>
              </c:strCache>
            </c:strRef>
          </c:tx>
          <c:spPr>
            <a:solidFill>
              <a:srgbClr val="00A6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Chahakars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3.27417173383392</c:v>
                </c:pt>
                <c:pt idx="1">
                  <c:v>2.77474099626806</c:v>
                </c:pt>
                <c:pt idx="2">
                  <c:v>3.06987220527832</c:v>
                </c:pt>
                <c:pt idx="3">
                  <c:v>3.00871441216392</c:v>
                </c:pt>
                <c:pt idx="4">
                  <c:v>3.03711746588282</c:v>
                </c:pt>
                <c:pt idx="5">
                  <c:v>2.79803574477178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8"/>
          <c:min val="2.3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2296"/>
            <a:ext cx="11292840" cy="0"/>
          </a:xfrm>
          <a:prstGeom prst="line">
            <a:avLst/>
          </a:prstGeom>
          <a:noFill/>
          <a:ln w="2794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58368" y="71323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CESIM Global Challenge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94944" y="13533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31B23"/>
                </a:solidFill>
              </a:rPr>
              <a:t>Universe 1 • Round 2 Comparative Debrief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694944" y="1810512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F87"/>
                </a:solidFill>
              </a:rPr>
              <a:t>GL Sec D Group July 2026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32520" y="1234440"/>
            <a:ext cx="2240280" cy="457200"/>
          </a:xfrm>
          <a:prstGeom prst="rect">
            <a:avLst/>
          </a:prstGeom>
          <a:solidFill>
            <a:srgbClr val="0F1B2D"/>
          </a:solidFill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Round 1 → Round 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13232" y="265176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31B23"/>
                </a:solidFill>
              </a:rPr>
              <a:t>Core teaching question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13232" y="2980944"/>
            <a:ext cx="7772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243447"/>
                </a:solidFill>
              </a:rPr>
              <a:t>Which teams learned, which merely moved, and which converted Round 2 decisions into durable shareholder value?</a:t>
            </a:r>
            <a:endParaRPr lang="en-US" sz="2500" dirty="0"/>
          </a:p>
        </p:txBody>
      </p:sp>
      <p:sp>
        <p:nvSpPr>
          <p:cNvPr id="9" name="Shape 7"/>
          <p:cNvSpPr/>
          <p:nvPr/>
        </p:nvSpPr>
        <p:spPr>
          <a:xfrm>
            <a:off x="8138160" y="2743200"/>
            <a:ext cx="457200" cy="457200"/>
          </a:xfrm>
          <a:prstGeom prst="ellipse">
            <a:avLst/>
          </a:prstGeom>
          <a:solidFill>
            <a:srgbClr val="EAF7F8"/>
          </a:solidFill>
          <a:ln w="12700">
            <a:solidFill>
              <a:srgbClr val="00A6B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973568" y="3227832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B78"/>
                </a:solidFill>
              </a:rPr>
              <a:t>Choice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8595360" y="2971800"/>
            <a:ext cx="274320" cy="393192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8869680" y="3136392"/>
            <a:ext cx="457200" cy="457200"/>
          </a:xfrm>
          <a:prstGeom prst="ellipse">
            <a:avLst/>
          </a:prstGeom>
          <a:solidFill>
            <a:srgbClr val="EAF7F8"/>
          </a:solidFill>
          <a:ln w="12700">
            <a:solidFill>
              <a:srgbClr val="00A6B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705088" y="3621024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B78"/>
                </a:solidFill>
              </a:rPr>
              <a:t>Outcome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9326880" y="3364992"/>
            <a:ext cx="274320" cy="393192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601200" y="3529584"/>
            <a:ext cx="457200" cy="457200"/>
          </a:xfrm>
          <a:prstGeom prst="ellipse">
            <a:avLst/>
          </a:prstGeom>
          <a:solidFill>
            <a:srgbClr val="EAF7F8"/>
          </a:solidFill>
          <a:ln w="12700">
            <a:solidFill>
              <a:srgbClr val="00A6B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436608" y="4014216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B78"/>
                </a:solidFill>
              </a:rPr>
              <a:t>Cash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10058400" y="3758184"/>
            <a:ext cx="274320" cy="393192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10332720" y="3922776"/>
            <a:ext cx="457200" cy="457200"/>
          </a:xfrm>
          <a:prstGeom prst="ellipse">
            <a:avLst/>
          </a:prstGeom>
          <a:solidFill>
            <a:srgbClr val="EAF7F8"/>
          </a:solidFill>
          <a:ln w="12700">
            <a:solidFill>
              <a:srgbClr val="00A6B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10168128" y="4407408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B78"/>
                </a:solidFill>
              </a:rPr>
              <a:t>Risk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10789920" y="4151376"/>
            <a:ext cx="274320" cy="393192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11064240" y="4315968"/>
            <a:ext cx="457200" cy="457200"/>
          </a:xfrm>
          <a:prstGeom prst="ellipse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10899648" y="4800600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D6B78"/>
                </a:solidFill>
              </a:rPr>
              <a:t>Value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11480" y="5632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1B23"/>
                </a:solidFill>
              </a:rPr>
              <a:t>Socratic questions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11480" y="5843016"/>
            <a:ext cx="11292840" cy="0"/>
          </a:xfrm>
          <a:prstGeom prst="line">
            <a:avLst/>
          </a:prstGeom>
          <a:noFill/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11480" y="5888736"/>
            <a:ext cx="11292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Before seeing the comparison, which team do you expect improved most?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What evidence would distinguish real learning from a temporary rebound?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411480" y="647395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GL Sec D • U1 R2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1/30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6537960" y="647395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78"/>
                </a:solidFill>
              </a:rPr>
              <a:t>Source: Section D Universe 1 R1/R2 Excel + CESIM materials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2296"/>
            <a:ext cx="11292840" cy="0"/>
          </a:xfrm>
          <a:prstGeom prst="line">
            <a:avLst/>
          </a:prstGeom>
          <a:noFill/>
          <a:ln w="2667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645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read the comparison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292840" cy="420624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0352" y="713232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43447"/>
                </a:solidFill>
              </a:rPr>
              <a:t>Do not subtract cumulative TSR mechanically; trace operating choices into share-price movement.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GL Sec D • U1 R2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2/30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37960" y="647395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78"/>
                </a:solidFill>
              </a:rPr>
              <a:t>Source: Section D Universe 1 R1/R2 Excel + CESIM materials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02920" y="1828800"/>
            <a:ext cx="1170432" cy="658368"/>
          </a:xfrm>
          <a:prstGeom prst="roundRect">
            <a:avLst>
              <a:gd name="adj" fmla="val 5556"/>
            </a:avLst>
          </a:prstGeom>
          <a:solidFill>
            <a:srgbClr val="EAF7F8"/>
          </a:solidFill>
          <a:ln w="10160">
            <a:solidFill>
              <a:srgbClr val="00A6B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39496" y="20025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F87"/>
                </a:solidFill>
              </a:rPr>
              <a:t>Demand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728216" y="1984248"/>
            <a:ext cx="292608" cy="310896"/>
          </a:xfrm>
          <a:prstGeom prst="chevron">
            <a:avLst/>
          </a:prstGeom>
          <a:solidFill>
            <a:srgbClr val="D7E0E6"/>
          </a:solidFill>
          <a:ln w="1270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121408" y="1828800"/>
            <a:ext cx="1170432" cy="658368"/>
          </a:xfrm>
          <a:prstGeom prst="roundRect">
            <a:avLst>
              <a:gd name="adj" fmla="val 5556"/>
            </a:avLst>
          </a:prstGeom>
          <a:solidFill>
            <a:srgbClr val="EAF7F8"/>
          </a:solidFill>
          <a:ln w="10160">
            <a:solidFill>
              <a:srgbClr val="00A6B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57984" y="20025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F87"/>
                </a:solidFill>
              </a:rPr>
              <a:t>Revenue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346704" y="1984248"/>
            <a:ext cx="292608" cy="310896"/>
          </a:xfrm>
          <a:prstGeom prst="chevron">
            <a:avLst/>
          </a:prstGeom>
          <a:solidFill>
            <a:srgbClr val="D7E0E6"/>
          </a:solidFill>
          <a:ln w="1270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739896" y="1828800"/>
            <a:ext cx="1170432" cy="658368"/>
          </a:xfrm>
          <a:prstGeom prst="roundRect">
            <a:avLst>
              <a:gd name="adj" fmla="val 5556"/>
            </a:avLst>
          </a:prstGeom>
          <a:solidFill>
            <a:srgbClr val="EAF7F8"/>
          </a:solidFill>
          <a:ln w="10160">
            <a:solidFill>
              <a:srgbClr val="00A6B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776472" y="20025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F87"/>
                </a:solidFill>
              </a:rPr>
              <a:t>Margin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65192" y="1984248"/>
            <a:ext cx="292608" cy="310896"/>
          </a:xfrm>
          <a:prstGeom prst="chevron">
            <a:avLst/>
          </a:prstGeom>
          <a:solidFill>
            <a:srgbClr val="D7E0E6"/>
          </a:solidFill>
          <a:ln w="1270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5358384" y="1828800"/>
            <a:ext cx="1170432" cy="658368"/>
          </a:xfrm>
          <a:prstGeom prst="roundRect">
            <a:avLst>
              <a:gd name="adj" fmla="val 5556"/>
            </a:avLst>
          </a:prstGeom>
          <a:solidFill>
            <a:srgbClr val="EAF7F8"/>
          </a:solidFill>
          <a:ln w="10160">
            <a:solidFill>
              <a:srgbClr val="00A6B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394960" y="20025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F87"/>
                </a:solidFill>
              </a:rPr>
              <a:t>Cash flow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583680" y="1984248"/>
            <a:ext cx="292608" cy="310896"/>
          </a:xfrm>
          <a:prstGeom prst="chevron">
            <a:avLst/>
          </a:prstGeom>
          <a:solidFill>
            <a:srgbClr val="D7E0E6"/>
          </a:solidFill>
          <a:ln w="1270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976872" y="1828800"/>
            <a:ext cx="1170432" cy="658368"/>
          </a:xfrm>
          <a:prstGeom prst="roundRect">
            <a:avLst>
              <a:gd name="adj" fmla="val 5556"/>
            </a:avLst>
          </a:prstGeom>
          <a:solidFill>
            <a:srgbClr val="EAF7F8"/>
          </a:solidFill>
          <a:ln w="10160">
            <a:solidFill>
              <a:srgbClr val="00A6B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7013448" y="20025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F87"/>
                </a:solidFill>
              </a:rPr>
              <a:t>Risk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202168" y="1984248"/>
            <a:ext cx="292608" cy="310896"/>
          </a:xfrm>
          <a:prstGeom prst="chevron">
            <a:avLst/>
          </a:prstGeom>
          <a:solidFill>
            <a:srgbClr val="D7E0E6"/>
          </a:solidFill>
          <a:ln w="1270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595360" y="1828800"/>
            <a:ext cx="1170432" cy="658368"/>
          </a:xfrm>
          <a:prstGeom prst="roundRect">
            <a:avLst>
              <a:gd name="adj" fmla="val 5556"/>
            </a:avLst>
          </a:prstGeom>
          <a:solidFill>
            <a:srgbClr val="EAF7F8"/>
          </a:solidFill>
          <a:ln w="10160">
            <a:solidFill>
              <a:srgbClr val="00A6B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631936" y="20025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7F87"/>
                </a:solidFill>
              </a:rPr>
              <a:t>Share price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820656" y="1984248"/>
            <a:ext cx="292608" cy="310896"/>
          </a:xfrm>
          <a:prstGeom prst="chevron">
            <a:avLst/>
          </a:prstGeom>
          <a:solidFill>
            <a:srgbClr val="D7E0E6"/>
          </a:solidFill>
          <a:ln w="1270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0213848" y="1828800"/>
            <a:ext cx="1170432" cy="658368"/>
          </a:xfrm>
          <a:prstGeom prst="roundRect">
            <a:avLst>
              <a:gd name="adj" fmla="val 5556"/>
            </a:avLst>
          </a:prstGeom>
          <a:solidFill>
            <a:srgbClr val="FDEBEC"/>
          </a:solidFill>
          <a:ln w="1016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0250424" y="200253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31B23"/>
                </a:solidFill>
              </a:rPr>
              <a:t>Cumulative TSR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40080" y="2971800"/>
            <a:ext cx="338328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640080" y="2971800"/>
            <a:ext cx="54864" cy="1508760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04672" y="3081528"/>
            <a:ext cx="3127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Interpretation rule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4672" y="3364992"/>
            <a:ext cx="3127248" cy="10332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CESIM TSR is cumulative and annualised. Use share-price and market-capitalisation changes to read the latest valuation movement.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389120" y="2971800"/>
            <a:ext cx="338328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389120" y="2971800"/>
            <a:ext cx="54864" cy="1508760"/>
          </a:xfrm>
          <a:prstGeom prst="rect">
            <a:avLst/>
          </a:prstGeom>
          <a:solidFill>
            <a:srgbClr val="00A6B2"/>
          </a:solidFill>
          <a:ln w="12700">
            <a:solidFill>
              <a:srgbClr val="00A6B2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553712" y="3081528"/>
            <a:ext cx="3127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Comparison rule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53712" y="3364992"/>
            <a:ext cx="3127248" cy="10332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Separate level, direction and quality: who grew, who improved margins, who generated cash, and who raised risk?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8138160" y="2971800"/>
            <a:ext cx="338328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8138160" y="2971800"/>
            <a:ext cx="54864" cy="150876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8302752" y="3081528"/>
            <a:ext cx="3127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Teaching rule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302752" y="3364992"/>
            <a:ext cx="3127248" cy="10332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Every number must be linked to a managerial assumption, a decision, an operational consequence and a next action.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11480" y="5632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1B23"/>
                </a:solidFill>
              </a:rPr>
              <a:t>Socratic questions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11480" y="5843016"/>
            <a:ext cx="11292840" cy="0"/>
          </a:xfrm>
          <a:prstGeom prst="line">
            <a:avLst/>
          </a:prstGeom>
          <a:noFill/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11480" y="5888736"/>
            <a:ext cx="11292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Why can cumulative TSR fall even when a team’s share price rises?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Which link in the chain best explains your team’s Round 2 outcome?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2296"/>
            <a:ext cx="11292840" cy="0"/>
          </a:xfrm>
          <a:prstGeom prst="line">
            <a:avLst/>
          </a:prstGeom>
          <a:noFill/>
          <a:ln w="2667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645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Round 2 leaderboard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292840" cy="420624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0352" y="713232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43447"/>
                </a:solidFill>
              </a:rPr>
              <a:t>Orange leads cumulative TSR by a narrow margin; Ochre is the strongest operating challenger.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GL Sec D • U1 R2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3/30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37960" y="647395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78"/>
                </a:solidFill>
              </a:rPr>
              <a:t>Source: Section D Universe 1 R1/R2 Excel + CESIM materials</a:t>
            </a:r>
            <a:endParaRPr lang="en-US" sz="72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1234440"/>
          <a:ext cx="640080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223760" y="1371600"/>
            <a:ext cx="41148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7223760" y="1371600"/>
            <a:ext cx="54864" cy="105156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388352" y="1481328"/>
            <a:ext cx="3858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Leadership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88352" y="1764792"/>
            <a:ext cx="385876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Orange: 24.1% cumulative TSR; Ochre: 23.6%. The lead is narrow enough to be strategically fragile.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223760" y="2697480"/>
            <a:ext cx="41148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7223760" y="2697480"/>
            <a:ext cx="54864" cy="1051560"/>
          </a:xfrm>
          <a:prstGeom prst="rect">
            <a:avLst/>
          </a:prstGeom>
          <a:solidFill>
            <a:srgbClr val="00A6B2"/>
          </a:solidFill>
          <a:ln w="12700">
            <a:solidFill>
              <a:srgbClr val="00A6B2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388352" y="2807208"/>
            <a:ext cx="3858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Operating strength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388352" y="3090672"/>
            <a:ext cx="385876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Red Rangers leads current profit; Ochre leads ROCE. Round leadership depends on more than one performance lens.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223760" y="4023360"/>
            <a:ext cx="41148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7223760" y="4023360"/>
            <a:ext cx="54864" cy="1051560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388352" y="4133088"/>
            <a:ext cx="3858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Risk boundary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388352" y="4416552"/>
            <a:ext cx="385876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Green remains last at –48.6% cumulative TSR despite a major operating recovery.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11480" y="5632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1B23"/>
                </a:solidFill>
              </a:rPr>
              <a:t>Socratic questions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11480" y="5843016"/>
            <a:ext cx="11292840" cy="0"/>
          </a:xfrm>
          <a:prstGeom prst="line">
            <a:avLst/>
          </a:prstGeom>
          <a:noFill/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411480" y="5888736"/>
            <a:ext cx="11292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Which team would you call the Round 2 winner: Orange, Ochre or Red Rangers? Why?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What evidence would make you distrust Orange’s TSR lead?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2296"/>
            <a:ext cx="11292840" cy="0"/>
          </a:xfrm>
          <a:prstGeom prst="line">
            <a:avLst/>
          </a:prstGeom>
          <a:noFill/>
          <a:ln w="2667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645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Rank movement: Round 1 → Round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292840" cy="420624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0352" y="713232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43447"/>
                </a:solidFill>
              </a:rPr>
              <a:t>Orange overtook Ochre; no team outside the top three broke into the leadership group.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GL Sec D • U1 R2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4/30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37960" y="647395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78"/>
                </a:solidFill>
              </a:rPr>
              <a:t>Source: Section D Universe 1 R1/R2 Excel + CESIM materials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731520" y="11521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</a:rPr>
              <a:t>Round 1 rank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0" y="115214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447"/>
                </a:solidFill>
              </a:rPr>
              <a:t>Round 2 rank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4672584"/>
            <a:ext cx="7223760" cy="0"/>
          </a:xfrm>
          <a:prstGeom prst="line">
            <a:avLst/>
          </a:prstGeom>
          <a:noFill/>
          <a:ln w="25400">
            <a:solidFill>
              <a:srgbClr val="24A35A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240280" y="4526280"/>
            <a:ext cx="301752" cy="301752"/>
          </a:xfrm>
          <a:prstGeom prst="ellipse">
            <a:avLst/>
          </a:prstGeom>
          <a:solidFill>
            <a:srgbClr val="24A35A"/>
          </a:solidFill>
          <a:ln w="12700">
            <a:solidFill>
              <a:srgbClr val="24A35A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646920" y="4526280"/>
            <a:ext cx="301752" cy="301752"/>
          </a:xfrm>
          <a:prstGeom prst="ellipse">
            <a:avLst/>
          </a:prstGeom>
          <a:solidFill>
            <a:srgbClr val="24A35A"/>
          </a:solidFill>
          <a:ln w="12700">
            <a:solidFill>
              <a:srgbClr val="24A35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4360" y="448970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6. Green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0012680" y="448970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6. Green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68880" y="2807208"/>
            <a:ext cx="7223760" cy="0"/>
          </a:xfrm>
          <a:prstGeom prst="line">
            <a:avLst/>
          </a:prstGeom>
          <a:noFill/>
          <a:ln w="25400">
            <a:solidFill>
              <a:srgbClr val="E31B23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2240280" y="2660904"/>
            <a:ext cx="301752" cy="301752"/>
          </a:xfrm>
          <a:prstGeom prst="ellipse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646920" y="2660904"/>
            <a:ext cx="301752" cy="301752"/>
          </a:xfrm>
          <a:prstGeom prst="ellipse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4360" y="262432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3. Red Rangers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012680" y="26243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3. Red Rangers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68880" y="3429000"/>
            <a:ext cx="7223760" cy="0"/>
          </a:xfrm>
          <a:prstGeom prst="line">
            <a:avLst/>
          </a:prstGeom>
          <a:noFill/>
          <a:ln w="25400">
            <a:solidFill>
              <a:srgbClr val="2F80ED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2240280" y="3282696"/>
            <a:ext cx="301752" cy="3017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9646920" y="3282696"/>
            <a:ext cx="301752" cy="30175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94360" y="32461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4. Chahakars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012680" y="32461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4. Chahakars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468880" y="2185416"/>
            <a:ext cx="7223760" cy="-621792"/>
          </a:xfrm>
          <a:prstGeom prst="line">
            <a:avLst/>
          </a:prstGeom>
          <a:noFill/>
          <a:ln w="25400">
            <a:solidFill>
              <a:srgbClr val="F28E2B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2240280" y="2039112"/>
            <a:ext cx="301752" cy="301752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646920" y="1417320"/>
            <a:ext cx="301752" cy="301752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94360" y="2002536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2. Orange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012680" y="138074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1. Orange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468880" y="4050792"/>
            <a:ext cx="7223760" cy="0"/>
          </a:xfrm>
          <a:prstGeom prst="line">
            <a:avLst/>
          </a:prstGeom>
          <a:noFill/>
          <a:ln w="25400">
            <a:solidFill>
              <a:srgbClr val="7A7A7A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2240280" y="3904488"/>
            <a:ext cx="301752" cy="301752"/>
          </a:xfrm>
          <a:prstGeom prst="ellipse">
            <a:avLst/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9646920" y="3904488"/>
            <a:ext cx="301752" cy="301752"/>
          </a:xfrm>
          <a:prstGeom prst="ellipse">
            <a:avLst/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594360" y="3867912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5. Grey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012680" y="386791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5. Grey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468880" y="1563624"/>
            <a:ext cx="7223760" cy="621792"/>
          </a:xfrm>
          <a:prstGeom prst="line">
            <a:avLst/>
          </a:prstGeom>
          <a:noFill/>
          <a:ln w="25400">
            <a:solidFill>
              <a:srgbClr val="B8860B">
                <a:alpha val="9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2240280" y="1417320"/>
            <a:ext cx="301752" cy="30175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9646920" y="2039112"/>
            <a:ext cx="301752" cy="30175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94360" y="1380744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1. Ochre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012680" y="20025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243447"/>
                </a:solidFill>
              </a:rPr>
              <a:t>2. Ochre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703320" y="5010912"/>
            <a:ext cx="480060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3703320" y="5010912"/>
            <a:ext cx="54864" cy="5029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3867912" y="5120640"/>
            <a:ext cx="4544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Blue → Chahakars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867912" y="5404104"/>
            <a:ext cx="4544568" cy="274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The Round 1 Blue team appears as Chahakars in Round 2 and is treated as the same company.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11480" y="5632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1B23"/>
                </a:solidFill>
              </a:rPr>
              <a:t>Socratic questions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11480" y="5843016"/>
            <a:ext cx="11292840" cy="0"/>
          </a:xfrm>
          <a:prstGeom prst="line">
            <a:avLst/>
          </a:prstGeom>
          <a:noFill/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11480" y="5888736"/>
            <a:ext cx="11292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What decision allowed Orange to pass Ochre despite much lower Round 2 profit?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Why did the middle and lower ranks remain sticky?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2296"/>
            <a:ext cx="11292840" cy="0"/>
          </a:xfrm>
          <a:prstGeom prst="line">
            <a:avLst/>
          </a:prstGeom>
          <a:noFill/>
          <a:ln w="2667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645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Universe-level comparison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292840" cy="420624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0352" y="713232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43447"/>
                </a:solidFill>
              </a:rPr>
              <a:t>The universe produced more revenue and much more profit, but aggregate market value still declined.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GL Sec D • U1 R2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5/30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37960" y="647395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78"/>
                </a:solidFill>
              </a:rPr>
              <a:t>Source: Section D Universe 1 R1/R2 Excel + CESIM materials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94360" y="1325880"/>
            <a:ext cx="210312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04088" y="1444752"/>
            <a:ext cx="45720" cy="1042416"/>
          </a:xfrm>
          <a:prstGeom prst="rect">
            <a:avLst/>
          </a:prstGeom>
          <a:solidFill>
            <a:srgbClr val="00A6B2"/>
          </a:solidFill>
          <a:ln w="12700">
            <a:solidFill>
              <a:srgbClr val="00A6B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50392" y="147218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Sales revenue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850392" y="175564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10.41bn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50392" y="213055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+14.5% vs R1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880360" y="1325880"/>
            <a:ext cx="210312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2990088" y="1444752"/>
            <a:ext cx="45720" cy="1042416"/>
          </a:xfrm>
          <a:prstGeom prst="rect">
            <a:avLst/>
          </a:prstGeom>
          <a:solidFill>
            <a:srgbClr val="24A35A"/>
          </a:solidFill>
          <a:ln w="12700">
            <a:solidFill>
              <a:srgbClr val="24A35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136392" y="147218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Profit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3136392" y="175564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1.26bn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136392" y="213055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+135.5% vs R1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166360" y="1325880"/>
            <a:ext cx="210312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276088" y="1444752"/>
            <a:ext cx="45720" cy="1042416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422392" y="147218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Aggregate margin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5422392" y="175564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12.1%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22392" y="213055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+6.2 pp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7452360" y="1325880"/>
            <a:ext cx="210312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562088" y="1444752"/>
            <a:ext cx="45720" cy="1042416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7708392" y="147218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R&amp;D expense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7708392" y="1755648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1.58bn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708392" y="213055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-27.4% vs R1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738360" y="1325880"/>
            <a:ext cx="187452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9848088" y="1444752"/>
            <a:ext cx="45720" cy="1042416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9994392" y="1472184"/>
            <a:ext cx="1490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Market cap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9994392" y="1755648"/>
            <a:ext cx="1490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40.70bn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994392" y="2130552"/>
            <a:ext cx="1490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-2.3% vs R1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94360" y="2971800"/>
            <a:ext cx="11018520" cy="2057400"/>
          </a:xfrm>
          <a:prstGeom prst="roundRect">
            <a:avLst>
              <a:gd name="adj" fmla="val 2222"/>
            </a:avLst>
          </a:prstGeom>
          <a:solidFill>
            <a:srgbClr val="F4F7F9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822960" y="32004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3447"/>
                </a:solidFill>
              </a:rPr>
              <a:t>First-principles reading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2960" y="3566160"/>
            <a:ext cx="10332720" cy="7315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43447"/>
                </a:solidFill>
              </a:rPr>
              <a:t>Operating performance improved because the universe converted more revenue into profit while spending less on R&amp;D. Yet the combined market capitalisation fell 2.3%, suggesting that investors questioned the durability, cash quality or risk of that improvement.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22960" y="44348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5D6B78"/>
                </a:solidFill>
              </a:rPr>
              <a:t>Average profit rose from 88.9m to 209.4m, while the median profit fell from 266.2m to 177.6m — evidence that improvement was uneven.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1480" y="5632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1B23"/>
                </a:solidFill>
              </a:rPr>
              <a:t>Socratic questions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11480" y="5843016"/>
            <a:ext cx="11292840" cy="0"/>
          </a:xfrm>
          <a:prstGeom prst="line">
            <a:avLst/>
          </a:prstGeom>
          <a:noFill/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11480" y="5888736"/>
            <a:ext cx="11292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How can profit more than double while total market capitalisation falls?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Does the average or median better describe the health of Universe 1?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2296"/>
            <a:ext cx="11292840" cy="0"/>
          </a:xfrm>
          <a:prstGeom prst="line">
            <a:avLst/>
          </a:prstGeom>
          <a:noFill/>
          <a:ln w="2667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645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Share-price movement reveals the latest market judgement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292840" cy="420624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0352" y="713232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43447"/>
                </a:solidFill>
              </a:rPr>
              <a:t>Orange and Ochre gained value; Green lost more than half its market capitalisation.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GL Sec D • U1 R2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6/30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37960" y="647395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78"/>
                </a:solidFill>
              </a:rPr>
              <a:t>Source: Section D Universe 1 R1/R2 Excel + CESIM materials</a:t>
            </a:r>
            <a:endParaRPr lang="en-US" sz="72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1234440"/>
          <a:ext cx="7315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138160" y="1325880"/>
            <a:ext cx="329184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138160" y="1325880"/>
            <a:ext cx="54864" cy="1005840"/>
          </a:xfrm>
          <a:prstGeom prst="rect">
            <a:avLst/>
          </a:prstGeom>
          <a:solidFill>
            <a:srgbClr val="24A35A"/>
          </a:solidFill>
          <a:ln w="12700">
            <a:solidFill>
              <a:srgbClr val="24A35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302752" y="1435608"/>
            <a:ext cx="3035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Value gained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302752" y="1719072"/>
            <a:ext cx="3035808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Orange +14.1%; Ochre +11.3%.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8138160" y="2606040"/>
            <a:ext cx="329184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8138160" y="2606040"/>
            <a:ext cx="54864" cy="1005840"/>
          </a:xfrm>
          <a:prstGeom prst="rect">
            <a:avLst/>
          </a:prstGeom>
          <a:solidFill>
            <a:srgbClr val="00A6B2"/>
          </a:solidFill>
          <a:ln w="12700">
            <a:solidFill>
              <a:srgbClr val="00A6B2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302752" y="2715768"/>
            <a:ext cx="3035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Value held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302752" y="2999232"/>
            <a:ext cx="3035808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Red Rangers +0.2%; Grey +0.7%.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8138160" y="3886200"/>
            <a:ext cx="329184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8138160" y="3886200"/>
            <a:ext cx="54864" cy="1005840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302752" y="3995928"/>
            <a:ext cx="3035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Value lost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302752" y="4279392"/>
            <a:ext cx="3035808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Chahakars -4.0%; Green -63.9%.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11480" y="5632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1B23"/>
                </a:solidFill>
              </a:rPr>
              <a:t>Socratic questions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11480" y="5843016"/>
            <a:ext cx="11292840" cy="0"/>
          </a:xfrm>
          <a:prstGeom prst="line">
            <a:avLst/>
          </a:prstGeom>
          <a:noFill/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411480" y="5888736"/>
            <a:ext cx="11292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What future cash-flow story is embedded in Orange’s 14.1% share-price rise?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Why did Green’s operational recovery fail to protect its valuation?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2296"/>
            <a:ext cx="11292840" cy="0"/>
          </a:xfrm>
          <a:prstGeom prst="line">
            <a:avLst/>
          </a:prstGeom>
          <a:noFill/>
          <a:ln w="2667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645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Round 2 valuation puzzle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292840" cy="420624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0352" y="713232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43447"/>
                </a:solidFill>
              </a:rPr>
              <a:t>Current profit and shareholder value diverged sharply for Orange and Green.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GL Sec D • U1 R2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7/30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37960" y="647395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78"/>
                </a:solidFill>
              </a:rPr>
              <a:t>Source: Section D Universe 1 R1/R2 Excel + CESIM materials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731520" y="1417320"/>
            <a:ext cx="6583680" cy="3749040"/>
          </a:xfrm>
          <a:prstGeom prst="rect">
            <a:avLst/>
          </a:prstGeom>
          <a:solidFill>
            <a:srgbClr val="FFFFFF">
              <a:alpha val="0"/>
            </a:srgbClr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325880" y="4754880"/>
            <a:ext cx="5577840" cy="0"/>
          </a:xfrm>
          <a:prstGeom prst="line">
            <a:avLst/>
          </a:prstGeom>
          <a:noFill/>
          <a:ln w="12700">
            <a:solidFill>
              <a:srgbClr val="5D6B7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25880" y="1691640"/>
            <a:ext cx="0" cy="3063240"/>
          </a:xfrm>
          <a:prstGeom prst="line">
            <a:avLst/>
          </a:prstGeom>
          <a:noFill/>
          <a:ln w="12700">
            <a:solidFill>
              <a:srgbClr val="5D6B78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154680" y="48280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6B78"/>
                </a:solidFill>
              </a:rPr>
              <a:t>Round 2 profit (USD m)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94360" y="27889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vert270"/>
          <a:lstStyle/>
          <a:p>
            <a:pPr algn="ctr" indent="0" marL="0">
              <a:buNone/>
            </a:pPr>
            <a:r>
              <a:rPr lang="en-US" sz="800" dirty="0">
                <a:solidFill>
                  <a:srgbClr val="5D6B78"/>
                </a:solidFill>
              </a:rPr>
              <a:t>Share-price change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169907" y="4436267"/>
            <a:ext cx="219456" cy="219456"/>
          </a:xfrm>
          <a:prstGeom prst="ellipse">
            <a:avLst/>
          </a:prstGeom>
          <a:solidFill>
            <a:srgbClr val="24A35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3352787" y="4427123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447"/>
                </a:solidFill>
              </a:rPr>
              <a:t>Green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6271737" y="2256485"/>
            <a:ext cx="219456" cy="219456"/>
          </a:xfrm>
          <a:prstGeom prst="ellipse">
            <a:avLst/>
          </a:prstGeom>
          <a:solidFill>
            <a:srgbClr val="E31B23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54617" y="2247341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447"/>
                </a:solidFill>
              </a:rPr>
              <a:t>Red Rangers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3664325" y="2398530"/>
            <a:ext cx="219456" cy="219456"/>
          </a:xfrm>
          <a:prstGeom prst="ellipse">
            <a:avLst/>
          </a:prstGeom>
          <a:solidFill>
            <a:srgbClr val="2F80E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847205" y="238938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447"/>
                </a:solidFill>
              </a:rPr>
              <a:t>Chahakars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1960634" y="1783909"/>
            <a:ext cx="219456" cy="219456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143514" y="1774765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447"/>
                </a:solidFill>
              </a:rPr>
              <a:t>Orange</a:t>
            </a:r>
            <a:endParaRPr lang="en-US" sz="720" dirty="0"/>
          </a:p>
        </p:txBody>
      </p:sp>
      <p:sp>
        <p:nvSpPr>
          <p:cNvPr id="22" name="Shape 20"/>
          <p:cNvSpPr/>
          <p:nvPr/>
        </p:nvSpPr>
        <p:spPr>
          <a:xfrm>
            <a:off x="1785928" y="2238513"/>
            <a:ext cx="219456" cy="219456"/>
          </a:xfrm>
          <a:prstGeom prst="ellipse">
            <a:avLst/>
          </a:prstGeom>
          <a:solidFill>
            <a:srgbClr val="7A7A7A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1968808" y="2229369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447"/>
                </a:solidFill>
              </a:rPr>
              <a:t>Grey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6019879" y="1877597"/>
            <a:ext cx="219456" cy="219456"/>
          </a:xfrm>
          <a:prstGeom prst="ellipse">
            <a:avLst/>
          </a:prstGeom>
          <a:solidFill>
            <a:srgbClr val="B8860B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202759" y="1868453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243447"/>
                </a:solidFill>
              </a:rPr>
              <a:t>Ochre</a:t>
            </a:r>
            <a:endParaRPr lang="en-US" sz="720" dirty="0"/>
          </a:p>
        </p:txBody>
      </p:sp>
      <p:sp>
        <p:nvSpPr>
          <p:cNvPr id="26" name="Shape 24"/>
          <p:cNvSpPr/>
          <p:nvPr/>
        </p:nvSpPr>
        <p:spPr>
          <a:xfrm>
            <a:off x="7635240" y="1417320"/>
            <a:ext cx="37490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635240" y="1417320"/>
            <a:ext cx="54864" cy="105156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7799832" y="1527048"/>
            <a:ext cx="3493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Orange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799832" y="1810512"/>
            <a:ext cx="349300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Only USD 60.1m profit, yet share price rose 14.1%: investors rewarded market share and future options.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635240" y="2743200"/>
            <a:ext cx="37490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635240" y="2743200"/>
            <a:ext cx="54864" cy="1051560"/>
          </a:xfrm>
          <a:prstGeom prst="rect">
            <a:avLst/>
          </a:prstGeom>
          <a:solidFill>
            <a:srgbClr val="00A6B2"/>
          </a:solidFill>
          <a:ln w="12700">
            <a:solidFill>
              <a:srgbClr val="00A6B2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799832" y="2852928"/>
            <a:ext cx="3493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Red + Ochre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799832" y="3136392"/>
            <a:ext cx="349300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High current profit; Ochre also gained valuation, while Red’s price was almost flat.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635240" y="4069080"/>
            <a:ext cx="374904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635240" y="4069080"/>
            <a:ext cx="54864" cy="1051560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7799832" y="4178808"/>
            <a:ext cx="34930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Green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99832" y="4462272"/>
            <a:ext cx="349300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Profit recovered to USD 157.6m, but valuation collapsed. Recovery is not the same as credibility.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411480" y="5632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1B23"/>
                </a:solidFill>
              </a:rPr>
              <a:t>Socratic questions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11480" y="5843016"/>
            <a:ext cx="11292840" cy="0"/>
          </a:xfrm>
          <a:prstGeom prst="line">
            <a:avLst/>
          </a:prstGeom>
          <a:noFill/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11480" y="5888736"/>
            <a:ext cx="11292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When should investors value future options above current profit?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What would Orange need to deliver next round to justify its valuation?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2296"/>
            <a:ext cx="11292840" cy="0"/>
          </a:xfrm>
          <a:prstGeom prst="line">
            <a:avLst/>
          </a:prstGeom>
          <a:noFill/>
          <a:ln w="2667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645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Revenue growth did not guarantee profit growth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292840" cy="420624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0352" y="713232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43447"/>
                </a:solidFill>
              </a:rPr>
              <a:t>Green and Orange grew revenue fastest, but only Green turned the direction of profit.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GL Sec D • U1 R2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8/30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37960" y="647395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78"/>
                </a:solidFill>
              </a:rPr>
              <a:t>Source: Section D Universe 1 R1/R2 Excel + CESIM materials</a:t>
            </a:r>
            <a:endParaRPr lang="en-US" sz="72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1234440"/>
          <a:ext cx="74980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229600" y="1325880"/>
            <a:ext cx="31546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229600" y="1325880"/>
            <a:ext cx="54864" cy="1051560"/>
          </a:xfrm>
          <a:prstGeom prst="rect">
            <a:avLst/>
          </a:prstGeom>
          <a:solidFill>
            <a:srgbClr val="24A35A"/>
          </a:solidFill>
          <a:ln w="12700">
            <a:solidFill>
              <a:srgbClr val="24A35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394192" y="1435608"/>
            <a:ext cx="2898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Green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394192" y="1719072"/>
            <a:ext cx="289864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Revenue +144%; profit swung from a USD 903m loss to USD 158m profit.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8229600" y="2697480"/>
            <a:ext cx="31546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8229600" y="2697480"/>
            <a:ext cx="54864" cy="105156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394192" y="2807208"/>
            <a:ext cx="2898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Orange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394192" y="3090672"/>
            <a:ext cx="289864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Revenue +37.6%; profit –83.6%. Growth was purchased through R&amp;D and weaker margins.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8229600" y="4069080"/>
            <a:ext cx="315468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8229600" y="4069080"/>
            <a:ext cx="54864" cy="105156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394192" y="4178808"/>
            <a:ext cx="2898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Ochre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394192" y="4462272"/>
            <a:ext cx="289864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Revenue flat; profit +81.5%. The improvement came from conversion quality, not scale.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11480" y="5632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1B23"/>
                </a:solidFill>
              </a:rPr>
              <a:t>Socratic questions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11480" y="5843016"/>
            <a:ext cx="11292840" cy="0"/>
          </a:xfrm>
          <a:prstGeom prst="line">
            <a:avLst/>
          </a:prstGeom>
          <a:noFill/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411480" y="5888736"/>
            <a:ext cx="11292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Which is more valuable: Green’s turnaround, Orange’s growth option, or Ochre’s margin improvement?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Where did revenue growth leak out before reaching profit?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2296"/>
            <a:ext cx="11292840" cy="0"/>
          </a:xfrm>
          <a:prstGeom prst="line">
            <a:avLst/>
          </a:prstGeom>
          <a:noFill/>
          <a:ln w="2667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645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Profitability and capital efficiency separated the teams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292840" cy="420624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0352" y="713232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43447"/>
                </a:solidFill>
              </a:rPr>
              <a:t>Ochre and Red converted revenue and capital most effectively; Orange and Grey sacrificed current economics.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GL Sec D • U1 R2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9/30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37960" y="647395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78"/>
                </a:solidFill>
              </a:rPr>
              <a:t>Source: Section D Universe 1 R1/R2 Excel + CESIM materials</a:t>
            </a:r>
            <a:endParaRPr lang="en-US" sz="72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80160"/>
          <a:ext cx="7543800" cy="3611880"/>
        </p:xfrm>
        <a:graphic>
          <a:graphicData uri="http://schemas.openxmlformats.org/drawingml/2006/table">
            <a:tbl>
              <a:tblPr/>
              <a:tblGrid>
                <a:gridCol w="1280160"/>
                <a:gridCol w="1005840"/>
                <a:gridCol w="1005840"/>
                <a:gridCol w="1005840"/>
                <a:gridCol w="1005840"/>
                <a:gridCol w="13258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ROS R1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ROS R2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ROCE R1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ROCE R2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-92.7%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-47.4%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Improved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 Rangers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19.5%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24.0%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36.7%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29.1%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Mixed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Chahakars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21.4%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20.5%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16.7%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Weakened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Orange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22.8%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35.2%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14.2%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Weakened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13.6%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21.8%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Weakened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20.4%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26.4%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Improved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412480" y="1371600"/>
            <a:ext cx="29718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412480" y="1371600"/>
            <a:ext cx="54864" cy="960120"/>
          </a:xfrm>
          <a:prstGeom prst="rect">
            <a:avLst/>
          </a:prstGeom>
          <a:solidFill>
            <a:srgbClr val="24A35A"/>
          </a:solidFill>
          <a:ln w="12700">
            <a:solidFill>
              <a:srgbClr val="24A35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577072" y="1481328"/>
            <a:ext cx="2715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Best conversion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577072" y="1764792"/>
            <a:ext cx="2715768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Red ROS 24.0%; Ochre ROS 20.4% and ROCE 33.5%.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8412480" y="2606040"/>
            <a:ext cx="29718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8412480" y="2606040"/>
            <a:ext cx="54864" cy="960120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577072" y="2715768"/>
            <a:ext cx="2715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Largest deterioration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577072" y="2999232"/>
            <a:ext cx="2715768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Orange ROS fell 20.1 points and ROCE fell 21.0 points.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8412480" y="3840480"/>
            <a:ext cx="29718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8412480" y="3840480"/>
            <a:ext cx="54864" cy="960120"/>
          </a:xfrm>
          <a:prstGeom prst="rect">
            <a:avLst/>
          </a:prstGeom>
          <a:solidFill>
            <a:srgbClr val="00A6B2"/>
          </a:solidFill>
          <a:ln w="12700">
            <a:solidFill>
              <a:srgbClr val="00A6B2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577072" y="3950208"/>
            <a:ext cx="2715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Turnaround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577072" y="4233672"/>
            <a:ext cx="2715768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Green moved from deeply negative ROS/ROCE to positive, but remains below leaders.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11480" y="5632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1B23"/>
                </a:solidFill>
              </a:rPr>
              <a:t>Socratic questions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11480" y="5843016"/>
            <a:ext cx="11292840" cy="0"/>
          </a:xfrm>
          <a:prstGeom prst="line">
            <a:avLst/>
          </a:prstGeom>
          <a:noFill/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411480" y="5888736"/>
            <a:ext cx="11292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Which metric should govern a capital-intensive technology strategy: ROS or ROCE?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Is Orange’s weak Round 2 ROCE an investment phase or strategic destruction?</a:t>
            </a:r>
            <a:endParaRPr lang="en-US" sz="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2296"/>
            <a:ext cx="11292840" cy="0"/>
          </a:xfrm>
          <a:prstGeom prst="line">
            <a:avLst/>
          </a:prstGeom>
          <a:noFill/>
          <a:ln w="2667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645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Global market share was redistributed dramatically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292840" cy="420624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0352" y="713232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43447"/>
                </a:solidFill>
              </a:rPr>
              <a:t>Green became the volume leader; Orange gained; every other team lost share.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GL Sec D • U1 R2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10/30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37960" y="647395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78"/>
                </a:solidFill>
              </a:rPr>
              <a:t>Source: Section D Universe 1 R1/R2 Excel + CESIM materials</a:t>
            </a:r>
            <a:endParaRPr lang="en-US" sz="72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1234440"/>
          <a:ext cx="74980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229600" y="1325880"/>
            <a:ext cx="315468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229600" y="1325880"/>
            <a:ext cx="54864" cy="1005840"/>
          </a:xfrm>
          <a:prstGeom prst="rect">
            <a:avLst/>
          </a:prstGeom>
          <a:solidFill>
            <a:srgbClr val="24A35A"/>
          </a:solidFill>
          <a:ln w="12700">
            <a:solidFill>
              <a:srgbClr val="24A35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394192" y="1435608"/>
            <a:ext cx="2898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Green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394192" y="1719072"/>
            <a:ext cx="2898648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+15.1 points to 23.6%: an extraordinary demand capture.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8229600" y="2651760"/>
            <a:ext cx="315468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8229600" y="2651760"/>
            <a:ext cx="54864" cy="100584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394192" y="2761488"/>
            <a:ext cx="2898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Orange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394192" y="3044952"/>
            <a:ext cx="2898648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+3.0 points to 21.0%: growth supported its valuation story.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8229600" y="3977640"/>
            <a:ext cx="3154680" cy="1005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8229600" y="3977640"/>
            <a:ext cx="54864" cy="100584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394192" y="4087368"/>
            <a:ext cx="2898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Chahakars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394192" y="4370832"/>
            <a:ext cx="2898648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–8.2 points to 9.0%: the steepest competitive loss.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11480" y="5632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1B23"/>
                </a:solidFill>
              </a:rPr>
              <a:t>Socratic questions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11480" y="5843016"/>
            <a:ext cx="11292840" cy="0"/>
          </a:xfrm>
          <a:prstGeom prst="line">
            <a:avLst/>
          </a:prstGeom>
          <a:noFill/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411480" y="5888736"/>
            <a:ext cx="11292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Did Green create profitable market share, or merely expensive volume?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Which team should defend share, and which should restore economics before chasing share?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2296"/>
            <a:ext cx="11292840" cy="0"/>
          </a:xfrm>
          <a:prstGeom prst="line">
            <a:avLst/>
          </a:prstGeom>
          <a:noFill/>
          <a:ln w="2667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645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Regional performance reveals different strategic engines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292840" cy="420624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0352" y="713232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43447"/>
                </a:solidFill>
              </a:rPr>
              <a:t>Green dominated USA and Europe; Orange led Asia; Red and Ochre remained strong in Asia.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GL Sec D • U1 R2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11/30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37960" y="647395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78"/>
                </a:solidFill>
              </a:rPr>
              <a:t>Source: Section D Universe 1 R1/R2 Excel + CESIM materials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1965960" y="115214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4A35A"/>
                </a:solidFill>
              </a:rPr>
              <a:t>Green</a:t>
            </a:r>
            <a:endParaRPr lang="en-US" sz="820" dirty="0"/>
          </a:p>
        </p:txBody>
      </p:sp>
      <p:sp>
        <p:nvSpPr>
          <p:cNvPr id="10" name="Text 8"/>
          <p:cNvSpPr/>
          <p:nvPr/>
        </p:nvSpPr>
        <p:spPr>
          <a:xfrm>
            <a:off x="3447288" y="115214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E31B23"/>
                </a:solidFill>
              </a:rPr>
              <a:t>Red Rangers</a:t>
            </a:r>
            <a:endParaRPr lang="en-US" sz="820" dirty="0"/>
          </a:p>
        </p:txBody>
      </p:sp>
      <p:sp>
        <p:nvSpPr>
          <p:cNvPr id="11" name="Text 9"/>
          <p:cNvSpPr/>
          <p:nvPr/>
        </p:nvSpPr>
        <p:spPr>
          <a:xfrm>
            <a:off x="4928616" y="115214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2F80ED"/>
                </a:solidFill>
              </a:rPr>
              <a:t>Chahakars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6409944" y="115214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28E2B"/>
                </a:solidFill>
              </a:rPr>
              <a:t>Orange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7891272" y="115214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7A7A7A"/>
                </a:solidFill>
              </a:rPr>
              <a:t>Grey</a:t>
            </a:r>
            <a:endParaRPr lang="en-US" sz="820" dirty="0"/>
          </a:p>
        </p:txBody>
      </p:sp>
      <p:sp>
        <p:nvSpPr>
          <p:cNvPr id="14" name="Text 12"/>
          <p:cNvSpPr/>
          <p:nvPr/>
        </p:nvSpPr>
        <p:spPr>
          <a:xfrm>
            <a:off x="9372600" y="115214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B8860B"/>
                </a:solidFill>
              </a:rPr>
              <a:t>Ochre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640080" y="16916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USA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65960" y="1463040"/>
            <a:ext cx="1426464" cy="704088"/>
          </a:xfrm>
          <a:prstGeom prst="rect">
            <a:avLst/>
          </a:prstGeom>
          <a:solidFill>
            <a:srgbClr val="00A6B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965960" y="166420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33.8%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47288" y="1463040"/>
            <a:ext cx="1426464" cy="704088"/>
          </a:xfrm>
          <a:prstGeom prst="rect">
            <a:avLst/>
          </a:prstGeom>
          <a:solidFill>
            <a:srgbClr val="EFF7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447288" y="166420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13.1%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28616" y="1463040"/>
            <a:ext cx="1426464" cy="704088"/>
          </a:xfrm>
          <a:prstGeom prst="rect">
            <a:avLst/>
          </a:prstGeom>
          <a:solidFill>
            <a:srgbClr val="EFF7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928616" y="166420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8.6%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9944" y="1463040"/>
            <a:ext cx="1426464" cy="704088"/>
          </a:xfrm>
          <a:prstGeom prst="rect">
            <a:avLst/>
          </a:prstGeom>
          <a:solidFill>
            <a:srgbClr val="C9EBE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409944" y="166420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17.6%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891272" y="1463040"/>
            <a:ext cx="1426464" cy="704088"/>
          </a:xfrm>
          <a:prstGeom prst="rect">
            <a:avLst/>
          </a:prstGeom>
          <a:solidFill>
            <a:srgbClr val="EFF7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7891272" y="166420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10.0%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372600" y="1463040"/>
            <a:ext cx="1426464" cy="704088"/>
          </a:xfrm>
          <a:prstGeom prst="rect">
            <a:avLst/>
          </a:prstGeom>
          <a:solidFill>
            <a:srgbClr val="C9EBE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9372600" y="166420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16.9%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246888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Asia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965960" y="2240280"/>
            <a:ext cx="1426464" cy="704088"/>
          </a:xfrm>
          <a:prstGeom prst="rect">
            <a:avLst/>
          </a:prstGeom>
          <a:solidFill>
            <a:srgbClr val="EFF7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1965960" y="244144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12.7%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47288" y="2240280"/>
            <a:ext cx="1426464" cy="704088"/>
          </a:xfrm>
          <a:prstGeom prst="rect">
            <a:avLst/>
          </a:prstGeom>
          <a:solidFill>
            <a:srgbClr val="00A6B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447288" y="244144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21.9%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28616" y="2240280"/>
            <a:ext cx="1426464" cy="704088"/>
          </a:xfrm>
          <a:prstGeom prst="rect">
            <a:avLst/>
          </a:prstGeom>
          <a:solidFill>
            <a:srgbClr val="EFF7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928616" y="244144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10.2%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9944" y="2240280"/>
            <a:ext cx="1426464" cy="704088"/>
          </a:xfrm>
          <a:prstGeom prst="rect">
            <a:avLst/>
          </a:prstGeom>
          <a:solidFill>
            <a:srgbClr val="00A6B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6409944" y="244144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23.9%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891272" y="2240280"/>
            <a:ext cx="1426464" cy="704088"/>
          </a:xfrm>
          <a:prstGeom prst="rect">
            <a:avLst/>
          </a:prstGeom>
          <a:solidFill>
            <a:srgbClr val="EFF7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7891272" y="244144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9.7%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372600" y="2240280"/>
            <a:ext cx="1426464" cy="704088"/>
          </a:xfrm>
          <a:prstGeom prst="rect">
            <a:avLst/>
          </a:prstGeom>
          <a:solidFill>
            <a:srgbClr val="00A6B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9372600" y="244144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21.7%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0080" y="324612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Europe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965960" y="3017520"/>
            <a:ext cx="1426464" cy="704088"/>
          </a:xfrm>
          <a:prstGeom prst="rect">
            <a:avLst/>
          </a:prstGeom>
          <a:solidFill>
            <a:srgbClr val="00A6B2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1965960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32.6%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447288" y="3017520"/>
            <a:ext cx="1426464" cy="704088"/>
          </a:xfrm>
          <a:prstGeom prst="rect">
            <a:avLst/>
          </a:prstGeom>
          <a:solidFill>
            <a:srgbClr val="EFF7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3447288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11.5%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928616" y="3017520"/>
            <a:ext cx="1426464" cy="704088"/>
          </a:xfrm>
          <a:prstGeom prst="rect">
            <a:avLst/>
          </a:prstGeom>
          <a:solidFill>
            <a:srgbClr val="EFF7F8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4928616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7.3%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409944" y="3017520"/>
            <a:ext cx="1426464" cy="704088"/>
          </a:xfrm>
          <a:prstGeom prst="rect">
            <a:avLst/>
          </a:prstGeom>
          <a:solidFill>
            <a:srgbClr val="C9EBE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6409944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19.4%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891272" y="3017520"/>
            <a:ext cx="1426464" cy="704088"/>
          </a:xfrm>
          <a:prstGeom prst="rect">
            <a:avLst/>
          </a:prstGeom>
          <a:solidFill>
            <a:srgbClr val="C9EBE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7891272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14.5%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372600" y="3017520"/>
            <a:ext cx="1426464" cy="704088"/>
          </a:xfrm>
          <a:prstGeom prst="rect">
            <a:avLst/>
          </a:prstGeom>
          <a:solidFill>
            <a:srgbClr val="C9EBED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9372600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14.6%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85800" y="4069080"/>
            <a:ext cx="33832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685800" y="4069080"/>
            <a:ext cx="54864" cy="960120"/>
          </a:xfrm>
          <a:prstGeom prst="rect">
            <a:avLst/>
          </a:prstGeom>
          <a:solidFill>
            <a:srgbClr val="24A35A"/>
          </a:solidFill>
          <a:ln w="12700">
            <a:solidFill>
              <a:srgbClr val="24A35A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850392" y="4178808"/>
            <a:ext cx="3127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Green engine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850392" y="4462272"/>
            <a:ext cx="3127248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USA 33.8%; Europe 32.6%; Asia only 12.7% because demand exceeded supply.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4389120" y="4069080"/>
            <a:ext cx="33832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4389120" y="4069080"/>
            <a:ext cx="54864" cy="96012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4553712" y="4178808"/>
            <a:ext cx="3127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Orange engine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553712" y="4462272"/>
            <a:ext cx="3127248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Asia 23.9% and Europe 19.4%; strong regional balance.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8092440" y="4069080"/>
            <a:ext cx="33832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8092440" y="4069080"/>
            <a:ext cx="54864" cy="960120"/>
          </a:xfrm>
          <a:prstGeom prst="rect">
            <a:avLst/>
          </a:prstGeom>
          <a:solidFill>
            <a:srgbClr val="00A6B2"/>
          </a:solidFill>
          <a:ln w="12700">
            <a:solidFill>
              <a:srgbClr val="00A6B2"/>
            </a:solidFill>
            <a:prstDash val="solid"/>
          </a:ln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8257032" y="4178808"/>
            <a:ext cx="3127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Red/Ochre engine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8257032" y="4462272"/>
            <a:ext cx="3127248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Both retained more than 21% share in Asia despite global share decline.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411480" y="5632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1B23"/>
                </a:solidFill>
              </a:rPr>
              <a:t>Socratic questions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411480" y="5843016"/>
            <a:ext cx="11292840" cy="0"/>
          </a:xfrm>
          <a:prstGeom prst="line">
            <a:avLst/>
          </a:prstGeom>
          <a:noFill/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68" name="Text 66"/>
          <p:cNvSpPr/>
          <p:nvPr/>
        </p:nvSpPr>
        <p:spPr>
          <a:xfrm>
            <a:off x="411480" y="5888736"/>
            <a:ext cx="11292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Which region is each team’s economic engine—not merely its volume engine?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Where should Green allocate capacity before spending more on demand creation?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2296"/>
            <a:ext cx="11292840" cy="0"/>
          </a:xfrm>
          <a:prstGeom prst="line">
            <a:avLst/>
          </a:prstGeom>
          <a:noFill/>
          <a:ln w="2667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645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and feature choices changed the demand equation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292840" cy="420624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0352" y="713232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43447"/>
                </a:solidFill>
              </a:rPr>
              <a:t>Round 2 rewarded lower prices and availability, but features mattered when paired with market fit.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GL Sec D • U1 R2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12/30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37960" y="647395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78"/>
                </a:solidFill>
              </a:rPr>
              <a:t>Source: Section D Universe 1 R1/R2 Excel + CESIM materials</a:t>
            </a:r>
            <a:endParaRPr lang="en-US" sz="72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34440"/>
          <a:ext cx="7863840" cy="3749040"/>
        </p:xfrm>
        <a:graphic>
          <a:graphicData uri="http://schemas.openxmlformats.org/drawingml/2006/table">
            <a:tbl>
              <a:tblPr/>
              <a:tblGrid>
                <a:gridCol w="1234440"/>
                <a:gridCol w="1051560"/>
                <a:gridCol w="640080"/>
                <a:gridCol w="822960"/>
                <a:gridCol w="1143000"/>
                <a:gridCol w="640080"/>
                <a:gridCol w="82296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USA T1 price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Δ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Features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Europe T1 price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Δ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Features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265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-225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149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-351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 Rangers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260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170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+20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Chahakars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305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+15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170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+20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Orange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280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160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320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160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286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+16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156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6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86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732520" y="1325880"/>
            <a:ext cx="26974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732520" y="1325880"/>
            <a:ext cx="54864" cy="960120"/>
          </a:xfrm>
          <a:prstGeom prst="rect">
            <a:avLst/>
          </a:prstGeom>
          <a:solidFill>
            <a:srgbClr val="24A35A"/>
          </a:solidFill>
          <a:ln w="12700">
            <a:solidFill>
              <a:srgbClr val="24A35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897112" y="1435608"/>
            <a:ext cx="2441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Green repriced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897112" y="1719072"/>
            <a:ext cx="2441448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USA Tech 1: $490 → $265; Europe: €500 → €149. Demand surged.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8732520" y="2578608"/>
            <a:ext cx="26974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8732520" y="2578608"/>
            <a:ext cx="54864" cy="96012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897112" y="2688336"/>
            <a:ext cx="2441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Orange enriched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897112" y="2971800"/>
            <a:ext cx="2441448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Features rose from 2 to 4 while price stayed competitive.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8732520" y="3831336"/>
            <a:ext cx="26974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8732520" y="3831336"/>
            <a:ext cx="54864" cy="9601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897112" y="3941064"/>
            <a:ext cx="2441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Chahakars narrowed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897112" y="4224528"/>
            <a:ext cx="2441448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Higher USA/Asia price and falling share suggest weak value-for-money.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11480" y="5632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1B23"/>
                </a:solidFill>
              </a:rPr>
              <a:t>Socratic questions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11480" y="5843016"/>
            <a:ext cx="11292840" cy="0"/>
          </a:xfrm>
          <a:prstGeom prst="line">
            <a:avLst/>
          </a:prstGeom>
          <a:noFill/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411480" y="5888736"/>
            <a:ext cx="11292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Was Green’s demand growth caused by better value, lower price, or pent-up technology demand?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How would you test whether a feature adds willingness to pay?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2296"/>
            <a:ext cx="11292840" cy="0"/>
          </a:xfrm>
          <a:prstGeom prst="line">
            <a:avLst/>
          </a:prstGeom>
          <a:noFill/>
          <a:ln w="2667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645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Demand creation became a supply-allocation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292840" cy="420624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0352" y="713232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43447"/>
                </a:solidFill>
              </a:rPr>
              <a:t>Green generated large unmet demand in Asia even while keeping 40% USA capacity free.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GL Sec D • U1 R2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13/30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37960" y="647395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78"/>
                </a:solidFill>
              </a:rPr>
              <a:t>Source: Section D Universe 1 R1/R2 Excel + CESIM materials</a:t>
            </a:r>
            <a:endParaRPr lang="en-US" sz="72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1234440"/>
          <a:ext cx="694944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818120" y="1325880"/>
            <a:ext cx="356616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7818120" y="1325880"/>
            <a:ext cx="54864" cy="1051560"/>
          </a:xfrm>
          <a:prstGeom prst="rect">
            <a:avLst/>
          </a:prstGeom>
          <a:solidFill>
            <a:srgbClr val="24A35A"/>
          </a:solidFill>
          <a:ln w="12700">
            <a:solidFill>
              <a:srgbClr val="24A35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982712" y="1435608"/>
            <a:ext cx="33101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Green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982712" y="1719072"/>
            <a:ext cx="331012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Approx. 2.52m units unmet—mainly Asia Tech 1 and Tech 2.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818120" y="2697480"/>
            <a:ext cx="356616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7818120" y="2697480"/>
            <a:ext cx="54864" cy="1051560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982712" y="2807208"/>
            <a:ext cx="33101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Capacity paradox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982712" y="3090672"/>
            <a:ext cx="331012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Green had 40% free USA capacity, but its regional/product allocation could not serve Asian demand economically or in time.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7818120" y="4069080"/>
            <a:ext cx="356616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7818120" y="4069080"/>
            <a:ext cx="54864" cy="105156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982712" y="4178808"/>
            <a:ext cx="33101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Other gaps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7982712" y="4462272"/>
            <a:ext cx="3310128" cy="5760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Orange left about 0.33m units unmet; Ochre about 0.53m; Grey about 0.10m.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11480" y="5632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1B23"/>
                </a:solidFill>
              </a:rPr>
              <a:t>Socratic questions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11480" y="5843016"/>
            <a:ext cx="11292840" cy="0"/>
          </a:xfrm>
          <a:prstGeom prst="line">
            <a:avLst/>
          </a:prstGeom>
          <a:noFill/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411480" y="5888736"/>
            <a:ext cx="11292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What is the difference between demand forecasting and fulfilment planning?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Which constraint should Green solve first: plant timing, allocation, outsourcing, or price?</a:t>
            </a:r>
            <a:endParaRPr lang="en-US" sz="9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2296"/>
            <a:ext cx="11292840" cy="0"/>
          </a:xfrm>
          <a:prstGeom prst="line">
            <a:avLst/>
          </a:prstGeom>
          <a:noFill/>
          <a:ln w="2667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645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R&amp;D timing produced three distinct strategic postures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292840" cy="420624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0352" y="713232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43447"/>
                </a:solidFill>
              </a:rPr>
              <a:t>Orange bought future options; Red harvested current capability; Ochre balanced both.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GL Sec D • U1 R2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14/30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37960" y="647395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78"/>
                </a:solidFill>
              </a:rPr>
              <a:t>Source: Section D Universe 1 R1/R2 Excel + CESIM materials</a:t>
            </a:r>
            <a:endParaRPr lang="en-US" sz="72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1234440"/>
          <a:ext cx="731520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138160" y="1325880"/>
            <a:ext cx="32004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138160" y="1325880"/>
            <a:ext cx="54864" cy="96012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302752" y="1435608"/>
            <a:ext cx="2944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Orange: option builder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302752" y="1719072"/>
            <a:ext cx="2944368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R&amp;D rose 239% to USD 581m; current ROS fell to 2.7%, but share price rose.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8138160" y="2578608"/>
            <a:ext cx="32004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8138160" y="2578608"/>
            <a:ext cx="54864" cy="960120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302752" y="2688336"/>
            <a:ext cx="2944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Red: harvester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302752" y="2971800"/>
            <a:ext cx="2944368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R&amp;D fell 74%; profit rose and ROS reached 24.0%. Risk: future technology readiness.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8138160" y="3831336"/>
            <a:ext cx="32004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8138160" y="3831336"/>
            <a:ext cx="54864" cy="9601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302752" y="3941064"/>
            <a:ext cx="29443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Ochre: balanced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302752" y="4224528"/>
            <a:ext cx="2944368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R&amp;D fell 35%; profit and ROCE improved while share price rose 11.3%.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11480" y="5632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1B23"/>
                </a:solidFill>
              </a:rPr>
              <a:t>Socratic questions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11480" y="5843016"/>
            <a:ext cx="11292840" cy="0"/>
          </a:xfrm>
          <a:prstGeom prst="line">
            <a:avLst/>
          </a:prstGeom>
          <a:noFill/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411480" y="5888736"/>
            <a:ext cx="11292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What evidence makes R&amp;D a disciplined option rather than a hopeful expense?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Which team is most exposed to being technologically late in Round 3?</a:t>
            </a:r>
            <a:endParaRPr lang="en-US" sz="9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2296"/>
            <a:ext cx="11292840" cy="0"/>
          </a:xfrm>
          <a:prstGeom prst="line">
            <a:avLst/>
          </a:prstGeom>
          <a:noFill/>
          <a:ln w="2667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645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Production discipline improved, but capacity fit remained uneven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292840" cy="420624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0352" y="713232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43447"/>
                </a:solidFill>
              </a:rPr>
              <a:t>Chahakars used Tech 1 capacity fully; Green’s Tech 2 build did not solve regional shortages.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GL Sec D • U1 R2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15/30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37960" y="647395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78"/>
                </a:solidFill>
              </a:rPr>
              <a:t>Source: Section D Universe 1 R1/R2 Excel + CESIM materials</a:t>
            </a:r>
            <a:endParaRPr lang="en-US" sz="72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234440"/>
          <a:ext cx="11109960" cy="3703320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  <a:gridCol w="1234440"/>
                <a:gridCol w="1051560"/>
                <a:gridCol w="1234440"/>
                <a:gridCol w="32004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USA Tech 1 use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USA Tech 2 use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Free capacity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R2 inventory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Interpretation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Demand–location mismatch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 Rangers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74%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332.9m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Mixed utilisation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Chahakars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100%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400.9m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capacity, weak demand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Orange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80%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113.8m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Mixed utilisation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80%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289.6m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Under-use + inventory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97%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27.4m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 T1 use, outsourcing T2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11480" y="5632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1B23"/>
                </a:solidFill>
              </a:rPr>
              <a:t>Socratic questions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11480" y="5843016"/>
            <a:ext cx="11292840" cy="0"/>
          </a:xfrm>
          <a:prstGeom prst="line">
            <a:avLst/>
          </a:prstGeom>
          <a:noFill/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11480" y="5888736"/>
            <a:ext cx="11292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Why can 100% utilisation coexist with falling market share?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What is the first-principles purpose of capacity: utilisation, flexibility, or profitable fulfilment?</a:t>
            </a:r>
            <a:endParaRPr lang="en-US" sz="9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2296"/>
            <a:ext cx="11292840" cy="0"/>
          </a:xfrm>
          <a:prstGeom prst="line">
            <a:avLst/>
          </a:prstGeom>
          <a:noFill/>
          <a:ln w="2667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645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Inventory and cash flow expose forecast quality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292840" cy="420624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0352" y="713232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43447"/>
                </a:solidFill>
              </a:rPr>
              <a:t>Green cleared inventory, while Chahakars and Grey accumulated stock and unplanned financing pressure.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GL Sec D • U1 R2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16/30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37960" y="647395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78"/>
                </a:solidFill>
              </a:rPr>
              <a:t>Source: Section D Universe 1 R1/R2 Excel + CESIM materials</a:t>
            </a:r>
            <a:endParaRPr lang="en-US" sz="72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1234440"/>
          <a:ext cx="74980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229600" y="1325880"/>
            <a:ext cx="31546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229600" y="1325880"/>
            <a:ext cx="54864" cy="960120"/>
          </a:xfrm>
          <a:prstGeom prst="rect">
            <a:avLst/>
          </a:prstGeom>
          <a:solidFill>
            <a:srgbClr val="24A35A"/>
          </a:solidFill>
          <a:ln w="12700">
            <a:solidFill>
              <a:srgbClr val="24A35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394192" y="1435608"/>
            <a:ext cx="2898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Green reset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394192" y="1719072"/>
            <a:ext cx="2898648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Inventory fell to zero, but parent cash flow before financing remained –USD 747m due to plant investment.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8229600" y="2578608"/>
            <a:ext cx="31546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8229600" y="2578608"/>
            <a:ext cx="54864" cy="9601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394192" y="2688336"/>
            <a:ext cx="2898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Chahakars warning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394192" y="2971800"/>
            <a:ext cx="2898648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Inventory rose USD 248m and short-term debt rose to USD 189m.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8229600" y="3831336"/>
            <a:ext cx="31546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8229600" y="3831336"/>
            <a:ext cx="54864" cy="960120"/>
          </a:xfrm>
          <a:prstGeom prst="rect">
            <a:avLst/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394192" y="3941064"/>
            <a:ext cx="2898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Grey warning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394192" y="4224528"/>
            <a:ext cx="2898648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Inventory rose USD 186m while profit fell 72%.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11480" y="5632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1B23"/>
                </a:solidFill>
              </a:rPr>
              <a:t>Socratic questions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11480" y="5843016"/>
            <a:ext cx="11292840" cy="0"/>
          </a:xfrm>
          <a:prstGeom prst="line">
            <a:avLst/>
          </a:prstGeom>
          <a:noFill/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411480" y="5888736"/>
            <a:ext cx="11292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When is inventory a strategic buffer, and when is it evidence of a failed forecast?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Which cash-flow problem is temporary investment and which is operating weakness?</a:t>
            </a:r>
            <a:endParaRPr lang="en-US" sz="9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2296"/>
            <a:ext cx="11292840" cy="0"/>
          </a:xfrm>
          <a:prstGeom prst="line">
            <a:avLst/>
          </a:prstGeom>
          <a:noFill/>
          <a:ln w="2667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645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Financing risk improved for Green but emerged elsewhere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292840" cy="420624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0352" y="713232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43447"/>
                </a:solidFill>
              </a:rPr>
              <a:t>Green repaired its credit profile; Chahakars and Ochre triggered unplanned short-term debt.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GL Sec D • U1 R2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17/30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37960" y="647395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78"/>
                </a:solidFill>
              </a:rPr>
              <a:t>Source: Section D Universe 1 R1/R2 Excel + CESIM materials</a:t>
            </a:r>
            <a:endParaRPr lang="en-US" sz="72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34440"/>
          <a:ext cx="7680960" cy="3749040"/>
        </p:xfrm>
        <a:graphic>
          <a:graphicData uri="http://schemas.openxmlformats.org/drawingml/2006/table">
            <a:tbl>
              <a:tblPr/>
              <a:tblGrid>
                <a:gridCol w="1280160"/>
                <a:gridCol w="960120"/>
                <a:gridCol w="960120"/>
                <a:gridCol w="1097280"/>
                <a:gridCol w="1234440"/>
                <a:gridCol w="13716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Credit R1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Credit R2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Gearing R2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Short debt R2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Shares R1→R2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B-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22.6%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40m → 50m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 Rangers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AA-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AA-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-11.5%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137.7m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30m → 30m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Chahakars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AA-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AA-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-13.8%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188.6m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30m → 30m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Orange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AA-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AA-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-16.6%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30m → 30m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AA-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A+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12.5%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0.0m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30m → 30m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AA-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-20.4%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14.2m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30m → 30m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8549640" y="1371600"/>
            <a:ext cx="27889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549640" y="1371600"/>
            <a:ext cx="54864" cy="960120"/>
          </a:xfrm>
          <a:prstGeom prst="rect">
            <a:avLst/>
          </a:prstGeom>
          <a:solidFill>
            <a:srgbClr val="24A35A"/>
          </a:solidFill>
          <a:ln w="12700">
            <a:solidFill>
              <a:srgbClr val="24A35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714232" y="1481328"/>
            <a:ext cx="2532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Green repair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714232" y="1764792"/>
            <a:ext cx="2532888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B– → A; unplanned debt eliminated. Yet gearing remains 22.6%.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8549640" y="2624328"/>
            <a:ext cx="27889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8549640" y="2624328"/>
            <a:ext cx="54864" cy="960120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714232" y="2734056"/>
            <a:ext cx="2532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Dilution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714232" y="3017520"/>
            <a:ext cx="2532888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Green issued another 10m shares; operational recovery was spread across more equity.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8549640" y="3877056"/>
            <a:ext cx="278892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8549640" y="3877056"/>
            <a:ext cx="54864" cy="96012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714232" y="3986784"/>
            <a:ext cx="2532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New pressure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714232" y="4270248"/>
            <a:ext cx="2532888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Chahakars USD 189m and Ochre USD 14m unplanned short-term debt.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11480" y="5632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1B23"/>
                </a:solidFill>
              </a:rPr>
              <a:t>Socratic questions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11480" y="5843016"/>
            <a:ext cx="11292840" cy="0"/>
          </a:xfrm>
          <a:prstGeom prst="line">
            <a:avLst/>
          </a:prstGeom>
          <a:noFill/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411480" y="5888736"/>
            <a:ext cx="11292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Why can equity issuance save the firm but hurt existing shareholder value?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Which is more dangerous: planned leverage or unplanned debt?</a:t>
            </a:r>
            <a:endParaRPr lang="en-US" sz="9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2296"/>
            <a:ext cx="11292840" cy="0"/>
          </a:xfrm>
          <a:prstGeom prst="line">
            <a:avLst/>
          </a:prstGeom>
          <a:noFill/>
          <a:ln w="2667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645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ESG became a demand and reputation variable in Round 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292840" cy="420624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0352" y="713232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43447"/>
                </a:solidFill>
              </a:rPr>
              <a:t>Green led the environmental score; Chahakars and Grey led ESG reputation among the followers.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GL Sec D • U1 R2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18/30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37960" y="647395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78"/>
                </a:solidFill>
              </a:rPr>
              <a:t>Source: Section D Universe 1 R1/R2 Excel + CESIM materials</a:t>
            </a:r>
            <a:endParaRPr lang="en-US" sz="72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1234440"/>
          <a:ext cx="74980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8229600" y="1325880"/>
            <a:ext cx="31546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229600" y="1325880"/>
            <a:ext cx="54864" cy="960120"/>
          </a:xfrm>
          <a:prstGeom prst="rect">
            <a:avLst/>
          </a:prstGeom>
          <a:solidFill>
            <a:srgbClr val="24A35A"/>
          </a:solidFill>
          <a:ln w="12700">
            <a:solidFill>
              <a:srgbClr val="24A35A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394192" y="1435608"/>
            <a:ext cx="2898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Green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394192" y="1719072"/>
            <a:ext cx="2898648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Highest environmental score (3.66) and ESG reputation (3.27).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8229600" y="2578608"/>
            <a:ext cx="31546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8229600" y="2578608"/>
            <a:ext cx="54864" cy="96012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394192" y="2688336"/>
            <a:ext cx="2898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Orange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394192" y="2971800"/>
            <a:ext cx="2898648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Strong renewable-energy impact, but overall score remained mid-pack.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8229600" y="3831336"/>
            <a:ext cx="315468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8229600" y="3831336"/>
            <a:ext cx="54864" cy="960120"/>
          </a:xfrm>
          <a:prstGeom prst="rect">
            <a:avLst/>
          </a:prstGeom>
          <a:solidFill>
            <a:srgbClr val="00A6B2"/>
          </a:solidFill>
          <a:ln w="12700">
            <a:solidFill>
              <a:srgbClr val="00A6B2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8394192" y="3941064"/>
            <a:ext cx="28986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Teaching caution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394192" y="4224528"/>
            <a:ext cx="2898648" cy="484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ESG contributes to demand and long-run value, but it does not compensate for weak cash economics.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411480" y="5632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1B23"/>
                </a:solidFill>
              </a:rPr>
              <a:t>Socratic questions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11480" y="5843016"/>
            <a:ext cx="11292840" cy="0"/>
          </a:xfrm>
          <a:prstGeom prst="line">
            <a:avLst/>
          </a:prstGeom>
          <a:noFill/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411480" y="5888736"/>
            <a:ext cx="11292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How should a manager value an ESG investment whose payoff enters through demand and risk?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Did Green’s ESG leadership contribute to its demand surge? What evidence would you seek?</a:t>
            </a:r>
            <a:endParaRPr lang="en-US" sz="9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2296"/>
            <a:ext cx="11292840" cy="0"/>
          </a:xfrm>
          <a:prstGeom prst="line">
            <a:avLst/>
          </a:prstGeom>
          <a:noFill/>
          <a:ln w="2667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645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profile: Green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292840" cy="420624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0352" y="713232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43447"/>
                </a:solidFill>
              </a:rPr>
              <a:t>A dramatic operating recovery was not enough to rebuild shareholder credibility.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GL Sec D • U1 R2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19/30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37960" y="647395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78"/>
                </a:solidFill>
              </a:rPr>
              <a:t>Source: Section D Universe 1 R1/R2 Excel + CESIM materials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8368" y="1353312"/>
            <a:ext cx="45720" cy="795528"/>
          </a:xfrm>
          <a:prstGeom prst="rect">
            <a:avLst/>
          </a:prstGeom>
          <a:solidFill>
            <a:srgbClr val="24A35A"/>
          </a:solidFill>
          <a:ln w="12700">
            <a:solidFill>
              <a:srgbClr val="24A35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" y="138074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Revenue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804672" y="16642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2.38bn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04672" y="203911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+144.4% vs R1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971800" y="123444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081528" y="1353312"/>
            <a:ext cx="45720" cy="795528"/>
          </a:xfrm>
          <a:prstGeom prst="rect">
            <a:avLst/>
          </a:prstGeom>
          <a:solidFill>
            <a:srgbClr val="24A35A"/>
          </a:solidFill>
          <a:ln w="12700">
            <a:solidFill>
              <a:srgbClr val="24A35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227832" y="138074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Profit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3227832" y="16642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157.6m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27832" y="203911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+1060.9m vs R1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394960" y="123444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504688" y="1353312"/>
            <a:ext cx="45720" cy="795528"/>
          </a:xfrm>
          <a:prstGeom prst="rect">
            <a:avLst/>
          </a:prstGeom>
          <a:solidFill>
            <a:srgbClr val="24A35A"/>
          </a:solidFill>
          <a:ln w="12700">
            <a:solidFill>
              <a:srgbClr val="24A35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650992" y="138074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ROS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5650992" y="16642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6.6%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50992" y="203911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+99.3 pp vs R1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8640" y="246888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58368" y="2587752"/>
            <a:ext cx="45720" cy="795528"/>
          </a:xfrm>
          <a:prstGeom prst="rect">
            <a:avLst/>
          </a:prstGeom>
          <a:solidFill>
            <a:srgbClr val="24A35A"/>
          </a:solidFill>
          <a:ln w="12700">
            <a:solidFill>
              <a:srgbClr val="24A35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04672" y="261518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ROCE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804672" y="289864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11.5%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04672" y="327355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+58.8 pp vs R1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971800" y="246888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081528" y="2587752"/>
            <a:ext cx="45720" cy="795528"/>
          </a:xfrm>
          <a:prstGeom prst="rect">
            <a:avLst/>
          </a:prstGeom>
          <a:solidFill>
            <a:srgbClr val="24A35A"/>
          </a:solidFill>
          <a:ln w="12700">
            <a:solidFill>
              <a:srgbClr val="24A35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227832" y="261518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Share price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3227832" y="289864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$44.4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227832" y="327355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-63.9% vs R1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394960" y="246888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5504688" y="2587752"/>
            <a:ext cx="45720" cy="795528"/>
          </a:xfrm>
          <a:prstGeom prst="rect">
            <a:avLst/>
          </a:prstGeom>
          <a:solidFill>
            <a:srgbClr val="24A35A"/>
          </a:solidFill>
          <a:ln w="12700">
            <a:solidFill>
              <a:srgbClr val="24A35A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650992" y="261518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Global share</a:t>
            </a:r>
            <a:endParaRPr lang="en-US" sz="870" dirty="0"/>
          </a:p>
        </p:txBody>
      </p:sp>
      <p:sp>
        <p:nvSpPr>
          <p:cNvPr id="37" name="Text 35"/>
          <p:cNvSpPr/>
          <p:nvPr/>
        </p:nvSpPr>
        <p:spPr>
          <a:xfrm>
            <a:off x="5650992" y="289864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23.6%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650992" y="327355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+15.1 pp vs R1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955280" y="1234440"/>
            <a:ext cx="3383280" cy="3502152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7955280" y="1234440"/>
            <a:ext cx="54864" cy="3502152"/>
          </a:xfrm>
          <a:prstGeom prst="rect">
            <a:avLst/>
          </a:prstGeom>
          <a:solidFill>
            <a:srgbClr val="24A35A"/>
          </a:solidFill>
          <a:ln w="12700">
            <a:solidFill>
              <a:srgbClr val="24A35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119872" y="1344168"/>
            <a:ext cx="3127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Managerial diagnosis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19872" y="1627632"/>
            <a:ext cx="3127248" cy="30266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• Revenue +144% and global share +15.1 points.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• Profit swung by USD 1.061bn into positive territory.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• Inventory and unplanned debt were cleared; credit improved B– → A.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• Share price fell 63.9%; another 10m shares diluted recovery.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• Unmet Asian demand and heavy investment reveal execution constraints.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11480" y="5632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1B23"/>
                </a:solidFill>
              </a:rPr>
              <a:t>Socratic questions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11480" y="5843016"/>
            <a:ext cx="11292840" cy="0"/>
          </a:xfrm>
          <a:prstGeom prst="line">
            <a:avLst/>
          </a:prstGeom>
          <a:noFill/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411480" y="5888736"/>
            <a:ext cx="11292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What must Green deliver next round for investors to believe the turnaround?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Should Green prioritise margin, fulfilment, debt reduction, or technology?</a:t>
            </a:r>
            <a:endParaRPr lang="en-US" sz="92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2296"/>
            <a:ext cx="11292840" cy="0"/>
          </a:xfrm>
          <a:prstGeom prst="line">
            <a:avLst/>
          </a:prstGeom>
          <a:noFill/>
          <a:ln w="2667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645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profile: Red Rangers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292840" cy="420624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0352" y="713232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43447"/>
                </a:solidFill>
              </a:rPr>
              <a:t>The strongest current profit engine remained valuable but lost share and future-option momentum.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GL Sec D • U1 R2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20/30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37960" y="647395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78"/>
                </a:solidFill>
              </a:rPr>
              <a:t>Source: Section D Universe 1 R1/R2 Excel + CESIM materials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8368" y="1353312"/>
            <a:ext cx="45720" cy="795528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" y="138074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Revenue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804672" y="16642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1.70bn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04672" y="203911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-11.2% vs R1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971800" y="123444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081528" y="1353312"/>
            <a:ext cx="45720" cy="795528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227832" y="138074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Profit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3227832" y="16642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407.9m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27832" y="203911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+34.2m vs R1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394960" y="123444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504688" y="1353312"/>
            <a:ext cx="45720" cy="795528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650992" y="138074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ROS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5650992" y="16642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24.0%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50992" y="203911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+4.5 pp vs R1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8640" y="246888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58368" y="2587752"/>
            <a:ext cx="45720" cy="795528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04672" y="261518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ROCE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804672" y="289864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29.1%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04672" y="327355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-7.6 pp vs R1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971800" y="246888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081528" y="2587752"/>
            <a:ext cx="45720" cy="795528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227832" y="261518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Share price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3227832" y="289864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$255.2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227832" y="327355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+0.2% vs R1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394960" y="246888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5504688" y="2587752"/>
            <a:ext cx="45720" cy="795528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650992" y="261518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Global share</a:t>
            </a:r>
            <a:endParaRPr lang="en-US" sz="870" dirty="0"/>
          </a:p>
        </p:txBody>
      </p:sp>
      <p:sp>
        <p:nvSpPr>
          <p:cNvPr id="37" name="Text 35"/>
          <p:cNvSpPr/>
          <p:nvPr/>
        </p:nvSpPr>
        <p:spPr>
          <a:xfrm>
            <a:off x="5650992" y="289864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16.8%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650992" y="327355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-4.1 pp vs R1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955280" y="1234440"/>
            <a:ext cx="3383280" cy="3502152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7955280" y="1234440"/>
            <a:ext cx="54864" cy="3502152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119872" y="1344168"/>
            <a:ext cx="3127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Managerial diagnosis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19872" y="1627632"/>
            <a:ext cx="3127248" cy="30266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• Highest Round 2 profit: USD 407.9m.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• ROS 24.0%; ROCE 29.1%; share price almost unchanged.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• Revenue fell 11.2% and global share fell 4.1 points.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• R&amp;D fell 74%, indicating a harvest posture.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• Strong Asia position protects scale, but technology timing is the strategic risk.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11480" y="5632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1B23"/>
                </a:solidFill>
              </a:rPr>
              <a:t>Socratic questions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11480" y="5843016"/>
            <a:ext cx="11292840" cy="0"/>
          </a:xfrm>
          <a:prstGeom prst="line">
            <a:avLst/>
          </a:prstGeom>
          <a:noFill/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411480" y="5888736"/>
            <a:ext cx="11292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Is Red Rangers harvesting wisely or underinvesting in the next technology cycle?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What minimum R&amp;D evidence would preserve future valuation?</a:t>
            </a:r>
            <a:endParaRPr lang="en-US" sz="9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2296"/>
            <a:ext cx="11292840" cy="0"/>
          </a:xfrm>
          <a:prstGeom prst="line">
            <a:avLst/>
          </a:prstGeom>
          <a:noFill/>
          <a:ln w="2667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645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profile: Chahakars (formerly Blue)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292840" cy="420624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0352" y="713232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43447"/>
                </a:solidFill>
              </a:rPr>
              <a:t>Operational efficiency remained respectable, but scale, inventory and financing deteriorated.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GL Sec D • U1 R2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21/30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37960" y="647395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78"/>
                </a:solidFill>
              </a:rPr>
              <a:t>Source: Section D Universe 1 R1/R2 Excel + CESIM materials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8368" y="1353312"/>
            <a:ext cx="45720" cy="7955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" y="138074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Revenue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804672" y="16642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0.96bn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04672" y="203911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-35.2% vs R1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971800" y="123444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081528" y="1353312"/>
            <a:ext cx="45720" cy="7955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227832" y="138074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Profit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3227832" y="16642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197.5m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27832" y="203911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 vs R1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394960" y="123444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504688" y="1353312"/>
            <a:ext cx="45720" cy="7955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650992" y="138074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ROS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5650992" y="16642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20.5%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50992" y="203911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-0.9 pp vs R1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8640" y="246888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58368" y="2587752"/>
            <a:ext cx="45720" cy="7955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04672" y="261518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ROCE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804672" y="289864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16.7%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04672" y="327355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-15.5 pp vs R1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971800" y="246888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081528" y="2587752"/>
            <a:ext cx="45720" cy="7955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227832" y="261518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Share price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3227832" y="289864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$226.3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227832" y="327355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-4.0% vs R1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394960" y="246888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5504688" y="2587752"/>
            <a:ext cx="45720" cy="795528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650992" y="261518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Global share</a:t>
            </a:r>
            <a:endParaRPr lang="en-US" sz="870" dirty="0"/>
          </a:p>
        </p:txBody>
      </p:sp>
      <p:sp>
        <p:nvSpPr>
          <p:cNvPr id="37" name="Text 35"/>
          <p:cNvSpPr/>
          <p:nvPr/>
        </p:nvSpPr>
        <p:spPr>
          <a:xfrm>
            <a:off x="5650992" y="289864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9.0%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650992" y="327355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-8.2 pp vs R1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955280" y="1234440"/>
            <a:ext cx="3383280" cy="3502152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7955280" y="1234440"/>
            <a:ext cx="54864" cy="35021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119872" y="1344168"/>
            <a:ext cx="3127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Managerial diagnosis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19872" y="1627632"/>
            <a:ext cx="3127248" cy="30266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• Revenue –35.2%; global share –8.2 points.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• Profit –38.0%; ROCE fell to 16.7%.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• Inventory rose 162% to USD 400.9m.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• Unplanned short-term debt rose to USD 188.6m.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• Higher relative pricing produced weak demand capture.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11480" y="5632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1B23"/>
                </a:solidFill>
              </a:rPr>
              <a:t>Socratic questions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11480" y="5843016"/>
            <a:ext cx="11292840" cy="0"/>
          </a:xfrm>
          <a:prstGeom prst="line">
            <a:avLst/>
          </a:prstGeom>
          <a:noFill/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411480" y="5888736"/>
            <a:ext cx="11292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Which assumption created both lost sales and excess inventory?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Should Chahakars cut price, reduce production, or reposition the product?</a:t>
            </a:r>
            <a:endParaRPr lang="en-US" sz="92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2296"/>
            <a:ext cx="11292840" cy="0"/>
          </a:xfrm>
          <a:prstGeom prst="line">
            <a:avLst/>
          </a:prstGeom>
          <a:noFill/>
          <a:ln w="2667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645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profile: Orange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292840" cy="420624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0352" y="713232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43447"/>
                </a:solidFill>
              </a:rPr>
              <a:t>The market rewarded future options even as current profitability collapsed.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GL Sec D • U1 R2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22/30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37960" y="647395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78"/>
                </a:solidFill>
              </a:rPr>
              <a:t>Source: Section D Universe 1 R1/R2 Excel + CESIM materials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8368" y="1353312"/>
            <a:ext cx="45720" cy="795528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" y="138074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Revenue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804672" y="16642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2.21bn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04672" y="203911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+37.6% vs R1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971800" y="123444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081528" y="1353312"/>
            <a:ext cx="45720" cy="795528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227832" y="138074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Profit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3227832" y="16642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60.1m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27832" y="203911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 vs R1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394960" y="123444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504688" y="1353312"/>
            <a:ext cx="45720" cy="795528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650992" y="138074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ROS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5650992" y="16642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2.7%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50992" y="203911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-20.1 pp vs R1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8640" y="246888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58368" y="2587752"/>
            <a:ext cx="45720" cy="795528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04672" y="261518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ROCE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804672" y="289864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14.2%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04672" y="327355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-21.0 pp vs R1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971800" y="246888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081528" y="2587752"/>
            <a:ext cx="45720" cy="795528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227832" y="261518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Share price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3227832" y="289864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$290.8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227832" y="327355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+14.1% vs R1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394960" y="246888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5504688" y="2587752"/>
            <a:ext cx="45720" cy="795528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650992" y="261518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Global share</a:t>
            </a:r>
            <a:endParaRPr lang="en-US" sz="870" dirty="0"/>
          </a:p>
        </p:txBody>
      </p:sp>
      <p:sp>
        <p:nvSpPr>
          <p:cNvPr id="37" name="Text 35"/>
          <p:cNvSpPr/>
          <p:nvPr/>
        </p:nvSpPr>
        <p:spPr>
          <a:xfrm>
            <a:off x="5650992" y="289864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21.0%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650992" y="327355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+3.0 pp vs R1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955280" y="1234440"/>
            <a:ext cx="3383280" cy="3502152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7955280" y="1234440"/>
            <a:ext cx="54864" cy="3502152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119872" y="1344168"/>
            <a:ext cx="3127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Managerial diagnosis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19872" y="1627632"/>
            <a:ext cx="3127248" cy="30266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• Cumulative TSR leader and share price +14.1%.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• Revenue +37.6%; global share +3.0 points.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• R&amp;D rose 239% to USD 581.3m.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• Profit fell 83.6%; ROS 2.7%; ROCE 14.2%.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• Valuation now demands a strong Round 3 payoff.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11480" y="5632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1B23"/>
                </a:solidFill>
              </a:rPr>
              <a:t>Socratic questions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11480" y="5843016"/>
            <a:ext cx="11292840" cy="0"/>
          </a:xfrm>
          <a:prstGeom prst="line">
            <a:avLst/>
          </a:prstGeom>
          <a:noFill/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411480" y="5888736"/>
            <a:ext cx="11292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What future cash flow must Orange generate to justify a P/E above 145?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What is the stop-loss rule if the R&amp;D option does not mature?</a:t>
            </a:r>
            <a:endParaRPr lang="en-US" sz="9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2296"/>
            <a:ext cx="11292840" cy="0"/>
          </a:xfrm>
          <a:prstGeom prst="line">
            <a:avLst/>
          </a:prstGeom>
          <a:noFill/>
          <a:ln w="2667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645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profile: Grey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292840" cy="420624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0352" y="713232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43447"/>
                </a:solidFill>
              </a:rPr>
              <a:t>A modest revenue gain concealed severe deterioration in profit quality and inventory discipline.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GL Sec D • U1 R2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23/30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37960" y="647395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78"/>
                </a:solidFill>
              </a:rPr>
              <a:t>Source: Section D Universe 1 R1/R2 Excel + CESIM materials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8368" y="1353312"/>
            <a:ext cx="45720" cy="795528"/>
          </a:xfrm>
          <a:prstGeom prst="rect">
            <a:avLst/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" y="138074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Revenue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804672" y="16642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1.26bn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04672" y="203911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+3.8% vs R1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971800" y="123444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081528" y="1353312"/>
            <a:ext cx="45720" cy="795528"/>
          </a:xfrm>
          <a:prstGeom prst="rect">
            <a:avLst/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227832" y="138074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Profit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3227832" y="16642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46.0m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27832" y="203911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 vs R1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394960" y="123444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504688" y="1353312"/>
            <a:ext cx="45720" cy="795528"/>
          </a:xfrm>
          <a:prstGeom prst="rect">
            <a:avLst/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650992" y="138074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ROS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5650992" y="16642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3.6%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50992" y="203911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-9.9 pp vs R1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8640" y="246888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58368" y="2587752"/>
            <a:ext cx="45720" cy="795528"/>
          </a:xfrm>
          <a:prstGeom prst="rect">
            <a:avLst/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04672" y="261518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ROCE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804672" y="289864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11.3%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04672" y="327355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-10.5 pp vs R1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971800" y="246888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081528" y="2587752"/>
            <a:ext cx="45720" cy="795528"/>
          </a:xfrm>
          <a:prstGeom prst="rect">
            <a:avLst/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227832" y="261518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Share price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3227832" y="289864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$222.0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227832" y="327355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+0.7% vs R1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394960" y="246888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5504688" y="2587752"/>
            <a:ext cx="45720" cy="795528"/>
          </a:xfrm>
          <a:prstGeom prst="rect">
            <a:avLst/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650992" y="261518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Global share</a:t>
            </a:r>
            <a:endParaRPr lang="en-US" sz="870" dirty="0"/>
          </a:p>
        </p:txBody>
      </p:sp>
      <p:sp>
        <p:nvSpPr>
          <p:cNvPr id="37" name="Text 35"/>
          <p:cNvSpPr/>
          <p:nvPr/>
        </p:nvSpPr>
        <p:spPr>
          <a:xfrm>
            <a:off x="5650992" y="289864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11.1%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650992" y="327355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-2.1 pp vs R1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955280" y="1234440"/>
            <a:ext cx="3383280" cy="3502152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7955280" y="1234440"/>
            <a:ext cx="54864" cy="3502152"/>
          </a:xfrm>
          <a:prstGeom prst="rect">
            <a:avLst/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119872" y="1344168"/>
            <a:ext cx="3127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Managerial diagnosis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19872" y="1627632"/>
            <a:ext cx="3127248" cy="30266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• Revenue +3.8%, but profit –72.1%.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• ROS fell to 3.6%; ROCE fell to 11.3%.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• Inventory rose 179% to USD 289.6m.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• Credit slipped AA– → A+ and gearing reached 12.5%.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• R&amp;D rose 42% without visible Round 2 return.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11480" y="5632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1B23"/>
                </a:solidFill>
              </a:rPr>
              <a:t>Socratic questions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11480" y="5843016"/>
            <a:ext cx="11292840" cy="0"/>
          </a:xfrm>
          <a:prstGeom prst="line">
            <a:avLst/>
          </a:prstGeom>
          <a:noFill/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411480" y="5888736"/>
            <a:ext cx="11292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Which cost or forecasting decision explains Grey’s profit collapse?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What inventory threshold should trigger a pricing or production response?</a:t>
            </a:r>
            <a:endParaRPr lang="en-US" sz="9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2296"/>
            <a:ext cx="11292840" cy="0"/>
          </a:xfrm>
          <a:prstGeom prst="line">
            <a:avLst/>
          </a:prstGeom>
          <a:noFill/>
          <a:ln w="2667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645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profile: Ochre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292840" cy="420624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0352" y="713232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43447"/>
                </a:solidFill>
              </a:rPr>
              <a:t>Ochre built the most balanced Round 2 operating model and nearly retained the TSR lead.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GL Sec D • U1 R2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24/30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37960" y="647395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78"/>
                </a:solidFill>
              </a:rPr>
              <a:t>Source: Section D Universe 1 R1/R2 Excel + CESIM materials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548640" y="123444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58368" y="1353312"/>
            <a:ext cx="45720" cy="7955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" y="138074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Revenue</a:t>
            </a:r>
            <a:endParaRPr lang="en-US" sz="870" dirty="0"/>
          </a:p>
        </p:txBody>
      </p:sp>
      <p:sp>
        <p:nvSpPr>
          <p:cNvPr id="12" name="Text 10"/>
          <p:cNvSpPr/>
          <p:nvPr/>
        </p:nvSpPr>
        <p:spPr>
          <a:xfrm>
            <a:off x="804672" y="16642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1.90bn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04672" y="203911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+0.0% vs R1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971800" y="123444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081528" y="1353312"/>
            <a:ext cx="45720" cy="7955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227832" y="138074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Profit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3227832" y="16642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387.5m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27832" y="203911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+174.0m vs R1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394960" y="123444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504688" y="1353312"/>
            <a:ext cx="45720" cy="7955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650992" y="138074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ROS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5650992" y="166420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20.4%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650992" y="203911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+9.2 pp vs R1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48640" y="246888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58368" y="2587752"/>
            <a:ext cx="45720" cy="7955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04672" y="261518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ROCE</a:t>
            </a:r>
            <a:endParaRPr lang="en-US" sz="870" dirty="0"/>
          </a:p>
        </p:txBody>
      </p:sp>
      <p:sp>
        <p:nvSpPr>
          <p:cNvPr id="27" name="Text 25"/>
          <p:cNvSpPr/>
          <p:nvPr/>
        </p:nvSpPr>
        <p:spPr>
          <a:xfrm>
            <a:off x="804672" y="289864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33.5%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04672" y="327355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+7.0 pp vs R1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971800" y="246888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081528" y="2587752"/>
            <a:ext cx="45720" cy="7955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227832" y="261518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Share price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3227832" y="289864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$288.5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3227832" y="327355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+11.3% vs R1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394960" y="2468880"/>
            <a:ext cx="2148840" cy="1033272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  <a:effectLst>
            <a:outerShdw sx="100000" sy="100000" kx="0" ky="0" algn="bl" rotWithShape="0" blurRad="12700" dist="50800" dir="2700000">
              <a:srgbClr val="DDE5EA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5504688" y="2587752"/>
            <a:ext cx="45720" cy="79552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650992" y="2615184"/>
            <a:ext cx="1764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5D6B78"/>
                </a:solidFill>
              </a:rPr>
              <a:t>Global share</a:t>
            </a:r>
            <a:endParaRPr lang="en-US" sz="870" dirty="0"/>
          </a:p>
        </p:txBody>
      </p:sp>
      <p:sp>
        <p:nvSpPr>
          <p:cNvPr id="37" name="Text 35"/>
          <p:cNvSpPr/>
          <p:nvPr/>
        </p:nvSpPr>
        <p:spPr>
          <a:xfrm>
            <a:off x="5650992" y="2898648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43447"/>
                </a:solidFill>
              </a:rPr>
              <a:t>18.5%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650992" y="3273552"/>
            <a:ext cx="17647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-3.7 pp vs R1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955280" y="1234440"/>
            <a:ext cx="3383280" cy="3502152"/>
          </a:xfrm>
          <a:prstGeom prst="roundRect">
            <a:avLst>
              <a:gd name="adj" fmla="val 1351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7955280" y="1234440"/>
            <a:ext cx="54864" cy="3502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8119872" y="1344168"/>
            <a:ext cx="31272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Managerial diagnosis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119872" y="1627632"/>
            <a:ext cx="3127248" cy="30266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• Profit +81.5% with virtually flat revenue.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• ROS 20.4%; highest ROCE at 33.5%.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• Share price +11.3%; cumulative TSR 23.6%.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• R&amp;D fell 35%, but current economics strengthened.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• Market share fell 3.7 points and some demand remained unfulfilled.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11480" y="5632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1B23"/>
                </a:solidFill>
              </a:rPr>
              <a:t>Socratic questions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11480" y="5843016"/>
            <a:ext cx="11292840" cy="0"/>
          </a:xfrm>
          <a:prstGeom prst="line">
            <a:avLst/>
          </a:prstGeom>
          <a:noFill/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411480" y="5888736"/>
            <a:ext cx="11292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Should Ochre protect margins or recover market share next round?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What is the hidden risk of improving profit while losing share?</a:t>
            </a:r>
            <a:endParaRPr lang="en-US" sz="9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2296"/>
            <a:ext cx="11292840" cy="0"/>
          </a:xfrm>
          <a:prstGeom prst="line">
            <a:avLst/>
          </a:prstGeom>
          <a:noFill/>
          <a:ln w="2667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645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Round 2 rewarded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292840" cy="420624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0352" y="713232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43447"/>
                </a:solidFill>
              </a:rPr>
              <a:t>The market rewarded coherent growth options, operational credibility and controlled risk.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GL Sec D • U1 R2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25/30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37960" y="647395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78"/>
                </a:solidFill>
              </a:rPr>
              <a:t>Source: Section D Universe 1 R1/R2 Excel + CESIM materials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32918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85800" y="1325880"/>
            <a:ext cx="54864" cy="141732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50392" y="1435608"/>
            <a:ext cx="3035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1. Credible future options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0392" y="1719072"/>
            <a:ext cx="3035808" cy="941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Orange gained valuation through market-share growth and aggressive R&amp;D, despite weak current profit.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434840" y="1325880"/>
            <a:ext cx="32918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434840" y="1325880"/>
            <a:ext cx="54864" cy="14173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99432" y="1435608"/>
            <a:ext cx="3035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2. Strong conversion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99432" y="1719072"/>
            <a:ext cx="3035808" cy="941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Ochre improved profit, ROS and ROCE without needing revenue growth.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183880" y="1325880"/>
            <a:ext cx="32918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183880" y="1325880"/>
            <a:ext cx="54864" cy="1417320"/>
          </a:xfrm>
          <a:prstGeom prst="rect">
            <a:avLst/>
          </a:prstGeom>
          <a:solidFill>
            <a:srgbClr val="24A35A"/>
          </a:solidFill>
          <a:ln w="12700">
            <a:solidFill>
              <a:srgbClr val="24A35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348472" y="1435608"/>
            <a:ext cx="3035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3. Financial repair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48472" y="1719072"/>
            <a:ext cx="3035808" cy="941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Green repaired credit, cleared inventory and returned to profit—necessary but not sufficient.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5800" y="3154680"/>
            <a:ext cx="32918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85800" y="3154680"/>
            <a:ext cx="54864" cy="1417320"/>
          </a:xfrm>
          <a:prstGeom prst="rect">
            <a:avLst/>
          </a:prstGeom>
          <a:solidFill>
            <a:srgbClr val="00A6B2"/>
          </a:solidFill>
          <a:ln w="12700">
            <a:solidFill>
              <a:srgbClr val="00A6B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50392" y="3264408"/>
            <a:ext cx="3035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4. Regional fit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50392" y="3547872"/>
            <a:ext cx="3035808" cy="941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Orange, Red and Ochre built strong Asian engines; Green captured USA and Europe.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434840" y="3154680"/>
            <a:ext cx="32918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434840" y="3154680"/>
            <a:ext cx="54864" cy="1417320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599432" y="3264408"/>
            <a:ext cx="3035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5. Cost discipline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99432" y="3547872"/>
            <a:ext cx="3035808" cy="941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Red and Ochre translated capabilities into strong current earnings and capital returns.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183880" y="3154680"/>
            <a:ext cx="32918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183880" y="3154680"/>
            <a:ext cx="54864" cy="14173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348472" y="3264408"/>
            <a:ext cx="3035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6. ESG integration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48472" y="3547872"/>
            <a:ext cx="3035808" cy="941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Green’s ESG score likely reinforced demand, but only when paired with operating correction.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1480" y="5632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1B23"/>
                </a:solidFill>
              </a:rPr>
              <a:t>Socratic questions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11480" y="5843016"/>
            <a:ext cx="11292840" cy="0"/>
          </a:xfrm>
          <a:prstGeom prst="line">
            <a:avLst/>
          </a:prstGeom>
          <a:noFill/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11480" y="5888736"/>
            <a:ext cx="11292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Which reward is most sustainable across the remaining rounds?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Can a team pursue all six, or must it choose a coherent subset?</a:t>
            </a:r>
            <a:endParaRPr lang="en-US" sz="92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2296"/>
            <a:ext cx="11292840" cy="0"/>
          </a:xfrm>
          <a:prstGeom prst="line">
            <a:avLst/>
          </a:prstGeom>
          <a:noFill/>
          <a:ln w="2667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645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Round 2 punished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292840" cy="420624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0352" y="713232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43447"/>
                </a:solidFill>
              </a:rPr>
              <a:t>The market punished inventory accumulation, weak conversion and strategic incoherence.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GL Sec D • U1 R2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26/30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37960" y="647395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78"/>
                </a:solidFill>
              </a:rPr>
              <a:t>Source: Section D Universe 1 R1/R2 Excel + CESIM materials</a:t>
            </a:r>
            <a:endParaRPr lang="en-US" sz="720" dirty="0"/>
          </a:p>
        </p:txBody>
      </p:sp>
      <p:sp>
        <p:nvSpPr>
          <p:cNvPr id="9" name="Shape 7"/>
          <p:cNvSpPr/>
          <p:nvPr/>
        </p:nvSpPr>
        <p:spPr>
          <a:xfrm>
            <a:off x="685800" y="1325880"/>
            <a:ext cx="32918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85800" y="1325880"/>
            <a:ext cx="54864" cy="1417320"/>
          </a:xfrm>
          <a:prstGeom prst="rect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50392" y="1435608"/>
            <a:ext cx="3035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1. Growth without margin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50392" y="1719072"/>
            <a:ext cx="3035808" cy="941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Orange’s profit collapse shows the cost of buying scale and future options.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434840" y="1325880"/>
            <a:ext cx="32918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434840" y="1325880"/>
            <a:ext cx="54864" cy="14173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99432" y="1435608"/>
            <a:ext cx="3035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2. Capacity without demand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99432" y="1719072"/>
            <a:ext cx="3035808" cy="941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Chahakars used capacity fully while sales and share fell.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183880" y="1325880"/>
            <a:ext cx="32918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183880" y="1325880"/>
            <a:ext cx="54864" cy="1417320"/>
          </a:xfrm>
          <a:prstGeom prst="rect">
            <a:avLst/>
          </a:prstGeom>
          <a:solidFill>
            <a:srgbClr val="E31B23"/>
          </a:solidFill>
          <a:ln w="1270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348472" y="1435608"/>
            <a:ext cx="3035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3. Inventory without purpose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48472" y="1719072"/>
            <a:ext cx="3035808" cy="941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Chahakars and Grey tied up capital in unsold products.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85800" y="3154680"/>
            <a:ext cx="32918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85800" y="3154680"/>
            <a:ext cx="54864" cy="1417320"/>
          </a:xfrm>
          <a:prstGeom prst="rect">
            <a:avLst/>
          </a:prstGeom>
          <a:solidFill>
            <a:srgbClr val="24A35A"/>
          </a:solidFill>
          <a:ln w="12700">
            <a:solidFill>
              <a:srgbClr val="24A35A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50392" y="3264408"/>
            <a:ext cx="3035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4. Demand without fulfilment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50392" y="3547872"/>
            <a:ext cx="3035808" cy="941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Green generated Asian demand that its supply system could not satisfy.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434840" y="3154680"/>
            <a:ext cx="32918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434840" y="3154680"/>
            <a:ext cx="54864" cy="1417320"/>
          </a:xfrm>
          <a:prstGeom prst="rect">
            <a:avLst/>
          </a:prstGeom>
          <a:solidFill>
            <a:srgbClr val="7A7A7A"/>
          </a:solidFill>
          <a:ln w="12700">
            <a:solidFill>
              <a:srgbClr val="7A7A7A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599432" y="3264408"/>
            <a:ext cx="3035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5. Activity without return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99432" y="3547872"/>
            <a:ext cx="3035808" cy="941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Grey increased R&amp;D but weakened profit, ROCE and credit.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183880" y="3154680"/>
            <a:ext cx="3291840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8183880" y="3154680"/>
            <a:ext cx="54864" cy="141732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8348472" y="3264408"/>
            <a:ext cx="30358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6. Recovery without credibility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348472" y="3547872"/>
            <a:ext cx="3035808" cy="941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Green’s accounting recovery did not yet restore investor confidence.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11480" y="5632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1B23"/>
                </a:solidFill>
              </a:rPr>
              <a:t>Socratic questions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11480" y="5843016"/>
            <a:ext cx="11292840" cy="0"/>
          </a:xfrm>
          <a:prstGeom prst="line">
            <a:avLst/>
          </a:prstGeom>
          <a:noFill/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411480" y="5888736"/>
            <a:ext cx="11292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Which punished error is easiest to reverse in Round 3?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Which error is sticky because it changes capacity, financing or technology path?</a:t>
            </a:r>
            <a:endParaRPr lang="en-US" sz="92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2296"/>
            <a:ext cx="11292840" cy="0"/>
          </a:xfrm>
          <a:prstGeom prst="line">
            <a:avLst/>
          </a:prstGeom>
          <a:noFill/>
          <a:ln w="2667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645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Socratic question bank for Universe 1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292840" cy="420624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0352" y="713232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43447"/>
                </a:solidFill>
              </a:rPr>
              <a:t>Use questions to expose assumptions, evidence, trade-offs and decision rules.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GL Sec D • U1 R2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27/30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37960" y="647395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78"/>
                </a:solidFill>
              </a:rPr>
              <a:t>Source: Section D Universe 1 R1/R2 Excel + CESIM materials</a:t>
            </a:r>
            <a:endParaRPr lang="en-US" sz="72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188720"/>
          <a:ext cx="10789920" cy="4114800"/>
        </p:xfrm>
        <a:graphic>
          <a:graphicData uri="http://schemas.openxmlformats.org/drawingml/2006/table">
            <a:tbl>
              <a:tblPr/>
              <a:tblGrid>
                <a:gridCol w="2011680"/>
                <a:gridCol w="8412480"/>
              </a:tblGrid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First-principles step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Question for the class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 value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problem did your product solve, and what evidence shows customers valued it?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Demand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Was demand created by price, features, brand, ESG, technology timing or competitor mistakes?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Economics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Which decision most changed contribution margin and ROS?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Capital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asset or R&amp;D investment must now earn a return, by when, and above what threshold?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Cash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Which profit is backed by cash, and which is absorbed by inventory or investment?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could make your expected cash flow less certain or more expensive to finance?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Learning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Which Round 1 assumption did you reject in Round 2?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Decision rule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measurable trigger will cause you to change price, production or R&amp;D next round?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11480" y="5632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1B23"/>
                </a:solidFill>
              </a:rPr>
              <a:t>Socratic questions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11480" y="5843016"/>
            <a:ext cx="11292840" cy="0"/>
          </a:xfrm>
          <a:prstGeom prst="line">
            <a:avLst/>
          </a:prstGeom>
          <a:noFill/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11480" y="5888736"/>
            <a:ext cx="11292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Which question is hardest for your team to answer honestly?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What evidence would falsify your current strategy?</a:t>
            </a:r>
            <a:endParaRPr lang="en-US" sz="9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2296"/>
            <a:ext cx="11292840" cy="0"/>
          </a:xfrm>
          <a:prstGeom prst="line">
            <a:avLst/>
          </a:prstGeom>
          <a:noFill/>
          <a:ln w="2667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645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Round 3 decision checklist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292840" cy="420624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0352" y="713232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43447"/>
                </a:solidFill>
              </a:rPr>
              <a:t>Turn every major decision into an explicit hypothesis, threshold and risk guardrail.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GL Sec D • U1 R2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28/30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37960" y="647395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78"/>
                </a:solidFill>
              </a:rPr>
              <a:t>Source: Section D Universe 1 R1/R2 Excel + CESIM materials</a:t>
            </a:r>
            <a:endParaRPr lang="en-US" sz="72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88720"/>
          <a:ext cx="11201400" cy="4187952"/>
        </p:xfrm>
        <a:graphic>
          <a:graphicData uri="http://schemas.openxmlformats.org/drawingml/2006/table">
            <a:tbl>
              <a:tblPr/>
              <a:tblGrid>
                <a:gridCol w="1234440"/>
                <a:gridCol w="2514600"/>
                <a:gridCol w="3383280"/>
                <a:gridCol w="32918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Decision area</a:t>
                      </a:r>
                      <a:endParaRPr lang="en-US" sz="8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Hypothesis</a:t>
                      </a:r>
                      <a:endParaRPr lang="en-US" sz="8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 to check</a:t>
                      </a:r>
                      <a:endParaRPr lang="en-US" sz="8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Guardrail</a:t>
                      </a:r>
                      <a:endParaRPr lang="en-US" sz="8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Demand</a:t>
                      </a:r>
                      <a:endParaRPr lang="en-US" sz="8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Where will volume grow profitably?</a:t>
                      </a:r>
                      <a:endParaRPr lang="en-US" sz="8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Network coverage, competitor price, unmet demand</a:t>
                      </a:r>
                      <a:endParaRPr lang="en-US" sz="8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 not forecast demand without fulfilment capacity</a:t>
                      </a:r>
                      <a:endParaRPr lang="en-US" sz="8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Price &amp; features</a:t>
                      </a:r>
                      <a:endParaRPr lang="en-US" sz="8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bundle maximises contribution?</a:t>
                      </a:r>
                      <a:endParaRPr lang="en-US" sz="8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Price elasticity, feature cost, regional willingness to pay</a:t>
                      </a:r>
                      <a:endParaRPr lang="en-US" sz="8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Set minimum contribution per unit</a:t>
                      </a:r>
                      <a:endParaRPr lang="en-US" sz="8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R&amp;D</a:t>
                      </a:r>
                      <a:endParaRPr lang="en-US" sz="8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must be ready now vs later?</a:t>
                      </a:r>
                      <a:endParaRPr lang="en-US" sz="8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Coverage timing, license cost, future margin</a:t>
                      </a:r>
                      <a:endParaRPr lang="en-US" sz="8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 investment; define stop-loss</a:t>
                      </a:r>
                      <a:endParaRPr lang="en-US" sz="8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Production</a:t>
                      </a:r>
                      <a:endParaRPr lang="en-US" sz="8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should be made where?</a:t>
                      </a:r>
                      <a:endParaRPr lang="en-US" sz="8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Capacity, unit cost, logistics, inventory</a:t>
                      </a:r>
                      <a:endParaRPr lang="en-US" sz="8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Inventory and utilisation thresholds</a:t>
                      </a:r>
                      <a:endParaRPr lang="en-US" sz="8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Marketing &amp; ESG</a:t>
                      </a:r>
                      <a:endParaRPr lang="en-US" sz="8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demand lever is credible?</a:t>
                      </a:r>
                      <a:endParaRPr lang="en-US" sz="8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Contribution elasticity, ESG impact</a:t>
                      </a:r>
                      <a:endParaRPr lang="en-US" sz="8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Spend only with measurable demand logic</a:t>
                      </a:r>
                      <a:endParaRPr lang="en-US" sz="8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Finance</a:t>
                      </a:r>
                      <a:endParaRPr lang="en-US" sz="8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Can the plan survive before payoff?</a:t>
                      </a:r>
                      <a:endParaRPr lang="en-US" sz="8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Cash flow, debt, credit, dilution</a:t>
                      </a:r>
                      <a:endParaRPr lang="en-US" sz="8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unplanned debt; protect rating</a:t>
                      </a:r>
                      <a:endParaRPr lang="en-US" sz="8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Valuation</a:t>
                      </a:r>
                      <a:endParaRPr lang="en-US" sz="8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story will investors believe?</a:t>
                      </a:r>
                      <a:endParaRPr lang="en-US" sz="8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Share-price drivers, P/E, risk, future cash flow</a:t>
                      </a:r>
                      <a:endParaRPr lang="en-US" sz="8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1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 not confuse a high price with delivered value</a:t>
                      </a:r>
                      <a:endParaRPr lang="en-US" sz="81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411480" y="5632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1B23"/>
                </a:solidFill>
              </a:rPr>
              <a:t>Socratic questions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411480" y="5843016"/>
            <a:ext cx="11292840" cy="0"/>
          </a:xfrm>
          <a:prstGeom prst="line">
            <a:avLst/>
          </a:prstGeom>
          <a:noFill/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411480" y="5888736"/>
            <a:ext cx="11292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What is the one non-negotiable guardrail your team will adopt?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Which Round 3 decision has the largest irreversible downside?</a:t>
            </a:r>
            <a:endParaRPr lang="en-US" sz="92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2296"/>
            <a:ext cx="11292840" cy="0"/>
          </a:xfrm>
          <a:prstGeom prst="line">
            <a:avLst/>
          </a:prstGeom>
          <a:noFill/>
          <a:ln w="2667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645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Facilitator flow for a 75-minute debrief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292840" cy="420624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0352" y="713232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43447"/>
                </a:solidFill>
              </a:rPr>
              <a:t>Move from results to causal explanation, team accountability and Round 3 commitments.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GL Sec D • U1 R2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29/30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37960" y="647395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78"/>
                </a:solidFill>
              </a:rPr>
              <a:t>Source: Section D Universe 1 R1/R2 Excel + CESIM materials</a:t>
            </a:r>
            <a:endParaRPr lang="en-US" sz="72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34440"/>
          <a:ext cx="10698480" cy="3977640"/>
        </p:xfrm>
        <a:graphic>
          <a:graphicData uri="http://schemas.openxmlformats.org/drawingml/2006/table">
            <a:tbl>
              <a:tblPr/>
              <a:tblGrid>
                <a:gridCol w="1097280"/>
                <a:gridCol w="3017520"/>
                <a:gridCol w="62179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Teaching move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Method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0–8 min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Reveal the puzzles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Leaderboard, value paradox and TSR caveat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8–20 min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Compare the rounds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Universe dashboard, share-price and rank movement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20–38 min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Explain the operating system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Revenue, margins, share, pricing, demand and fulfilment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38–52 min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Explain capital and risk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R&amp;D, capacity, inventory, cash flow, financing and ESG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52–66 min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 interrogation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Each team answers assumption → evidence → trade-off → action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66–73 min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Round 3 commitments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One hypothesis, one guardrail and one metric per team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73–75 min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Closing reflection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20" dirty="0">
                          <a:solidFill>
                            <a:srgbClr val="24344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Coherence beats isolated optimisation</a:t>
                      </a:r>
                      <a:endParaRPr lang="en-US" sz="9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31520" y="4754880"/>
            <a:ext cx="1069848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731520" y="4754880"/>
            <a:ext cx="54864" cy="502920"/>
          </a:xfrm>
          <a:prstGeom prst="rect">
            <a:avLst/>
          </a:prstGeom>
          <a:solidFill>
            <a:srgbClr val="00A6B2"/>
          </a:solidFill>
          <a:ln w="12700">
            <a:solidFill>
              <a:srgbClr val="00A6B2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96112" y="4864608"/>
            <a:ext cx="104424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447"/>
                </a:solidFill>
              </a:rPr>
              <a:t>Facilitation principle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96112" y="5148072"/>
            <a:ext cx="10442448" cy="274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5D6B78"/>
                </a:solidFill>
              </a:rPr>
              <a:t>Ask for mechanisms, not excuses. Praise clear learning even when the result is poor.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411480" y="5632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1B23"/>
                </a:solidFill>
              </a:rPr>
              <a:t>Socratic questions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411480" y="5843016"/>
            <a:ext cx="11292840" cy="0"/>
          </a:xfrm>
          <a:prstGeom prst="line">
            <a:avLst/>
          </a:prstGeom>
          <a:noFill/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411480" y="5888736"/>
            <a:ext cx="11292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Which slide should receive the most class time for this cohort?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What evidence will you require before accepting a team’s explanation?</a:t>
            </a:r>
            <a:endParaRPr lang="en-US" sz="92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82296"/>
            <a:ext cx="11292840" cy="0"/>
          </a:xfrm>
          <a:prstGeom prst="line">
            <a:avLst/>
          </a:prstGeom>
          <a:noFill/>
          <a:ln w="2667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11480" y="164592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reflection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621792"/>
            <a:ext cx="11292840" cy="420624"/>
          </a:xfrm>
          <a:prstGeom prst="rect">
            <a:avLst/>
          </a:prstGeom>
          <a:solidFill>
            <a:srgbClr val="EAF7F8"/>
          </a:solidFill>
          <a:ln w="12700">
            <a:solidFill>
              <a:srgbClr val="EAF7F8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30352" y="713232"/>
            <a:ext cx="11018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43447"/>
                </a:solidFill>
              </a:rPr>
              <a:t>The best Round 2 result is not the highest number; it is the clearest evidence of disciplined learning.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11480" y="6473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GL Sec D • U1 R2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155680" y="647395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B78"/>
                </a:solidFill>
              </a:rPr>
              <a:t>30/30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537960" y="6473952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5D6B78"/>
                </a:solidFill>
              </a:rPr>
              <a:t>Source: Section D Universe 1 R1/R2 Excel + CESIM materials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914400" y="1417320"/>
            <a:ext cx="1033272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43447"/>
                </a:solidFill>
              </a:rPr>
              <a:t>Coherence is the discipline of making market, product, technology, production, finance and ESG choices reinforce the same value logic.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85800" y="2880360"/>
            <a:ext cx="251460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5240">
            <a:solidFill>
              <a:srgbClr val="00A6B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31272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A6B2"/>
                </a:solidFill>
              </a:rPr>
              <a:t>Customer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41832" y="3566160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</a:rPr>
              <a:t>Did we create value customers would pay for?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38728" y="2880360"/>
            <a:ext cx="251460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5240">
            <a:solidFill>
              <a:srgbClr val="24A35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721608" y="31272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4A35A"/>
                </a:solidFill>
              </a:rPr>
              <a:t>Economics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794760" y="3566160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</a:rPr>
              <a:t>Did revenue become margin and cash?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391656" y="2880360"/>
            <a:ext cx="251460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5240">
            <a:solidFill>
              <a:srgbClr val="F28E2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74536" y="31272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8E2B"/>
                </a:solidFill>
              </a:rPr>
              <a:t>Future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47688" y="3566160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</a:rPr>
              <a:t>Did investment create a credible option?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244584" y="2880360"/>
            <a:ext cx="2514600" cy="15087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5240">
            <a:solidFill>
              <a:srgbClr val="E31B2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427464" y="31272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31B23"/>
                </a:solidFill>
              </a:rPr>
              <a:t>Risk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500616" y="3566160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447"/>
                </a:solidFill>
              </a:rPr>
              <a:t>Could the firm survive if assumptions were wrong?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" y="48280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31B23"/>
                </a:solidFill>
              </a:rPr>
              <a:t>Round 3 assignment: one strategic hypothesis, one falsifying metric, one operating guardrail.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11480" y="5632704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31B23"/>
                </a:solidFill>
              </a:rPr>
              <a:t>Socratic questions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11480" y="5843016"/>
            <a:ext cx="11292840" cy="0"/>
          </a:xfrm>
          <a:prstGeom prst="line">
            <a:avLst/>
          </a:prstGeom>
          <a:noFill/>
          <a:ln w="10160">
            <a:solidFill>
              <a:srgbClr val="D7E0E6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11480" y="5888736"/>
            <a:ext cx="1129284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What will your team stop doing immediately?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243447"/>
                </a:solidFill>
              </a:rPr>
              <a:t>• What evidence will prove that your Round 3 strategy is working?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GL Sec D Group July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CESIM Global Challenge — Section D Universe 1 Round 2 Debrief</dc:title>
  <dc:subject>CESIM Global Challenge Section D Universe 1 Round 2 debrief</dc:subject>
  <dc:creator>OpenAI</dc:creator>
  <cp:lastModifiedBy>OpenAI</cp:lastModifiedBy>
  <cp:revision>1</cp:revision>
  <dcterms:created xsi:type="dcterms:W3CDTF">2026-07-22T03:43:20Z</dcterms:created>
  <dcterms:modified xsi:type="dcterms:W3CDTF">2026-07-22T03:43:20Z</dcterms:modified>
</cp:coreProperties>
</file>