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30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CESIM Global Challenge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Universe 1 • Round 2 to Round 3 Comparative Debrief • GL Sec C Group July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143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235"/>
                </a:solidFill>
              </a:rPr>
              <a:t>Round 3 turns the story from growth to conversion discipline.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68680" y="19202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33272" y="2066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R3 TSR leader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033272" y="23317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Grey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3272" y="27614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18.6% TSR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06040" y="19202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70632" y="2066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 leader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770632" y="23317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Grey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70632" y="27614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$514m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343400" y="19202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07992" y="2066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Deepest crisis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507992" y="23317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Lakshmi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07992" y="27614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-36.9% TSR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80760" y="19202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45352" y="2066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Key puzzle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245352" y="23317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Harshad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45352" y="27614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high cap, B+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77824" y="3246120"/>
            <a:ext cx="6949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Universe 1 sales grew slightly, but the profit pool turned negative.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Grey moved from quiet compounder to Round 3 TSR leader.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The market punished R&amp;D-heavy and debt-heavy strategies without cash conversion.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did Round 3 reward that Round 2 did not protect?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team created value rather than activity?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Start with cash conversion and risk, not with revenue size.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Round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The causal chain explains the ranking better than the leaderboard does.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1508760"/>
            <a:ext cx="749808" cy="411480"/>
          </a:xfrm>
          <a:prstGeom prst="roundRect">
            <a:avLst>
              <a:gd name="adj" fmla="val 13333"/>
            </a:avLst>
          </a:prstGeom>
          <a:solidFill>
            <a:srgbClr val="D92F55"/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16459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Demand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1618488" y="16093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87A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1508760"/>
            <a:ext cx="74980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856232" y="16459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235"/>
                </a:solidFill>
              </a:rPr>
              <a:t>Revenue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2578608" y="16093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87A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88920" y="1508760"/>
            <a:ext cx="74980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16352" y="16459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235"/>
                </a:solidFill>
              </a:rPr>
              <a:t>Margin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3538728" y="16093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87A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1508760"/>
            <a:ext cx="74980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776472" y="16459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235"/>
                </a:solidFill>
              </a:rPr>
              <a:t>Cash flow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4498848" y="16093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87A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508760"/>
            <a:ext cx="74980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36592" y="16459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235"/>
                </a:solidFill>
              </a:rPr>
              <a:t>Risk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5458968" y="16093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87A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508760"/>
            <a:ext cx="74980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96712" y="16459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235"/>
                </a:solidFill>
              </a:rPr>
              <a:t>Share price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6419088" y="16093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87A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1508760"/>
            <a:ext cx="749808" cy="411480"/>
          </a:xfrm>
          <a:prstGeom prst="roundRect">
            <a:avLst>
              <a:gd name="adj" fmla="val 13333"/>
            </a:avLst>
          </a:prstGeom>
          <a:solidFill>
            <a:srgbClr val="00A5A5"/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56832" y="16459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TSR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877824" y="2331720"/>
            <a:ext cx="6858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R3 sales rose, but margins and risk quality weakened sharply.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Cumulative TSR can fall even when a team remains operationally valuable.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Rank movement must be separated from raw TSR movement.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number is an outcome, and which is a cause?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Where did your team’s chain break?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firm creates value only when demand becomes repeatable cash flow at acceptable risk.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movement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Sales rose, but profit and market value fell sharply.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3/24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33272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Sales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33272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$15.7bn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3272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R2 $14.8bn | +5.8%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87168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51760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651760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$-0.6bn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51760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R2 $1.0bn | reversal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05656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70248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270248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-3.9%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70248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6.8% | -10.6 pp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724144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888736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Inventory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888736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$4.1bn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88736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R2 $2.9bn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342632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507224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Market cap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507224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$46.3bn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07224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R2 $51.9bn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96112" y="2514600"/>
            <a:ext cx="6949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Aggregate profit moved from +$1.00bn to -$0.61bn.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R&amp;D rose again to $4.16bn while several teams posted losses.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The universe became larger but less valuable.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this a growth problem or a conversion problem?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figure should worry us first?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Revenue is not value unless it survives cost, cash and risk tests.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leaderboard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Grey leads cumulative TSR; Harshad keeps the highest market capitalisation.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4/24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694944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Rank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1563624" y="1097280"/>
            <a:ext cx="2084832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648456" y="1097280"/>
            <a:ext cx="1042416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TSR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690872" y="1097280"/>
            <a:ext cx="1111910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Profit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802782" y="1097280"/>
            <a:ext cx="1250899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Market cap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7053682" y="1097280"/>
            <a:ext cx="764438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Credit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868680" y="1451610"/>
            <a:ext cx="69494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46989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1563624" y="1451610"/>
            <a:ext cx="2084832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81912" y="146989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648456" y="1451610"/>
            <a:ext cx="1042416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66744" y="146989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18.6%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4690872" y="1451610"/>
            <a:ext cx="11119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9160" y="146989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$514m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5802782" y="1451610"/>
            <a:ext cx="125089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21070" y="146989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$10.2bn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7053682" y="1451610"/>
            <a:ext cx="76443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71970" y="146989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1805940"/>
            <a:ext cx="694944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182422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1563624" y="1805940"/>
            <a:ext cx="2084832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581912" y="182422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Harshad Mehta Gang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648456" y="1805940"/>
            <a:ext cx="1042416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66744" y="182422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16.0%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690872" y="1805940"/>
            <a:ext cx="1111910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709160" y="182422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$-257m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802782" y="1805940"/>
            <a:ext cx="1250899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21070" y="182422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$10.5bn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7053682" y="1805940"/>
            <a:ext cx="764438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071970" y="182422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B+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868680" y="2160270"/>
            <a:ext cx="69494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86968" y="217855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1563624" y="2160270"/>
            <a:ext cx="2084832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581912" y="217855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Big Bulls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3648456" y="2160270"/>
            <a:ext cx="1042416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666744" y="217855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12.9%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4690872" y="2160270"/>
            <a:ext cx="11119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709160" y="217855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$298m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5802782" y="2160270"/>
            <a:ext cx="125089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821070" y="217855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$8.9bn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7053682" y="2160270"/>
            <a:ext cx="76443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071970" y="217855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868680" y="2514600"/>
            <a:ext cx="694944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86968" y="253288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1563624" y="2514600"/>
            <a:ext cx="2084832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581912" y="253288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Akatsuki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3648456" y="2514600"/>
            <a:ext cx="1042416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666744" y="253288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10.3%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4690872" y="2514600"/>
            <a:ext cx="1111910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709160" y="253288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$-18m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5802782" y="2514600"/>
            <a:ext cx="1250899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821070" y="253288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$7.8bn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7053682" y="2514600"/>
            <a:ext cx="764438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071970" y="253288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BB+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868680" y="2868930"/>
            <a:ext cx="69494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86968" y="288721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1563624" y="2868930"/>
            <a:ext cx="2084832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581912" y="288721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3648456" y="2868930"/>
            <a:ext cx="1042416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666744" y="288721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-12.8%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4690872" y="2868930"/>
            <a:ext cx="11119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709160" y="288721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$-348m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5802782" y="2868930"/>
            <a:ext cx="125089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821070" y="288721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$3.8bn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7053682" y="2868930"/>
            <a:ext cx="76443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7071970" y="288721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868680" y="3223260"/>
            <a:ext cx="694944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86968" y="324154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1563624" y="3223260"/>
            <a:ext cx="2084832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581912" y="324154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Pink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3648456" y="3223260"/>
            <a:ext cx="1042416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666744" y="324154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-12.9%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4690872" y="3223260"/>
            <a:ext cx="1111910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709160" y="324154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$-344m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5802782" y="3223260"/>
            <a:ext cx="1250899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5821070" y="324154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$3.7bn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7053682" y="3223260"/>
            <a:ext cx="764438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7071970" y="324154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CCC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868680" y="3577590"/>
            <a:ext cx="69494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86968" y="359587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7</a:t>
            </a:r>
            <a:endParaRPr lang="en-US" sz="620" dirty="0"/>
          </a:p>
        </p:txBody>
      </p:sp>
      <p:sp>
        <p:nvSpPr>
          <p:cNvPr id="90" name="Shape 88"/>
          <p:cNvSpPr/>
          <p:nvPr/>
        </p:nvSpPr>
        <p:spPr>
          <a:xfrm>
            <a:off x="1563624" y="3577590"/>
            <a:ext cx="2084832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581912" y="359587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Lakshmi Chit Fund</a:t>
            </a:r>
            <a:endParaRPr lang="en-US" sz="620" dirty="0"/>
          </a:p>
        </p:txBody>
      </p:sp>
      <p:sp>
        <p:nvSpPr>
          <p:cNvPr id="92" name="Shape 90"/>
          <p:cNvSpPr/>
          <p:nvPr/>
        </p:nvSpPr>
        <p:spPr>
          <a:xfrm>
            <a:off x="3648456" y="3577590"/>
            <a:ext cx="1042416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3666744" y="359587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-36.9%</a:t>
            </a:r>
            <a:endParaRPr lang="en-US" sz="620" dirty="0"/>
          </a:p>
        </p:txBody>
      </p:sp>
      <p:sp>
        <p:nvSpPr>
          <p:cNvPr id="94" name="Shape 92"/>
          <p:cNvSpPr/>
          <p:nvPr/>
        </p:nvSpPr>
        <p:spPr>
          <a:xfrm>
            <a:off x="4690872" y="3577590"/>
            <a:ext cx="11119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4709160" y="359587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$-453m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5802782" y="3577590"/>
            <a:ext cx="125089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5821070" y="359587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$1.4bn</a:t>
            </a:r>
            <a:endParaRPr lang="en-US" sz="620" dirty="0"/>
          </a:p>
        </p:txBody>
      </p:sp>
      <p:sp>
        <p:nvSpPr>
          <p:cNvPr id="98" name="Shape 96"/>
          <p:cNvSpPr/>
          <p:nvPr/>
        </p:nvSpPr>
        <p:spPr>
          <a:xfrm>
            <a:off x="7053682" y="3577590"/>
            <a:ext cx="76443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7071970" y="359587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</a:t>
            </a:r>
            <a:endParaRPr lang="en-US" sz="620" dirty="0"/>
          </a:p>
        </p:txBody>
      </p:sp>
      <p:sp>
        <p:nvSpPr>
          <p:cNvPr id="100" name="Shape 98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Why does Grey lead TSR while Harshad has the highest market cap?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ranking hides a risk story?</a:t>
            </a:r>
            <a:endParaRPr lang="en-US" sz="820" dirty="0"/>
          </a:p>
        </p:txBody>
      </p:sp>
      <p:sp>
        <p:nvSpPr>
          <p:cNvPr id="103" name="Shape 101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TSR is a shareholder return metric; market capitalisation is equity value at a point in time.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 movement: R2 → R3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Grey gained two positions and moved to first; Akatsuki and Pink lost momentum.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5/24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353312" y="8229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687A"/>
                </a:solidFill>
              </a:rPr>
              <a:t>Previous rank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382512" y="8229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687A"/>
                </a:solidFill>
              </a:rPr>
              <a:t>Current rank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24712" y="9784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7498080" y="9784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1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124712" y="16642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498080" y="16642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2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124712" y="23500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3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498080" y="23500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3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124712" y="30358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4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7498080" y="30358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4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124712" y="37216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5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498080" y="37216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5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24712" y="44074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6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7498080" y="44074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6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124712" y="50932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7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498080" y="50932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7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1901952" y="5166360"/>
            <a:ext cx="5029200" cy="-1371600"/>
          </a:xfrm>
          <a:prstGeom prst="line">
            <a:avLst/>
          </a:prstGeom>
          <a:noFill/>
          <a:ln w="12700">
            <a:solidFill>
              <a:srgbClr val="2EAD6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856232" y="5120640"/>
            <a:ext cx="91440" cy="91440"/>
          </a:xfrm>
          <a:prstGeom prst="ellipse">
            <a:avLst/>
          </a:prstGeom>
          <a:solidFill>
            <a:srgbClr val="2EAD64"/>
          </a:solidFill>
          <a:ln w="12700">
            <a:solidFill>
              <a:srgbClr val="2EAD6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885432" y="3749040"/>
            <a:ext cx="91440" cy="91440"/>
          </a:xfrm>
          <a:prstGeom prst="ellipse">
            <a:avLst/>
          </a:prstGeom>
          <a:solidFill>
            <a:srgbClr val="2EAD64"/>
          </a:solidFill>
          <a:ln w="12700">
            <a:solidFill>
              <a:srgbClr val="2EAD6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41832" y="50840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7004304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1901952" y="1051560"/>
            <a:ext cx="5029200" cy="685800"/>
          </a:xfrm>
          <a:prstGeom prst="line">
            <a:avLst/>
          </a:prstGeom>
          <a:noFill/>
          <a:ln w="12700">
            <a:solidFill>
              <a:srgbClr val="D92F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856232" y="10058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885432" y="16916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41832" y="9692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7004304" y="16550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1901952" y="4480560"/>
            <a:ext cx="5029200" cy="685800"/>
          </a:xfrm>
          <a:prstGeom prst="line">
            <a:avLst/>
          </a:prstGeom>
          <a:noFill/>
          <a:ln w="12700">
            <a:solidFill>
              <a:srgbClr val="D92F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856232" y="44348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885432" y="51206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41832" y="43982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40" name="Text 38"/>
          <p:cNvSpPr/>
          <p:nvPr/>
        </p:nvSpPr>
        <p:spPr>
          <a:xfrm>
            <a:off x="7004304" y="50840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1901952" y="3108960"/>
            <a:ext cx="5029200" cy="-685800"/>
          </a:xfrm>
          <a:prstGeom prst="line">
            <a:avLst/>
          </a:prstGeom>
          <a:noFill/>
          <a:ln w="12700">
            <a:solidFill>
              <a:srgbClr val="2EAD6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856232" y="3063240"/>
            <a:ext cx="91440" cy="91440"/>
          </a:xfrm>
          <a:prstGeom prst="ellipse">
            <a:avLst/>
          </a:prstGeom>
          <a:solidFill>
            <a:srgbClr val="2EAD64"/>
          </a:solidFill>
          <a:ln w="12700">
            <a:solidFill>
              <a:srgbClr val="2EAD6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885432" y="2377440"/>
            <a:ext cx="91440" cy="91440"/>
          </a:xfrm>
          <a:prstGeom prst="ellipse">
            <a:avLst/>
          </a:prstGeom>
          <a:solidFill>
            <a:srgbClr val="2EAD64"/>
          </a:solidFill>
          <a:ln w="12700">
            <a:solidFill>
              <a:srgbClr val="2EAD64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41832" y="30266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45" name="Text 43"/>
          <p:cNvSpPr/>
          <p:nvPr/>
        </p:nvSpPr>
        <p:spPr>
          <a:xfrm>
            <a:off x="7004304" y="23408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46" name="Shape 44"/>
          <p:cNvSpPr/>
          <p:nvPr/>
        </p:nvSpPr>
        <p:spPr>
          <a:xfrm>
            <a:off x="1901952" y="2423160"/>
            <a:ext cx="5029200" cy="-1371600"/>
          </a:xfrm>
          <a:prstGeom prst="line">
            <a:avLst/>
          </a:prstGeom>
          <a:noFill/>
          <a:ln w="12700">
            <a:solidFill>
              <a:srgbClr val="F6A62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856232" y="2377440"/>
            <a:ext cx="91440" cy="91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885432" y="1005840"/>
            <a:ext cx="91440" cy="91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41832" y="23408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182235"/>
                </a:solidFill>
              </a:rPr>
              <a:t>Grey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7004304" y="9692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182235"/>
                </a:solidFill>
              </a:rPr>
              <a:t>Grey</a:t>
            </a:r>
            <a:endParaRPr lang="en-US" sz="580" dirty="0"/>
          </a:p>
        </p:txBody>
      </p:sp>
      <p:sp>
        <p:nvSpPr>
          <p:cNvPr id="51" name="Shape 49"/>
          <p:cNvSpPr/>
          <p:nvPr/>
        </p:nvSpPr>
        <p:spPr>
          <a:xfrm>
            <a:off x="1901952" y="1737360"/>
            <a:ext cx="5029200" cy="1371600"/>
          </a:xfrm>
          <a:prstGeom prst="line">
            <a:avLst/>
          </a:prstGeom>
          <a:noFill/>
          <a:ln w="12700">
            <a:solidFill>
              <a:srgbClr val="D92F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856232" y="16916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885432" y="30632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41832" y="16550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55" name="Text 53"/>
          <p:cNvSpPr/>
          <p:nvPr/>
        </p:nvSpPr>
        <p:spPr>
          <a:xfrm>
            <a:off x="7004304" y="30266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56" name="Shape 54"/>
          <p:cNvSpPr/>
          <p:nvPr/>
        </p:nvSpPr>
        <p:spPr>
          <a:xfrm>
            <a:off x="1901952" y="3794760"/>
            <a:ext cx="5029200" cy="685800"/>
          </a:xfrm>
          <a:prstGeom prst="line">
            <a:avLst/>
          </a:prstGeom>
          <a:noFill/>
          <a:ln w="12700">
            <a:solidFill>
              <a:srgbClr val="D92F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856232" y="37490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885432" y="44348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941832" y="3712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60" name="Text 58"/>
          <p:cNvSpPr/>
          <p:nvPr/>
        </p:nvSpPr>
        <p:spPr>
          <a:xfrm>
            <a:off x="7004304" y="43982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61" name="Text 59"/>
          <p:cNvSpPr/>
          <p:nvPr/>
        </p:nvSpPr>
        <p:spPr>
          <a:xfrm>
            <a:off x="896112" y="548640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Grey: 3rd → 1st, supported by profit, regional strength and AA credit.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Harshad: 1st → 2nd; still large, but Round 3 profit and rating weakened.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Lakshmi: 6th → 7th; value destruction intensified.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movement is more meaningful: rank gain or raw TSR decline?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Who improved operationally but still lost valuation quality?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Relative rank and absolute performance must be interpreted together.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 managerial puzzle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The universe sold more but destroyed current-round profit.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6/24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941832" y="2242010"/>
            <a:ext cx="159889" cy="912670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0532" y="2099357"/>
            <a:ext cx="159889" cy="1055323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200400"/>
            <a:ext cx="47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Green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1412095" y="1484906"/>
            <a:ext cx="159889" cy="166977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590795" y="1791739"/>
            <a:ext cx="159889" cy="1362941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38943" y="3200400"/>
            <a:ext cx="47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Harshad Mehta Gang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1882358" y="2257858"/>
            <a:ext cx="159889" cy="89682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061058" y="1901890"/>
            <a:ext cx="159889" cy="125279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809206" y="3200400"/>
            <a:ext cx="47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Lakshmi Chit Fund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2352621" y="2366072"/>
            <a:ext cx="159889" cy="78860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531320" y="2259095"/>
            <a:ext cx="159889" cy="895585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79469" y="3200400"/>
            <a:ext cx="47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Big Bulls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2822883" y="1985040"/>
            <a:ext cx="159889" cy="1169640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001583" y="1714203"/>
            <a:ext cx="159889" cy="1440477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9731" y="3200400"/>
            <a:ext cx="47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Grey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3293146" y="2148806"/>
            <a:ext cx="159889" cy="100587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471846" y="2106967"/>
            <a:ext cx="159889" cy="1047713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19994" y="3200400"/>
            <a:ext cx="47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Akatsuki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3763409" y="2335921"/>
            <a:ext cx="159889" cy="818759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942109" y="2528840"/>
            <a:ext cx="159889" cy="62584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90257" y="3200400"/>
            <a:ext cx="47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Pink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868680" y="10058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Previous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691640" y="10058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A5A5"/>
                </a:solidFill>
              </a:rPr>
              <a:t>Current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526280" y="2242132"/>
            <a:ext cx="320040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613148" y="2242132"/>
            <a:ext cx="283464" cy="608933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21708" y="2031820"/>
            <a:ext cx="466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-348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 rot="2700000">
            <a:off x="4448556" y="32278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5070348" y="2242132"/>
            <a:ext cx="283464" cy="449308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978908" y="2031820"/>
            <a:ext cx="466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-257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 rot="2700000">
            <a:off x="4905756" y="32278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5527548" y="2242132"/>
            <a:ext cx="283464" cy="79352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436108" y="2031820"/>
            <a:ext cx="466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-453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 rot="2700000">
            <a:off x="5362956" y="32278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5984748" y="1720205"/>
            <a:ext cx="283464" cy="521927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893308" y="1509893"/>
            <a:ext cx="466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298</a:t>
            </a:r>
            <a:endParaRPr lang="en-US" sz="580" dirty="0"/>
          </a:p>
        </p:txBody>
      </p:sp>
      <p:sp>
        <p:nvSpPr>
          <p:cNvPr id="45" name="Text 43"/>
          <p:cNvSpPr/>
          <p:nvPr/>
        </p:nvSpPr>
        <p:spPr>
          <a:xfrm rot="2700000">
            <a:off x="5820156" y="32278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46" name="Shape 44"/>
          <p:cNvSpPr/>
          <p:nvPr/>
        </p:nvSpPr>
        <p:spPr>
          <a:xfrm>
            <a:off x="6441948" y="1342407"/>
            <a:ext cx="283464" cy="899725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350508" y="1132095"/>
            <a:ext cx="466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514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 rot="2700000">
            <a:off x="6277356" y="32278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Grey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6899148" y="2242132"/>
            <a:ext cx="283464" cy="3151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807708" y="2031820"/>
            <a:ext cx="466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-18</a:t>
            </a:r>
            <a:endParaRPr lang="en-US" sz="580" dirty="0"/>
          </a:p>
        </p:txBody>
      </p:sp>
      <p:sp>
        <p:nvSpPr>
          <p:cNvPr id="51" name="Text 49"/>
          <p:cNvSpPr/>
          <p:nvPr/>
        </p:nvSpPr>
        <p:spPr>
          <a:xfrm rot="2700000">
            <a:off x="6734556" y="32278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52" name="Shape 50"/>
          <p:cNvSpPr/>
          <p:nvPr/>
        </p:nvSpPr>
        <p:spPr>
          <a:xfrm>
            <a:off x="7356348" y="2242132"/>
            <a:ext cx="283464" cy="6019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264908" y="2031820"/>
            <a:ext cx="466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-344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 rot="2700000">
            <a:off x="7191756" y="32278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55" name="Text 53"/>
          <p:cNvSpPr/>
          <p:nvPr/>
        </p:nvSpPr>
        <p:spPr>
          <a:xfrm>
            <a:off x="896112" y="3657600"/>
            <a:ext cx="6858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Grey and Big Bulls are the only strong profit-positive cases.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Harshad scaled down from R2 and turned loss-making despite high market value.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Sales alone became a weak signal of strategic quality.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broke between revenue and profit?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costs were strategic, and which became waste?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Profit is a residual: reverse-engineer price, volume, cost, R&amp;D, inventory and financing.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Value-quality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The strongest Round 3 story combines share, margin and risk discipline.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7/24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960120" y="1234440"/>
            <a:ext cx="6126480" cy="3474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66993" y="3701087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72149" y="3678227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Green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5125581" y="3208579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30737" y="3185719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Harshad Mehta Gang</a:t>
            </a:r>
            <a:endParaRPr lang="en-US" sz="520" dirty="0"/>
          </a:p>
        </p:txBody>
      </p:sp>
      <p:sp>
        <p:nvSpPr>
          <p:cNvPr id="15" name="Shape 13"/>
          <p:cNvSpPr/>
          <p:nvPr/>
        </p:nvSpPr>
        <p:spPr>
          <a:xfrm>
            <a:off x="5771582" y="3813370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876738" y="379051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Lakshmi Chit Fund</a:t>
            </a:r>
            <a:endParaRPr lang="en-US" sz="520" dirty="0"/>
          </a:p>
        </p:txBody>
      </p:sp>
      <p:sp>
        <p:nvSpPr>
          <p:cNvPr id="17" name="Shape 15"/>
          <p:cNvSpPr/>
          <p:nvPr/>
        </p:nvSpPr>
        <p:spPr>
          <a:xfrm>
            <a:off x="3910143" y="1391791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015299" y="136893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Big Bulls</a:t>
            </a:r>
            <a:endParaRPr lang="en-US" sz="520" dirty="0"/>
          </a:p>
        </p:txBody>
      </p:sp>
      <p:sp>
        <p:nvSpPr>
          <p:cNvPr id="19" name="Shape 17"/>
          <p:cNvSpPr/>
          <p:nvPr/>
        </p:nvSpPr>
        <p:spPr>
          <a:xfrm>
            <a:off x="6197464" y="1308515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2620" y="1285655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Grey</a:t>
            </a:r>
            <a:endParaRPr lang="en-US" sz="520" dirty="0"/>
          </a:p>
        </p:txBody>
      </p:sp>
      <p:sp>
        <p:nvSpPr>
          <p:cNvPr id="21" name="Shape 19"/>
          <p:cNvSpPr/>
          <p:nvPr/>
        </p:nvSpPr>
        <p:spPr>
          <a:xfrm>
            <a:off x="5589745" y="2612065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94901" y="2589205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Akatsuki</a:t>
            </a:r>
            <a:endParaRPr lang="en-US" sz="520" dirty="0"/>
          </a:p>
        </p:txBody>
      </p:sp>
      <p:sp>
        <p:nvSpPr>
          <p:cNvPr id="23" name="Shape 21"/>
          <p:cNvSpPr/>
          <p:nvPr/>
        </p:nvSpPr>
        <p:spPr>
          <a:xfrm>
            <a:off x="1254362" y="4467351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59518" y="444449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Pink</a:t>
            </a:r>
            <a:endParaRPr lang="en-US" sz="520" dirty="0"/>
          </a:p>
        </p:txBody>
      </p:sp>
      <p:sp>
        <p:nvSpPr>
          <p:cNvPr id="25" name="Text 23"/>
          <p:cNvSpPr/>
          <p:nvPr/>
        </p:nvSpPr>
        <p:spPr>
          <a:xfrm>
            <a:off x="3383280" y="481888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Global market share (%)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 rot="16200000">
            <a:off x="457200" y="29718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ROS (%)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96112" y="4983480"/>
            <a:ext cx="6949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Grey combines the highest share with positive ROS and AA risk quality.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Big Bulls has good margin, but less market reach than Grey.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Lakshmi gained share but remained deeply loss-making.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Who has share with margin?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team bought share too expensively?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Share is valuable only when it becomes profitable, repeatable cash flow.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battle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Grey dominates USA and Europe; Akatsuki remains Asia-led.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8/24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80685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675534" y="1051560"/>
            <a:ext cx="97292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USA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648456" y="1051560"/>
            <a:ext cx="97292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Asia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621378" y="1051560"/>
            <a:ext cx="97292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Europe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594299" y="1051560"/>
            <a:ext cx="222382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Interpretation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868680" y="1463040"/>
            <a:ext cx="180685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6968" y="1481328"/>
            <a:ext cx="177027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2675534" y="146304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93822" y="14813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13.3%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3648456" y="146304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66744" y="14813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15.0%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4621378" y="146304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39666" y="14813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13.9%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5594299" y="1463040"/>
            <a:ext cx="222382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12587" y="1481328"/>
            <a:ext cx="218724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mixed fit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868680" y="1874520"/>
            <a:ext cx="1806854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1892808"/>
            <a:ext cx="177027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Harshad Mehta Gang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675534" y="187452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93822" y="18928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16.2%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3648456" y="187452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66744" y="18928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16.3%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4621378" y="187452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639666" y="18928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12.2%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5594299" y="1874520"/>
            <a:ext cx="2223821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12587" y="1892808"/>
            <a:ext cx="218724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mixed fit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868680" y="2286000"/>
            <a:ext cx="180685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86968" y="2304288"/>
            <a:ext cx="177027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Lakshmi Chit Fund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2675534" y="228600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693822" y="230428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15.6%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3648456" y="228600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666744" y="230428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18.0%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4621378" y="228600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639666" y="230428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14.7%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5594299" y="2286000"/>
            <a:ext cx="222382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612587" y="2304288"/>
            <a:ext cx="218724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share with losses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868680" y="2697480"/>
            <a:ext cx="1806854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86968" y="2715768"/>
            <a:ext cx="177027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Big Bulls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2675534" y="269748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693822" y="271576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12.2%</a:t>
            </a:r>
            <a:endParaRPr lang="en-US" sz="620" dirty="0"/>
          </a:p>
        </p:txBody>
      </p:sp>
      <p:sp>
        <p:nvSpPr>
          <p:cNvPr id="49" name="Shape 47"/>
          <p:cNvSpPr/>
          <p:nvPr/>
        </p:nvSpPr>
        <p:spPr>
          <a:xfrm>
            <a:off x="3648456" y="269748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666744" y="271576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13.1%</a:t>
            </a:r>
            <a:endParaRPr lang="en-US" sz="620" dirty="0"/>
          </a:p>
        </p:txBody>
      </p:sp>
      <p:sp>
        <p:nvSpPr>
          <p:cNvPr id="51" name="Shape 49"/>
          <p:cNvSpPr/>
          <p:nvPr/>
        </p:nvSpPr>
        <p:spPr>
          <a:xfrm>
            <a:off x="4621378" y="269748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639666" y="271576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12.5%</a:t>
            </a:r>
            <a:endParaRPr lang="en-US" sz="620" dirty="0"/>
          </a:p>
        </p:txBody>
      </p:sp>
      <p:sp>
        <p:nvSpPr>
          <p:cNvPr id="53" name="Shape 51"/>
          <p:cNvSpPr/>
          <p:nvPr/>
        </p:nvSpPr>
        <p:spPr>
          <a:xfrm>
            <a:off x="5594299" y="2697480"/>
            <a:ext cx="2223821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612587" y="2715768"/>
            <a:ext cx="218724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mixed fit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868680" y="3108960"/>
            <a:ext cx="180685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86968" y="3127248"/>
            <a:ext cx="177027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2675534" y="310896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693822" y="312724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24.8%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3648456" y="310896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666744" y="312724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8.7%</a:t>
            </a:r>
            <a:endParaRPr lang="en-US" sz="620" dirty="0"/>
          </a:p>
        </p:txBody>
      </p:sp>
      <p:sp>
        <p:nvSpPr>
          <p:cNvPr id="61" name="Shape 59"/>
          <p:cNvSpPr/>
          <p:nvPr/>
        </p:nvSpPr>
        <p:spPr>
          <a:xfrm>
            <a:off x="4621378" y="310896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639666" y="312724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29.8%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5594299" y="3108960"/>
            <a:ext cx="222382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612587" y="3127248"/>
            <a:ext cx="218724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USA/Europe engine</a:t>
            </a:r>
            <a:endParaRPr lang="en-US" sz="620" dirty="0"/>
          </a:p>
        </p:txBody>
      </p:sp>
      <p:sp>
        <p:nvSpPr>
          <p:cNvPr id="65" name="Shape 63"/>
          <p:cNvSpPr/>
          <p:nvPr/>
        </p:nvSpPr>
        <p:spPr>
          <a:xfrm>
            <a:off x="868680" y="3520440"/>
            <a:ext cx="1806854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886968" y="3538728"/>
            <a:ext cx="177027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Akatsuki</a:t>
            </a:r>
            <a:endParaRPr lang="en-US" sz="620" dirty="0"/>
          </a:p>
        </p:txBody>
      </p:sp>
      <p:sp>
        <p:nvSpPr>
          <p:cNvPr id="67" name="Shape 65"/>
          <p:cNvSpPr/>
          <p:nvPr/>
        </p:nvSpPr>
        <p:spPr>
          <a:xfrm>
            <a:off x="2675534" y="352044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2693822" y="35387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12.5%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3648456" y="352044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666744" y="35387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22.2%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4621378" y="352044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639666" y="35387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6.8%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5594299" y="3520440"/>
            <a:ext cx="2223821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612587" y="3538728"/>
            <a:ext cx="218724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Asia specialist</a:t>
            </a:r>
            <a:endParaRPr lang="en-US" sz="620" dirty="0"/>
          </a:p>
        </p:txBody>
      </p:sp>
      <p:sp>
        <p:nvSpPr>
          <p:cNvPr id="75" name="Shape 73"/>
          <p:cNvSpPr/>
          <p:nvPr/>
        </p:nvSpPr>
        <p:spPr>
          <a:xfrm>
            <a:off x="868680" y="3931920"/>
            <a:ext cx="180685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86968" y="3950208"/>
            <a:ext cx="177027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Pink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2675534" y="393192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2693822" y="39502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5.3%</a:t>
            </a:r>
            <a:endParaRPr lang="en-US" sz="620" dirty="0"/>
          </a:p>
        </p:txBody>
      </p:sp>
      <p:sp>
        <p:nvSpPr>
          <p:cNvPr id="79" name="Shape 77"/>
          <p:cNvSpPr/>
          <p:nvPr/>
        </p:nvSpPr>
        <p:spPr>
          <a:xfrm>
            <a:off x="3648456" y="393192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3666744" y="39502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6.9%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4621378" y="393192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639666" y="39502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9.9%</a:t>
            </a:r>
            <a:endParaRPr lang="en-US" sz="620" dirty="0"/>
          </a:p>
        </p:txBody>
      </p:sp>
      <p:sp>
        <p:nvSpPr>
          <p:cNvPr id="83" name="Shape 81"/>
          <p:cNvSpPr/>
          <p:nvPr/>
        </p:nvSpPr>
        <p:spPr>
          <a:xfrm>
            <a:off x="5594299" y="3931920"/>
            <a:ext cx="222382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612587" y="3950208"/>
            <a:ext cx="218724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mixed fit</a:t>
            </a: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region should Grey defend first?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Where did your team assume one global market incorrectly?</a:t>
            </a:r>
            <a:endParaRPr lang="en-US" sz="820" dirty="0"/>
          </a:p>
        </p:txBody>
      </p:sp>
      <p:sp>
        <p:nvSpPr>
          <p:cNvPr id="88" name="Shape 86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Regions differ in demand, price sensitivity, logistics and technology fit.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and option discipline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R&amp;D rose again, but the income statement did not absorb it.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9/24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3291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8030" y="2367592"/>
            <a:ext cx="291563" cy="92424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6590" y="2157280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596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 rot="2700000">
            <a:off x="793438" y="33649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1428293" y="1414054"/>
            <a:ext cx="291563" cy="1877786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36853" y="1203742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1,210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 rot="2700000">
            <a:off x="1263701" y="33649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1898556" y="2647939"/>
            <a:ext cx="291563" cy="643901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807116" y="2437627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415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 rot="2700000">
            <a:off x="1733964" y="33649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2368819" y="2890925"/>
            <a:ext cx="291563" cy="400915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77379" y="2680613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258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 rot="2700000">
            <a:off x="2204227" y="33649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2839081" y="2508297"/>
            <a:ext cx="291563" cy="783543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7641" y="2297985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505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 rot="2700000">
            <a:off x="2674489" y="33649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Grey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309344" y="2319277"/>
            <a:ext cx="291563" cy="972563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17904" y="2108965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627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 rot="2700000">
            <a:off x="3144752" y="33649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3779607" y="2438477"/>
            <a:ext cx="291563" cy="853363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88167" y="2228165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550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 rot="2700000">
            <a:off x="3615015" y="33649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4572000" y="3013817"/>
            <a:ext cx="3108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656386" y="2951240"/>
            <a:ext cx="275365" cy="62577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64946" y="2740928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0.9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 rot="2700000">
            <a:off x="4491794" y="336499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5100523" y="3013817"/>
            <a:ext cx="275365" cy="188806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09083" y="2803505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-2.7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 rot="2700000">
            <a:off x="4935931" y="336499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5544660" y="2696421"/>
            <a:ext cx="275365" cy="317395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53220" y="2486109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4.6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 rot="2700000">
            <a:off x="5380068" y="336499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5988797" y="1924272"/>
            <a:ext cx="275365" cy="1089544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97357" y="1713960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15.7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 rot="2700000">
            <a:off x="5824205" y="336499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6432935" y="1384266"/>
            <a:ext cx="275365" cy="1629551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341495" y="1173954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23.4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 rot="2700000">
            <a:off x="6268343" y="336499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Grey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877072" y="2866819"/>
            <a:ext cx="275365" cy="146998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85632" y="2656507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2.1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 rot="2700000">
            <a:off x="6712480" y="336499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51" name="Shape 49"/>
          <p:cNvSpPr/>
          <p:nvPr/>
        </p:nvSpPr>
        <p:spPr>
          <a:xfrm>
            <a:off x="7321209" y="3013817"/>
            <a:ext cx="275365" cy="241759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229769" y="2803505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-3.5</a:t>
            </a:r>
            <a:endParaRPr lang="en-US" sz="580" dirty="0"/>
          </a:p>
        </p:txBody>
      </p:sp>
      <p:sp>
        <p:nvSpPr>
          <p:cNvPr id="53" name="Text 51"/>
          <p:cNvSpPr/>
          <p:nvPr/>
        </p:nvSpPr>
        <p:spPr>
          <a:xfrm rot="2700000">
            <a:off x="7156617" y="336499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896112" y="3794760"/>
            <a:ext cx="68580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Harshad spent $1.21bn in R&amp;D and posted a loss with B+ credit.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Grey spent substantially but still protected positive profit and AA rating.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R&amp;D must be evaluated as timed option value, not prestige spending.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evidence justified the R&amp;D bet?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When is R&amp;D leadership self-inflicted fragility?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Options create value only when demand readiness, operations and cash capacity align.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and cash-flow risk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Inventory rose to $4.07bn and trapped cash across several teams.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10/24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3383280"/>
            <a:ext cx="3291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8030" y="2702039"/>
            <a:ext cx="291563" cy="681241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6590" y="2491727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605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 rot="2700000">
            <a:off x="793438" y="345643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1428293" y="3115106"/>
            <a:ext cx="291563" cy="268174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36853" y="2904794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238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 rot="2700000">
            <a:off x="1263701" y="345643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1898556" y="1423851"/>
            <a:ext cx="291563" cy="1959429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807116" y="1213539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1,739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 rot="2700000">
            <a:off x="1733964" y="345643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2368819" y="2802050"/>
            <a:ext cx="291563" cy="58123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77379" y="2591738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516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 rot="2700000">
            <a:off x="2204227" y="345643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2839081" y="3265319"/>
            <a:ext cx="291563" cy="117961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7641" y="3055007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105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 rot="2700000">
            <a:off x="2674489" y="345643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Grey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309344" y="3294712"/>
            <a:ext cx="291563" cy="8856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17904" y="3084400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79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 rot="2700000">
            <a:off x="3144752" y="345643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3779607" y="2490160"/>
            <a:ext cx="291563" cy="8931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88167" y="2279848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793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 rot="2700000">
            <a:off x="3615015" y="345643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4572000" y="2271499"/>
            <a:ext cx="3108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656386" y="2271499"/>
            <a:ext cx="275365" cy="155208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64946" y="2061187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-192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 rot="2700000">
            <a:off x="4491794" y="345643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5100523" y="2271499"/>
            <a:ext cx="275365" cy="831381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09083" y="2061187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-1,031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 rot="2700000">
            <a:off x="4935931" y="345643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5544660" y="2271499"/>
            <a:ext cx="275365" cy="537383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53220" y="2061187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-666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 rot="2700000">
            <a:off x="5380068" y="345643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5988797" y="2271499"/>
            <a:ext cx="275365" cy="210509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97357" y="2061187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-261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 rot="2700000">
            <a:off x="5824205" y="345643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6432935" y="2271499"/>
            <a:ext cx="275365" cy="18288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341495" y="2061187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-21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 rot="2700000">
            <a:off x="6268343" y="345643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Grey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877072" y="2271499"/>
            <a:ext cx="275365" cy="324251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85632" y="2061187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-402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 rot="2700000">
            <a:off x="6712480" y="345643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51" name="Shape 49"/>
          <p:cNvSpPr/>
          <p:nvPr/>
        </p:nvSpPr>
        <p:spPr>
          <a:xfrm>
            <a:off x="7321209" y="2271499"/>
            <a:ext cx="275365" cy="966767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229769" y="2061187"/>
            <a:ext cx="4582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-1,198</a:t>
            </a:r>
            <a:endParaRPr lang="en-US" sz="580" dirty="0"/>
          </a:p>
        </p:txBody>
      </p:sp>
      <p:sp>
        <p:nvSpPr>
          <p:cNvPr id="53" name="Text 51"/>
          <p:cNvSpPr/>
          <p:nvPr/>
        </p:nvSpPr>
        <p:spPr>
          <a:xfrm rot="2700000">
            <a:off x="7156617" y="3456432"/>
            <a:ext cx="604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896112" y="3886200"/>
            <a:ext cx="6858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Pink’s cash-flow before financing was -$1.20bn.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Harshad and Lakshmi also consumed large cash before financing.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Grey kept the cleanest relative position among large teams.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When is inventory a strategic buffer?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team must repair cash before pursuing growth?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Inventory is a balance-sheet hypothesis about demand. If wrong, it becomes trapped cash.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Financing and credit quality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Risk quality separated credible leaders from fragile challengers.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11/24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59837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467051" y="1051560"/>
            <a:ext cx="97292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ST debt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439973" y="1051560"/>
            <a:ext cx="97292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LT debt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412894" y="1051560"/>
            <a:ext cx="83393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Cash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246827" y="1051560"/>
            <a:ext cx="83393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Credit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608076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Signal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868680" y="1463040"/>
            <a:ext cx="159837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481328"/>
            <a:ext cx="156179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467051" y="146304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485339" y="14813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$555m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439973" y="146304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58261" y="14813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$1,510m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4412894" y="1463040"/>
            <a:ext cx="83393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31182" y="148132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$44m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5246827" y="1463040"/>
            <a:ext cx="83393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65115" y="148132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6080760" y="146304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099048" y="1481328"/>
            <a:ext cx="17007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distress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1874520"/>
            <a:ext cx="1598371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1892808"/>
            <a:ext cx="156179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Harshad Mehta Gang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2467051" y="187452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85339" y="18928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$0m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439973" y="187452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58261" y="18928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$1,660m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412894" y="1874520"/>
            <a:ext cx="833933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431182" y="189280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$2,489m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246827" y="1874520"/>
            <a:ext cx="833933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265115" y="189280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B+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6080760" y="1874520"/>
            <a:ext cx="1737360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099048" y="1892808"/>
            <a:ext cx="17007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fragile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868680" y="2286000"/>
            <a:ext cx="159837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86968" y="2304288"/>
            <a:ext cx="156179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Lakshmi Chit Fund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2467051" y="228600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485339" y="230428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$3,585m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3439973" y="228600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458261" y="230428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$1,310m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4412894" y="2286000"/>
            <a:ext cx="83393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431182" y="230428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$479m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5246827" y="2286000"/>
            <a:ext cx="83393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265115" y="230428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6080760" y="228600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099048" y="2304288"/>
            <a:ext cx="17007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distress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868680" y="2697480"/>
            <a:ext cx="1598371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86968" y="2715768"/>
            <a:ext cx="156179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Big Bulls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2467051" y="269748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485339" y="271576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$305m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3439973" y="269748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458261" y="271576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$435m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4412894" y="2697480"/>
            <a:ext cx="833933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431182" y="271576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$1,313m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5246827" y="2697480"/>
            <a:ext cx="833933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265115" y="271576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6080760" y="2697480"/>
            <a:ext cx="1737360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099048" y="2715768"/>
            <a:ext cx="17007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strong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868680" y="3108960"/>
            <a:ext cx="159837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86968" y="3127248"/>
            <a:ext cx="156179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67051" y="310896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485339" y="312724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$77m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3439973" y="310896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458261" y="312724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$510m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4412894" y="3108960"/>
            <a:ext cx="83393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431182" y="312724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$801m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5246827" y="3108960"/>
            <a:ext cx="83393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265115" y="312724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6080760" y="310896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099048" y="3127248"/>
            <a:ext cx="17007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strong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868680" y="3520440"/>
            <a:ext cx="1598371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86968" y="3538728"/>
            <a:ext cx="156179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Akatsuki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2467051" y="352044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485339" y="35387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$72m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3439973" y="3520440"/>
            <a:ext cx="972922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458261" y="353872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$539m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4412894" y="3520440"/>
            <a:ext cx="833933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431182" y="353872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$998m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5246827" y="3520440"/>
            <a:ext cx="833933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5265115" y="353872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BB+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6080760" y="3520440"/>
            <a:ext cx="1737360" cy="4114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6099048" y="3538728"/>
            <a:ext cx="17007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fragile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868680" y="3931920"/>
            <a:ext cx="159837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86968" y="3950208"/>
            <a:ext cx="1561795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Pink</a:t>
            </a:r>
            <a:endParaRPr lang="en-US" sz="620" dirty="0"/>
          </a:p>
        </p:txBody>
      </p:sp>
      <p:sp>
        <p:nvSpPr>
          <p:cNvPr id="90" name="Shape 88"/>
          <p:cNvSpPr/>
          <p:nvPr/>
        </p:nvSpPr>
        <p:spPr>
          <a:xfrm>
            <a:off x="2467051" y="393192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2485339" y="39502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$1,524m</a:t>
            </a:r>
            <a:endParaRPr lang="en-US" sz="620" dirty="0"/>
          </a:p>
        </p:txBody>
      </p:sp>
      <p:sp>
        <p:nvSpPr>
          <p:cNvPr id="92" name="Shape 90"/>
          <p:cNvSpPr/>
          <p:nvPr/>
        </p:nvSpPr>
        <p:spPr>
          <a:xfrm>
            <a:off x="3439973" y="3931920"/>
            <a:ext cx="97292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3458261" y="3950208"/>
            <a:ext cx="93634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$510m</a:t>
            </a:r>
            <a:endParaRPr lang="en-US" sz="620" dirty="0"/>
          </a:p>
        </p:txBody>
      </p:sp>
      <p:sp>
        <p:nvSpPr>
          <p:cNvPr id="94" name="Shape 92"/>
          <p:cNvSpPr/>
          <p:nvPr/>
        </p:nvSpPr>
        <p:spPr>
          <a:xfrm>
            <a:off x="4412894" y="3931920"/>
            <a:ext cx="83393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4431182" y="395020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$1,143m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5246827" y="3931920"/>
            <a:ext cx="83393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5265115" y="3950208"/>
            <a:ext cx="797357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CCC</a:t>
            </a:r>
            <a:endParaRPr lang="en-US" sz="620" dirty="0"/>
          </a:p>
        </p:txBody>
      </p:sp>
      <p:sp>
        <p:nvSpPr>
          <p:cNvPr id="98" name="Shape 96"/>
          <p:cNvSpPr/>
          <p:nvPr/>
        </p:nvSpPr>
        <p:spPr>
          <a:xfrm>
            <a:off x="6080760" y="393192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099048" y="3950208"/>
            <a:ext cx="17007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distress</a:t>
            </a:r>
            <a:endParaRPr lang="en-US" sz="620" dirty="0"/>
          </a:p>
        </p:txBody>
      </p:sp>
      <p:sp>
        <p:nvSpPr>
          <p:cNvPr id="100" name="Shape 98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Why does weak credit lower the value of the same cash flow?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debt the problem, or unplanned debt?</a:t>
            </a:r>
            <a:endParaRPr lang="en-US" sz="820" dirty="0"/>
          </a:p>
        </p:txBody>
      </p:sp>
      <p:sp>
        <p:nvSpPr>
          <p:cNvPr id="103" name="Shape 101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Risk changes required return, and required return changes valuation.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ESG and sustainability leaderboard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Grey leads on ESG as well as TSR; Lakshmi's pledge has not yet shown up in the score.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12/24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694944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Rank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1563624" y="1097280"/>
            <a:ext cx="2084832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648456" y="1097280"/>
            <a:ext cx="1042416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E-score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690872" y="1097280"/>
            <a:ext cx="1111910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ESG reputation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802782" y="1097280"/>
            <a:ext cx="1250899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TSR rank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7053682" y="1097280"/>
            <a:ext cx="764438" cy="3543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Recyclability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868680" y="1451610"/>
            <a:ext cx="69494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46989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1563624" y="1451610"/>
            <a:ext cx="2084832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81912" y="146989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648456" y="1451610"/>
            <a:ext cx="1042416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66744" y="146989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3.69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4690872" y="1451610"/>
            <a:ext cx="11119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9160" y="146989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3.09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5802782" y="1451610"/>
            <a:ext cx="125089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21070" y="146989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7053682" y="1451610"/>
            <a:ext cx="76443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71970" y="146989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Committed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1805940"/>
            <a:ext cx="694944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182422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1563624" y="1805940"/>
            <a:ext cx="2084832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581912" y="182422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Big Bulls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648456" y="1805940"/>
            <a:ext cx="1042416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66744" y="182422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3.26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690872" y="1805940"/>
            <a:ext cx="1111910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709160" y="182422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3.01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802782" y="1805940"/>
            <a:ext cx="1250899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21070" y="182422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7053682" y="1805940"/>
            <a:ext cx="764438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071970" y="182422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No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868680" y="2160270"/>
            <a:ext cx="69494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86968" y="217855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1563624" y="2160270"/>
            <a:ext cx="2084832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581912" y="217855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Akatsuki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3648456" y="2160270"/>
            <a:ext cx="1042416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666744" y="217855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3.23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4690872" y="2160270"/>
            <a:ext cx="11119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709160" y="217855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3.16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5802782" y="2160270"/>
            <a:ext cx="125089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821070" y="217855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7053682" y="2160270"/>
            <a:ext cx="76443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071970" y="217855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Committed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868680" y="2514600"/>
            <a:ext cx="694944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86968" y="253288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1563624" y="2514600"/>
            <a:ext cx="2084832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581912" y="253288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Harshad Mehta Gang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3648456" y="2514600"/>
            <a:ext cx="1042416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666744" y="253288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3.15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4690872" y="2514600"/>
            <a:ext cx="1111910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709160" y="253288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3.07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5802782" y="2514600"/>
            <a:ext cx="1250899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821070" y="253288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7053682" y="2514600"/>
            <a:ext cx="764438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071970" y="253288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Committed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868680" y="2868930"/>
            <a:ext cx="69494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86968" y="288721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1563624" y="2868930"/>
            <a:ext cx="2084832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581912" y="288721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Lakshmi Chit Fund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3648456" y="2868930"/>
            <a:ext cx="1042416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666744" y="288721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2.84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4690872" y="2868930"/>
            <a:ext cx="11119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709160" y="288721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2.83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5802782" y="2868930"/>
            <a:ext cx="125089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821070" y="288721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7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7053682" y="2868930"/>
            <a:ext cx="76443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7071970" y="288721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Committed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868680" y="3223260"/>
            <a:ext cx="694944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86968" y="324154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1563624" y="3223260"/>
            <a:ext cx="2084832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581912" y="324154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3648456" y="3223260"/>
            <a:ext cx="1042416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666744" y="324154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2.58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4690872" y="3223260"/>
            <a:ext cx="1111910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709160" y="324154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2.85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5802782" y="3223260"/>
            <a:ext cx="1250899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5821070" y="324154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7053682" y="3223260"/>
            <a:ext cx="764438" cy="35433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7071970" y="324154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No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868680" y="3577590"/>
            <a:ext cx="69494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86968" y="3595878"/>
            <a:ext cx="65836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7</a:t>
            </a:r>
            <a:endParaRPr lang="en-US" sz="620" dirty="0"/>
          </a:p>
        </p:txBody>
      </p:sp>
      <p:sp>
        <p:nvSpPr>
          <p:cNvPr id="90" name="Shape 88"/>
          <p:cNvSpPr/>
          <p:nvPr/>
        </p:nvSpPr>
        <p:spPr>
          <a:xfrm>
            <a:off x="1563624" y="3577590"/>
            <a:ext cx="2084832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581912" y="3595878"/>
            <a:ext cx="204825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Pink</a:t>
            </a:r>
            <a:endParaRPr lang="en-US" sz="620" dirty="0"/>
          </a:p>
        </p:txBody>
      </p:sp>
      <p:sp>
        <p:nvSpPr>
          <p:cNvPr id="92" name="Shape 90"/>
          <p:cNvSpPr/>
          <p:nvPr/>
        </p:nvSpPr>
        <p:spPr>
          <a:xfrm>
            <a:off x="3648456" y="3577590"/>
            <a:ext cx="1042416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3666744" y="3595878"/>
            <a:ext cx="100584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2.49</a:t>
            </a:r>
            <a:endParaRPr lang="en-US" sz="620" dirty="0"/>
          </a:p>
        </p:txBody>
      </p:sp>
      <p:sp>
        <p:nvSpPr>
          <p:cNvPr id="94" name="Shape 92"/>
          <p:cNvSpPr/>
          <p:nvPr/>
        </p:nvSpPr>
        <p:spPr>
          <a:xfrm>
            <a:off x="4690872" y="3577590"/>
            <a:ext cx="11119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4709160" y="3595878"/>
            <a:ext cx="107533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2.75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5802782" y="3577590"/>
            <a:ext cx="125089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5821070" y="3595878"/>
            <a:ext cx="121432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98" name="Shape 96"/>
          <p:cNvSpPr/>
          <p:nvPr/>
        </p:nvSpPr>
        <p:spPr>
          <a:xfrm>
            <a:off x="7053682" y="3577590"/>
            <a:ext cx="76443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7071970" y="3595878"/>
            <a:ext cx="727862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No</a:t>
            </a:r>
            <a:endParaRPr lang="en-US" sz="620" dirty="0"/>
          </a:p>
        </p:txBody>
      </p:sp>
      <p:sp>
        <p:nvSpPr>
          <p:cNvPr id="100" name="Shape 98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team's recyclability pledge has not yet converted into a strong score?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Grey's leadership a coincidence, or does coherent strategy show up everywhere?</a:t>
            </a:r>
            <a:endParaRPr lang="en-US" sz="820" dirty="0"/>
          </a:p>
        </p:txBody>
      </p:sp>
      <p:sp>
        <p:nvSpPr>
          <p:cNvPr id="103" name="Shape 101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commitment is a promise; a score is the evidence that the promise was kept.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3 results workbook (ESG report)</a:t>
            </a:r>
            <a:endParaRPr lang="en-US" sz="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Relative scorecard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Grey is the coherent leader; Lakshmi, Pink and Green remain warning cases.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13/24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945843" cy="4229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814523" y="1051560"/>
            <a:ext cx="833933" cy="4229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TSR rank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648456" y="1051560"/>
            <a:ext cx="972922" cy="4229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Profit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621378" y="1051560"/>
            <a:ext cx="903427" cy="4229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ROS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524805" y="1051560"/>
            <a:ext cx="903427" cy="4229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ROCE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6428232" y="1051560"/>
            <a:ext cx="833933" cy="4229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Share</a:t>
            </a:r>
            <a:endParaRPr lang="en-US" sz="640" dirty="0"/>
          </a:p>
        </p:txBody>
      </p:sp>
      <p:sp>
        <p:nvSpPr>
          <p:cNvPr id="16" name="Text 14"/>
          <p:cNvSpPr/>
          <p:nvPr/>
        </p:nvSpPr>
        <p:spPr>
          <a:xfrm>
            <a:off x="7262165" y="1051560"/>
            <a:ext cx="555955" cy="4229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Risk</a:t>
            </a:r>
            <a:endParaRPr lang="en-US" sz="640" dirty="0"/>
          </a:p>
        </p:txBody>
      </p:sp>
      <p:sp>
        <p:nvSpPr>
          <p:cNvPr id="17" name="Shape 15"/>
          <p:cNvSpPr/>
          <p:nvPr/>
        </p:nvSpPr>
        <p:spPr>
          <a:xfrm>
            <a:off x="868680" y="1474470"/>
            <a:ext cx="194584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6968" y="1492758"/>
            <a:ext cx="190926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2814523" y="1474470"/>
            <a:ext cx="83393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832811" y="149275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3648456" y="1474470"/>
            <a:ext cx="972922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66744" y="1492758"/>
            <a:ext cx="936346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$-348m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4621378" y="1474470"/>
            <a:ext cx="903427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39666" y="149275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-16.2%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5524805" y="1474470"/>
            <a:ext cx="903427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543093" y="149275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0.9%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6428232" y="1474470"/>
            <a:ext cx="83393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46520" y="149275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14.3%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7262165" y="1474470"/>
            <a:ext cx="555955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280453" y="1492758"/>
            <a:ext cx="519379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68680" y="1897380"/>
            <a:ext cx="194584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1915668"/>
            <a:ext cx="190926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Harshad Mehta Gang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814523" y="1897380"/>
            <a:ext cx="83393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832811" y="191566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3648456" y="1897380"/>
            <a:ext cx="972922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66744" y="1915668"/>
            <a:ext cx="936346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$-257m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4621378" y="1897380"/>
            <a:ext cx="903427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639666" y="191566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-9.2%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5524805" y="1897380"/>
            <a:ext cx="903427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543093" y="191566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-2.7%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6428232" y="1897380"/>
            <a:ext cx="83393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46520" y="191566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15.3%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7262165" y="1897380"/>
            <a:ext cx="555955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280453" y="1915668"/>
            <a:ext cx="519379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B+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868680" y="2320290"/>
            <a:ext cx="194584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86968" y="2338578"/>
            <a:ext cx="190926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Lakshmi Chit Fund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2814523" y="2320290"/>
            <a:ext cx="83393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832811" y="233857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7</a:t>
            </a:r>
            <a:endParaRPr lang="en-US" sz="620" dirty="0"/>
          </a:p>
        </p:txBody>
      </p:sp>
      <p:sp>
        <p:nvSpPr>
          <p:cNvPr id="49" name="Shape 47"/>
          <p:cNvSpPr/>
          <p:nvPr/>
        </p:nvSpPr>
        <p:spPr>
          <a:xfrm>
            <a:off x="3648456" y="2320290"/>
            <a:ext cx="972922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666744" y="2338578"/>
            <a:ext cx="936346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$-453m</a:t>
            </a:r>
            <a:endParaRPr lang="en-US" sz="620" dirty="0"/>
          </a:p>
        </p:txBody>
      </p:sp>
      <p:sp>
        <p:nvSpPr>
          <p:cNvPr id="51" name="Shape 49"/>
          <p:cNvSpPr/>
          <p:nvPr/>
        </p:nvSpPr>
        <p:spPr>
          <a:xfrm>
            <a:off x="4621378" y="2320290"/>
            <a:ext cx="903427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639666" y="233857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-17.8%</a:t>
            </a:r>
            <a:endParaRPr lang="en-US" sz="620" dirty="0"/>
          </a:p>
        </p:txBody>
      </p:sp>
      <p:sp>
        <p:nvSpPr>
          <p:cNvPr id="53" name="Shape 51"/>
          <p:cNvSpPr/>
          <p:nvPr/>
        </p:nvSpPr>
        <p:spPr>
          <a:xfrm>
            <a:off x="5524805" y="2320290"/>
            <a:ext cx="903427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543093" y="233857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4.6%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6428232" y="2320290"/>
            <a:ext cx="83393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46520" y="233857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16.6%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7262165" y="2320290"/>
            <a:ext cx="555955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280453" y="2338578"/>
            <a:ext cx="519379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868680" y="2743200"/>
            <a:ext cx="194584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86968" y="2761488"/>
            <a:ext cx="190926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Big Bulls</a:t>
            </a:r>
            <a:endParaRPr lang="en-US" sz="620" dirty="0"/>
          </a:p>
        </p:txBody>
      </p:sp>
      <p:sp>
        <p:nvSpPr>
          <p:cNvPr id="61" name="Shape 59"/>
          <p:cNvSpPr/>
          <p:nvPr/>
        </p:nvSpPr>
        <p:spPr>
          <a:xfrm>
            <a:off x="2814523" y="2743200"/>
            <a:ext cx="83393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832811" y="276148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3648456" y="2743200"/>
            <a:ext cx="972922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3666744" y="2761488"/>
            <a:ext cx="936346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$298m</a:t>
            </a:r>
            <a:endParaRPr lang="en-US" sz="620" dirty="0"/>
          </a:p>
        </p:txBody>
      </p:sp>
      <p:sp>
        <p:nvSpPr>
          <p:cNvPr id="65" name="Shape 63"/>
          <p:cNvSpPr/>
          <p:nvPr/>
        </p:nvSpPr>
        <p:spPr>
          <a:xfrm>
            <a:off x="4621378" y="2743200"/>
            <a:ext cx="903427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639666" y="276148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16.3%</a:t>
            </a:r>
            <a:endParaRPr lang="en-US" sz="620" dirty="0"/>
          </a:p>
        </p:txBody>
      </p:sp>
      <p:sp>
        <p:nvSpPr>
          <p:cNvPr id="67" name="Shape 65"/>
          <p:cNvSpPr/>
          <p:nvPr/>
        </p:nvSpPr>
        <p:spPr>
          <a:xfrm>
            <a:off x="5524805" y="2743200"/>
            <a:ext cx="903427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543093" y="276148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15.7%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6428232" y="2743200"/>
            <a:ext cx="83393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446520" y="276148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12.8%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7262165" y="2743200"/>
            <a:ext cx="555955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7280453" y="2761488"/>
            <a:ext cx="519379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868680" y="3166110"/>
            <a:ext cx="194584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86968" y="3184398"/>
            <a:ext cx="190926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</a:t>
            </a:r>
            <a:endParaRPr lang="en-US" sz="620" dirty="0"/>
          </a:p>
        </p:txBody>
      </p:sp>
      <p:sp>
        <p:nvSpPr>
          <p:cNvPr id="75" name="Shape 73"/>
          <p:cNvSpPr/>
          <p:nvPr/>
        </p:nvSpPr>
        <p:spPr>
          <a:xfrm>
            <a:off x="2814523" y="3166110"/>
            <a:ext cx="83393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832811" y="318439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3648456" y="3166110"/>
            <a:ext cx="972922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666744" y="3184398"/>
            <a:ext cx="936346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$514m</a:t>
            </a:r>
            <a:endParaRPr lang="en-US" sz="620" dirty="0"/>
          </a:p>
        </p:txBody>
      </p:sp>
      <p:sp>
        <p:nvSpPr>
          <p:cNvPr id="79" name="Shape 77"/>
          <p:cNvSpPr/>
          <p:nvPr/>
        </p:nvSpPr>
        <p:spPr>
          <a:xfrm>
            <a:off x="4621378" y="3166110"/>
            <a:ext cx="903427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4639666" y="318439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17.5%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5524805" y="3166110"/>
            <a:ext cx="903427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5543093" y="318439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23.4%</a:t>
            </a:r>
            <a:endParaRPr lang="en-US" sz="620" dirty="0"/>
          </a:p>
        </p:txBody>
      </p:sp>
      <p:sp>
        <p:nvSpPr>
          <p:cNvPr id="83" name="Shape 81"/>
          <p:cNvSpPr/>
          <p:nvPr/>
        </p:nvSpPr>
        <p:spPr>
          <a:xfrm>
            <a:off x="6428232" y="3166110"/>
            <a:ext cx="83393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6446520" y="318439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17.5%</a:t>
            </a: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7262165" y="3166110"/>
            <a:ext cx="555955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7280453" y="3184398"/>
            <a:ext cx="519379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</a:t>
            </a:r>
            <a:endParaRPr lang="en-US" sz="620" dirty="0"/>
          </a:p>
        </p:txBody>
      </p:sp>
      <p:sp>
        <p:nvSpPr>
          <p:cNvPr id="87" name="Shape 85"/>
          <p:cNvSpPr/>
          <p:nvPr/>
        </p:nvSpPr>
        <p:spPr>
          <a:xfrm>
            <a:off x="868680" y="3589020"/>
            <a:ext cx="194584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886968" y="3607308"/>
            <a:ext cx="190926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Akatsuki</a:t>
            </a:r>
            <a:endParaRPr lang="en-US" sz="620" dirty="0"/>
          </a:p>
        </p:txBody>
      </p:sp>
      <p:sp>
        <p:nvSpPr>
          <p:cNvPr id="89" name="Shape 87"/>
          <p:cNvSpPr/>
          <p:nvPr/>
        </p:nvSpPr>
        <p:spPr>
          <a:xfrm>
            <a:off x="2814523" y="3589020"/>
            <a:ext cx="83393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2832811" y="360730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91" name="Shape 89"/>
          <p:cNvSpPr/>
          <p:nvPr/>
        </p:nvSpPr>
        <p:spPr>
          <a:xfrm>
            <a:off x="3648456" y="3589020"/>
            <a:ext cx="972922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3666744" y="3607308"/>
            <a:ext cx="936346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$-18m</a:t>
            </a:r>
            <a:endParaRPr lang="en-US" sz="620" dirty="0"/>
          </a:p>
        </p:txBody>
      </p:sp>
      <p:sp>
        <p:nvSpPr>
          <p:cNvPr id="93" name="Shape 91"/>
          <p:cNvSpPr/>
          <p:nvPr/>
        </p:nvSpPr>
        <p:spPr>
          <a:xfrm>
            <a:off x="4621378" y="3589020"/>
            <a:ext cx="903427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639666" y="360730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-0.8%</a:t>
            </a:r>
            <a:endParaRPr lang="en-US" sz="620" dirty="0"/>
          </a:p>
        </p:txBody>
      </p:sp>
      <p:sp>
        <p:nvSpPr>
          <p:cNvPr id="95" name="Shape 93"/>
          <p:cNvSpPr/>
          <p:nvPr/>
        </p:nvSpPr>
        <p:spPr>
          <a:xfrm>
            <a:off x="5524805" y="3589020"/>
            <a:ext cx="903427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5543093" y="360730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2.1%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6428232" y="3589020"/>
            <a:ext cx="833933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6446520" y="360730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16.3%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7262165" y="3589020"/>
            <a:ext cx="555955" cy="42291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7280453" y="3607308"/>
            <a:ext cx="519379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BB+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868680" y="4011930"/>
            <a:ext cx="194584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886968" y="4030218"/>
            <a:ext cx="190926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Pink</a:t>
            </a:r>
            <a:endParaRPr lang="en-US" sz="620" dirty="0"/>
          </a:p>
        </p:txBody>
      </p:sp>
      <p:sp>
        <p:nvSpPr>
          <p:cNvPr id="103" name="Shape 101"/>
          <p:cNvSpPr/>
          <p:nvPr/>
        </p:nvSpPr>
        <p:spPr>
          <a:xfrm>
            <a:off x="2814523" y="4011930"/>
            <a:ext cx="83393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2832811" y="403021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105" name="Shape 103"/>
          <p:cNvSpPr/>
          <p:nvPr/>
        </p:nvSpPr>
        <p:spPr>
          <a:xfrm>
            <a:off x="3648456" y="4011930"/>
            <a:ext cx="972922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3666744" y="4030218"/>
            <a:ext cx="936346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$-344m</a:t>
            </a:r>
            <a:endParaRPr lang="en-US" sz="620" dirty="0"/>
          </a:p>
        </p:txBody>
      </p:sp>
      <p:sp>
        <p:nvSpPr>
          <p:cNvPr id="107" name="Shape 105"/>
          <p:cNvSpPr/>
          <p:nvPr/>
        </p:nvSpPr>
        <p:spPr>
          <a:xfrm>
            <a:off x="4621378" y="4011930"/>
            <a:ext cx="903427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4639666" y="403021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-27.0%</a:t>
            </a:r>
            <a:endParaRPr lang="en-US" sz="620" dirty="0"/>
          </a:p>
        </p:txBody>
      </p:sp>
      <p:sp>
        <p:nvSpPr>
          <p:cNvPr id="109" name="Shape 107"/>
          <p:cNvSpPr/>
          <p:nvPr/>
        </p:nvSpPr>
        <p:spPr>
          <a:xfrm>
            <a:off x="5524805" y="4011930"/>
            <a:ext cx="903427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5543093" y="4030218"/>
            <a:ext cx="866851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-3.5%</a:t>
            </a:r>
            <a:endParaRPr lang="en-US" sz="620" dirty="0"/>
          </a:p>
        </p:txBody>
      </p:sp>
      <p:sp>
        <p:nvSpPr>
          <p:cNvPr id="111" name="Shape 109"/>
          <p:cNvSpPr/>
          <p:nvPr/>
        </p:nvSpPr>
        <p:spPr>
          <a:xfrm>
            <a:off x="6428232" y="4011930"/>
            <a:ext cx="833933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6446520" y="4030218"/>
            <a:ext cx="797357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7.2%</a:t>
            </a:r>
            <a:endParaRPr lang="en-US" sz="620" dirty="0"/>
          </a:p>
        </p:txBody>
      </p:sp>
      <p:sp>
        <p:nvSpPr>
          <p:cNvPr id="113" name="Shape 111"/>
          <p:cNvSpPr/>
          <p:nvPr/>
        </p:nvSpPr>
        <p:spPr>
          <a:xfrm>
            <a:off x="7262165" y="4011930"/>
            <a:ext cx="555955" cy="42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7280453" y="4030218"/>
            <a:ext cx="519379" cy="3863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CCC</a:t>
            </a:r>
            <a:endParaRPr lang="en-US" sz="620" dirty="0"/>
          </a:p>
        </p:txBody>
      </p:sp>
      <p:sp>
        <p:nvSpPr>
          <p:cNvPr id="115" name="Shape 113"/>
          <p:cNvSpPr/>
          <p:nvPr/>
        </p:nvSpPr>
        <p:spPr>
          <a:xfrm>
            <a:off x="832104" y="2743200"/>
            <a:ext cx="7004304" cy="422910"/>
          </a:xfrm>
          <a:prstGeom prst="roundRect">
            <a:avLst>
              <a:gd name="adj" fmla="val 4324"/>
            </a:avLst>
          </a:prstGeom>
          <a:solidFill>
            <a:srgbClr val="FCE7C4">
              <a:alpha val="55000"/>
            </a:srgbClr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16" name="Shape 11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row tells the most coherent value story?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bright spot hides a deeper risk?</a:t>
            </a:r>
            <a:endParaRPr lang="en-US" sz="820" dirty="0"/>
          </a:p>
        </p:txBody>
      </p:sp>
      <p:sp>
        <p:nvSpPr>
          <p:cNvPr id="119" name="Shape 11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scorecard prevents metric cherry-picking. Coherence matters more than one metric.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 profile: Grey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Grey becomes the coherent Round 3 leader.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14/24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18.6%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25.1%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$514m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17.5%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23.4%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AA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#1 cumulative TSR and highest Round 3 profit.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Highest global share, strongest Europe share, and AA credit.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The main challenge is sustaining technology and Asia position.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did Grey make coherent that others did not?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Should Grey defend USA/Europe or attack Asia?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Protect the system that already creates cash before chasing new growth.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High-value warning: Harshad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Large market value, but Round 3 operating quality weakened.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15/24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16.0%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39.8%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$-257m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-9.2%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-2.7%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B+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Still the highest market capitalisation and second TSR rank.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Round 3 profit turned negative and credit fell to B+.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Heavy R&amp;D and cash-flow pressure require discipline.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Why did market cap remain high despite a loss?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must Harshad prove in Round 4?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value story must be renewed with cash evidence, not only scale.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Margin profile: Big Bulls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Big Bulls remains profitable and credit-safe, but not a scale leader.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16/24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12.9%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16.8%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$298m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16.3%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15.7%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AA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Second-highest positive profit after Grey.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Good ROS and AA rating protect credibility.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Needs a clearer growth path without weakening margin.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Big Bulls a disciplined niche or a constrained challenger?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signal would justify more aggressive growth?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Profitable focus is valuable only if it is strategically defensible.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Crisis profile: Lakshmi Chit Fund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Share did not convert into value.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17/24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-36.9%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R2 -22.9%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$-453m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-17.8%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4.6%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High market share but the weakest cumulative TSR.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Large loss, C credit rating and high unplanned debt.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Technology/share ambition outran financial conversion.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assumption failed most severely?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is the first rescue move?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turnaround begins by stabilising cash, product-market fit and risk.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Fragile recovery: Green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Operational scale exists, but credit and profit remain distressed.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18/24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-12.8%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R2 -30.4%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$-348m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-16.2%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0.9%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Sales and market share improved versus Round 2.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Profit turned sharply negative again.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C rating means investors will demand evidence before believing the story.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Green improving or oscillating?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must be fixed first: price, inventory, or finance?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Stability comes before acceleration when the balance sheet is fragile.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specialist: Akatsuki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Asia strength remains, but global profitability weakened.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19/24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10.3%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27.1%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$-18m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-0.8%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2.1%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BB+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Strongest Asia share in the universe.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Europe share remains weak and profit is slightly negative.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Credit fell to BB+, signalling reduced investor patience.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Akatsuki deliberately specialising or losing Europe?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is the minimum action for Round 4?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Regional focus must still pass the profit and risk tests.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Warning profile: Pink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Pink is now financially exposed.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20/24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-12.9%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16.0%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$-344m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-27.0%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-3.5%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CCC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Cumulative TSR is negative and credit rating is CCC.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Losses and negative cash flow show a severe conversion problem.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Needs immediate cash, production and product-market fit discipline.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should Pink stop doing immediately?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decision is most reversible?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In distress, the first strategy is survival with evidence.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Round 3 rewarded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The market rewarded coherent conversion, not ambition alone.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21/24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54899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Reward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417674" y="1097280"/>
            <a:ext cx="2534717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Evidence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952390" y="1097280"/>
            <a:ext cx="295717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Managerial principle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68680" y="1591056"/>
            <a:ext cx="154899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1609344"/>
            <a:ext cx="151241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Coherence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2417674" y="1591056"/>
            <a:ext cx="2534717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435962" y="1609344"/>
            <a:ext cx="2498141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Grey: TSR leader + highest profit + AA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4952390" y="1591056"/>
            <a:ext cx="295717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70678" y="1609344"/>
            <a:ext cx="292059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Aligned choices compound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868680" y="2084832"/>
            <a:ext cx="1548994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6968" y="2103120"/>
            <a:ext cx="151241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Margin discipline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417674" y="2084832"/>
            <a:ext cx="2534717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435962" y="2103120"/>
            <a:ext cx="2498141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Big Bulls and Grey positive ROS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4952390" y="2084832"/>
            <a:ext cx="2957170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70678" y="2103120"/>
            <a:ext cx="292059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Profit quality matters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868680" y="2578608"/>
            <a:ext cx="154899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2596896"/>
            <a:ext cx="151241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Regional fit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417674" y="2578608"/>
            <a:ext cx="2534717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435962" y="2596896"/>
            <a:ext cx="2498141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 in USA/Europe; Akatsuki in Asia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4952390" y="2578608"/>
            <a:ext cx="295717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70678" y="2596896"/>
            <a:ext cx="292059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Markets are not homogeneous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68680" y="3072384"/>
            <a:ext cx="1548994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3090672"/>
            <a:ext cx="151241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Risk control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7674" y="3072384"/>
            <a:ext cx="2534717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435962" y="3090672"/>
            <a:ext cx="2498141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AA-rated teams retained investor patience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4952390" y="3072384"/>
            <a:ext cx="2957170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970678" y="3090672"/>
            <a:ext cx="292059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Risk prices future cash flow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reward can your team adopt immediately?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reward requires strategic redesign?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The market rewards systems of choices, not isolated moves.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Round 3 punished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The market punished expensive bets without conversion and risk repair.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22/24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76022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Penalty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628900" y="1097280"/>
            <a:ext cx="2464308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Evidence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5093208" y="1097280"/>
            <a:ext cx="281635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Round 4 implication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68680" y="1591056"/>
            <a:ext cx="17602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1609344"/>
            <a:ext cx="17236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 without absorption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2628900" y="1591056"/>
            <a:ext cx="24643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647188" y="1609344"/>
            <a:ext cx="24277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Harshad, Pink, Green losses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5093208" y="1591056"/>
            <a:ext cx="28163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11496" y="1609344"/>
            <a:ext cx="27797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Time options against cash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868680" y="2084832"/>
            <a:ext cx="1760220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6968" y="2103120"/>
            <a:ext cx="17236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Debt and rating stress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628900" y="2084832"/>
            <a:ext cx="2464308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647188" y="2103120"/>
            <a:ext cx="24277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Lakshmi C, Green C, Pink CCC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5093208" y="2084832"/>
            <a:ext cx="2816352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11496" y="2103120"/>
            <a:ext cx="27797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Repair credibility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868680" y="2578608"/>
            <a:ext cx="17602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2596896"/>
            <a:ext cx="17236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Share without profit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628900" y="2578608"/>
            <a:ext cx="24643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47188" y="2596896"/>
            <a:ext cx="24277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Lakshmi share but loss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5093208" y="2578608"/>
            <a:ext cx="28163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111496" y="2596896"/>
            <a:ext cx="27797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Stop buying unprofitable demand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68680" y="3072384"/>
            <a:ext cx="1760220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3090672"/>
            <a:ext cx="17236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Inventory/cash mismatch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628900" y="3072384"/>
            <a:ext cx="2464308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47188" y="3090672"/>
            <a:ext cx="24277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Inventory $4.07bn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5093208" y="3072384"/>
            <a:ext cx="2816352" cy="49377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111496" y="3090672"/>
            <a:ext cx="27797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Set production guardrails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punished decision is reversible?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mistake is sticky?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Recovery begins by distinguishing reversible choices from structural constraints.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4 decision checklist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Make Round 4 from evidence, not emotional reaction.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23/24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548994" cy="42454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Area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417674" y="1051560"/>
            <a:ext cx="5491886" cy="42454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First-principles question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868680" y="1476103"/>
            <a:ext cx="1548994" cy="42454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6968" y="1494391"/>
            <a:ext cx="1512418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Demand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2417674" y="1476103"/>
            <a:ext cx="5491886" cy="42454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35962" y="1494391"/>
            <a:ext cx="5455310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Where did customers actually buy, and why?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868680" y="1900646"/>
            <a:ext cx="1548994" cy="42454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918934"/>
            <a:ext cx="1512418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Price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417674" y="1900646"/>
            <a:ext cx="5491886" cy="42454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435962" y="1918934"/>
            <a:ext cx="5455310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price protects both volume and contribution?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868680" y="2325189"/>
            <a:ext cx="1548994" cy="42454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6968" y="2343477"/>
            <a:ext cx="1512418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2417674" y="2325189"/>
            <a:ext cx="5491886" cy="42454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435962" y="2343477"/>
            <a:ext cx="5455310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What must be ready now; what can wait?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868680" y="2749731"/>
            <a:ext cx="1548994" cy="42454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86968" y="2768019"/>
            <a:ext cx="1512418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Production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2417674" y="2749731"/>
            <a:ext cx="5491886" cy="42454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35962" y="2768019"/>
            <a:ext cx="5455310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What should we make, where, and how much?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3174274"/>
            <a:ext cx="1548994" cy="42454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3192562"/>
            <a:ext cx="1512418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Finance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2417674" y="3174274"/>
            <a:ext cx="5491886" cy="42454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35962" y="3192562"/>
            <a:ext cx="5455310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Can cash, rating and debt survive the plan?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868680" y="3598817"/>
            <a:ext cx="1548994" cy="42454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6968" y="3617105"/>
            <a:ext cx="1512418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Region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2417674" y="3598817"/>
            <a:ext cx="5491886" cy="42454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435962" y="3617105"/>
            <a:ext cx="5455310" cy="3879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Where should we defend, repair, attack or exit?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metric will your team check first?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rule prevents repeating your Round 3 mistake?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Decision discipline means writing a rule before changing numbers.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The strongest strategy is the most coherent system of value creation.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24/24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5"/>
                </a:solidFill>
              </a:rPr>
              <a:t>Coherence creates value.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6949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Market choice, technology choice, production choice, financing choice and risk choice must point in the same direction.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Round 3 shows that growth without conversion can destroy shareholder confidence.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Each team must enter Round 4 with one explicit decision rule.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will your team stop doing?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will your team do more deliberately?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good strategy is a disciplined theory tested against evidence.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CESIM Global Challenge Debrief</dc:subject>
  <dc:creator>OpenAI</dc:creator>
  <cp:lastModifiedBy>OpenAI</cp:lastModifiedBy>
  <cp:revision>1</cp:revision>
  <dcterms:created xsi:type="dcterms:W3CDTF">2026-08-13T09:27:06Z</dcterms:created>
  <dcterms:modified xsi:type="dcterms:W3CDTF">2026-08-13T09:27:06Z</dcterms:modified>
</cp:coreProperties>
</file>