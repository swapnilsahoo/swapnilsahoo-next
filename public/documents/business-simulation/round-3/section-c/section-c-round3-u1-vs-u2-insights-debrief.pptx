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25"/>
    <p:sldId id="275" r:id="rId26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1.xml"/><Relationship Id="rId2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1 vs Universe 2 • Round 3 Cross-Universe Insights • GL Sec C Group July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235"/>
                </a:solidFill>
              </a:rPr>
              <a:t>Universe 1 became larger but loss-making; Universe 2 stayed profitable but lost margin quality.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2011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33272" y="21579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Larger sales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033272" y="24231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U1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3272" y="28529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$15.7bn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06040" y="2011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70632" y="21579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Higher profit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770632" y="24231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U2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70632" y="28529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$2.1bn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43400" y="2011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07992" y="21579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Top TSR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07992" y="24231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U2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07992" y="28529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31.4%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80760" y="20116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45352" y="215798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E5AD7"/>
                </a:solidFill>
              </a:rPr>
              <a:t>Best leader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245352" y="24231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Grey / Satyam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45352" y="28529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different logics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universe looks bigger? Which looks healthier?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can U1 learn from U2?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Compare strategic logics, not class pride.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frame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1 has seven teams; Universe 2 has six teams.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188720"/>
            <a:ext cx="1267358" cy="39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136038" y="1188720"/>
            <a:ext cx="844906" cy="39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2980944" y="1188720"/>
            <a:ext cx="2957170" cy="39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Round 3 team continuity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938114" y="1188720"/>
            <a:ext cx="1971446" cy="39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Best comparison lens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84960"/>
            <a:ext cx="1267358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603248"/>
            <a:ext cx="1230782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Universe 1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136038" y="1584960"/>
            <a:ext cx="844906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54326" y="1603248"/>
            <a:ext cx="808330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980944" y="1584960"/>
            <a:ext cx="2957170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999232" y="1603248"/>
            <a:ext cx="2920594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Green, Harshad, Lakshmi, Big Bulls, Grey, Akatsuki, Pink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938114" y="1584960"/>
            <a:ext cx="1971446" cy="39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56402" y="1603248"/>
            <a:ext cx="1934870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Totals + per-team averages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1981200"/>
            <a:ext cx="1267358" cy="39624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1999488"/>
            <a:ext cx="1230782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Universe 2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136038" y="1981200"/>
            <a:ext cx="844906" cy="39624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154326" y="1999488"/>
            <a:ext cx="808330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980944" y="1981200"/>
            <a:ext cx="2957170" cy="39624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999232" y="1999488"/>
            <a:ext cx="2920594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Green, Satyam 2.0, Blues Clues, Lehman, T5S, SEBI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938114" y="1981200"/>
            <a:ext cx="1971446" cy="39624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56402" y="1999488"/>
            <a:ext cx="1934870" cy="35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Totals + per-team averages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896112" y="2743200"/>
            <a:ext cx="6675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Satyam 2.0 is treated as successor to Vijay Mallya based on workbook continuity; confirm if the mapping changed.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Do not merge the universes into one artificial competitive ranking.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Use cross-universe comparison to find decision logic.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can total sales mislead?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denominator makes the comparison fair?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fair comparison respects team count and separate competitive markets.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dashboard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U1 sold more; U2 converted far more.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3/20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11430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33272" y="128930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U1 sales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33272" y="15544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$15.7bn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198424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7 teams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14600" y="11430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79192" y="128930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U2 sales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679192" y="15544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$13.9bn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79192" y="198424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6 teams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60520" y="11430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25112" y="128930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U1 profit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325112" y="15544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$-0.6bn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25112" y="198424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-3.9% ROS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06440" y="11430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71032" y="128930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U2 profit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971032" y="15544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$2.1bn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71032" y="198424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15.0% ROS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68680" y="4723509"/>
            <a:ext cx="6583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181405" y="2996197"/>
            <a:ext cx="1020470" cy="1727311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89965" y="2785885"/>
            <a:ext cx="12033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$15.7bn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1016813" y="4873752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U1 sales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2827325" y="3191598"/>
            <a:ext cx="1020470" cy="153191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35885" y="2981286"/>
            <a:ext cx="12033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$13.9bn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2662733" y="4873752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U2 sales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4473245" y="4723509"/>
            <a:ext cx="1020470" cy="67036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81805" y="4513197"/>
            <a:ext cx="12033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$-0.6bn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4308653" y="4873752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U1 profit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6119165" y="4493943"/>
            <a:ext cx="1020470" cy="229566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027725" y="4283631"/>
            <a:ext cx="12033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$2.1bn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5954573" y="4873752"/>
            <a:ext cx="134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U2 profit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universe created more value?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explains the profit gap?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Sales size is not value; conversion quality is value.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Growth-quality shift from Round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Both universes lost profit quality in Round 3; U1 crossed into loss.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4/20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689811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Metric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558491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1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107485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2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656478" y="1097280"/>
            <a:ext cx="225308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Teaching point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54480"/>
            <a:ext cx="168981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5727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Sales change from R2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558491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76779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+5.8%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107485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25773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+24.8%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656478" y="1554480"/>
            <a:ext cx="225308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74766" y="15727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U2 grew faster in R3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2011680"/>
            <a:ext cx="1689811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20299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Profit movement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558491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576779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$1.0bn → $-0.6bn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107485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25773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$3.4bn → $2.1bn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656478" y="2011680"/>
            <a:ext cx="2253082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74766" y="20299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U1 reversed into loss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868680" y="2468880"/>
            <a:ext cx="168981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6968" y="24871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ROS movement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558491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576779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6.8% → -3.9%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107485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25773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30.4% → 15.0%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656478" y="2468880"/>
            <a:ext cx="225308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74766" y="24871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Both lost conversion quality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68680" y="2926080"/>
            <a:ext cx="1689811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" y="29443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 movement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558491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76779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$3.6bn → $4.2bn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107485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125773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$0.5bn → $2.8bn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656478" y="2926080"/>
            <a:ext cx="2253082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674766" y="29443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U2 made a major R&amp;D step-up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universe made the better Round 3 trade-off?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When does investment become a trap?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Growth must be judged by the quality of cash it creates.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Top-team comparison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Grey leads U1 by coherence; Satyam leads U2 by conversion and credit.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5/20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2112264" cy="39188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Metric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980944" y="1097280"/>
            <a:ext cx="2464308" cy="39188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U1 leader: Grey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5445252" y="1097280"/>
            <a:ext cx="2464308" cy="39188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U2 leader: Satyam 2.0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68680" y="1489166"/>
            <a:ext cx="2112264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1507454"/>
            <a:ext cx="207568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TSR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980944" y="1489166"/>
            <a:ext cx="2464308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99232" y="1507454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18.6%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5445252" y="1489166"/>
            <a:ext cx="2464308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63540" y="1507454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31.4%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868680" y="1881051"/>
            <a:ext cx="2112264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6968" y="1899339"/>
            <a:ext cx="207568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Profit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980944" y="1881051"/>
            <a:ext cx="2464308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999232" y="1899339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$514m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445252" y="1881051"/>
            <a:ext cx="2464308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63540" y="1899339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$691m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2272937"/>
            <a:ext cx="2112264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2291225"/>
            <a:ext cx="207568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ROS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980944" y="2272937"/>
            <a:ext cx="2464308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999232" y="2291225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17.5%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5445252" y="2272937"/>
            <a:ext cx="2464308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63540" y="2291225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25.0%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2664823"/>
            <a:ext cx="2112264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2683111"/>
            <a:ext cx="207568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ROCE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980944" y="2664823"/>
            <a:ext cx="2464308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999232" y="2683111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23.4%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5445252" y="2664823"/>
            <a:ext cx="2464308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63540" y="2683111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32.5%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868680" y="3056709"/>
            <a:ext cx="2112264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86968" y="3074997"/>
            <a:ext cx="207568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Global share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2980944" y="3056709"/>
            <a:ext cx="2464308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999232" y="3074997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17.5%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5445252" y="3056709"/>
            <a:ext cx="2464308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63540" y="3074997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22.1%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868680" y="3448594"/>
            <a:ext cx="2112264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86968" y="3466882"/>
            <a:ext cx="207568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Credit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2980944" y="3448594"/>
            <a:ext cx="2464308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999232" y="3466882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5445252" y="3448594"/>
            <a:ext cx="2464308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463540" y="3466882"/>
            <a:ext cx="2427732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AA+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leader would you invest in?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additional evidence would you demand?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Leadership is a value system, not one metric.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 ecosystem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U2 has a broader positive-profit ecosystem.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6/20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2434073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8030" y="2434073"/>
            <a:ext cx="291563" cy="72492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6590" y="2223761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-348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793438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428293" y="2434073"/>
            <a:ext cx="291563" cy="534891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36853" y="2223761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-257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263701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1898556" y="2434073"/>
            <a:ext cx="291563" cy="944667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07116" y="2223761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-453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733964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368819" y="1812731"/>
            <a:ext cx="291563" cy="621342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77379" y="1602419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298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204227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839081" y="1362972"/>
            <a:ext cx="291563" cy="1071101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7641" y="1152660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514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2674489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309344" y="2434073"/>
            <a:ext cx="291563" cy="37512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17904" y="2223761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-18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144752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3779607" y="2434073"/>
            <a:ext cx="291563" cy="71662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88167" y="2223761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-344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 rot="2700000">
            <a:off x="3615015" y="359359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4572000" y="2982807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670450" y="2982807"/>
            <a:ext cx="321259" cy="467507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9010" y="2772495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-207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4505858" y="35935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188610" y="1421765"/>
            <a:ext cx="321259" cy="1561042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97170" y="1211453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691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5024018" y="35935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5706770" y="1492775"/>
            <a:ext cx="321259" cy="1490032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615330" y="1282463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660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5542178" y="35935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6224930" y="2733635"/>
            <a:ext cx="321259" cy="249172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133490" y="2523323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110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6060338" y="35935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6743090" y="1717448"/>
            <a:ext cx="321259" cy="1265359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51650" y="1507136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560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6578498" y="35935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7261250" y="2383623"/>
            <a:ext cx="321259" cy="599184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169810" y="2173311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265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 rot="2700000">
            <a:off x="7096658" y="35935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51" name="Text 49"/>
          <p:cNvSpPr/>
          <p:nvPr/>
        </p:nvSpPr>
        <p:spPr>
          <a:xfrm>
            <a:off x="896112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U1 has only two clear positive-profit teams: Grey and Big Bulls.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U2 has five profitable teams, with Green as the single loss case.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U2’s weakness is lower margin than Round 2, not collapse.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universe has more recoverable issues?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does the profit distribution reveal?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system is healthier when value creation is not confined to one outlier.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share and margin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U2 has more teams converting share into positive ROS.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7/20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1143000"/>
            <a:ext cx="324612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09125" y="3212235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14281" y="3189375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Green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3052108" y="2797492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157264" y="277463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Harshad Mehta Gang</a:t>
            </a:r>
            <a:endParaRPr lang="en-US" sz="520" dirty="0"/>
          </a:p>
        </p:txBody>
      </p:sp>
      <p:sp>
        <p:nvSpPr>
          <p:cNvPr id="15" name="Shape 13"/>
          <p:cNvSpPr/>
          <p:nvPr/>
        </p:nvSpPr>
        <p:spPr>
          <a:xfrm>
            <a:off x="3394392" y="3306789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99548" y="3283929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Lakshmi Chit Fund</a:t>
            </a:r>
            <a:endParaRPr lang="en-US" sz="520" dirty="0"/>
          </a:p>
        </p:txBody>
      </p:sp>
      <p:sp>
        <p:nvSpPr>
          <p:cNvPr id="17" name="Shape 15"/>
          <p:cNvSpPr/>
          <p:nvPr/>
        </p:nvSpPr>
        <p:spPr>
          <a:xfrm>
            <a:off x="2408107" y="1267566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13263" y="124470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Big Bulls</a:t>
            </a:r>
            <a:endParaRPr lang="en-US" sz="520" dirty="0"/>
          </a:p>
        </p:txBody>
      </p:sp>
      <p:sp>
        <p:nvSpPr>
          <p:cNvPr id="19" name="Shape 17"/>
          <p:cNvSpPr/>
          <p:nvPr/>
        </p:nvSpPr>
        <p:spPr>
          <a:xfrm>
            <a:off x="3620046" y="1197438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25202" y="117457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Grey</a:t>
            </a:r>
            <a:endParaRPr lang="en-US" sz="520" dirty="0"/>
          </a:p>
        </p:txBody>
      </p:sp>
      <p:sp>
        <p:nvSpPr>
          <p:cNvPr id="21" name="Shape 19"/>
          <p:cNvSpPr/>
          <p:nvPr/>
        </p:nvSpPr>
        <p:spPr>
          <a:xfrm>
            <a:off x="3298045" y="2295164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03201" y="227230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Akatsuki</a:t>
            </a:r>
            <a:endParaRPr lang="en-US" sz="520" dirty="0"/>
          </a:p>
        </p:txBody>
      </p:sp>
      <p:sp>
        <p:nvSpPr>
          <p:cNvPr id="23" name="Shape 21"/>
          <p:cNvSpPr/>
          <p:nvPr/>
        </p:nvSpPr>
        <p:spPr>
          <a:xfrm>
            <a:off x="1000939" y="3857510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06095" y="383465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Pink</a:t>
            </a:r>
            <a:endParaRPr lang="en-US" sz="520" dirty="0"/>
          </a:p>
        </p:txBody>
      </p:sp>
      <p:sp>
        <p:nvSpPr>
          <p:cNvPr id="25" name="Text 23"/>
          <p:cNvSpPr/>
          <p:nvPr/>
        </p:nvSpPr>
        <p:spPr>
          <a:xfrm>
            <a:off x="1851660" y="4178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U1 share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 rot="16200000">
            <a:off x="365760" y="26060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U1 ROS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617720" y="1143000"/>
            <a:ext cx="31546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704071" y="3937248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09227" y="39143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Green</a:t>
            </a:r>
            <a:endParaRPr lang="en-US" sz="520" dirty="0"/>
          </a:p>
        </p:txBody>
      </p:sp>
      <p:sp>
        <p:nvSpPr>
          <p:cNvPr id="30" name="Shape 28"/>
          <p:cNvSpPr/>
          <p:nvPr/>
        </p:nvSpPr>
        <p:spPr>
          <a:xfrm>
            <a:off x="6830031" y="1750527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35187" y="1727667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Satyam 2.0</a:t>
            </a:r>
            <a:endParaRPr lang="en-US" sz="520" dirty="0"/>
          </a:p>
        </p:txBody>
      </p:sp>
      <p:sp>
        <p:nvSpPr>
          <p:cNvPr id="32" name="Shape 30"/>
          <p:cNvSpPr/>
          <p:nvPr/>
        </p:nvSpPr>
        <p:spPr>
          <a:xfrm>
            <a:off x="7323520" y="2105576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428676" y="20827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Blues Clues</a:t>
            </a:r>
            <a:endParaRPr lang="en-US" sz="520" dirty="0"/>
          </a:p>
        </p:txBody>
      </p:sp>
      <p:sp>
        <p:nvSpPr>
          <p:cNvPr id="34" name="Shape 32"/>
          <p:cNvSpPr/>
          <p:nvPr/>
        </p:nvSpPr>
        <p:spPr>
          <a:xfrm>
            <a:off x="5134451" y="2772783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39607" y="2749923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Lehman Bros.</a:t>
            </a:r>
            <a:endParaRPr lang="en-US" sz="520" dirty="0"/>
          </a:p>
        </p:txBody>
      </p:sp>
      <p:sp>
        <p:nvSpPr>
          <p:cNvPr id="36" name="Shape 34"/>
          <p:cNvSpPr/>
          <p:nvPr/>
        </p:nvSpPr>
        <p:spPr>
          <a:xfrm>
            <a:off x="5602633" y="1277175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707789" y="1254315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T5S</a:t>
            </a:r>
            <a:endParaRPr lang="en-US" sz="520" dirty="0"/>
          </a:p>
        </p:txBody>
      </p:sp>
      <p:sp>
        <p:nvSpPr>
          <p:cNvPr id="38" name="Shape 36"/>
          <p:cNvSpPr/>
          <p:nvPr/>
        </p:nvSpPr>
        <p:spPr>
          <a:xfrm>
            <a:off x="6249548" y="2599026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54704" y="257616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SEBI's Watchlist</a:t>
            </a:r>
            <a:endParaRPr lang="en-US" sz="520" dirty="0"/>
          </a:p>
        </p:txBody>
      </p:sp>
      <p:sp>
        <p:nvSpPr>
          <p:cNvPr id="40" name="Text 38"/>
          <p:cNvSpPr/>
          <p:nvPr/>
        </p:nvSpPr>
        <p:spPr>
          <a:xfrm>
            <a:off x="5554980" y="4178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U2 share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 rot="16200000">
            <a:off x="4114800" y="26060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U2 ROS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universe owns more valuable share?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bought share too expensively?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Demand capture is valuable only when it produces positive margin.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investment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U2 moved from low R&amp;D in Round 2 to aggressive R&amp;D in Round 3.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8/20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971446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Metric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840126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1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389120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2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938114" y="1097280"/>
            <a:ext cx="1971446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Implication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54480"/>
            <a:ext cx="197144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5727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 total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840126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58414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$4.2bn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389120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07408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$2.8bn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938114" y="1554480"/>
            <a:ext cx="197144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56402" y="15727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U1 still higher absolute R&amp;D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2011680"/>
            <a:ext cx="1971446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20299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 as % sales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840126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58414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26.6%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389120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07408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20.3%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938114" y="2011680"/>
            <a:ext cx="1971446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56402" y="20299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Both meaningful but different mix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868680" y="2468880"/>
            <a:ext cx="197144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6968" y="24871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Profit result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840126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858414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$-0.6bn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389120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07408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$2.1bn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938114" y="2468880"/>
            <a:ext cx="197144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56402" y="24871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U2 absorbed R&amp;D better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68680" y="2926080"/>
            <a:ext cx="1971446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" y="29443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Credit damage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840126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858414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multiple C/CCC teams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389120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407408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mostly AA/A+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938114" y="2926080"/>
            <a:ext cx="1971446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56402" y="2944368"/>
            <a:ext cx="193487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U1 risk impact deeper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universe is buying future options more safely?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makes R&amp;D value creating?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R&amp;D needs market readiness and financing capacity.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cash discipline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U1 has a larger and broader inventory problem.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9/20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3429000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8030" y="2747759"/>
            <a:ext cx="291563" cy="68124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6590" y="2537447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605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793438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428293" y="3160826"/>
            <a:ext cx="291563" cy="268174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36853" y="2950514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238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263701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Harshad Mehta Gang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1898556" y="1469571"/>
            <a:ext cx="291563" cy="1959429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07116" y="1259259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1,739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733964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Lakshmi Chit Fund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368819" y="2847770"/>
            <a:ext cx="291563" cy="58123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77379" y="2637458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516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204227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Big Bulls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2839081" y="3311039"/>
            <a:ext cx="291563" cy="11796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7641" y="3100727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105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2674489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Grey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309344" y="3340432"/>
            <a:ext cx="291563" cy="8856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17904" y="3130120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79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144752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Akatsuki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3779607" y="2535880"/>
            <a:ext cx="291563" cy="8931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88167" y="2325568"/>
            <a:ext cx="47444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793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 rot="2700000">
            <a:off x="3615015" y="3502152"/>
            <a:ext cx="620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Pink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4572000" y="3429000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670450" y="1580070"/>
            <a:ext cx="321259" cy="184893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579010" y="1369758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658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4505858" y="350215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188610" y="3292785"/>
            <a:ext cx="321259" cy="136215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97170" y="3082473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48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5024018" y="350215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5706770" y="2680387"/>
            <a:ext cx="321259" cy="748613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615330" y="2470075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266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5542178" y="350215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6224930" y="2433697"/>
            <a:ext cx="321259" cy="995303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133490" y="2223385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354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6060338" y="350215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6743090" y="3412964"/>
            <a:ext cx="321259" cy="1828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51650" y="3202652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6578498" y="350215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7261250" y="1469571"/>
            <a:ext cx="321259" cy="1959429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169810" y="1259259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697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 rot="2700000">
            <a:off x="7096658" y="350215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51" name="Text 49"/>
          <p:cNvSpPr/>
          <p:nvPr/>
        </p:nvSpPr>
        <p:spPr>
          <a:xfrm>
            <a:off x="896112" y="3886200"/>
            <a:ext cx="6858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U1 inventory totals $4.07bn; U2 totals $2.03bn.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U1 inventory is spread across more teams.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U2 inventory is concentrated in SEBI, Green and Lehman.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false belief creates inventory?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Should teams cut price, production or features first?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Inventory is the balance-sheet trace of demand assumptions.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Credit-quality contrast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U1 has more severe rating weakness; U2 has broader investor credibility.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10/20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126541" cy="48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995221" y="1097280"/>
            <a:ext cx="2253082" cy="48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Strong ratings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248302" y="1097280"/>
            <a:ext cx="1760220" cy="48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Distress ratings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6008522" y="1097280"/>
            <a:ext cx="1901038" cy="48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Teaching signal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84960"/>
            <a:ext cx="1126541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603248"/>
            <a:ext cx="1089965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U1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1995221" y="1584960"/>
            <a:ext cx="2253082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013509" y="1603248"/>
            <a:ext cx="2216506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 AA, Grey AA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248302" y="1584960"/>
            <a:ext cx="176022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66590" y="1603248"/>
            <a:ext cx="1723644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 C, Lakshmi C, Pink CCC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6008522" y="1584960"/>
            <a:ext cx="1901038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26810" y="1603248"/>
            <a:ext cx="1864462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risk damage is broad-based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2072640"/>
            <a:ext cx="1126541" cy="4876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2090928"/>
            <a:ext cx="1089965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U2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1995221" y="2072640"/>
            <a:ext cx="2253082" cy="4876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3509" y="2090928"/>
            <a:ext cx="2216506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AA+, Lehman/SEBI/T5S AA-, Blues A+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248302" y="2072640"/>
            <a:ext cx="1760220" cy="4876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266590" y="2090928"/>
            <a:ext cx="1723644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 B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6008522" y="2072640"/>
            <a:ext cx="1901038" cy="48768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26810" y="2090928"/>
            <a:ext cx="1864462" cy="45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one main fragile case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896112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Credit quality is not a finance detail; it changes valuation.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U1 teams must repair credibility before growth.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U2 teams must prevent R&amp;D and inventory from weakening ratings.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risk is more recoverable?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a low-rated team prove?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Risk changes required return, and required return changes value.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ESG and sustainability performance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ESG leadership tracks financial leadership in U1, but not in U2.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11/20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689811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Metric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558491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1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107485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2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656478" y="1097280"/>
            <a:ext cx="225308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Teaching point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54480"/>
            <a:ext cx="168981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5727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Best E-score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558491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76779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 — 3.69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107485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25773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 — 3.66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656478" y="1554480"/>
            <a:ext cx="225308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74766" y="15727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Both leaders score just under 3.7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2011680"/>
            <a:ext cx="1689811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20299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Weakest E-score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558491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576779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Pink — 2.49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107485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25773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 — 2.36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656478" y="2011680"/>
            <a:ext cx="2253082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74766" y="20299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U2's own TSR leader scores lowest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868680" y="2468880"/>
            <a:ext cx="168981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6968" y="24871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Universe average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558491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576779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3.03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107485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25773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3.03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656478" y="2468880"/>
            <a:ext cx="225308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74766" y="24871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 near-exact tie on the scorecard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68680" y="2926080"/>
            <a:ext cx="1689811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" y="29443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Leader's ESG rank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558491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76779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Grey: 1st of 7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107485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125773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2.0: 6th of 6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656478" y="2926080"/>
            <a:ext cx="2253082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674766" y="29443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Aligned in U1; inverted in U2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Does the team you would invest in also make the product you would want your own family using?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does Satyam 2.0's last-place ESG rank say about how it won Round 3?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Coherence includes what a strategy does to the world, not only what it does to the balance sheet.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(ESG report)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creation and stakeholder capture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Both universes created similar total value; capture differed sharply.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12/20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689811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Metric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558491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1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107485" y="1097280"/>
            <a:ext cx="154899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Universe 2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656478" y="1097280"/>
            <a:ext cx="225308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Teaching point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54480"/>
            <a:ext cx="168981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5727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Total value distributed*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558491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76779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~$9.7bn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107485" y="15544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25773" y="15727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~$9.7bn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656478" y="1554480"/>
            <a:ext cx="225308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74766" y="15727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Almost the same size of pie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2011680"/>
            <a:ext cx="1689811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20299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Shareholders' share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558491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576779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-$0.6bn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107485" y="20116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25773" y="20299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$2.1bn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656478" y="2011680"/>
            <a:ext cx="2253082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74766" y="20299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U1 owners lost their entire claim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868680" y="2468880"/>
            <a:ext cx="1689811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6968" y="24871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Creditors' share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558491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576779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$1.05bn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107485" y="2468880"/>
            <a:ext cx="154899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25773" y="24871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~$0.0bn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656478" y="2468880"/>
            <a:ext cx="225308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74766" y="24871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U1 distress fed lenders, not owners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68680" y="2926080"/>
            <a:ext cx="1689811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" y="2944368"/>
            <a:ext cx="1653235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Suppliers' share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558491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76779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$6.6bn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107485" y="2926080"/>
            <a:ext cx="1548994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125773" y="2944368"/>
            <a:ext cx="151241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$5.3bn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656478" y="2926080"/>
            <a:ext cx="2253082" cy="45720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674766" y="2944368"/>
            <a:ext cx="221650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Suppliers captured the biggest share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If the pie was almost the same size, why did shareholders end up on opposite sides of zero?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quietly won Round 3 in Universe 1 — and it was not the shareholders?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Value creation and value capture are different questions; a strategy must answer both.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(value-creation report); *sum of shareholder, creditor, personnel, government and supplier distributions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lessons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Both universes show that regional fit beats global generalisation.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13/20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689811" cy="4800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Region insight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558491" y="1097280"/>
            <a:ext cx="1760220" cy="4800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U1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318711" y="1097280"/>
            <a:ext cx="1760220" cy="4800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U2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6078931" y="1097280"/>
            <a:ext cx="1830629" cy="4800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Teaching question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577340"/>
            <a:ext cx="1689811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595628"/>
            <a:ext cx="1653235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USA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558491" y="1577340"/>
            <a:ext cx="17602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76779" y="1595628"/>
            <a:ext cx="172364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 leads strongly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318711" y="1577340"/>
            <a:ext cx="17602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36999" y="1595628"/>
            <a:ext cx="172364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SEBI leads strongly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6078931" y="1577340"/>
            <a:ext cx="1830629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097219" y="1595628"/>
            <a:ext cx="1794053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What makes USA reward these choices?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2057400"/>
            <a:ext cx="1689811" cy="48006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2075688"/>
            <a:ext cx="1653235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Asia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558491" y="2057400"/>
            <a:ext cx="1760220" cy="48006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576779" y="2075688"/>
            <a:ext cx="172364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Akatsuki leads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318711" y="2057400"/>
            <a:ext cx="1760220" cy="48006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336999" y="2075688"/>
            <a:ext cx="172364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leads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6078931" y="2057400"/>
            <a:ext cx="1830629" cy="48006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97219" y="2075688"/>
            <a:ext cx="1794053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Is Asia a scale or technology market?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868680" y="2537460"/>
            <a:ext cx="1689811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6968" y="2555748"/>
            <a:ext cx="1653235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Europe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558491" y="2537460"/>
            <a:ext cx="17602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576779" y="2555748"/>
            <a:ext cx="172364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 dominates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318711" y="2537460"/>
            <a:ext cx="17602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336999" y="2555748"/>
            <a:ext cx="1723644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 dominates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6078931" y="2537460"/>
            <a:ext cx="1830629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097219" y="2555748"/>
            <a:ext cx="1794053" cy="4434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product-price fit won Europe?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region should each universe learn from?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Where did regional ambition outrun fit?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Treat regions as different business models.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archetypes across universes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Round 3 produced five useful managerial archetypes.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14/20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960120"/>
            <a:ext cx="14081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Archetype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276856" y="960120"/>
            <a:ext cx="17602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Examples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4037076" y="960120"/>
            <a:ext cx="17602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Concern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797296" y="960120"/>
            <a:ext cx="211226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Round 4 discipline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868680" y="1463040"/>
            <a:ext cx="140817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1481328"/>
            <a:ext cx="13716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Coherent leader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276856" y="1463040"/>
            <a:ext cx="1760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295144" y="148132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Grey / Satyam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037076" y="1463040"/>
            <a:ext cx="1760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055364" y="148132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Can it sustain advantage?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5797296" y="1463040"/>
            <a:ext cx="21122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15584" y="1481328"/>
            <a:ext cx="207568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Defend system coherence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868680" y="1965960"/>
            <a:ext cx="1408176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6968" y="1984248"/>
            <a:ext cx="13716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Margin specialist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2276856" y="1965960"/>
            <a:ext cx="1760220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95144" y="198424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Big Bulls / T5S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4037076" y="1965960"/>
            <a:ext cx="1760220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55364" y="198424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Can margin scale?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5797296" y="1965960"/>
            <a:ext cx="2112264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15584" y="1984248"/>
            <a:ext cx="207568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Grow selectively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868680" y="2468880"/>
            <a:ext cx="140817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86968" y="2487168"/>
            <a:ext cx="13716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Share without value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2276856" y="2468880"/>
            <a:ext cx="1760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295144" y="248716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Lakshmi / Blues partially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037076" y="2468880"/>
            <a:ext cx="1760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055364" y="248716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Can share convert?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797296" y="2468880"/>
            <a:ext cx="21122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15584" y="2487168"/>
            <a:ext cx="207568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Fix contribution economics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68680" y="2971800"/>
            <a:ext cx="1408176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6968" y="2990088"/>
            <a:ext cx="13716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Fragile recovery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2276856" y="2971800"/>
            <a:ext cx="1760220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295144" y="299008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 U1 / Green U2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4037076" y="2971800"/>
            <a:ext cx="1760220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055364" y="299008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Can risk repair?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797296" y="2971800"/>
            <a:ext cx="2112264" cy="502920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815584" y="2990088"/>
            <a:ext cx="207568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Cash and rating guardrails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868680" y="3474720"/>
            <a:ext cx="140817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86968" y="3493008"/>
            <a:ext cx="13716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Former leader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2276856" y="3474720"/>
            <a:ext cx="1760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295144" y="349300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Harshad / Lehman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4037076" y="3474720"/>
            <a:ext cx="1760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055364" y="3493008"/>
            <a:ext cx="172364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Can momentum return?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5797296" y="3474720"/>
            <a:ext cx="21122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815584" y="3493008"/>
            <a:ext cx="2075688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Prove current cash-flow quality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archetype is your team becoming?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discipline does that archetype require?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An archetype is a diagnosis, not an excuse.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Universe 1 can learn from Universe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U1 needs profit conversion and risk repair.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15/20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96112" y="1280160"/>
            <a:ext cx="6583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Do not let sales growth hide negative conversion.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Treat R&amp;D as a timed option, not a prestige signal.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Set inventory thresholds before deciding production.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Repair credit ratings before asking investors to believe in future growth.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U1 team needs U2-style discipline most?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metric should U1 check first?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The lesson is not to copy decisions; it is to copy conversion discipline.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Universe 2 can learn from Universe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U2 must not let current profit create complacency.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16/20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96112" y="1280160"/>
            <a:ext cx="6583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Profitability weakened from Round 2; discipline must be defended.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Lower distress does not mean no risk.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Blues Clues shows that a crisis can become a recovery platform.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T5S must test whether low R&amp;D is prudence or underinvestment.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U2 team may underinvest in technology?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signal should trigger R&amp;D acceleration?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Current profitability can become future fragility if technology transitions are missed.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Socratic question bank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Questions should force causal explanation, not defence.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17/20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05840"/>
            <a:ext cx="1548994" cy="39188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Theme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17674" y="1005840"/>
            <a:ext cx="5491886" cy="39188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Question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868680" y="1397726"/>
            <a:ext cx="1548994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1416014"/>
            <a:ext cx="151241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Growth quality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2417674" y="1397726"/>
            <a:ext cx="5491886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35962" y="1416014"/>
            <a:ext cx="5455310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universe created better growth, and what evidence proves it?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868680" y="1789611"/>
            <a:ext cx="1548994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807899"/>
            <a:ext cx="151241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Valuation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417674" y="1789611"/>
            <a:ext cx="5491886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35962" y="1807899"/>
            <a:ext cx="5455310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Why does a stronger operating case not always lead TSR?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68680" y="2181497"/>
            <a:ext cx="1548994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968" y="2199785"/>
            <a:ext cx="151241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417674" y="2181497"/>
            <a:ext cx="5491886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35962" y="2199785"/>
            <a:ext cx="5455310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Was investment timed to readiness or team anxiety?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868680" y="2573383"/>
            <a:ext cx="1548994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2591671"/>
            <a:ext cx="151241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Inventory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417674" y="2573383"/>
            <a:ext cx="5491886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35962" y="2591671"/>
            <a:ext cx="5455310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forecast error is visible on the balance sheet?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2965269"/>
            <a:ext cx="1548994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2983557"/>
            <a:ext cx="151241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Risk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417674" y="2965269"/>
            <a:ext cx="5491886" cy="3918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35962" y="2983557"/>
            <a:ext cx="5455310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teams must repair credibility before pursuing growth?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868680" y="3357154"/>
            <a:ext cx="1548994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968" y="3375442"/>
            <a:ext cx="1512418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Learning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2417674" y="3357154"/>
            <a:ext cx="5491886" cy="391886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435962" y="3375442"/>
            <a:ext cx="5455310" cy="3553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What did your universe learn faster than the other?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question creates the most uncomfortable learning?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answer changes your Round 4 plan?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The best question names the assumption and tests it against evidence.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classroom exercise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Make teams diagnose each other.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18/20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844906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Step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713586" y="1097280"/>
            <a:ext cx="619597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Instruction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868680" y="1536192"/>
            <a:ext cx="84490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1554480"/>
            <a:ext cx="80833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1713586" y="1536192"/>
            <a:ext cx="619597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31874" y="1554480"/>
            <a:ext cx="615939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Pair a strong U1 team with a strong U2 team, and a distressed U1 team with a distressed U2 team.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868680" y="1975104"/>
            <a:ext cx="844906" cy="43891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993392"/>
            <a:ext cx="80833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1713586" y="1975104"/>
            <a:ext cx="6195974" cy="43891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731874" y="1993392"/>
            <a:ext cx="615939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Each team states the other team’s strongest evidence-based insight.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68680" y="2414016"/>
            <a:ext cx="84490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968" y="2432304"/>
            <a:ext cx="80833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1713586" y="2414016"/>
            <a:ext cx="619597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731874" y="2432304"/>
            <a:ext cx="615939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Each team names one hidden risk in the other team’s strategy.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868680" y="2852928"/>
            <a:ext cx="844906" cy="43891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2871216"/>
            <a:ext cx="80833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1713586" y="2852928"/>
            <a:ext cx="6195974" cy="438912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731874" y="2871216"/>
            <a:ext cx="615939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Each team proposes one Round 4 decision rule for the other.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did another universe see that you missed?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hidden assumption must you test?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Peer diagnosis reduces self-defence and improves causal reasoning.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cross-universe checklist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Translate comparison into decision rules.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19/20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548994" cy="40494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Rule area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17674" y="1051560"/>
            <a:ext cx="5491886" cy="40494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Decision rule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868680" y="1456509"/>
            <a:ext cx="1548994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1474797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Demand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2417674" y="1456509"/>
            <a:ext cx="5491886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35962" y="1474797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Forecast by region and technology before production.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868680" y="1861457"/>
            <a:ext cx="1548994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879745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Price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417674" y="1861457"/>
            <a:ext cx="5491886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35962" y="1879745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Change price only after contribution logic is tested.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68680" y="2266406"/>
            <a:ext cx="1548994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968" y="2284694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417674" y="2266406"/>
            <a:ext cx="5491886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35962" y="2284694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Invest only when market readiness and cash capacity support timing.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868680" y="2671354"/>
            <a:ext cx="1548994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2689642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Inventory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417674" y="2671354"/>
            <a:ext cx="5491886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35962" y="2689642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Define a warning threshold before manufacturing.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3076303"/>
            <a:ext cx="1548994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3094591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Finance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417674" y="3076303"/>
            <a:ext cx="5491886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35962" y="3094591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Do not accept unplanned debt as a surprise.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868680" y="3481251"/>
            <a:ext cx="1548994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968" y="3499539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Region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2417674" y="3481251"/>
            <a:ext cx="5491886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435962" y="3499539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Defend, repair, attack or exit deliberately.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rule will your team adopt?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rule would have prevented your Round 3 error?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decision rule is the bridge from learning to execution.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strongest team is not the boldest. It is the most coherent.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U1 vs U2 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20/20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914400" y="129844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235"/>
                </a:solidFill>
              </a:rPr>
              <a:t>Coherence is the discipline of making all choices point in the same direction.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67665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Strategy, customer value, operations, finance, risk and valuation cannot be separated.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Round 3 rewards teams that convert ambition into cash-flow credibility.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Round 4 task is to turn evidence into decision rules.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your team stop doing?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your team do more deliberately?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Responsible general managers convert numbers into choices.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1 and Universe 2 Round 3 results workbooks + Round 2 decks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Global Challenge Debrief</dc:subject>
  <dc:creator>OpenAI</dc:creator>
  <cp:lastModifiedBy>OpenAI</cp:lastModifiedBy>
  <cp:revision>1</cp:revision>
  <dcterms:created xsi:type="dcterms:W3CDTF">2026-08-13T09:27:06Z</dcterms:created>
  <dcterms:modified xsi:type="dcterms:W3CDTF">2026-08-13T09:27:06Z</dcterms:modified>
</cp:coreProperties>
</file>