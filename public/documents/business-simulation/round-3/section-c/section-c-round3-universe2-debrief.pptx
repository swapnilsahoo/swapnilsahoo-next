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28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2 • Round 2 to Round 3 Comparative Debrief • GL Sec C Group July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143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235"/>
                </a:solidFill>
              </a:rPr>
              <a:t>Universe 2 stayed profitable, but Round 3 reduced its profit-quality advantage.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3327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R3 TSR leader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03327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Satyam 2.0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327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31.4% TSR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0604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7063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 leader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77063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Satyam 2.0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7063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$691m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34340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0799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Share leader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0799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Blues Clues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0799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25.2%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80760" y="192024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45352" y="206654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Warning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245352" y="23317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Green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45352" y="27614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loss + B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77824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Satyam 2.0 is treated as the Round 3 successor to Vijay Mallya based on workbook column continuity; please confirm if renamed differently.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Blues Clues recovered operationally from Round 2 distress, but not to TSR leadership.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R&amp;D rose sharply and profit conversion fell.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did Universe 2 preserve from Round 2?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did it lose?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Profit quality must be defended when strategy shifts from harvesting to investment.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movement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Sales rose strongly, but profit and ROS fell from Round 2 highs.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33272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Sales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33272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$13.9bn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3272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R2 $11.1bn | +24.8%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487168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51760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651760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$2.1bn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R2 $3.4bn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105656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70248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270248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15.0%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70248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30.4% | -15.4 pp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724144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888736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R&amp;D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888736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$2.8bn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88736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R2 $0.5bn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342632" y="11704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07224" y="13167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Inventory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507224" y="1581912"/>
            <a:ext cx="1088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$2.0bn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07224" y="2011680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R2 $1.6bn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96112" y="2514600"/>
            <a:ext cx="6949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Sales grew from $11.1bn to $13.9bn.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Profit fell from $3.38bn to $2.08bn; aggregate ROS fell from 30.4% to 15.0%.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R&amp;D step-up is the main strategic explanation to test.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this reinvestment or loss of discipline?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number tells the truth fastest?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Growth must be tested against conversion quality and option timing.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leaderboard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Satyam 2.0 leads TSR and profit; SEBI and Lehman remain strong but changed relative position.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3/22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694944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Rank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563624" y="1097280"/>
            <a:ext cx="2084832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648456" y="1097280"/>
            <a:ext cx="1042416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TSR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90872" y="1097280"/>
            <a:ext cx="1111910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Profit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802782" y="1097280"/>
            <a:ext cx="1250899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Market cap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7053682" y="1097280"/>
            <a:ext cx="764438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Credit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868680" y="1476103"/>
            <a:ext cx="694944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494391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1563624" y="1476103"/>
            <a:ext cx="2084832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81912" y="1494391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648456" y="1476103"/>
            <a:ext cx="1042416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66744" y="1494391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31.4%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690872" y="1476103"/>
            <a:ext cx="1111910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9160" y="1494391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$691m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802782" y="1476103"/>
            <a:ext cx="1250899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21070" y="1494391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$12.8bn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7053682" y="1476103"/>
            <a:ext cx="764438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71970" y="1494391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AA+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1854926"/>
            <a:ext cx="694944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1873214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563624" y="1854926"/>
            <a:ext cx="2084832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581912" y="1873214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SEBI's Watchlist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648456" y="1854926"/>
            <a:ext cx="1042416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66744" y="1873214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28.4%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690872" y="1854926"/>
            <a:ext cx="1111910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09160" y="1873214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$265m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802782" y="1854926"/>
            <a:ext cx="1250899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21070" y="1873214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$11.8bn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7053682" y="1854926"/>
            <a:ext cx="764438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071970" y="1873214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8680" y="2233749"/>
            <a:ext cx="694944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" y="2252037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1563624" y="2233749"/>
            <a:ext cx="2084832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81912" y="2252037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Lehman Bros.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3648456" y="2233749"/>
            <a:ext cx="1042416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66744" y="2252037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28.2%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4690872" y="2233749"/>
            <a:ext cx="1111910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09160" y="2252037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$110m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5802782" y="2233749"/>
            <a:ext cx="1250899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821070" y="2252037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$11.9bn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053682" y="2233749"/>
            <a:ext cx="764438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71970" y="2252037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2612571"/>
            <a:ext cx="694944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86968" y="2630859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1563624" y="2612571"/>
            <a:ext cx="2084832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581912" y="2630859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T5S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3648456" y="2612571"/>
            <a:ext cx="1042416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666744" y="2630859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23.4%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690872" y="2612571"/>
            <a:ext cx="1111910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709160" y="2630859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$560m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5802782" y="2612571"/>
            <a:ext cx="1250899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821070" y="2630859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$9.9bn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7053682" y="2612571"/>
            <a:ext cx="764438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071970" y="2630859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868680" y="2991394"/>
            <a:ext cx="694944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86968" y="3009682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1563624" y="2991394"/>
            <a:ext cx="2084832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581912" y="3009682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648456" y="2991394"/>
            <a:ext cx="1042416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66744" y="3009682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8.2%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4690872" y="2991394"/>
            <a:ext cx="1111910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709160" y="3009682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$660m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802782" y="2991394"/>
            <a:ext cx="1250899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821070" y="3009682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$9.6bn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7053682" y="2991394"/>
            <a:ext cx="764438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071970" y="3009682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A+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68680" y="3370217"/>
            <a:ext cx="694944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86968" y="3388505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1563624" y="3370217"/>
            <a:ext cx="2084832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581912" y="3388505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3648456" y="3370217"/>
            <a:ext cx="1042416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666744" y="3388505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6.3%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690872" y="3370217"/>
            <a:ext cx="1111910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709160" y="3388505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$-207m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5802782" y="3370217"/>
            <a:ext cx="1250899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821070" y="3388505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$6.8bn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7053682" y="3370217"/>
            <a:ext cx="764438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071970" y="3388505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did Satyam 2.0 overtake Lehman?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Blues Clues now a recovery case?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Rank is a symptom; the explanation lies in margin, share, risk and cash.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 movement: R2 → R3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Satyam 2.0 moves to first; Lehman falls from first to third despite remaining valuable.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4/22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1353312" y="8229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687A"/>
                </a:solidFill>
              </a:rPr>
              <a:t>Previous rank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382512" y="8229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687A"/>
                </a:solidFill>
              </a:rPr>
              <a:t>Current rank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24712" y="978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7498080" y="97840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1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24712" y="17465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498080" y="174650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124712" y="251460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3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498080" y="251460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3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124712" y="328269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4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498080" y="328269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4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124712" y="40507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5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498080" y="40507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5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24712" y="481888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498080" y="481888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6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901952" y="4123944"/>
            <a:ext cx="5029200" cy="768096"/>
          </a:xfrm>
          <a:prstGeom prst="line">
            <a:avLst/>
          </a:prstGeom>
          <a:noFill/>
          <a:ln w="12700">
            <a:solidFill>
              <a:srgbClr val="D92F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856232" y="4078224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85432" y="484632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41832" y="404164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7004304" y="480974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1901952" y="1819656"/>
            <a:ext cx="5029200" cy="-768096"/>
          </a:xfrm>
          <a:prstGeom prst="line">
            <a:avLst/>
          </a:prstGeom>
          <a:noFill/>
          <a:ln w="12700">
            <a:solidFill>
              <a:srgbClr val="F6A62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856232" y="1773936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885432" y="1005840"/>
            <a:ext cx="91440" cy="9144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1832" y="17373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182235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7004304" y="9692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182235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4" name="Shape 32"/>
          <p:cNvSpPr/>
          <p:nvPr/>
        </p:nvSpPr>
        <p:spPr>
          <a:xfrm>
            <a:off x="1901952" y="4892040"/>
            <a:ext cx="5029200" cy="-768096"/>
          </a:xfrm>
          <a:prstGeom prst="line">
            <a:avLst/>
          </a:prstGeom>
          <a:noFill/>
          <a:ln w="12700">
            <a:solidFill>
              <a:srgbClr val="2EAD6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856232" y="4846320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85432" y="4078224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41832" y="4809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7004304" y="40416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1901952" y="1051560"/>
            <a:ext cx="5029200" cy="1536192"/>
          </a:xfrm>
          <a:prstGeom prst="line">
            <a:avLst/>
          </a:prstGeom>
          <a:noFill/>
          <a:ln w="12700">
            <a:solidFill>
              <a:srgbClr val="D92F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856232" y="1005840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885432" y="2542032"/>
            <a:ext cx="91440" cy="91440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41832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7004304" y="25054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1901952" y="3355848"/>
            <a:ext cx="5029200" cy="0"/>
          </a:xfrm>
          <a:prstGeom prst="line">
            <a:avLst/>
          </a:prstGeom>
          <a:noFill/>
          <a:ln w="12700">
            <a:solidFill>
              <a:srgbClr val="58687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856232" y="3310128"/>
            <a:ext cx="91440" cy="91440"/>
          </a:xfrm>
          <a:prstGeom prst="ellipse">
            <a:avLst/>
          </a:prstGeom>
          <a:solidFill>
            <a:srgbClr val="58687A"/>
          </a:solidFill>
          <a:ln w="12700">
            <a:solidFill>
              <a:srgbClr val="58687A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885432" y="3310128"/>
            <a:ext cx="91440" cy="91440"/>
          </a:xfrm>
          <a:prstGeom prst="ellipse">
            <a:avLst/>
          </a:prstGeom>
          <a:solidFill>
            <a:srgbClr val="58687A"/>
          </a:solidFill>
          <a:ln w="12700">
            <a:solidFill>
              <a:srgbClr val="58687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41832" y="327355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7004304" y="32735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1901952" y="2587752"/>
            <a:ext cx="5029200" cy="-768096"/>
          </a:xfrm>
          <a:prstGeom prst="line">
            <a:avLst/>
          </a:prstGeom>
          <a:noFill/>
          <a:ln w="12700">
            <a:solidFill>
              <a:srgbClr val="2EAD6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856232" y="2542032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885432" y="1773936"/>
            <a:ext cx="91440" cy="91440"/>
          </a:xfrm>
          <a:prstGeom prst="ellipse">
            <a:avLst/>
          </a:prstGeom>
          <a:solidFill>
            <a:srgbClr val="2EAD64"/>
          </a:solidFill>
          <a:ln w="12700">
            <a:solidFill>
              <a:srgbClr val="2EAD64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41832" y="25054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53" name="Text 51"/>
          <p:cNvSpPr/>
          <p:nvPr/>
        </p:nvSpPr>
        <p:spPr>
          <a:xfrm>
            <a:off x="7004304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896112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Satyam 2.0: 2nd → 1st, with strong profit and AA+ rating.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SEBI: 3rd → 2nd, still a high-value contender.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Lehman: 1st → 3rd, lower current profit and lower ROS weakened momentum.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fall is a real deterioration and which is relative?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Lehman prove next?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Rank movement is relative; diagnose the economics behind the movement.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and profit comparison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Blues Clues leads sales, but Satyam 2.0 leads profit and TSR.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5/22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72922" y="2557533"/>
            <a:ext cx="340157" cy="734307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81482" y="2347221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1,391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80833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521562" y="1833912"/>
            <a:ext cx="340157" cy="1457928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30122" y="1623600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2,761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35697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2070202" y="1414054"/>
            <a:ext cx="340157" cy="1877786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78762" y="1203742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3,556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90561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618842" y="2377615"/>
            <a:ext cx="340157" cy="914225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27402" y="2167303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1,731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45425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3167482" y="2413313"/>
            <a:ext cx="340157" cy="878527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76042" y="2203001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1,664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300289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716122" y="1824041"/>
            <a:ext cx="340157" cy="1467799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24682" y="1613729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2,780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55153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4572000" y="2797218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70450" y="2797218"/>
            <a:ext cx="321259" cy="430106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9010" y="2586906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-207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 rot="2700000">
            <a:off x="450585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5188610" y="1361059"/>
            <a:ext cx="321259" cy="1436159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97170" y="1150747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691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502401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706770" y="1426389"/>
            <a:ext cx="321259" cy="1370829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15330" y="1216077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660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554217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6224930" y="2567980"/>
            <a:ext cx="321259" cy="229238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133490" y="2357668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110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606033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6743090" y="1633087"/>
            <a:ext cx="321259" cy="116413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51650" y="1422775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560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657849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7261250" y="2245969"/>
            <a:ext cx="321259" cy="551249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169810" y="2035657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265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709665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896112" y="3794760"/>
            <a:ext cx="6858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Blues Clues has the largest sales and highest share, but not the highest TSR.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Satyam converts growth into the strongest profit.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Green is the only loss-making team.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does largest sales not mean best strategy?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converts revenue most effectively?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Revenue is price × volume; value is revenue after cost, cash and risk.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Value-quality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Satyam has strong share and margin; Blues Clues has share but lower conversion.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6/22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960120" y="1234440"/>
            <a:ext cx="6126480" cy="3474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75192" y="4562039"/>
            <a:ext cx="100584" cy="100584"/>
          </a:xfrm>
          <a:prstGeom prst="ellipse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80348" y="4539179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Green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5303868" y="1965308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09024" y="19424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Satyam 2.0</a:t>
            </a:r>
            <a:endParaRPr lang="en-US" sz="520" dirty="0"/>
          </a:p>
        </p:txBody>
      </p:sp>
      <p:sp>
        <p:nvSpPr>
          <p:cNvPr id="15" name="Shape 13"/>
          <p:cNvSpPr/>
          <p:nvPr/>
        </p:nvSpPr>
        <p:spPr>
          <a:xfrm>
            <a:off x="6262239" y="2386929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67395" y="2364069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Blues Clues</a:t>
            </a:r>
            <a:endParaRPr lang="en-US" sz="520" dirty="0"/>
          </a:p>
        </p:txBody>
      </p:sp>
      <p:sp>
        <p:nvSpPr>
          <p:cNvPr id="17" name="Shape 15"/>
          <p:cNvSpPr/>
          <p:nvPr/>
        </p:nvSpPr>
        <p:spPr>
          <a:xfrm>
            <a:off x="2011003" y="3179237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116159" y="3156377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Lehman Bros.</a:t>
            </a:r>
            <a:endParaRPr lang="en-US" sz="520" dirty="0"/>
          </a:p>
        </p:txBody>
      </p:sp>
      <p:sp>
        <p:nvSpPr>
          <p:cNvPr id="19" name="Shape 17"/>
          <p:cNvSpPr/>
          <p:nvPr/>
        </p:nvSpPr>
        <p:spPr>
          <a:xfrm>
            <a:off x="2920227" y="1403203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25383" y="1380343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T5S</a:t>
            </a:r>
            <a:endParaRPr lang="en-US" sz="520" dirty="0"/>
          </a:p>
        </p:txBody>
      </p:sp>
      <p:sp>
        <p:nvSpPr>
          <p:cNvPr id="21" name="Shape 19"/>
          <p:cNvSpPr/>
          <p:nvPr/>
        </p:nvSpPr>
        <p:spPr>
          <a:xfrm>
            <a:off x="4176553" y="2972900"/>
            <a:ext cx="100584" cy="100584"/>
          </a:xfrm>
          <a:prstGeom prst="ellipse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81709" y="295004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182235"/>
                </a:solidFill>
              </a:rPr>
              <a:t>SEBI's Watchlist</a:t>
            </a:r>
            <a:endParaRPr lang="en-US" sz="520" dirty="0"/>
          </a:p>
        </p:txBody>
      </p:sp>
      <p:sp>
        <p:nvSpPr>
          <p:cNvPr id="23" name="Text 21"/>
          <p:cNvSpPr/>
          <p:nvPr/>
        </p:nvSpPr>
        <p:spPr>
          <a:xfrm>
            <a:off x="3383280" y="481888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Global market share (%)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 rot="16200000">
            <a:off x="457200" y="29718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687A"/>
                </a:solidFill>
              </a:rPr>
              <a:t>ROS (%)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896112" y="4983480"/>
            <a:ext cx="69494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T5S has the strongest ROS but smaller share.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Blues Clues has the strongest share but not the best ROS or TSR.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Green has negative ROS and the weakest TSR.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owns valuable share?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owns expensive share?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Share becomes valuable only when it creates margin and future cash.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battle map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Blues Clues dominates Europe; SEBI dominates USA; Satyam dominates Asia.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7/22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737360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606040" y="1051560"/>
            <a:ext cx="972922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USA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578962" y="1051560"/>
            <a:ext cx="972922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Asia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551883" y="1051560"/>
            <a:ext cx="972922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Europe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524805" y="1051560"/>
            <a:ext cx="2293315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Role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868680" y="1482634"/>
            <a:ext cx="1737360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6968" y="1500922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2606040" y="1482634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624328" y="1500922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9.1%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578962" y="1482634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97250" y="1500922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7.2%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4551883" y="1482634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0171" y="1500922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11.7%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524805" y="1482634"/>
            <a:ext cx="2293315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543093" y="1500922"/>
            <a:ext cx="2256739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1913709"/>
            <a:ext cx="1737360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1931997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06040" y="1913709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24328" y="1931997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21.7%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3578962" y="1913709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597250" y="1931997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26.0%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4551883" y="1913709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0171" y="1931997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13.0%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5524805" y="1913709"/>
            <a:ext cx="2293315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543093" y="1931997"/>
            <a:ext cx="2256739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Asia-led leader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868680" y="2344783"/>
            <a:ext cx="1737360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86968" y="2363071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2606040" y="2344783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624328" y="2363071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24.1%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3578962" y="2344783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597250" y="2363071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21.3%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4551883" y="2344783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70171" y="2363071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35.7%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5524805" y="2344783"/>
            <a:ext cx="2293315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543093" y="2363071"/>
            <a:ext cx="2256739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Europe/scale case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868680" y="2775857"/>
            <a:ext cx="1737360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86968" y="2794145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Lehman Bros.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2606040" y="2775857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624328" y="2794145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11.0%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3578962" y="2775857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597250" y="2794145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7.4%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4551883" y="2775857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570171" y="2794145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21.3%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5524805" y="2775857"/>
            <a:ext cx="2293315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543093" y="2794145"/>
            <a:ext cx="2256739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868680" y="3206931"/>
            <a:ext cx="1737360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86968" y="3225219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T5S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2606040" y="3206931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624328" y="3225219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8.2%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3578962" y="3206931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597250" y="3225219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21.0%</a:t>
            </a:r>
            <a:endParaRPr lang="en-US" sz="620" dirty="0"/>
          </a:p>
        </p:txBody>
      </p:sp>
      <p:sp>
        <p:nvSpPr>
          <p:cNvPr id="61" name="Shape 59"/>
          <p:cNvSpPr/>
          <p:nvPr/>
        </p:nvSpPr>
        <p:spPr>
          <a:xfrm>
            <a:off x="4551883" y="3206931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4570171" y="3225219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4.2%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5524805" y="3206931"/>
            <a:ext cx="2293315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5543093" y="3225219"/>
            <a:ext cx="2256739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mixed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868680" y="3638006"/>
            <a:ext cx="1737360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86968" y="3656294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SEBI's Watchlist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2606040" y="3638006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2624328" y="3656294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25.9%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3578962" y="3638006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3597250" y="3656294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17.0%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4551883" y="3638006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570171" y="3656294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14.0%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5524805" y="3638006"/>
            <a:ext cx="2293315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5543093" y="3656294"/>
            <a:ext cx="2256739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USA engine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region is your engine?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region is a trap?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Markets are strategic choices, not equal boxes to fill.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option timing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R&amp;D jumped to $2.81bn; the question is whether it bought future value.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8/22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72922" y="1778099"/>
            <a:ext cx="340157" cy="151374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81482" y="1567787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645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80833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521562" y="2652781"/>
            <a:ext cx="340157" cy="639059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30122" y="2442469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272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35697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2070202" y="2001053"/>
            <a:ext cx="340157" cy="1290787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78762" y="1790741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550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90561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618842" y="2118120"/>
            <a:ext cx="340157" cy="11737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27402" y="1907808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500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45425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3167482" y="3185254"/>
            <a:ext cx="340157" cy="10658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76042" y="2974942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45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300289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716122" y="1414054"/>
            <a:ext cx="340157" cy="187778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24682" y="1203742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800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55153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4572000" y="3166752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70450" y="3166752"/>
            <a:ext cx="321259" cy="108773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9010" y="2956440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-2.1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 rot="2700000">
            <a:off x="450585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5188610" y="1497318"/>
            <a:ext cx="321259" cy="1669433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97170" y="1287006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32.5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502401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706770" y="1851931"/>
            <a:ext cx="321259" cy="131482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15330" y="1641619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25.6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554217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6224930" y="2838052"/>
            <a:ext cx="321259" cy="3287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133490" y="2627740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6.4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606033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6743090" y="1400652"/>
            <a:ext cx="321259" cy="17661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51650" y="1190340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34.4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657849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7261250" y="2344990"/>
            <a:ext cx="321259" cy="821762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169810" y="2134678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16.0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709665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896112" y="3794760"/>
            <a:ext cx="6858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Green and SEBI made large R&amp;D bets but very different profits.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T5S spent least on R&amp;D and produced the highest ROS.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next round will reveal whether lower R&amp;D is prudence or underinvestment.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evidence makes R&amp;D value creating?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Who is underinvesting for future technologies?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R&amp;D is an option with an income-statement cost and a timing risk.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cash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Inventory is now concentrated in SEBI and Green.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9/22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329184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72922" y="1519949"/>
            <a:ext cx="340157" cy="177189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81482" y="1309637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658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 rot="2700000">
            <a:off x="80833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1521562" y="3161301"/>
            <a:ext cx="340157" cy="130539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30122" y="2950989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48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 rot="2700000">
            <a:off x="135697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2070202" y="2574419"/>
            <a:ext cx="340157" cy="717421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978762" y="2364107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266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 rot="2700000">
            <a:off x="190561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2618842" y="2338008"/>
            <a:ext cx="340157" cy="95383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527402" y="2127696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354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 rot="2700000">
            <a:off x="245425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3167482" y="3276472"/>
            <a:ext cx="340157" cy="1828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76042" y="3066160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 rot="2700000">
            <a:off x="300289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716122" y="1414054"/>
            <a:ext cx="340157" cy="187778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24682" y="1203742"/>
            <a:ext cx="5230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697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 rot="2700000">
            <a:off x="3551530" y="3364992"/>
            <a:ext cx="6693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4572000" y="2226383"/>
            <a:ext cx="310896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670450" y="2226383"/>
            <a:ext cx="321259" cy="926485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79010" y="2016071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-1,154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 rot="2700000">
            <a:off x="450585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Green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5188610" y="1936543"/>
            <a:ext cx="321259" cy="289839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97170" y="1726231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361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 rot="2700000">
            <a:off x="502401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Satyam 2.0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5706770" y="1508038"/>
            <a:ext cx="321259" cy="718345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15330" y="1297726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895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 rot="2700000">
            <a:off x="554217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Blues Clues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6224930" y="2226383"/>
            <a:ext cx="321259" cy="134257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133490" y="2016071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-167</a:t>
            </a:r>
            <a:endParaRPr lang="en-US" sz="580" dirty="0"/>
          </a:p>
        </p:txBody>
      </p:sp>
      <p:sp>
        <p:nvSpPr>
          <p:cNvPr id="41" name="Text 39"/>
          <p:cNvSpPr/>
          <p:nvPr/>
        </p:nvSpPr>
        <p:spPr>
          <a:xfrm rot="2700000">
            <a:off x="606033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Lehman Bros.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6743090" y="2226383"/>
            <a:ext cx="321259" cy="18288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51650" y="2016071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-16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 rot="2700000">
            <a:off x="657849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T5S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7261250" y="2226383"/>
            <a:ext cx="321259" cy="237648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169810" y="2016071"/>
            <a:ext cx="50413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82235"/>
                </a:solidFill>
              </a:rPr>
              <a:t>-296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 rot="2700000">
            <a:off x="7096658" y="3364992"/>
            <a:ext cx="6504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8687A"/>
                </a:solidFill>
              </a:rPr>
              <a:t>SEBI's Watchlist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896112" y="3794760"/>
            <a:ext cx="6858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Green has the deepest cash-flow before financing deficit.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Blues Clues generated strong pre-financing cash despite inventory.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SEBI remains profitable but inventory and short debt need watching.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When does inventory become false confidence?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needs a cash guardrail?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Cash flow is the test of whether accounting performance can survive.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and credit quality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Most U2 teams remain investment-grade; Green is the main weak credit case.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10/22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598371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67051" y="1051560"/>
            <a:ext cx="972922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ST debt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439973" y="1051560"/>
            <a:ext cx="972922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LT debt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412894" y="1051560"/>
            <a:ext cx="833933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Cash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246827" y="1051560"/>
            <a:ext cx="833933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Credit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6080760" y="1051560"/>
            <a:ext cx="1737360" cy="4310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Signal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868680" y="1482634"/>
            <a:ext cx="1598371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500922"/>
            <a:ext cx="1561795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467051" y="1482634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85339" y="1500922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$559m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439973" y="1482634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58261" y="1500922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$510m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412894" y="1482634"/>
            <a:ext cx="833933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31182" y="1500922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$1,288m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246827" y="1482634"/>
            <a:ext cx="833933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65115" y="1500922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6080760" y="1482634"/>
            <a:ext cx="1737360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099048" y="1500922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fragile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1913709"/>
            <a:ext cx="1598371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1931997"/>
            <a:ext cx="1561795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467051" y="1913709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85339" y="1931997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$0m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439973" y="1913709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458261" y="1931997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$510m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412894" y="1913709"/>
            <a:ext cx="833933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31182" y="1931997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$1,893m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246827" y="1913709"/>
            <a:ext cx="833933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265115" y="1931997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AA+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6080760" y="1913709"/>
            <a:ext cx="1737360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099048" y="1931997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strong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8680" y="2344783"/>
            <a:ext cx="1598371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" y="2363071"/>
            <a:ext cx="1561795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2467051" y="2344783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485339" y="2363071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$0m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3439973" y="2344783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58261" y="2363071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$1,510m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4412894" y="2344783"/>
            <a:ext cx="833933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431182" y="2363071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$2,083m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5246827" y="2344783"/>
            <a:ext cx="833933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265115" y="2363071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A+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6080760" y="2344783"/>
            <a:ext cx="1737360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099048" y="2363071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good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2775857"/>
            <a:ext cx="1598371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86968" y="2794145"/>
            <a:ext cx="1561795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Lehman Bros.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2467051" y="2775857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485339" y="2794145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$129m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3439973" y="2775857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458261" y="2794145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$410m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412894" y="2775857"/>
            <a:ext cx="833933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431182" y="2794145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$1,297m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5246827" y="2775857"/>
            <a:ext cx="833933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265115" y="2794145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6080760" y="2775857"/>
            <a:ext cx="1737360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099048" y="2794145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strong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868680" y="3206931"/>
            <a:ext cx="1598371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86968" y="3225219"/>
            <a:ext cx="1561795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T5S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67051" y="3206931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485339" y="3225219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$0m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439973" y="3206931"/>
            <a:ext cx="972922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458261" y="3225219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$710m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4412894" y="3206931"/>
            <a:ext cx="833933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431182" y="3225219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$1,544m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246827" y="3206931"/>
            <a:ext cx="833933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265115" y="3225219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6080760" y="3206931"/>
            <a:ext cx="1737360" cy="4310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099048" y="3225219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strong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68680" y="3638006"/>
            <a:ext cx="1598371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86968" y="3656294"/>
            <a:ext cx="1561795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SEBI's Watchlist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2467051" y="3638006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2485339" y="3656294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$530m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3439973" y="3638006"/>
            <a:ext cx="972922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458261" y="3656294"/>
            <a:ext cx="936346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$510m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412894" y="3638006"/>
            <a:ext cx="833933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431182" y="3656294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$1,408m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5246827" y="3638006"/>
            <a:ext cx="833933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265115" y="3656294"/>
            <a:ext cx="797357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6080760" y="3638006"/>
            <a:ext cx="1737360" cy="431074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6099048" y="3656294"/>
            <a:ext cx="1700784" cy="3944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strong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has the most recoverable risk?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How should Green rebuild credibility?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Credit quality is the market’s patience with future cash-flow claims.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ESG and sustainability leaderboard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Blues Clues leads ESG from mid-table TSR; Satyam 2.0 leads TSR from last on ESG.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11/22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694944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Rank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1563624" y="1097280"/>
            <a:ext cx="2084832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648456" y="1097280"/>
            <a:ext cx="1042416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E-score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690872" y="1097280"/>
            <a:ext cx="1111910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ESG reputation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802782" y="1097280"/>
            <a:ext cx="1250899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TSR rank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7053682" y="1097280"/>
            <a:ext cx="764438" cy="3788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Recyclability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868680" y="1476103"/>
            <a:ext cx="694944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494391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1563624" y="1476103"/>
            <a:ext cx="2084832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81912" y="1494391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3648456" y="1476103"/>
            <a:ext cx="1042416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66744" y="1494391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3.66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4690872" y="1476103"/>
            <a:ext cx="1111910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09160" y="1494391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3.61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5802782" y="1476103"/>
            <a:ext cx="1250899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21070" y="1494391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7053682" y="1476103"/>
            <a:ext cx="764438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71970" y="1494391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1854926"/>
            <a:ext cx="694944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1873214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1563624" y="1854926"/>
            <a:ext cx="2084832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581912" y="1873214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Lehman Bros.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648456" y="1854926"/>
            <a:ext cx="1042416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66744" y="1873214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3.49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4690872" y="1854926"/>
            <a:ext cx="1111910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09160" y="1873214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3.07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5802782" y="1854926"/>
            <a:ext cx="1250899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821070" y="1873214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38" name="Shape 36"/>
          <p:cNvSpPr/>
          <p:nvPr/>
        </p:nvSpPr>
        <p:spPr>
          <a:xfrm>
            <a:off x="7053682" y="1854926"/>
            <a:ext cx="764438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071970" y="1873214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Committed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868680" y="2233749"/>
            <a:ext cx="694944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86968" y="2252037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1563624" y="2233749"/>
            <a:ext cx="2084832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81912" y="2252037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SEBI's Watchlist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3648456" y="2233749"/>
            <a:ext cx="1042416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66744" y="2252037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3.13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4690872" y="2233749"/>
            <a:ext cx="1111910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09160" y="2252037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2.89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5802782" y="2233749"/>
            <a:ext cx="1250899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821070" y="2252037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053682" y="2233749"/>
            <a:ext cx="764438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71970" y="2252037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868680" y="2612571"/>
            <a:ext cx="694944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886968" y="2630859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54" name="Shape 52"/>
          <p:cNvSpPr/>
          <p:nvPr/>
        </p:nvSpPr>
        <p:spPr>
          <a:xfrm>
            <a:off x="1563624" y="2612571"/>
            <a:ext cx="2084832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581912" y="2630859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T5S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3648456" y="2612571"/>
            <a:ext cx="1042416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666744" y="2630859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3.03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4690872" y="2612571"/>
            <a:ext cx="1111910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709160" y="2630859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2.95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5802782" y="2612571"/>
            <a:ext cx="1250899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821070" y="2630859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7053682" y="2612571"/>
            <a:ext cx="764438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071970" y="2630859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868680" y="2991394"/>
            <a:ext cx="694944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86968" y="3009682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1563624" y="2991394"/>
            <a:ext cx="2084832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581912" y="3009682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3648456" y="2991394"/>
            <a:ext cx="1042416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3666744" y="3009682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2.52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4690872" y="2991394"/>
            <a:ext cx="1111910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709160" y="3009682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2.79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5802782" y="2991394"/>
            <a:ext cx="1250899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821070" y="3009682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7053682" y="2991394"/>
            <a:ext cx="764438" cy="3788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7071970" y="3009682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76" name="Shape 74"/>
          <p:cNvSpPr/>
          <p:nvPr/>
        </p:nvSpPr>
        <p:spPr>
          <a:xfrm>
            <a:off x="868680" y="3370217"/>
            <a:ext cx="694944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886968" y="3388505"/>
            <a:ext cx="658368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1563624" y="3370217"/>
            <a:ext cx="2084832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1581912" y="3388505"/>
            <a:ext cx="2048256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</a:t>
            </a:r>
            <a:endParaRPr lang="en-US" sz="620" dirty="0"/>
          </a:p>
        </p:txBody>
      </p:sp>
      <p:sp>
        <p:nvSpPr>
          <p:cNvPr id="80" name="Shape 78"/>
          <p:cNvSpPr/>
          <p:nvPr/>
        </p:nvSpPr>
        <p:spPr>
          <a:xfrm>
            <a:off x="3648456" y="3370217"/>
            <a:ext cx="1042416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666744" y="3388505"/>
            <a:ext cx="1005840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2.36</a:t>
            </a:r>
            <a:endParaRPr lang="en-US" sz="620" dirty="0"/>
          </a:p>
        </p:txBody>
      </p:sp>
      <p:sp>
        <p:nvSpPr>
          <p:cNvPr id="82" name="Shape 80"/>
          <p:cNvSpPr/>
          <p:nvPr/>
        </p:nvSpPr>
        <p:spPr>
          <a:xfrm>
            <a:off x="4690872" y="3370217"/>
            <a:ext cx="1111910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4709160" y="3388505"/>
            <a:ext cx="1075334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2.64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5802782" y="3370217"/>
            <a:ext cx="1250899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821070" y="3388505"/>
            <a:ext cx="1214323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86" name="Shape 84"/>
          <p:cNvSpPr/>
          <p:nvPr/>
        </p:nvSpPr>
        <p:spPr>
          <a:xfrm>
            <a:off x="7053682" y="3370217"/>
            <a:ext cx="764438" cy="378823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7071970" y="3388505"/>
            <a:ext cx="727862" cy="3422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No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does Universe 2's TSR leader finish last on ESG?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Should the board reward Satyam 2.0 without asking this question?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share-price winner is not automatically a coherent winner.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3 results workbook (ESG report)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relative scorecard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2 has several strong teams, but different types of strength.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12/22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945843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Team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814523" y="1051560"/>
            <a:ext cx="694944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Rank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509467" y="1051560"/>
            <a:ext cx="972922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Profit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4482389" y="1051560"/>
            <a:ext cx="903427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ROS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5385816" y="1051560"/>
            <a:ext cx="903427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ROCE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6289243" y="1051560"/>
            <a:ext cx="903427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Share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7192670" y="1051560"/>
            <a:ext cx="625450" cy="4441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Credit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868680" y="1495697"/>
            <a:ext cx="1945843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6968" y="1513985"/>
            <a:ext cx="1909267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2814523" y="1495697"/>
            <a:ext cx="694944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832811" y="1513985"/>
            <a:ext cx="658368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3509467" y="1495697"/>
            <a:ext cx="972922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527755" y="1513985"/>
            <a:ext cx="936346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$-207m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4482389" y="1495697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00677" y="1513985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-14.9%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5385816" y="1495697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04104" y="1513985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-2.1%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6289243" y="1495697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07531" y="1513985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8.6%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7192670" y="1495697"/>
            <a:ext cx="625450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210958" y="1513985"/>
            <a:ext cx="588874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1939834"/>
            <a:ext cx="1945843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1958122"/>
            <a:ext cx="1909267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 2.0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814523" y="1939834"/>
            <a:ext cx="694944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832811" y="1958122"/>
            <a:ext cx="658368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3509467" y="1939834"/>
            <a:ext cx="972922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527755" y="1958122"/>
            <a:ext cx="936346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$691m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4482389" y="1939834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00677" y="1958122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25.0%</a:t>
            </a:r>
            <a:endParaRPr lang="en-US" sz="620" dirty="0"/>
          </a:p>
        </p:txBody>
      </p:sp>
      <p:sp>
        <p:nvSpPr>
          <p:cNvPr id="39" name="Shape 37"/>
          <p:cNvSpPr/>
          <p:nvPr/>
        </p:nvSpPr>
        <p:spPr>
          <a:xfrm>
            <a:off x="5385816" y="1939834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04104" y="1958122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32.5%</a:t>
            </a:r>
            <a:endParaRPr lang="en-US" sz="620" dirty="0"/>
          </a:p>
        </p:txBody>
      </p:sp>
      <p:sp>
        <p:nvSpPr>
          <p:cNvPr id="41" name="Shape 39"/>
          <p:cNvSpPr/>
          <p:nvPr/>
        </p:nvSpPr>
        <p:spPr>
          <a:xfrm>
            <a:off x="6289243" y="1939834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307531" y="1958122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22.1%</a:t>
            </a:r>
            <a:endParaRPr lang="en-US" sz="620" dirty="0"/>
          </a:p>
        </p:txBody>
      </p:sp>
      <p:sp>
        <p:nvSpPr>
          <p:cNvPr id="43" name="Shape 41"/>
          <p:cNvSpPr/>
          <p:nvPr/>
        </p:nvSpPr>
        <p:spPr>
          <a:xfrm>
            <a:off x="7192670" y="1939834"/>
            <a:ext cx="625450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210958" y="1958122"/>
            <a:ext cx="588874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AA+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868680" y="2383971"/>
            <a:ext cx="1945843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86968" y="2402259"/>
            <a:ext cx="1909267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</a:t>
            </a:r>
            <a:endParaRPr lang="en-US" sz="620" dirty="0"/>
          </a:p>
        </p:txBody>
      </p:sp>
      <p:sp>
        <p:nvSpPr>
          <p:cNvPr id="47" name="Shape 45"/>
          <p:cNvSpPr/>
          <p:nvPr/>
        </p:nvSpPr>
        <p:spPr>
          <a:xfrm>
            <a:off x="2814523" y="2383971"/>
            <a:ext cx="694944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832811" y="2402259"/>
            <a:ext cx="658368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5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3509467" y="2383971"/>
            <a:ext cx="972922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527755" y="2402259"/>
            <a:ext cx="936346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$660m</a:t>
            </a:r>
            <a:endParaRPr lang="en-US" sz="620" dirty="0"/>
          </a:p>
        </p:txBody>
      </p:sp>
      <p:sp>
        <p:nvSpPr>
          <p:cNvPr id="51" name="Shape 49"/>
          <p:cNvSpPr/>
          <p:nvPr/>
        </p:nvSpPr>
        <p:spPr>
          <a:xfrm>
            <a:off x="4482389" y="2383971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500677" y="2402259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18.6%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5385816" y="2383971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404104" y="2402259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25.6%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6289243" y="2383971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307531" y="2402259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25.2%</a:t>
            </a:r>
            <a:endParaRPr lang="en-US" sz="620" dirty="0"/>
          </a:p>
        </p:txBody>
      </p:sp>
      <p:sp>
        <p:nvSpPr>
          <p:cNvPr id="57" name="Shape 55"/>
          <p:cNvSpPr/>
          <p:nvPr/>
        </p:nvSpPr>
        <p:spPr>
          <a:xfrm>
            <a:off x="7192670" y="2383971"/>
            <a:ext cx="625450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210958" y="2402259"/>
            <a:ext cx="588874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A+</a:t>
            </a:r>
            <a:endParaRPr lang="en-US" sz="620" dirty="0"/>
          </a:p>
        </p:txBody>
      </p:sp>
      <p:sp>
        <p:nvSpPr>
          <p:cNvPr id="59" name="Shape 57"/>
          <p:cNvSpPr/>
          <p:nvPr/>
        </p:nvSpPr>
        <p:spPr>
          <a:xfrm>
            <a:off x="868680" y="2828109"/>
            <a:ext cx="1945843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86968" y="2846397"/>
            <a:ext cx="1909267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Lehman Bros.</a:t>
            </a:r>
            <a:endParaRPr lang="en-US" sz="620" dirty="0"/>
          </a:p>
        </p:txBody>
      </p:sp>
      <p:sp>
        <p:nvSpPr>
          <p:cNvPr id="61" name="Shape 59"/>
          <p:cNvSpPr/>
          <p:nvPr/>
        </p:nvSpPr>
        <p:spPr>
          <a:xfrm>
            <a:off x="2814523" y="2828109"/>
            <a:ext cx="694944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832811" y="2846397"/>
            <a:ext cx="658368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3509467" y="2828109"/>
            <a:ext cx="972922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3527755" y="2846397"/>
            <a:ext cx="936346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$110m</a:t>
            </a:r>
            <a:endParaRPr lang="en-US" sz="620" dirty="0"/>
          </a:p>
        </p:txBody>
      </p:sp>
      <p:sp>
        <p:nvSpPr>
          <p:cNvPr id="65" name="Shape 63"/>
          <p:cNvSpPr/>
          <p:nvPr/>
        </p:nvSpPr>
        <p:spPr>
          <a:xfrm>
            <a:off x="4482389" y="2828109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4500677" y="2846397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6.4%</a:t>
            </a:r>
            <a:endParaRPr lang="en-US" sz="620" dirty="0"/>
          </a:p>
        </p:txBody>
      </p:sp>
      <p:sp>
        <p:nvSpPr>
          <p:cNvPr id="67" name="Shape 65"/>
          <p:cNvSpPr/>
          <p:nvPr/>
        </p:nvSpPr>
        <p:spPr>
          <a:xfrm>
            <a:off x="5385816" y="2828109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5404104" y="2846397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6.4%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6289243" y="2828109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307531" y="2846397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11.4%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7192670" y="2828109"/>
            <a:ext cx="625450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7210958" y="2846397"/>
            <a:ext cx="588874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868680" y="3272246"/>
            <a:ext cx="1945843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86968" y="3290534"/>
            <a:ext cx="1909267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T5S</a:t>
            </a:r>
            <a:endParaRPr lang="en-US" sz="620" dirty="0"/>
          </a:p>
        </p:txBody>
      </p:sp>
      <p:sp>
        <p:nvSpPr>
          <p:cNvPr id="75" name="Shape 73"/>
          <p:cNvSpPr/>
          <p:nvPr/>
        </p:nvSpPr>
        <p:spPr>
          <a:xfrm>
            <a:off x="2814523" y="3272246"/>
            <a:ext cx="694944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832811" y="3290534"/>
            <a:ext cx="658368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4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3509467" y="3272246"/>
            <a:ext cx="972922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527755" y="3290534"/>
            <a:ext cx="936346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$560m</a:t>
            </a:r>
            <a:endParaRPr lang="en-US" sz="620" dirty="0"/>
          </a:p>
        </p:txBody>
      </p:sp>
      <p:sp>
        <p:nvSpPr>
          <p:cNvPr id="79" name="Shape 77"/>
          <p:cNvSpPr/>
          <p:nvPr/>
        </p:nvSpPr>
        <p:spPr>
          <a:xfrm>
            <a:off x="4482389" y="3272246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4500677" y="3290534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33.7%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5385816" y="3272246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5404104" y="3290534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34.4%</a:t>
            </a:r>
            <a:endParaRPr lang="en-US" sz="620" dirty="0"/>
          </a:p>
        </p:txBody>
      </p:sp>
      <p:sp>
        <p:nvSpPr>
          <p:cNvPr id="83" name="Shape 81"/>
          <p:cNvSpPr/>
          <p:nvPr/>
        </p:nvSpPr>
        <p:spPr>
          <a:xfrm>
            <a:off x="6289243" y="3272246"/>
            <a:ext cx="903427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6307531" y="3290534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14.3%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7192670" y="3272246"/>
            <a:ext cx="625450" cy="44413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7210958" y="3290534"/>
            <a:ext cx="588874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87" name="Shape 85"/>
          <p:cNvSpPr/>
          <p:nvPr/>
        </p:nvSpPr>
        <p:spPr>
          <a:xfrm>
            <a:off x="868680" y="3716383"/>
            <a:ext cx="1945843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886968" y="3734671"/>
            <a:ext cx="1909267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SEBI's Watchlist</a:t>
            </a:r>
            <a:endParaRPr lang="en-US" sz="620" dirty="0"/>
          </a:p>
        </p:txBody>
      </p:sp>
      <p:sp>
        <p:nvSpPr>
          <p:cNvPr id="89" name="Shape 87"/>
          <p:cNvSpPr/>
          <p:nvPr/>
        </p:nvSpPr>
        <p:spPr>
          <a:xfrm>
            <a:off x="2814523" y="3716383"/>
            <a:ext cx="694944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2832811" y="3734671"/>
            <a:ext cx="658368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2</a:t>
            </a:r>
            <a:endParaRPr lang="en-US" sz="620" dirty="0"/>
          </a:p>
        </p:txBody>
      </p:sp>
      <p:sp>
        <p:nvSpPr>
          <p:cNvPr id="91" name="Shape 89"/>
          <p:cNvSpPr/>
          <p:nvPr/>
        </p:nvSpPr>
        <p:spPr>
          <a:xfrm>
            <a:off x="3509467" y="3716383"/>
            <a:ext cx="972922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3527755" y="3734671"/>
            <a:ext cx="936346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$265m</a:t>
            </a:r>
            <a:endParaRPr lang="en-US" sz="620" dirty="0"/>
          </a:p>
        </p:txBody>
      </p:sp>
      <p:sp>
        <p:nvSpPr>
          <p:cNvPr id="93" name="Shape 91"/>
          <p:cNvSpPr/>
          <p:nvPr/>
        </p:nvSpPr>
        <p:spPr>
          <a:xfrm>
            <a:off x="4482389" y="3716383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500677" y="3734671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9.5%</a:t>
            </a:r>
            <a:endParaRPr lang="en-US" sz="620" dirty="0"/>
          </a:p>
        </p:txBody>
      </p:sp>
      <p:sp>
        <p:nvSpPr>
          <p:cNvPr id="95" name="Shape 93"/>
          <p:cNvSpPr/>
          <p:nvPr/>
        </p:nvSpPr>
        <p:spPr>
          <a:xfrm>
            <a:off x="5385816" y="3716383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5404104" y="3734671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16.0%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6289243" y="3716383"/>
            <a:ext cx="903427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6307531" y="3734671"/>
            <a:ext cx="866851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18.4%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7192670" y="3716383"/>
            <a:ext cx="625450" cy="444137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7210958" y="3734671"/>
            <a:ext cx="588874" cy="4075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AA-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team is most coherent?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strong metric hides a weakness?</a:t>
            </a:r>
            <a:endParaRPr lang="en-US" sz="820" dirty="0"/>
          </a:p>
        </p:txBody>
      </p:sp>
      <p:sp>
        <p:nvSpPr>
          <p:cNvPr id="104" name="Shape 10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Coherence across metrics matters more than one extreme score.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Winner profile: Satyam 2.0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Satyam combines high TSR, profit, share and AA+ credit.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13/22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31.4%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38.3%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$691m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25.0%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32.5%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AA+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#1 cumulative TSR and profit leader.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Strong Asia share and good ROS/ROCE.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Must protect margin while managing future technology needs.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did Satyam get right?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Satyam protect first?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leader must defend the system, not only the metric.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High-value challenger: SEBI’s Watchlist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SEBI remains valuable but inventory and debt require attention.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14/22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28.4%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34.7%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$265m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9.5%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16.0%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AA-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#2 TSR and strong market capitalisation.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Profit is positive but ROS fell from Round 2 peak.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Inventory and short-term debt reduce clean valuation quality.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Why is SEBI not the TSR leader?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risk should SEBI repair first?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Profit leadership does not settle valuation when cash and inventory are uncertain.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Former leader profile: Lehman Bros.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Lehman remains strong but lost Round 2 leadership momentum.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15/22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28.2%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48.2%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$110m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6.4%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6.4%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AA-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Rank fell from 1st to 3rd.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Credit remains AA-, but current profit is modest.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Europe strength is a platform to rebuild momentum.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Was Lehman’s fall structural or temporary?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Lehman prove in Round 4?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former leader must renew evidence, not rely on reputation.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Recovery profile: Blues Clues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Blues Clues moved from distress to a serious share-and-profit platform.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16/22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8.2%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R2 -31.7%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$660m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18.6%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25.6%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Largest sales and highest global share.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Positive profit and A+ credit signal a major repair from Round 2.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Still not TSR leader, so investor confidence is not fully restored.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part of the causal chain recovered first?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must Blues Clues repair next?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recovery is credible only when margin, cash and risk keep improving.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 profile: T5S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T5S is the margin specialist with disciplined execution.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17/22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23.4%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27.6%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$560m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33.7%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AD64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34.4%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AA-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Highest ROS and ROCE in the universe.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Low R&amp;D and clean inventory support current profit.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Must test whether discipline becomes technology underinvestment.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Is T5S prudent or conservative?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When should T5S accelerate R&amp;D?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Efficiency is powerful until the technology curve moves away.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Warning profile: Green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Green is the only loss-making and B-rated team in U2.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18/22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41248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A5A5"/>
                </a:solidFill>
              </a:rPr>
              <a:t>TSR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6.3%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R2 25.6%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31720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96312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Profit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496312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$-207m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96312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current round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986784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-14.9%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86784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sales conversion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12664" y="1097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77256" y="1243584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2F55"/>
                </a:solidFill>
              </a:rPr>
              <a:t>ROCE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477256" y="15087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-2.1%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938528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capital quality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12344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67728" y="124358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6A623"/>
                </a:solidFill>
              </a:rPr>
              <a:t>Credit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967728" y="150876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235"/>
                </a:solidFill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67728" y="1938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8687A"/>
                </a:solidFill>
              </a:rPr>
              <a:t>risk signal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59536" y="2514600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Negative profit, ROS and ROCE.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Large inventory and negative cash flow before financing.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Needs immediate conversion and risk repair.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Where did Green’s chain break first?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should Green stop doing immediately?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weak credit story must first produce credible operating evidence.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Round 3 rewarded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2 rewarded conversion and selective risk discipline.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19/22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61940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Reward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88082" y="1097280"/>
            <a:ext cx="2534717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Evidence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5022799" y="1097280"/>
            <a:ext cx="2886761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Principle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68680" y="1572768"/>
            <a:ext cx="161940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1591056"/>
            <a:ext cx="158282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Balanced conversion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488082" y="1572768"/>
            <a:ext cx="2534717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06370" y="1591056"/>
            <a:ext cx="249814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Satyam: profit + share + AA+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5022799" y="1572768"/>
            <a:ext cx="288676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41087" y="1591056"/>
            <a:ext cx="2850185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Growth must convert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868680" y="2048256"/>
            <a:ext cx="1619402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6968" y="2066544"/>
            <a:ext cx="158282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Margin discipline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488082" y="2048256"/>
            <a:ext cx="2534717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06370" y="2066544"/>
            <a:ext cx="249814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T5S: strongest ROS/ROCE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022799" y="2048256"/>
            <a:ext cx="2886761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41087" y="2066544"/>
            <a:ext cx="2850185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Efficiency can outrank scale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2523744"/>
            <a:ext cx="161940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2542032"/>
            <a:ext cx="158282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Recovery execution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488082" y="2523744"/>
            <a:ext cx="2534717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06370" y="2542032"/>
            <a:ext cx="249814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Clues: share + profit + A+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5022799" y="2523744"/>
            <a:ext cx="288676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41087" y="2542032"/>
            <a:ext cx="2850185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Repair must be measurable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2999232"/>
            <a:ext cx="1619402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3017520"/>
            <a:ext cx="158282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Risk control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88082" y="2999232"/>
            <a:ext cx="2534717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06370" y="3017520"/>
            <a:ext cx="2498141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Most teams AA/A+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5022799" y="2999232"/>
            <a:ext cx="2886761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041087" y="3017520"/>
            <a:ext cx="2850185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Credit protects valuation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reward can your team replicate?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reward may be temporary?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Good strategy is a pattern of mutually reinforcing choices.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Round 3 punished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The market punished lower conversion after higher spending.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20/22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97280"/>
            <a:ext cx="17602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Penalty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628900" y="1097280"/>
            <a:ext cx="2464308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Evidence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5093208" y="1097280"/>
            <a:ext cx="2816352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Round 4 implication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68680" y="1572768"/>
            <a:ext cx="17602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1591056"/>
            <a:ext cx="17236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 without current payoff</a:t>
            </a:r>
            <a:endParaRPr lang="en-US" sz="620" dirty="0"/>
          </a:p>
        </p:txBody>
      </p:sp>
      <p:sp>
        <p:nvSpPr>
          <p:cNvPr id="15" name="Shape 13"/>
          <p:cNvSpPr/>
          <p:nvPr/>
        </p:nvSpPr>
        <p:spPr>
          <a:xfrm>
            <a:off x="2628900" y="1572768"/>
            <a:ext cx="24643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647188" y="1591056"/>
            <a:ext cx="24277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 rose to $2.81bn</a:t>
            </a:r>
            <a:endParaRPr lang="en-US" sz="620" dirty="0"/>
          </a:p>
        </p:txBody>
      </p:sp>
      <p:sp>
        <p:nvSpPr>
          <p:cNvPr id="17" name="Shape 15"/>
          <p:cNvSpPr/>
          <p:nvPr/>
        </p:nvSpPr>
        <p:spPr>
          <a:xfrm>
            <a:off x="5093208" y="1572768"/>
            <a:ext cx="28163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11496" y="1591056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Track option evidence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868680" y="2048256"/>
            <a:ext cx="1760220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6968" y="2066544"/>
            <a:ext cx="17236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Inventory/cash pressure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628900" y="2048256"/>
            <a:ext cx="2464308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47188" y="2066544"/>
            <a:ext cx="24277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 and SEBI high inventory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5093208" y="2048256"/>
            <a:ext cx="2816352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11496" y="2066544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Set stock guardrails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868680" y="2523744"/>
            <a:ext cx="17602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6968" y="2542032"/>
            <a:ext cx="17236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Sales without TSR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28900" y="2523744"/>
            <a:ext cx="24643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647188" y="2542032"/>
            <a:ext cx="24277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Blues leads sales, ranks 5th TSR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5093208" y="2523744"/>
            <a:ext cx="28163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11496" y="2542032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Restore valuation trust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868680" y="2999232"/>
            <a:ext cx="1760220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3017520"/>
            <a:ext cx="17236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Weak credit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628900" y="2999232"/>
            <a:ext cx="2464308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47188" y="3017520"/>
            <a:ext cx="24277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Green B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5093208" y="2999232"/>
            <a:ext cx="2816352" cy="475488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111496" y="3017520"/>
            <a:ext cx="2779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Stabilise before growth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penalty is easiest to reverse?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will constrain later rounds?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Recovery begins by identifying which decisions remain controllable.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4 decision checklist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Defend profit quality while investing for future readiness.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21/22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868680" y="1051560"/>
            <a:ext cx="1548994" cy="40494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Area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2417674" y="1051560"/>
            <a:ext cx="5491886" cy="40494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8687A"/>
                </a:solidFill>
              </a:rPr>
              <a:t>First-principles question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868680" y="1456509"/>
            <a:ext cx="1548994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6968" y="1474797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Demand</a:t>
            </a:r>
            <a:endParaRPr lang="en-US" sz="620" dirty="0"/>
          </a:p>
        </p:txBody>
      </p:sp>
      <p:sp>
        <p:nvSpPr>
          <p:cNvPr id="14" name="Shape 12"/>
          <p:cNvSpPr/>
          <p:nvPr/>
        </p:nvSpPr>
        <p:spPr>
          <a:xfrm>
            <a:off x="2417674" y="1456509"/>
            <a:ext cx="5491886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435962" y="1474797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region showed real willingness to buy?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868680" y="1861457"/>
            <a:ext cx="1548994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1879745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Price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2417674" y="1861457"/>
            <a:ext cx="5491886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435962" y="1879745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price protects contribution?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868680" y="2266406"/>
            <a:ext cx="1548994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86968" y="2284694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R&amp;D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417674" y="2266406"/>
            <a:ext cx="5491886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435962" y="2284694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technology option needs evidence now?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868680" y="2671354"/>
            <a:ext cx="1548994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86968" y="2689642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Production</a:t>
            </a:r>
            <a:endParaRPr lang="en-US" sz="620" dirty="0"/>
          </a:p>
        </p:txBody>
      </p:sp>
      <p:sp>
        <p:nvSpPr>
          <p:cNvPr id="26" name="Shape 24"/>
          <p:cNvSpPr/>
          <p:nvPr/>
        </p:nvSpPr>
        <p:spPr>
          <a:xfrm>
            <a:off x="2417674" y="2671354"/>
            <a:ext cx="5491886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35962" y="2689642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Where is inventory warning us?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868680" y="3076303"/>
            <a:ext cx="1548994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6968" y="3094591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Finance</a:t>
            </a:r>
            <a:endParaRPr lang="en-US" sz="620" dirty="0"/>
          </a:p>
        </p:txBody>
      </p:sp>
      <p:sp>
        <p:nvSpPr>
          <p:cNvPr id="30" name="Shape 28"/>
          <p:cNvSpPr/>
          <p:nvPr/>
        </p:nvSpPr>
        <p:spPr>
          <a:xfrm>
            <a:off x="2417674" y="3076303"/>
            <a:ext cx="5491886" cy="40494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435962" y="3094591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Will credit quality survive the plan?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868680" y="3481251"/>
            <a:ext cx="1548994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6968" y="3499539"/>
            <a:ext cx="1512418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Region</a:t>
            </a:r>
            <a:endParaRPr lang="en-US" sz="620" dirty="0"/>
          </a:p>
        </p:txBody>
      </p:sp>
      <p:sp>
        <p:nvSpPr>
          <p:cNvPr id="34" name="Shape 32"/>
          <p:cNvSpPr/>
          <p:nvPr/>
        </p:nvSpPr>
        <p:spPr>
          <a:xfrm>
            <a:off x="2417674" y="3481251"/>
            <a:ext cx="5491886" cy="404949"/>
          </a:xfrm>
          <a:prstGeom prst="rect">
            <a:avLst/>
          </a:prstGeom>
          <a:solidFill>
            <a:srgbClr val="F1F5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435962" y="3499539"/>
            <a:ext cx="5455310" cy="3683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82235"/>
                </a:solidFill>
              </a:rPr>
              <a:t>Which market should be defended or repaired?</a:t>
            </a:r>
            <a:endParaRPr lang="en-US" sz="620" dirty="0"/>
          </a:p>
        </p:txBody>
      </p:sp>
      <p:sp>
        <p:nvSpPr>
          <p:cNvPr id="36" name="Shape 34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Which single guardrail will you set?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your team not repeat?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decision rule converts learning into disciplined action.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D92F55"/>
          </a:solidFill>
          <a:ln w="12700">
            <a:solidFill>
              <a:srgbClr val="D92F5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84048" y="0"/>
            <a:ext cx="73152" cy="68580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0"/>
            <a:ext cx="73152" cy="6858000"/>
          </a:xfrm>
          <a:prstGeom prst="rect">
            <a:avLst/>
          </a:prstGeom>
          <a:solidFill>
            <a:srgbClr val="00A5A5"/>
          </a:solidFill>
          <a:ln w="12700">
            <a:solidFill>
              <a:srgbClr val="00A5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2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87A"/>
                </a:solidFill>
              </a:rPr>
              <a:t>Universe 2 still has profit quality, but it must defend it.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149840" y="256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GL Sec C • U2 R2→R3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567160" y="2560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58687A"/>
                </a:solidFill>
              </a:rPr>
              <a:t>22/22</a:t>
            </a:r>
            <a:endParaRPr lang="en-US" sz="55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235"/>
                </a:solidFill>
              </a:rPr>
              <a:t>Do not let investment erase conversion discipline.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" y="2176272"/>
            <a:ext cx="67665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Round 3 did not destroy Universe 2’s strength, but it diluted it.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The next challenge is to convert R&amp;D and market share into sustainable cash flow.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• Every team needs one Round 4 guardrail.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366760" y="1115568"/>
            <a:ext cx="318211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40496" y="12801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A5A5"/>
                </a:solidFill>
              </a:rPr>
              <a:t>Teaching question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40496" y="1536192"/>
            <a:ext cx="27432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your team preserve?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82235"/>
                </a:solidFill>
              </a:rPr>
              <a:t>› What will it redesign?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366760" y="2651760"/>
            <a:ext cx="3182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C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40496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6A623"/>
                </a:solidFill>
              </a:rPr>
              <a:t>First-principles prompt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40496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5"/>
                </a:solidFill>
              </a:rPr>
              <a:t>A sustainable leader invests without losing conversion quality.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" y="6601968"/>
            <a:ext cx="10789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58687A"/>
                </a:solidFill>
              </a:rPr>
              <a:t>Source: Section C Universe 2 Round 2 deck + Round 3 results workbook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Global Challenge Debrief</dc:subject>
  <dc:creator>OpenAI</dc:creator>
  <cp:lastModifiedBy>OpenAI</cp:lastModifiedBy>
  <cp:revision>1</cp:revision>
  <dcterms:created xsi:type="dcterms:W3CDTF">2026-08-13T09:27:06Z</dcterms:created>
  <dcterms:modified xsi:type="dcterms:W3CDTF">2026-08-13T09:27:06Z</dcterms:modified>
</cp:coreProperties>
</file>