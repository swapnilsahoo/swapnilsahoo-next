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$bn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9.095963657841077</c:v>
                </c:pt>
                <c:pt idx="1">
                  <c:v>10.413590193509942</c:v>
                </c:pt>
                <c:pt idx="2">
                  <c:v>10.388077436136232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$bn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0.533532095909353</c:v>
                </c:pt>
                <c:pt idx="1">
                  <c:v>1.2565749424181467</c:v>
                </c:pt>
                <c:pt idx="2">
                  <c:v>1.0470430845382253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$bn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1.1468298035324684</c:v>
                </c:pt>
                <c:pt idx="1">
                  <c:v>1.16460762039281</c:v>
                </c:pt>
                <c:pt idx="2">
                  <c:v>1.7158960338837728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cap $bn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41.66602044425083</c:v>
                </c:pt>
                <c:pt idx="1">
                  <c:v>40.704264244305705</c:v>
                </c:pt>
                <c:pt idx="2">
                  <c:v>39.20314995035777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974.626880605837</c:v>
                </c:pt>
                <c:pt idx="1">
                  <c:v>1913.05617841212</c:v>
                </c:pt>
                <c:pt idx="2">
                  <c:v>1488.84741202277</c:v>
                </c:pt>
                <c:pt idx="3">
                  <c:v>1605.35018515485</c:v>
                </c:pt>
                <c:pt idx="4">
                  <c:v>1214.9094234305398</c:v>
                </c:pt>
                <c:pt idx="5">
                  <c:v>1899.17357821496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2381.98359869903</c:v>
                </c:pt>
                <c:pt idx="1">
                  <c:v>1698.34236420683</c:v>
                </c:pt>
                <c:pt idx="2">
                  <c:v>964.486804975792</c:v>
                </c:pt>
                <c:pt idx="3">
                  <c:v>2208.60694943948</c:v>
                </c:pt>
                <c:pt idx="4">
                  <c:v>1260.86433024391</c:v>
                </c:pt>
                <c:pt idx="5">
                  <c:v>1899.3061459449002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2724.5681222030503</c:v>
                </c:pt>
                <c:pt idx="1">
                  <c:v>1339.35039280295</c:v>
                </c:pt>
                <c:pt idx="2">
                  <c:v>502.57775049773204</c:v>
                </c:pt>
                <c:pt idx="3">
                  <c:v>1885.86341114679</c:v>
                </c:pt>
                <c:pt idx="4">
                  <c:v>1990.71469766095</c:v>
                </c:pt>
                <c:pt idx="5">
                  <c:v>1945.00306182476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R1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-903.28876161626</c:v>
                </c:pt>
                <c:pt idx="1">
                  <c:v>373.65231102947</c:v>
                </c:pt>
                <c:pt idx="2">
                  <c:v>318.804869491923</c:v>
                </c:pt>
                <c:pt idx="3">
                  <c:v>366.002817755925</c:v>
                </c:pt>
                <c:pt idx="4">
                  <c:v>164.837576857418</c:v>
                </c:pt>
                <c:pt idx="5">
                  <c:v>213.523282390877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R2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157.621905486746</c:v>
                </c:pt>
                <c:pt idx="1">
                  <c:v>407.866357271099</c:v>
                </c:pt>
                <c:pt idx="2">
                  <c:v>197.50972273459698</c:v>
                </c:pt>
                <c:pt idx="3">
                  <c:v>60.06215970969291</c:v>
                </c:pt>
                <c:pt idx="4">
                  <c:v>45.967454870439795</c:v>
                </c:pt>
                <c:pt idx="5">
                  <c:v>387.547342345572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 R3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331.320463776147</c:v>
                </c:pt>
                <c:pt idx="1">
                  <c:v>368.629177900322</c:v>
                </c:pt>
                <c:pt idx="2">
                  <c:v>-258.731653087635</c:v>
                </c:pt>
                <c:pt idx="3">
                  <c:v>45.1652816068213</c:v>
                </c:pt>
                <c:pt idx="4">
                  <c:v>448.826148030917</c:v>
                </c:pt>
                <c:pt idx="5">
                  <c:v>111.83366631165299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 R2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342.62</c:v>
                </c:pt>
                <c:pt idx="1">
                  <c:v>55</c:v>
                </c:pt>
                <c:pt idx="2">
                  <c:v>63.8</c:v>
                </c:pt>
                <c:pt idx="3">
                  <c:v>581.311</c:v>
                </c:pt>
                <c:pt idx="4">
                  <c:v>271.311</c:v>
                </c:pt>
                <c:pt idx="5">
                  <c:v>266.443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R&amp;D R3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0</c:v>
                </c:pt>
                <c:pt idx="2">
                  <c:v>205</c:v>
                </c:pt>
                <c:pt idx="3">
                  <c:v>569.249</c:v>
                </c:pt>
                <c:pt idx="4">
                  <c:v>220</c:v>
                </c:pt>
                <c:pt idx="5">
                  <c:v>596.925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ROS 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12.1604764100464</c:v>
                </c:pt>
                <c:pt idx="1">
                  <c:v>27.5229827744229</c:v>
                </c:pt>
                <c:pt idx="2">
                  <c:v>-51.4809206797154</c:v>
                </c:pt>
                <c:pt idx="3">
                  <c:v>2.39493917427225</c:v>
                </c:pt>
                <c:pt idx="4">
                  <c:v>22.5459805243956</c:v>
                </c:pt>
                <c:pt idx="5">
                  <c:v>5.74979384385817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ROCE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10.9801120998192</c:v>
                </c:pt>
                <c:pt idx="1">
                  <c:v>20.1767031096553</c:v>
                </c:pt>
                <c:pt idx="2">
                  <c:v>-6.09155305203005</c:v>
                </c:pt>
                <c:pt idx="3">
                  <c:v>6.2015550289511</c:v>
                </c:pt>
                <c:pt idx="4">
                  <c:v>41.3591564410531</c:v>
                </c:pt>
                <c:pt idx="5">
                  <c:v>11.4297188742811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inventory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332.893375451561</c:v>
                </c:pt>
                <c:pt idx="2">
                  <c:v>400.933323798854</c:v>
                </c:pt>
                <c:pt idx="3">
                  <c:v>113.75806545411301</c:v>
                </c:pt>
                <c:pt idx="4">
                  <c:v>289.576859878157</c:v>
                </c:pt>
                <c:pt idx="5">
                  <c:v>27.4459958101249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R3 inventory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73.27205434016871</c:v>
                </c:pt>
                <c:pt idx="1">
                  <c:v>325.697279918749</c:v>
                </c:pt>
                <c:pt idx="2">
                  <c:v>698.051195321693</c:v>
                </c:pt>
                <c:pt idx="3">
                  <c:v>296.313570133734</c:v>
                </c:pt>
                <c:pt idx="4">
                  <c:v>201.397614579721</c:v>
                </c:pt>
                <c:pt idx="5">
                  <c:v>121.16431958970699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 R2 $bn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2.22068691684426</c:v>
                </c:pt>
                <c:pt idx="1">
                  <c:v>7.656958474287641</c:v>
                </c:pt>
                <c:pt idx="2">
                  <c:v>6.78864759007943</c:v>
                </c:pt>
                <c:pt idx="3">
                  <c:v>8.72420733332681</c:v>
                </c:pt>
                <c:pt idx="4">
                  <c:v>6.65888269818236</c:v>
                </c:pt>
                <c:pt idx="5">
                  <c:v>8.654881231585211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cap R3 $bn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3.26441497450164</c:v>
                </c:pt>
                <c:pt idx="1">
                  <c:v>8.09589923326008</c:v>
                </c:pt>
                <c:pt idx="2">
                  <c:v>3.3068326647715898</c:v>
                </c:pt>
                <c:pt idx="3">
                  <c:v>7.818445477611331</c:v>
                </c:pt>
                <c:pt idx="4">
                  <c:v>8.06084343996288</c:v>
                </c:pt>
                <c:pt idx="5">
                  <c:v>8.65671416025025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22C55E"/>
            </a:solidFill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4.91612725668017</c:v>
                </c:pt>
                <c:pt idx="1">
                  <c:v>2.22068691684426</c:v>
                </c:pt>
                <c:pt idx="2">
                  <c:v>3.26441497450164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 Rangers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7.64315387868728</c:v>
                </c:pt>
                <c:pt idx="1">
                  <c:v>7.656958474287641</c:v>
                </c:pt>
                <c:pt idx="2">
                  <c:v>8.09589923326008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Blue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7.070976342042139</c:v>
                </c:pt>
                <c:pt idx="1">
                  <c:v>6.78864759007943</c:v>
                </c:pt>
                <c:pt idx="2">
                  <c:v>3.3068326647715898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7.64843942680967</c:v>
                </c:pt>
                <c:pt idx="1">
                  <c:v>8.72420733332681</c:v>
                </c:pt>
                <c:pt idx="2">
                  <c:v>7.818445477611331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FACC15"/>
            </a:solidFill>
            <a:ln w="25400" cap="flat">
              <a:solidFill>
                <a:srgbClr val="FACC1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ACC15"/>
              </a:solidFill>
              <a:ln w="9525" cap="flat">
                <a:solidFill>
                  <a:srgbClr val="FACC1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6.6120279240104605</c:v>
                </c:pt>
                <c:pt idx="1">
                  <c:v>6.65888269818236</c:v>
                </c:pt>
                <c:pt idx="2">
                  <c:v>8.06084343996288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C084FC"/>
            </a:solidFill>
            <a:ln w="25400" cap="flat">
              <a:solidFill>
                <a:srgbClr val="C084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84FC"/>
              </a:solidFill>
              <a:ln w="9525" cap="flat">
                <a:solidFill>
                  <a:srgbClr val="C084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7.7752956160211095</c:v>
                </c:pt>
                <c:pt idx="1">
                  <c:v>8.654881231585211</c:v>
                </c:pt>
                <c:pt idx="2">
                  <c:v>8.65671416025025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713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CESIM Global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Section D Universe 1 Round 3 Comparative Debrief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Round 1 → Round 2 → Round 3 • GL Sec D Group July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6035040" cy="1938528"/>
          </a:xfrm>
          <a:prstGeom prst="rect">
            <a:avLst>
              <a:gd name="adj" fmla="val 5660"/>
            </a:avLst>
          </a:prstGeom>
          <a:solidFill>
            <a:srgbClr val="172034">
              <a:alpha val="92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154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5257800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Which teams converted Round 3 decisions into sustainable shareholder value, and which merely created activity?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40233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Ranking criterion: cumulative TSR (p.a., %).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Blue in R1/R3 is mapped to Chahakars in R2.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Grey becomes the strongest Round 3 operating improver.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18520" y="6309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1/27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same company across renamed rounds.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Team-name mapping and comparison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6035040" cy="49638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80160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Round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31720" y="1280160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Round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0" y="1280160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Round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49240" y="1280160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Comparison label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1730829"/>
            <a:ext cx="6035040" cy="49638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1776549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331720" y="1776549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840480" y="1776549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349240" y="1776549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7240" y="2227217"/>
            <a:ext cx="6035040" cy="49638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2272937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331720" y="2272937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40480" y="2272937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349240" y="2272937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2723606"/>
            <a:ext cx="6035040" cy="49638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2769326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331720" y="2769326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Chahakars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840480" y="2769326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349240" y="2769326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3219994"/>
            <a:ext cx="6035040" cy="49638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3265714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2331720" y="3265714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840480" y="3265714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5349240" y="3265714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77240" y="3716383"/>
            <a:ext cx="6035040" cy="496389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3762103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2331720" y="3762103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840480" y="3762103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349240" y="3762103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4212771"/>
            <a:ext cx="6035040" cy="49638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4258491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331720" y="4258491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840480" y="4258491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349240" y="4258491"/>
            <a:ext cx="1417320" cy="42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7315200" y="1417320"/>
            <a:ext cx="39319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Cumulative TSR is used for rank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Share price and market capitalisation show valuation direction.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Current profit, ROS and ROCE are analysed separately.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Round 3 workbook uses Blue; Round 2 used Chahakars.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is team-name continuity essential before comparing performance?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false conclusion follows if Blue and Chahakars are treated separately?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Good analysis begins with measurement discipline before managerial interpretation.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start with rank; start with the value chain.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Round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E8F0"/>
                </a:solidFill>
              </a:rPr>
              <a:t>Demand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1847088" y="1764792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860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505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E8F0"/>
                </a:solidFill>
              </a:rPr>
              <a:t>Revenue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764792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8862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507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E8F0"/>
                </a:solidFill>
              </a:rPr>
              <a:t>Margin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47488" y="1764792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509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E8F0"/>
                </a:solidFill>
              </a:rPr>
              <a:t>Cash flow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647688" y="1764792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0866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2511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E8F0"/>
                </a:solidFill>
              </a:rPr>
              <a:t>Risk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247888" y="1764792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868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513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E8F0"/>
                </a:solidFill>
              </a:rPr>
              <a:t>Valuation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848088" y="1764792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287000" y="1417320"/>
            <a:ext cx="124358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451592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TSR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144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A team can improve operationally yet remain valuation-damaged.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Cumulative TSR can fall even when a current-round metric improves.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Use causal evidence, not post-hoc defence.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74320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65392" y="2852928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Teaching rule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565392" y="3127248"/>
            <a:ext cx="43342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Ask: what assumption caused the decision, and what metric validates or rejects it?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link in this chain was weakest for your team?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metric would you trust least if viewed alone?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 firm creates value by converting demand into repeatable cash flows at tolerable risk.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stabilised in Round 3, but value quality weakened under inventory and debt stress.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movement across three rounds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Sales R3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$10.39bn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-0.2% vs R2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792578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57170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 R3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957170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1047m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57170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-16.7% vs R2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054803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9395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 R3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219395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10.1%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9395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-2.0 pp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317029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81621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Inventory R3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481621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1716m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1621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+47.3%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579254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43846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Market cap R3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743846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$39.20bn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43846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-3.7% vs R2</a:t>
            </a:r>
            <a:endParaRPr lang="en-US" sz="78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77240" y="224028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Chart 1" descr=""/>
          <p:cNvGraphicFramePr/>
          <p:nvPr/>
        </p:nvGraphicFramePr>
        <p:xfrm>
          <a:off x="6400800" y="2240280"/>
          <a:ext cx="4754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4" name="Text 30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How can profit remain above Round 1 while TSR weakens?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Round 3 number should worry the universe most?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7" name="Text 33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Growth is healthy only if inventory, cash flow and risk do not grow faster than value conversion.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 returns to rank 1; Grey jumps to rank 2 through operational compounding.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leaderboard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6309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801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Rank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74520" y="12801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0" y="12801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TSR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77640" y="12801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Share price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2801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Profit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80760" y="12801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Credit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1783080"/>
            <a:ext cx="6309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1828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1st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874520" y="1828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926080" y="1828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18.3%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977640" y="1828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$309.2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029200" y="1828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112m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080760" y="1828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A+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77240" y="2331720"/>
            <a:ext cx="6309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23774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2nd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874520" y="23774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926080" y="23774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12.8%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977640" y="23774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$268.7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029200" y="23774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449m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080760" y="23774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AAA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77240" y="2880360"/>
            <a:ext cx="6309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29260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3rd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874520" y="29260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2926080" y="29260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12.6%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977640" y="29260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$269.9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029200" y="29260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369m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080760" y="29260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77240" y="3429000"/>
            <a:ext cx="6309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3474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4th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874520" y="3474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2926080" y="3474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11.3%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977640" y="3474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$260.6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029200" y="3474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45m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080760" y="3474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BBB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77240" y="3977640"/>
            <a:ext cx="6309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2960" y="40233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5th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874520" y="40233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26080" y="40233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-16.4%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3977640" y="40233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$110.2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029200" y="40233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-259m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080760" y="40233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B-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77240" y="4526280"/>
            <a:ext cx="6309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4572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6th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874520" y="4572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2926080" y="4572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-25.4%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3977640" y="4572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$72.5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5029200" y="4572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331m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080760" y="4572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7452360" y="1298448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616952" y="140817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Leader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7616952" y="1682496"/>
            <a:ext cx="3419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Ochre leads cumulative TSR at 18.3%, but with weaker Round 3 profit quality than Grey or Red Rangers.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452360" y="2542032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616952" y="265176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Grey signal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7616952" y="2926080"/>
            <a:ext cx="3419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Grey moved from 5th → 5th → 2nd and combined high profit, ROS, ROCE and AAA credit.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52360" y="3785616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F2937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616952" y="389534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4444"/>
                </a:solidFill>
              </a:rPr>
              <a:t>Crisis signal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7616952" y="4169664"/>
            <a:ext cx="3419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Blue/Chahakars fell to negative TSR, negative ROS and B− credit.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Ochre the strongest team, or the highest-valued survivor?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makes Grey more than a lucky Round 3 improvement?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Rank is an outcome. Diagnose the operating system beneath it.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made the biggest rank jump; Ochre regained leadership.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 movement: R1 → R2 → R3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463040" y="11338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Round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40680" y="11338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Round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18320" y="11338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Round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1627632"/>
            <a:ext cx="932688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15361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2249424"/>
            <a:ext cx="932688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21579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2871216"/>
            <a:ext cx="932688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27797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71600" y="3493008"/>
            <a:ext cx="932688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34015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932688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0233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71600" y="4736592"/>
            <a:ext cx="9326880" cy="0"/>
          </a:xfrm>
          <a:prstGeom prst="line">
            <a:avLst/>
          </a:prstGeom>
          <a:noFill/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46451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0" y="4736592"/>
            <a:ext cx="3977640" cy="0"/>
          </a:xfrm>
          <a:prstGeom prst="line">
            <a:avLst/>
          </a:prstGeom>
          <a:noFill/>
          <a:ln w="12700">
            <a:solidFill>
              <a:srgbClr val="22C55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989320" y="4736592"/>
            <a:ext cx="3977640" cy="0"/>
          </a:xfrm>
          <a:prstGeom prst="line">
            <a:avLst/>
          </a:prstGeom>
          <a:noFill/>
          <a:ln w="12700">
            <a:solidFill>
              <a:srgbClr val="22C55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938528" y="45720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103120" y="45354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Green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5916168" y="45720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80760" y="45354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Green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9893808" y="45720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58400" y="45354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Green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2011680" y="2871216"/>
            <a:ext cx="3977640" cy="0"/>
          </a:xfrm>
          <a:prstGeom prst="line">
            <a:avLst/>
          </a:prstGeom>
          <a:noFill/>
          <a:ln w="12700">
            <a:solidFill>
              <a:srgbClr val="EF44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989320" y="2871216"/>
            <a:ext cx="3977640" cy="0"/>
          </a:xfrm>
          <a:prstGeom prst="line">
            <a:avLst/>
          </a:prstGeom>
          <a:noFill/>
          <a:ln w="12700">
            <a:solidFill>
              <a:srgbClr val="EF44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938528" y="2706624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103120" y="2670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Red Rangers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5916168" y="2706624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080760" y="2670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Red Rangers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9893808" y="2706624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058400" y="2670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Red Rangers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2011680" y="3493008"/>
            <a:ext cx="3977640" cy="0"/>
          </a:xfrm>
          <a:prstGeom prst="line">
            <a:avLst/>
          </a:prstGeom>
          <a:noFill/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989320" y="3493008"/>
            <a:ext cx="3977640" cy="621792"/>
          </a:xfrm>
          <a:prstGeom prst="line">
            <a:avLst/>
          </a:prstGeom>
          <a:noFill/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938528" y="3328416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103120" y="32918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Blue / Chahakars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5916168" y="3328416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080760" y="32918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Blue / Chahakars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9893808" y="395020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058400" y="3913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Blue / Chahakars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2011680" y="2249424"/>
            <a:ext cx="3977640" cy="-621792"/>
          </a:xfrm>
          <a:prstGeom prst="line">
            <a:avLst/>
          </a:prstGeom>
          <a:noFill/>
          <a:ln w="12700">
            <a:solidFill>
              <a:srgbClr val="F9731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989320" y="1627632"/>
            <a:ext cx="3977640" cy="1865376"/>
          </a:xfrm>
          <a:prstGeom prst="line">
            <a:avLst/>
          </a:prstGeom>
          <a:noFill/>
          <a:ln w="12700">
            <a:solidFill>
              <a:srgbClr val="F97316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938528" y="208483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103120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Orange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5916168" y="146304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080760" y="14264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Orange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9893808" y="3328416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0058400" y="32918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Orange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2011680" y="4114800"/>
            <a:ext cx="3977640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5989320" y="4114800"/>
            <a:ext cx="3977640" cy="-1865376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938528" y="3950208"/>
            <a:ext cx="146304" cy="14630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2103120" y="3913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</a:rPr>
              <a:t>Grey (5th)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916168" y="3950208"/>
            <a:ext cx="146304" cy="14630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080760" y="3913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</a:rPr>
              <a:t>Grey (5th)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893808" y="2084832"/>
            <a:ext cx="146304" cy="14630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0058400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</a:rPr>
              <a:t>Grey (2nd)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011680" y="1627632"/>
            <a:ext cx="3977640" cy="621792"/>
          </a:xfrm>
          <a:prstGeom prst="line">
            <a:avLst/>
          </a:prstGeom>
          <a:noFill/>
          <a:ln w="12700">
            <a:solidFill>
              <a:srgbClr val="C084FC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5989320" y="2249424"/>
            <a:ext cx="3977640" cy="-621792"/>
          </a:xfrm>
          <a:prstGeom prst="line">
            <a:avLst/>
          </a:prstGeom>
          <a:noFill/>
          <a:ln w="12700">
            <a:solidFill>
              <a:srgbClr val="C084FC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1938528" y="1463040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2103120" y="14264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Ochre</a:t>
            </a:r>
            <a:endParaRPr lang="en-US" sz="730" dirty="0"/>
          </a:p>
        </p:txBody>
      </p:sp>
      <p:sp>
        <p:nvSpPr>
          <p:cNvPr id="69" name="Shape 67"/>
          <p:cNvSpPr/>
          <p:nvPr/>
        </p:nvSpPr>
        <p:spPr>
          <a:xfrm>
            <a:off x="5916168" y="2084832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080760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Ochre</a:t>
            </a:r>
            <a:endParaRPr lang="en-US" sz="730" dirty="0"/>
          </a:p>
        </p:txBody>
      </p:sp>
      <p:sp>
        <p:nvSpPr>
          <p:cNvPr id="71" name="Shape 69"/>
          <p:cNvSpPr/>
          <p:nvPr/>
        </p:nvSpPr>
        <p:spPr>
          <a:xfrm>
            <a:off x="9893808" y="1463040"/>
            <a:ext cx="146304" cy="14630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10058400" y="14264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Ochre</a:t>
            </a:r>
            <a:endParaRPr lang="en-US" sz="730" dirty="0"/>
          </a:p>
        </p:txBody>
      </p:sp>
      <p:sp>
        <p:nvSpPr>
          <p:cNvPr id="73" name="Shape 71"/>
          <p:cNvSpPr/>
          <p:nvPr/>
        </p:nvSpPr>
        <p:spPr>
          <a:xfrm>
            <a:off x="685800" y="544068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50392" y="5550408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Key interpretation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850392" y="5824728"/>
            <a:ext cx="10460736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Grey moved from 5th to 2nd, while Orange fell from 1st to 4th and Blue/Chahakars fell from 4th to 5th. Ochre moved 1st → 2nd → 1st.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highest profit did not produce rank 1; the best operating improver was rank 2.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managerial puzzle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64922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371600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46020" y="1371600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Profit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69080" y="1371600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TSR rank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92140" y="1371600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Signal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1892808"/>
            <a:ext cx="6492240" cy="566928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1938528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446020" y="1938528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449m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069080" y="1938528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2nd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692140" y="1938528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Best operating compounding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7240" y="2459736"/>
            <a:ext cx="64922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2505456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446020" y="2505456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369m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069080" y="2505456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3rd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692140" y="2505456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Strong margin, lower share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3026664"/>
            <a:ext cx="64922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3072384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446020" y="3072384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331m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069080" y="3072384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6th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692140" y="3072384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Large share, still TSR-damaged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3593592"/>
            <a:ext cx="64922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3639312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2446020" y="3639312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112m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069080" y="3639312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1st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5692140" y="3639312"/>
            <a:ext cx="1531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Valuation lead, weaker current ROS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543800" y="15087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08392" y="161848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distinction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708392" y="1892808"/>
            <a:ext cx="3191256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Accounting profit asks: what did we earn this round? Valuation asks: are future cash flows credible after debt, risk, investment and competitive response?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does Ochre lead despite Grey and Red producing stronger current profit?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future-cash-flow story is the market pricing?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TSR is a judgement on discounted future value, not a trophy for current profit alone.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won scale; Grey gained profitable scale; Blue collapsed in market reach.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comparison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98080" y="1371600"/>
            <a:ext cx="38404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Green: highest Round 3 revenue and 31.7% global share.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Grey: revenue +57.9% vs R2 with strong margin.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Blue/Chahakars: sales fell 47.9% vs R2.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 Rangers: high margin but smaller reach.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grew with conversion discipline?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confused sales volume with value creation?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Revenue is price × volume. It becomes strategy only when it converts into profit and cash.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and Red Rangers created the strongest Round 3 earnings; Blue destroyed earnings.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 comparison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9/27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543800" y="1371600"/>
            <a:ext cx="38404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Grey: profit rose from USD 46.0m to USD 448.8m.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 Rangers: USD 368.6m, high ROS of 27.5%.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Green: recovery continues, but rank remains last.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Blue/Chahakars: loss of USD 258.7m.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profit changes are structural rather than temporary?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cost line would you inspect first for Blue?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Profit is the residual of choices in demand, pricing, cost, capacity, R&amp;D, financing and tax.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and Red combine margin discipline; Green has scale but not TSR recovery.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Value-quality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143000"/>
            <a:ext cx="10789920" cy="56170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1188720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35224" y="1188720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Global share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93208" y="1188720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251192" y="1188720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409176" y="1188720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Interpretation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704703"/>
            <a:ext cx="107899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1750423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35224" y="1750423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17.8%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093208" y="1750423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5.7%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251192" y="1750423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11.4%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409176" y="1750423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valued but margin fragile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31520" y="2266406"/>
            <a:ext cx="10789920" cy="561703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2312126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35224" y="2312126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17.1%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93208" y="2312126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22.5%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251192" y="2312126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41.4%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409176" y="2312126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high-quality compounder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31520" y="2828109"/>
            <a:ext cx="107899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7240" y="2873829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35224" y="2873829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12.2%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093208" y="2873829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27.5%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251192" y="2873829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20.2%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409176" y="2873829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margin engine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31520" y="3389811"/>
            <a:ext cx="107899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7240" y="3435531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35224" y="3435531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16.8%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93208" y="3435531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2.4%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251192" y="3435531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6.2%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409176" y="3435531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option-heavy posture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31520" y="3951514"/>
            <a:ext cx="107899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77240" y="3997234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935224" y="3997234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4.4%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093208" y="3997234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-51.5%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251192" y="3997234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-6.1%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409176" y="3997234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share and margin crisis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31520" y="4513217"/>
            <a:ext cx="107899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77240" y="4558937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35224" y="4558937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31.7%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093208" y="4558937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12.2%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251192" y="4558937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11.0%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409176" y="4558937"/>
            <a:ext cx="206654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scale with credibility gap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Who has both demand position and margin discipline?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Who has share without adequate value conversion?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The strongest value story combines scale, margin, capital productivity and risk discipline.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dominates USA and Asia share; Ochre and Grey are stronger in Europe.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battle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698480" cy="56823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62656" y="1188720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USA share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02352" y="1188720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Asia share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242048" y="1188720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Europe share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81744" y="1188720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Regional reading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711234"/>
            <a:ext cx="1069848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756954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62656" y="1756954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15.9%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102352" y="1756954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242048" y="1756954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381744" y="1756954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Europe-led valuation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2279469"/>
            <a:ext cx="10698480" cy="568234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325189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62656" y="2325189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24.6%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102352" y="2325189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242048" y="2325189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381744" y="2325189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Europe/USA strength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847703"/>
            <a:ext cx="1069848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893423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62656" y="2893423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10.0%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102352" y="2893423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242048" y="2893423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381744" y="2893423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needs sharper regional focus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3415937"/>
            <a:ext cx="1069848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3461657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62656" y="3461657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12.8%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102352" y="3461657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242048" y="3461657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381744" y="3461657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needs sharper regional focus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3984171"/>
            <a:ext cx="1069848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4029891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962656" y="4029891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3.4%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102352" y="4029891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242048" y="4029891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381744" y="4029891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regional retreat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77240" y="4552406"/>
            <a:ext cx="1069848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960" y="4598126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62656" y="4598126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33.3%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102352" y="4598126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242048" y="4598126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381744" y="4598126"/>
            <a:ext cx="2048256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USA/Asia scale leader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region is your engine, and which region is your trap?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Where should you defend, attack, repair or exit in Round 4?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Global averages hide regional product-price fit. Strategy must be region-specific.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remained high, but option value was unevenly converted.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option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217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0" y="1280160"/>
            <a:ext cx="42062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Ochre and Orange spent heavily on R&amp;D in Round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reduced R&amp;D but improved profit, ROS and ROCE.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 spent zero R&amp;D in Round 3: efficient now, but future readiness must be tested.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 spent USD 205m while reporting a large loss.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When is R&amp;D an investment, and when is it only a cost?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evidence should trigger a stop-loss rule?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R&amp;D creates options, but options must survive demand timing, capacity, cash flow and valuation.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produced the strongest ROCE; Red produced the strongest ROS.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Margin and capital productivity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543800" y="1417320"/>
            <a:ext cx="38404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ROCE: 41.4%, strongest capital productivity.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 ROS: 27.5%, strongest sales conversion.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 is negative on both ROS and ROCE.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Orange has weak ROS and BBB credit: risk of over-extended option strategy.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Would you rather own the highest ROS or highest ROCE firm?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is more likely to compound valuation in later rounds?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Capital productivity tests whether resources controlled by the firm generate operating returns.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inventory rose 47.3% in Round 3, mainly driven by Blue and Red.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trap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543800" y="1353312"/>
            <a:ext cx="384048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 ended with USD 698m inventory while making a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 inventory remained high despite strong margins.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 cleared most of its earlier inventory burden.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Inventory is a demand hypothesis, not a trophy asset.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When does inventory become evidence of managerial error?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should cut production before touching price?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Inventory ties together forecasting, product fit, price, production and cash conversion.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and Orange triggered major short-term debt pressure; Grey became AAA.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and credit risk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424160" cy="56170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07792" y="1188720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Credit R2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92624" y="1188720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Credit R3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77456" y="1188720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Short debt R3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62288" y="1188720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Cash R3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704703"/>
            <a:ext cx="1042416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750423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07792" y="1750423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92624" y="1750423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A+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077456" y="1750423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0m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162288" y="1750423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196m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2266406"/>
            <a:ext cx="10424160" cy="561703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312126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07792" y="2312126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A+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992624" y="2312126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AAA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077456" y="2312126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62m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162288" y="2312126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255m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828109"/>
            <a:ext cx="1042416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873829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07792" y="2873829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AA-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992624" y="2873829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077456" y="2873829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149m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162288" y="2873829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1206m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3389811"/>
            <a:ext cx="1042416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3435531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07792" y="3435531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AA-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992624" y="3435531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BBB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077456" y="3435531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472m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162288" y="3435531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987m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3951514"/>
            <a:ext cx="1042416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3997234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907792" y="3997234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AA-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992624" y="3997234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B-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077456" y="3997234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873m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162288" y="3997234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1058m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77240" y="4513217"/>
            <a:ext cx="1042416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960" y="4558937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07792" y="4558937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992624" y="4558937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077456" y="4558937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0m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162288" y="4558937"/>
            <a:ext cx="1993392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658m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is more dangerous: planned leverage or unplanned debt?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can the same profit be valued less when credit weakens?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Financing choices change risk, required return and shareholder value.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market cap fell 3.7% despite positive aggregate profit.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Valuation and TSR logic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52360" y="1371600"/>
            <a:ext cx="39319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Ochre has the highest market cap and TSR rank.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and Red are close in market value with stronger current profit.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 improved value but remains structurally discounted.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 suffered a major valuation break.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is the market rewarding in Ochre that is not visible in current profit?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did Grey’s improved operations not become rank 1?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Enterprise value reflects discounted cash flows adjusted for debt, excess cash and risk.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has the most coherent improvement pattern in Universe 1.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Relative scorecard: R2 → R3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R2→R3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17/27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49808" y="1143000"/>
            <a:ext cx="107899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552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426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9300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174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Profit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9048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Share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3922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88796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36708" y="11887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Risk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9808" y="1737360"/>
            <a:ext cx="107899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552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14426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49300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84174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19048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53922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88796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36708" y="17830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49808" y="2331720"/>
            <a:ext cx="107899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9552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14426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49300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84174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19048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53922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88796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0236708" y="237744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49808" y="2926080"/>
            <a:ext cx="107899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9552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14426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49300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84174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9048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53922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88796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0236708" y="297180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49808" y="3520440"/>
            <a:ext cx="107899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9552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14426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349300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84174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19048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753922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888796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0236708" y="356616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749808" y="4114800"/>
            <a:ext cx="10789920" cy="594360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9552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214426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49300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484174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19048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753922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888796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10236708" y="416052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49808" y="4709160"/>
            <a:ext cx="107899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9552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214426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349300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484174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619048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753922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888796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10236708" y="4754880"/>
            <a:ext cx="12573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749808" y="5422392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914400" y="5532120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Legend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914400" y="5806440"/>
            <a:ext cx="10460736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++ substantial improvement | + moderate improvement | = broadly stable | - moderate deterioration | -- substantial deterioration. Risk reflects credit, short-term debt and financial resilience.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recovery continues, but TSR credibility is not repaired.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Green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6th → 6th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+0 positions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-25.4%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+23.2 pp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2725m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+14.4%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331m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174m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12.2%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+5.5 pp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R2: A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2148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225856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50392" y="2532888"/>
            <a:ext cx="48828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Highest Round 3 revenue and global share.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Profit improved to USD 331.3m and credit reached AA.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TSR remains last at -25.4%, showing past value damage persists.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Inventory mostly repaired, but debt and rank remain concerns.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00800" y="2057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Market capitalisation trend ($bn)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55080" y="23774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must Green do for investors to believe the turnaround?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share leadership valuable if TSR remains negative?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Diagnosis must connect decision → metric → valuation. Preserve what works; repair what weakens cash, risk or strategic fit.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margin engine with shrinking market reach.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Red Rangers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3rd → 3rd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+0 positions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12.6%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-3.6 pp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1339m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-21.1%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369m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-39m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27.5%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+3.5 pp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R2: AA-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2148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225856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50392" y="2532888"/>
            <a:ext cx="48828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Strongest ROS at 27.5% and profit of USD 368.6m.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Revenue and share declined against Round 2.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Zero R&amp;D may protect current profit but raises future readiness questions.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Market value improved despite lower TSR level.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00800" y="2057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Market capitalisation trend ($bn)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55080" y="23774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Red harvesting wisely or underinvesting in future capability?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minimum R&amp;D or technology signal is needed?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Diagnosis must connect decision → metric → valuation. Preserve what works; repair what weakens cash, risk or strategic fit.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Round 3 crisis: demand, profit, inventory and credit all broke down.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Blue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4th → 5th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-1 positions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-16.4%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-25.9 pp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503m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-47.9%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-259m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-456m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-51.5%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-72.0 pp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B-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R2: AA-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2148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225856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50392" y="2532888"/>
            <a:ext cx="48828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Rank fell to 5th with TSR at -16.4%.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Sales fell 47.9% versus R2.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Loss of USD 258.7m with ROS of -51.5%.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Inventory reached USD 698m and credit fell to B-.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00800" y="2057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Market capitalisation trend ($bn)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55080" y="23774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assumption failed most severely for Blue/Chahakars?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first rescue move matters most: price, production, inventory or debt?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Diagnosis must connect decision → metric → valuation. Preserve what works; repair what weakens cash, risk or strategic fit.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former leader lost momentum under weak margins and credit deterioration.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Orange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1st → 4th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-3 positions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11.3%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-12.8 pp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1886m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-14.6%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45m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-15m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2.4%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-0.3 pp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BBB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R2: AA-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2148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225856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50392" y="2532888"/>
            <a:ext cx="48828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Rank fell from 1st to 4th.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Profit remained positive but ROS only 2.4%.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Credit fell from AA- to BBB with major short-term debt.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R&amp;D remains high; Round 4 must validate option payoff.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00800" y="2057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Market capitalisation trend ($bn)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55080" y="23774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Was Orange building a future option or overextending?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is the stop-loss rule if R&amp;D does not convert?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Diagnosis must connect decision → metric → valuation. Preserve what works; repair what weakens cash, risk or strategic fit.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quiet compounder became the strongest Round 3 operating case.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Grey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22/27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5th → 2nd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+3 positions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12.8%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+3.8 pp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1991m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+57.9%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449m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403m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22.5%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+18.9 pp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AAA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R2: A+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2148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225856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50392" y="2532888"/>
            <a:ext cx="48828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Rank jumped from 5th to 2nd.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Profit rose to USD 448.8m; ROS 22.5%.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ROCE 41.4% and credit rating AAA.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Market cap rose to USD 8.06bn; Europe/USA position strengthened.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00800" y="2057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Market capitalisation trend ($bn)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55080" y="23774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did Grey change that produced the rank jump?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How can Grey convert operating strength into TSR leadership?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Diagnosis must connect decision → metric → valuation. Preserve what works; repair what weakens cash, risk or strategic fit.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leader with weakening current profit quality.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Ochre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23/27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2nd → 1st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+1 positions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18.3%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-5.3 pp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1945m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+2.4%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112m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-276m vs R2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5.7%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-14.7 pp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R2: AA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2148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225856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50392" y="2532888"/>
            <a:ext cx="48828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Rank returned to 1st with 18.3% TSR.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Highest market cap at USD 8.66bn.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Profit and ROS weakened sharply versus R2.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• Heavy R&amp;D and A+ credit mean expectations must be justified.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00800" y="2057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Market capitalisation trend ($bn)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355080" y="23774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future cash-flow story supports Ochre’s rank 1 position?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weakness could cause Ochre to lose leadership next round?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Diagnosis must connect decision → metric → valuation. Preserve what works; repair what weakens cash, risk or strategic fit.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rewarded credible valuation stories and punished unconverted activity.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market rewarded in Round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24/27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1042416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801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Reward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0" y="12801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Evidence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12801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Managerial meaning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929384"/>
            <a:ext cx="10424160" cy="694944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975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Coherence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297680" y="1975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Grey: rank 5→2, AAA, high ROCE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772400" y="1975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Choices reinforced one another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7240" y="2624328"/>
            <a:ext cx="1042416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2670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Future credibility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297680" y="2670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 rank 1 despite lower current profit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772400" y="2670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Investors see option value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3319272"/>
            <a:ext cx="1042416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33649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Margin discipline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297680" y="33649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ROS 27.5%, Grey ROS 22.5%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772400" y="33649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Profit quality matters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014216"/>
            <a:ext cx="1042416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0599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Scale recovery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297680" y="40599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 share 31.7%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772400" y="40599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Scale must still repair TSR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reward factor is strongest in your own result?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Can a team maximise share, margin, technology and risk control at once?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Coherence is the strategic asset: all choices must point in the same direction.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3 punished inventory, debt shock and unvalidated technology bets.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market punished in Round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25/27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1042416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801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Penalty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0" y="12801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Evidence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0" y="12801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Round 4 repair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929384"/>
            <a:ext cx="1042416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975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Inventory trap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297680" y="1975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USD 698m; Red USD 326m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772400" y="1975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Reduce production or reposition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7240" y="2624328"/>
            <a:ext cx="10424160" cy="694944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2670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Credit deterioration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297680" y="2670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B−; Orange BBB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772400" y="2670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Protect financing guardrail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3319272"/>
            <a:ext cx="1042416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33649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Weak option conversion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297680" y="33649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High R&amp;D with low ROS in Orange/Ochre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772400" y="33649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Require evidence of demand timing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014216"/>
            <a:ext cx="1042416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0599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Share without value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297680" y="40599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 still negative TSR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772400" y="40599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Convert share into cash and trust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punished decision is reversible before Round 4?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mistake is sticky and will constrain later rounds?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Recovery begins by separating reversible pricing choices from structural capacity, debt and technology constraints.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Round 4 from evidence, not emotion.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decision checklist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Round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26/27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143000"/>
            <a:ext cx="10149840" cy="57476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188720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Decision area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0" y="1188720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First-principles rule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1717766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1763486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Demand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035040" y="1763486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Forecast by region and technology before production.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292531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2338251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Price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035040" y="2338251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Change price only when contribution logic is clear.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2867297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2913017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R&amp;D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035040" y="2913017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Invest only when readiness, demand, capacity and financing align.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14400" y="3442063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487783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Production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035040" y="3487783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Set an inventory threshold before production.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4016829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062549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Finance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035040" y="4062549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Avoid unplanned debt and protect credit quality.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14400" y="4591594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637314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Region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035040" y="4637314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Defend, attack, repair or exit each region deliberately.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single metric will you check first before submitting Round 4?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decision will your team now make more slowly?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Decision discipline means writing a rule before changing numbers.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team is not the boldest; it is the most coherent.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27/27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417320"/>
            <a:ext cx="10241280" cy="1920240"/>
          </a:xfrm>
          <a:prstGeom prst="roundRect">
            <a:avLst>
              <a:gd name="adj" fmla="val 3810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78992" y="1527048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Coherence creates value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078992" y="1801368"/>
            <a:ext cx="99120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Coherence is the discipline of making market choice, product choice, technology choice, production choice, financing choice and risk choice reinforce one another.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657600"/>
            <a:ext cx="93268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Ochre leads valuation, but must improve current profit quality.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has the clearest operational improvement.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 and Orange must repair financial and inventory risk.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 must convert scale recovery into TSR credibility.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will your team stop doing immediately?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will your team do more deliberately in Round 4?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The team that learns fastest from the causal chain will improve fastest.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Section D Round 3 Debrief</dc:title>
  <dc:subject>CESIM Global Challenge Section D Round 3 Debrief</dc:subject>
  <dc:creator>OpenAI</dc:creator>
  <cp:lastModifiedBy>OpenAI</cp:lastModifiedBy>
  <cp:revision>1</cp:revision>
  <dcterms:created xsi:type="dcterms:W3CDTF">2026-08-14T09:30:23Z</dcterms:created>
  <dcterms:modified xsi:type="dcterms:W3CDTF">2026-08-14T09:30:23Z</dcterms:modified>
</cp:coreProperties>
</file>