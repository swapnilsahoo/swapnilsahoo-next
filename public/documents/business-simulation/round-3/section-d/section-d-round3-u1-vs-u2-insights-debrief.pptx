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$bn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U1</c:v>
                  </c:pt>
                  <c:pt idx="1">
                    <c:v>U2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10.388077436136232</c:v>
                </c:pt>
                <c:pt idx="1">
                  <c:v>12.121849247788521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$bn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U1</c:v>
                  </c:pt>
                  <c:pt idx="1">
                    <c:v>U2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1.0470430845382253</c:v>
                </c:pt>
                <c:pt idx="1">
                  <c:v>-0.3108581460321078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R&amp;D $bn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U1</c:v>
                  </c:pt>
                  <c:pt idx="1">
                    <c:v>U2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1.596174</c:v>
                </c:pt>
                <c:pt idx="1">
                  <c:v>3.497913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Inventory $bn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U1</c:v>
                  </c:pt>
                  <c:pt idx="1">
                    <c:v>U2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1.7158960338837728</c:v>
                </c:pt>
                <c:pt idx="1">
                  <c:v>1.396404098459896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E2E8F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7132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CESIM Global Challenge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Section D Round 3 Cross-Universe Insights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21792" y="2240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Universe 1 versus Universe 2 • GL Sec D Group July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889504"/>
            <a:ext cx="6035040" cy="1938528"/>
          </a:xfrm>
          <a:prstGeom prst="rect">
            <a:avLst>
              <a:gd name="adj" fmla="val 5660"/>
            </a:avLst>
          </a:prstGeom>
          <a:solidFill>
            <a:srgbClr val="172034">
              <a:alpha val="92000"/>
            </a:srgbClr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31546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Core teaching question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5257800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Which teams converted Round 3 decisions into sustainable shareholder value, and which merely created activity?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0" y="2880360"/>
            <a:ext cx="402336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• Compare universe-level patterns, not a single combined team ranking.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• Both universes show value-quality concerns in Round 3.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• U2 has higher sales and market cap but lower profit quality.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63093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GL Sec D • U1 vs U2 • R3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018520" y="63093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1/13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like with like and avoid artificial rankings.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Comparison rules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vs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2/13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868680" y="1325880"/>
            <a:ext cx="548640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Both workbooks are Round 3 Section D results.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Universe 1 has prior R1/R2 context; Universe 2 prior-round files were not available here.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Teams compete within their own universe.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Cross-universe insight should focus on patterns: scale, profit, R&amp;D, risk and valuation.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141732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022592" y="1527048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Key caution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7022592" y="1801368"/>
            <a:ext cx="378561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Do not say the best U2 team beat the best U1 team unless the course design explicitly permits cross-universe comparison.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can be compared across universes?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must remain universe-specific?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Responsible comparison separates competitive rank from strategic pattern.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is larger and more valued; U1 is more profitable.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3 universe snapshot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vs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3/13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143000"/>
            <a:ext cx="10698480" cy="58782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188720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Metric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97580" y="1188720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Universe 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72200" y="1188720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Universe 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846820" y="1188720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Reading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" y="1730829"/>
            <a:ext cx="10698480" cy="587829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1776549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Sales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497580" y="1776549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$10.39bn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172200" y="1776549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$12.12bn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8846820" y="1776549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U2 larger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77240" y="2318657"/>
            <a:ext cx="10698480" cy="587829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2364377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Profit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497580" y="2364377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1047m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172200" y="2364377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-311m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8846820" y="2364377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U1 converts better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777240" y="2906486"/>
            <a:ext cx="10698480" cy="587829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2960" y="2952206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Aggregate ROS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3497580" y="2952206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10.1%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6172200" y="2952206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-2.6%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8846820" y="2952206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U1 positive; U2 negative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77240" y="3494314"/>
            <a:ext cx="10698480" cy="587829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22960" y="3540034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R&amp;D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3497580" y="3540034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1596m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6172200" y="3540034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3498m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8846820" y="3540034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U2 invests much more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777240" y="4082143"/>
            <a:ext cx="10698480" cy="587829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22960" y="4127863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Inventory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3497580" y="4127863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1716m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6172200" y="4127863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1396m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8846820" y="4127863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U1 higher inventory stress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77240" y="4669971"/>
            <a:ext cx="10698480" cy="587829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22960" y="4715691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Market cap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3497580" y="4715691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$39.20bn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6172200" y="4715691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$42.62bn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8846820" y="4715691"/>
            <a:ext cx="258318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U2 higher valuation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universe is healthier: bigger U2 or more profitable U1?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metric would change your answer?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Health is not size alone; it is conversion quality adjusted for risk and future option value.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 leads U1; Grey leads U2; both universes have scale-versus-value tensions.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Leaders and challengers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vs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4/13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868680" y="1234440"/>
            <a:ext cx="10241280" cy="69494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1280160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Universe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62656" y="1280160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Leader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10912" y="1280160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TSR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059168" y="1280160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Profit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07424" y="1280160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Strategic reading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68680" y="1929384"/>
            <a:ext cx="10241280" cy="69494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" y="1975104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U1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2962656" y="1975104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Ochre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010912" y="1975104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18.3%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059168" y="1975104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112m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9107424" y="1975104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valued option with weaker current margin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68680" y="2624328"/>
            <a:ext cx="10241280" cy="69494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14400" y="2670048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U1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962656" y="2670048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010912" y="2670048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12.8%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7059168" y="2670048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449m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9107424" y="2670048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strong operating compounder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868680" y="3319272"/>
            <a:ext cx="10241280" cy="694944"/>
          </a:xfrm>
          <a:prstGeom prst="rect">
            <a:avLst/>
          </a:prstGeom>
          <a:solidFill>
            <a:srgbClr val="173B4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14400" y="3364992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U2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2962656" y="3364992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010912" y="3364992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16.1%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7059168" y="3364992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275m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9107424" y="3364992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coherent value leader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68680" y="4014216"/>
            <a:ext cx="10241280" cy="694944"/>
          </a:xfrm>
          <a:prstGeom prst="rect">
            <a:avLst/>
          </a:prstGeom>
          <a:solidFill>
            <a:srgbClr val="173B4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14400" y="4059936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U2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2962656" y="4059936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Orange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010912" y="4059936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7.2%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7059168" y="4059936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-762m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9107424" y="4059936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large scale, weak conversion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leader is more operationally convincing?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leader has more expectation risk?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Leadership must be tested through current profit, future option value and risk quality.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sold more but lost money; U1 sold less but produced profit.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 versus conversion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vs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5/13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914400" y="1234440"/>
          <a:ext cx="60350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315200" y="1417320"/>
            <a:ext cx="393192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U1 aggregate ROS: 10.1%.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U2 aggregate ROS: -2.6%.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U2’s negative profit is driven mainly by Orange’s large loss.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U1’s positive profit is held back by Blue and weak Orange/Ochre margins.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Is higher revenue evidence of better strategy?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would make U2’s scale worth more?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Revenue must be converted into contribution, cash and risk-adjusted value.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is more option-heavy; U1 carries heavier inventory stress.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R&amp;D and inventory pressure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vs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6/13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914400" y="1234440"/>
          <a:ext cx="60350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315200" y="1417320"/>
            <a:ext cx="393192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U2 R&amp;D is more than double U1.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U1 inventory is higher, especially Blue and Red.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High R&amp;D is not bad if converted in later rounds.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Inventory is risky when paired with weak cash or debt.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universe is taking more future-option risk?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universe has more working-capital risk?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Options and inventory are both bets on future demand; both need evidence.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universes contain serious credit-risk pockets.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and credit profile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vs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7/13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914400" y="1234440"/>
            <a:ext cx="100584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1280160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Risk signal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12920" y="1280160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Universe 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665720" y="1280160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Universe 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0" y="1874520"/>
            <a:ext cx="100584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60120" y="1920240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Best credit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312920" y="1920240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 AAA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7665720" y="1920240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Grey AA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0120" y="2560320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Weakest credit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312920" y="2560320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Blue B−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7665720" y="2560320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Green B− / Orange BB−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914400" y="3154680"/>
            <a:ext cx="100584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60120" y="3200400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Short-term debt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312920" y="3200400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1556m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7665720" y="3200400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809m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914400" y="3794760"/>
            <a:ext cx="100584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60120" y="3840480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Cash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312920" y="3840480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4360m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7665720" y="3840480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3253m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914400" y="4434840"/>
            <a:ext cx="100584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60120" y="4480560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Market cap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312920" y="4480560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$39.20bn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7665720" y="4480560"/>
            <a:ext cx="326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$42.62bn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universe has more valuation risk?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Is weak credit a cause or symptom of poor strategy?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Financial risk reduces the value of future cash flows through higher required return and weaker credibility.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 should learn conversion plus risk repair; U2 should learn profit discipline.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each universe can learn from the other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vs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8/13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914400" y="1143000"/>
            <a:ext cx="10058400" cy="6629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1188720"/>
            <a:ext cx="49377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Learning direction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89320" y="1188720"/>
            <a:ext cx="49377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Lesson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14400" y="1805940"/>
            <a:ext cx="10058400" cy="6629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60120" y="1851660"/>
            <a:ext cx="49377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U1 from U2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5989320" y="1851660"/>
            <a:ext cx="49377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Scale and valuation stories still matter, but need profit quality.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914400" y="2468880"/>
            <a:ext cx="10058400" cy="6629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2514600"/>
            <a:ext cx="49377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U2 from U1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5989320" y="2514600"/>
            <a:ext cx="49377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Current profit conversion must not be sacrificed to R&amp;D and scale.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914400" y="3131820"/>
            <a:ext cx="10058400" cy="6629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60120" y="3177540"/>
            <a:ext cx="49377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Both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5989320" y="3177540"/>
            <a:ext cx="49377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Protect credit and avoid unplanned debt.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914400" y="3794760"/>
            <a:ext cx="10058400" cy="6629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60120" y="3840480"/>
            <a:ext cx="49377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Both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5989320" y="3840480"/>
            <a:ext cx="49377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Do not treat inventory as a harmless asset.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914400" y="4457700"/>
            <a:ext cx="10058400" cy="6629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60120" y="4503420"/>
            <a:ext cx="49377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Both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5989320" y="4503420"/>
            <a:ext cx="49377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Make R&amp;D conditional on market readiness and cash capacity.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did your universe do better than the other?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did it do worse?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Learning across universes is useful when it identifies decision rules, not excuses.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 needs to convert operating improvement into valuation trust.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1 lesson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9/13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914400" y="1325880"/>
            <a:ext cx="97840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Grey proves that operational compounding is possible.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Green proves that scale recovery is not the same as TSR repair.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Blue proves that inventory and debt can destroy strategic claims.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Ochre proves that valuation leadership creates expectations.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would make U1’s market cap recover next round?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team should the others benchmark and why?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Valuation trust comes when strategy produces profit, cash and risk control repeatedly.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must make scale profitable before valuation confidence erodes.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2 lesson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10/13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914400" y="1325880"/>
            <a:ext cx="97840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Grey proves that conversion discipline can beat scale.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Orange proves that the largest sales can still destroy profit.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Red proves that efficiency without scale may not win TSR.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The Godfathers prove that valuation can anticipate future recovery, but only temporarily.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team is most vulnerable to investor disappointment?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team has the cleanest system of choices?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Scale is valuable only when it creates contribution, cash and defensible future options.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team should write guardrails before changing numbers.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4 cross-universe guardrails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vs U2 • Round 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11/13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914400" y="1143000"/>
            <a:ext cx="10058400" cy="56823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1188720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Guardrail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89320" y="1188720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Rule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14400" y="1711234"/>
            <a:ext cx="10058400" cy="56823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60120" y="1756954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Demand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5989320" y="1756954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No production without region-technology demand evidence.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914400" y="2279469"/>
            <a:ext cx="10058400" cy="56823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2325189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Price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5989320" y="2325189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No price cut unless incremental contribution is positive.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914400" y="2847703"/>
            <a:ext cx="10058400" cy="56823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60120" y="2893423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R&amp;D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5989320" y="2893423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No large R&amp;D without timing, capacity and financing evidence.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914400" y="3415937"/>
            <a:ext cx="10058400" cy="56823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60120" y="3461657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Inventory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5989320" y="3461657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Stop/reprice/reallocate when inventory crosses threshold.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914400" y="3984171"/>
            <a:ext cx="10058400" cy="56823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60120" y="4029891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Finance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5989320" y="4029891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No submission that creates unplanned debt or credit downgrade.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914400" y="4552406"/>
            <a:ext cx="10058400" cy="56823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60120" y="4598126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Region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5989320" y="4598126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Make one deliberate defend/attack/repair/exit choice per region.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guardrail would have prevented the largest mistake in your universe?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is your Round 4 non-negotiable?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 decision rule converts experience into managerial judgement.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questions to expose assumptions, not to force defence.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Cross-universe Socratic question bank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vs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12/13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914400" y="1143000"/>
            <a:ext cx="10058400" cy="56823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1188720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Topic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89320" y="1188720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Question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14400" y="1711234"/>
            <a:ext cx="10058400" cy="56823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60120" y="1756954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Value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5989320" y="1756954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What did investors believe about your future cash flows?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914400" y="2279469"/>
            <a:ext cx="10058400" cy="56823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2325189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Demand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5989320" y="2325189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Which customer assumption did the market confirm or reject?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914400" y="2847703"/>
            <a:ext cx="10058400" cy="56823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60120" y="2893423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R&amp;D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5989320" y="2893423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What evidence justified the timing of your technology spending?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914400" y="3415937"/>
            <a:ext cx="10058400" cy="56823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60120" y="3461657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Inventory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5989320" y="3461657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Which demand hypothesis is sitting in your inventory?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914400" y="3984171"/>
            <a:ext cx="10058400" cy="56823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60120" y="4029891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Risk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5989320" y="4029891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What decision raised your discount rate or credit risk?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914400" y="4552406"/>
            <a:ext cx="10058400" cy="56823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60120" y="4598126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Action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5989320" y="4598126"/>
            <a:ext cx="4937760" cy="495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What will you preserve, stop, reduce or test?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question should your team answer first?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Which answer would make you change your Round 4 plan?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Socratic teaching moves from observation to action through evidence and mechanism.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822960"/>
            <a:ext cx="2834640" cy="2834640"/>
          </a:xfrm>
          <a:prstGeom prst="arc">
            <a:avLst/>
          </a:prstGeom>
          <a:solidFill>
            <a:srgbClr val="1E3A8A">
              <a:alpha val="1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640080" y="5394960"/>
            <a:ext cx="2103120" cy="210312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cross-universe lesson is coherence, not scale.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12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0" y="310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vs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18520" y="6556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13/13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6556248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Source: Sec D results workbooks + CESIM materials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822960" y="128016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87552" y="1389888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U1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987552" y="1664208"/>
            <a:ext cx="305409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More profitable, but market cap and TSR quality remain pressured by inventory, debt and mixed team outcomes.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128016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99432" y="1389888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U2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599432" y="1664208"/>
            <a:ext cx="305409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Larger and more valued, but aggregate loss reveals weak conversion under high R&amp;D and scale pressure.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28016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11312" y="1389888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ACC15"/>
                </a:solidFill>
              </a:rPr>
              <a:t>Round 4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8211312" y="1664208"/>
            <a:ext cx="305409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Both universes need sharper price, R&amp;D, inventory and finance guardrails.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063240"/>
            <a:ext cx="95097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Best U1 operating case: Grey.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Best U1 valuation rank: Ochre.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Best U2 value system: Grey.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Largest U2 scale-risk case: Orange.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Most urgent rescue cases: U1 Blue; U2 Orange/Green.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" y="55961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570585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4B8A6"/>
                </a:solidFill>
              </a:rPr>
              <a:t>Socratic questions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822960" y="5980176"/>
            <a:ext cx="47914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will your team do differently because of the other universe?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</a:rPr>
              <a:t>› What decision rule will you commit to before Round 4?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035040" y="559612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199632" y="570585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9E0B"/>
                </a:solidFill>
              </a:rPr>
              <a:t>First-principles prompt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6199632" y="5980176"/>
            <a:ext cx="5111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The strongest system of value creation is coherent, financially sustainable and competitively defensible.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CESIM Section D Round 3 Debrief</dc:title>
  <dc:subject>CESIM Global Challenge Section D Round 3 Debrief</dc:subject>
  <dc:creator>OpenAI</dc:creator>
  <cp:lastModifiedBy>OpenAI</cp:lastModifiedBy>
  <cp:revision>1</cp:revision>
  <dcterms:created xsi:type="dcterms:W3CDTF">2026-08-14T09:30:23Z</dcterms:created>
  <dcterms:modified xsi:type="dcterms:W3CDTF">2026-08-14T09:30:23Z</dcterms:modified>
</cp:coreProperties>
</file>