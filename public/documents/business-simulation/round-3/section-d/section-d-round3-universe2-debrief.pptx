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$m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1986.35912676689</c:v>
                </c:pt>
                <c:pt idx="1">
                  <c:v>1127.77556187457</c:v>
                </c:pt>
                <c:pt idx="2">
                  <c:v>1802.13223842446</c:v>
                </c:pt>
                <c:pt idx="3">
                  <c:v>2862.52045008671</c:v>
                </c:pt>
                <c:pt idx="4">
                  <c:v>2207.58412047427</c:v>
                </c:pt>
                <c:pt idx="5">
                  <c:v>2135.47775016162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$m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-71.927358075501</c:v>
                </c:pt>
                <c:pt idx="1">
                  <c:v>212.71471699724398</c:v>
                </c:pt>
                <c:pt idx="2">
                  <c:v>-10.5006824123936</c:v>
                </c:pt>
                <c:pt idx="3">
                  <c:v>-761.9798925357251</c:v>
                </c:pt>
                <c:pt idx="4">
                  <c:v>275.06741934306</c:v>
                </c:pt>
                <c:pt idx="5">
                  <c:v>45.767650651207795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 $m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705.436</c:v>
                </c:pt>
                <c:pt idx="1">
                  <c:v>121.825</c:v>
                </c:pt>
                <c:pt idx="2">
                  <c:v>596.925</c:v>
                </c:pt>
                <c:pt idx="3">
                  <c:v>1562.75</c:v>
                </c:pt>
                <c:pt idx="4">
                  <c:v>421.049</c:v>
                </c:pt>
                <c:pt idx="5">
                  <c:v>89.928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$m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-71.927358075501</c:v>
                </c:pt>
                <c:pt idx="1">
                  <c:v>212.71471699724398</c:v>
                </c:pt>
                <c:pt idx="2">
                  <c:v>-10.5006824123936</c:v>
                </c:pt>
                <c:pt idx="3">
                  <c:v>-761.9798925357251</c:v>
                </c:pt>
                <c:pt idx="4">
                  <c:v>275.06741934306</c:v>
                </c:pt>
                <c:pt idx="5">
                  <c:v>45.767650651207795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$m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109.26725410644599</c:v>
                </c:pt>
                <c:pt idx="1">
                  <c:v>588.608764853528</c:v>
                </c:pt>
                <c:pt idx="2">
                  <c:v>166.08691947833802</c:v>
                </c:pt>
                <c:pt idx="3">
                  <c:v>136.387363582236</c:v>
                </c:pt>
                <c:pt idx="4">
                  <c:v>204.92185832771</c:v>
                </c:pt>
                <c:pt idx="5">
                  <c:v>191.13193811163802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$m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480.13823301487605</c:v>
                </c:pt>
                <c:pt idx="1">
                  <c:v>316.40237508456397</c:v>
                </c:pt>
                <c:pt idx="2">
                  <c:v>243.902820332246</c:v>
                </c:pt>
                <c:pt idx="3">
                  <c:v>574.9150648065</c:v>
                </c:pt>
                <c:pt idx="4">
                  <c:v>560.551783008583</c:v>
                </c:pt>
                <c:pt idx="5">
                  <c:v>1076.65619325627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 $bn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6.649270039929481</c:v>
                </c:pt>
                <c:pt idx="1">
                  <c:v>5.514090285479139</c:v>
                </c:pt>
                <c:pt idx="2">
                  <c:v>7.3398624821062795</c:v>
                </c:pt>
                <c:pt idx="3">
                  <c:v>8.37180561861352</c:v>
                </c:pt>
                <c:pt idx="4">
                  <c:v>8.87234628866814</c:v>
                </c:pt>
                <c:pt idx="5">
                  <c:v>5.875505255903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TSR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7.81413207657797</c:v>
                </c:pt>
                <c:pt idx="1">
                  <c:v>0.833616118560143</c:v>
                </c:pt>
                <c:pt idx="2">
                  <c:v>12.008881050456</c:v>
                </c:pt>
                <c:pt idx="3">
                  <c:v>7.18905014106188</c:v>
                </c:pt>
                <c:pt idx="4">
                  <c:v>16.1316563857089</c:v>
                </c:pt>
                <c:pt idx="5">
                  <c:v>1.29281382874828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ROS / ROCE</c:v>
                </c:pt>
              </c:strCache>
            </c:strRef>
          </c:tx>
          <c:spPr>
            <a:solidFill>
              <a:srgbClr val="FACC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Global share</c:v>
                  </c:pt>
                  <c:pt idx="1">
                    <c:v>ROS</c:v>
                  </c:pt>
                  <c:pt idx="2">
                    <c:v>ROCE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16.36</c:v>
                </c:pt>
                <c:pt idx="1">
                  <c:v>12.4601104343859</c:v>
                </c:pt>
                <c:pt idx="2">
                  <c:v>18.8727613938696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ROS / ROCE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Global share</c:v>
                  </c:pt>
                  <c:pt idx="1">
                    <c:v>ROS</c:v>
                  </c:pt>
                  <c:pt idx="2">
                    <c:v>ROCE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14.41</c:v>
                </c:pt>
                <c:pt idx="1">
                  <c:v>-0.582681014661496</c:v>
                </c:pt>
                <c:pt idx="2">
                  <c:v>5.973360407805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ROS / ROCE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Global share</c:v>
                  </c:pt>
                  <c:pt idx="1">
                    <c:v>ROS</c:v>
                  </c:pt>
                  <c:pt idx="2">
                    <c:v>ROCE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17.7769983283133</c:v>
                </c:pt>
                <c:pt idx="1">
                  <c:v>-3.62106514910897</c:v>
                </c:pt>
                <c:pt idx="2">
                  <c:v>0.462414594772193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ROS / ROCE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Global share</c:v>
                  </c:pt>
                  <c:pt idx="1">
                    <c:v>ROS</c:v>
                  </c:pt>
                  <c:pt idx="2">
                    <c:v>ROCE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21.63</c:v>
                </c:pt>
                <c:pt idx="1">
                  <c:v>-26.6191947209545</c:v>
                </c:pt>
                <c:pt idx="2">
                  <c:v>-39.8765347385028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ROS / ROCE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Global share</c:v>
                  </c:pt>
                  <c:pt idx="1">
                    <c:v>ROS</c:v>
                  </c:pt>
                  <c:pt idx="2">
                    <c:v>ROCE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21.08</c:v>
                </c:pt>
                <c:pt idx="1">
                  <c:v>2.14320428521177</c:v>
                </c:pt>
                <c:pt idx="2">
                  <c:v>8.65619048559073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ROS / ROCE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Global share</c:v>
                  </c:pt>
                  <c:pt idx="1">
                    <c:v>ROS</c:v>
                  </c:pt>
                  <c:pt idx="2">
                    <c:v>ROCE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8.74</c:v>
                </c:pt>
                <c:pt idx="1">
                  <c:v>18.8614405373063</c:v>
                </c:pt>
                <c:pt idx="2">
                  <c:v>16.1853436878819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713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CESIM Global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Section D Universe 2 Round 3 Debrief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Internal Round 3 analysis • GL Sec D Group July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6035040" cy="1938528"/>
          </a:xfrm>
          <a:prstGeom prst="rect">
            <a:avLst>
              <a:gd name="adj" fmla="val 5660"/>
            </a:avLst>
          </a:prstGeom>
          <a:solidFill>
            <a:srgbClr val="172034">
              <a:alpha val="92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154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5257800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Which teams converted Round 3 decisions into sustainable shareholder value, and which merely created activity?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40233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Only Round 3 Universe 2 workbook was available.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Ranking criterion: cumulative TSR (p.a., %).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Grey leads; Orange has the largest sales but largest loss.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18520" y="6309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1/20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3 is verified; prior-round Universe 2 comparison is not available here.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scope and comparison boundary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68680" y="1325880"/>
            <a:ext cx="54864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Available: SecD Round3 Universe2 results workbook.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Not available in this turn: SecD Universe2 Round1 and Round2 workbooks.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Therefore this deck analyses Round3 internally and compares U2 with U1 only at Round3.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Do not infer Round2→Round3 movement for Universe2 unless those files are supplied.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4173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22592" y="152704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Teaching caution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022592" y="1801368"/>
            <a:ext cx="351129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Current rank explains where the team stands now; it does not prove whether the team improved or declined from the previous round.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can we responsibly conclude from a single-round workbook?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must we avoid saying without Round 2 data?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Responsible analysis distinguishes verified evidence from comparative inference.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leads TSR; The Godfathers are second despite a slight loss.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leaderboard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6400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801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Rank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89760" y="12801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56560" y="12801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TSR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0" y="12801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Profit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90160" y="12801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56960" y="12801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Credit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1783080"/>
            <a:ext cx="6400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18288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1st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889760" y="18288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956560" y="18288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16.1%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023360" y="18288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275m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090160" y="18288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12.5%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156960" y="18288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77240" y="2331720"/>
            <a:ext cx="6400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237744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2nd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889760" y="237744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The Godfathers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956560" y="237744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12.0%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023360" y="237744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-11m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090160" y="237744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-0.6%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156960" y="237744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BB+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77240" y="2880360"/>
            <a:ext cx="6400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292608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3rd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889760" y="292608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2956560" y="292608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7.8%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023360" y="292608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-72m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090160" y="292608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-3.6%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156960" y="292608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B-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77240" y="3429000"/>
            <a:ext cx="6400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347472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4th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889760" y="347472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2956560" y="347472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7.2%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023360" y="347472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-762m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090160" y="347472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-26.6%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156960" y="347472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BB-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77240" y="3977640"/>
            <a:ext cx="6400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2960" y="40233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5th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889760" y="40233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56560" y="40233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1.3%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023360" y="40233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46m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090160" y="40233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2.1%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156960" y="402336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BB+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77240" y="4526280"/>
            <a:ext cx="64008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45720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6th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889760" y="45720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2956560" y="45720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0.8%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4023360" y="45720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213m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5090160" y="45720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18.9%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156960" y="4572000"/>
            <a:ext cx="97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A+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7452360" y="132588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616952" y="143560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Leader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7616952" y="1709928"/>
            <a:ext cx="3328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Grey: 16.1% TSR, USD 275m profit, AA credit.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452360" y="26517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616952" y="276148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4444"/>
                </a:solidFill>
              </a:rPr>
              <a:t>Scale paradox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7616952" y="3035808"/>
            <a:ext cx="3328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Orange has the largest revenue and share, but the largest loss.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52360" y="39776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616952" y="408736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Question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7616952" y="4361688"/>
            <a:ext cx="3328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Did U2 reward conversion discipline more than scale?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did Grey lead without the largest revenue or market share?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does Orange’s position teach about scale?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Shareholder value comes from profitable, risk-adjusted conversion, not size alone.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generated large sales but an aggregate loss due to Orange and Green pressure.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Round 3 snapshot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Sales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$12.12bn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792578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57170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957170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-311m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57170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F4444"/>
                </a:solidFill>
              </a:rPr>
              <a:t>aggregate loss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054803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9395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Aggregate ROS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219395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-2.6%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9395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317029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81621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R&amp;D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481621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3498m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1621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579254" y="1078992"/>
            <a:ext cx="2152498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43846" y="1188720"/>
            <a:ext cx="18233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Market cap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743846" y="1463040"/>
            <a:ext cx="182331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$42.62bn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43846" y="1709928"/>
            <a:ext cx="18233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77240" y="2240280"/>
          <a:ext cx="65836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7680960" y="2331720"/>
            <a:ext cx="36576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and Red are the strongest positive-profit cases.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Orange generates scale but destroys profit.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The Godfathers are valuation-positive despite current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Credit quality varies widely: AA to BB−/B−.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Universe 2 healthy if market cap is high but aggregate profit is negative?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distorts the universe average most?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 universe can be large and valuable while still showing poor current profit conversion.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combines TSR, profit, ROS and credit better than rivals.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Value-quality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607040" cy="57476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90800" y="1188720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Share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58640" y="1188720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26480" y="1188720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94320" y="1188720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Credit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62160" y="1188720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Reading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1717766"/>
            <a:ext cx="10607040" cy="574766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1763486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590800" y="1763486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16.4%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58640" y="1763486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12.5%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126480" y="1763486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18.9%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894320" y="1763486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662160" y="1763486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coherent leader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77240" y="2292531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2338251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The Godfathers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590800" y="2338251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14.4%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358640" y="2338251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-0.6%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26480" y="2338251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6.0%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894320" y="2338251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BB+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662160" y="2338251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valued option with loss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77240" y="2867297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2913017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590800" y="2913017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17.8%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358640" y="2913017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-3.6%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126480" y="2913017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0.5%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894320" y="2913017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B-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662160" y="2913017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share with loss risk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77240" y="3442063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3487783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590800" y="3487783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21.6%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358640" y="3487783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-26.6%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26480" y="3487783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-39.9%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894320" y="3487783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BB-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9662160" y="3487783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scale crisis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77240" y="4016829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2960" y="4062549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2590800" y="4062549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21.1%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358640" y="4062549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2.1%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126480" y="4062549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8.7%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894320" y="4062549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BB+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662160" y="4062549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high share, weak conversion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77240" y="4591594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4637314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590800" y="4637314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8.7%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4358640" y="4637314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18.9%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126480" y="4637314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16.2%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7894320" y="4637314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A+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9662160" y="4637314"/>
            <a:ext cx="167640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efficient but small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Who has share without margin?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Who has margin without scale?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Value quality requires share, margin, capital productivity and risk discipline together.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and Ochre are broad share players; Grey leads value quality.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battle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607040" cy="57476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44368" y="1188720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USA share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65776" y="1188720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Asia share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87184" y="1188720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Europe share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08592" y="1188720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Regional reading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717766"/>
            <a:ext cx="10607040" cy="574766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763486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44368" y="1763486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13.9%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065776" y="1763486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187184" y="1763486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308592" y="1763486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balanced with value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2292531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338251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The Godfathers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44368" y="2338251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15.5%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65776" y="2338251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187184" y="2338251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308592" y="2338251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needs region-specific repair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867297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913017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44368" y="2913017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14.7%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065776" y="2913017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187184" y="2913017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308592" y="2913017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needs region-specific repair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3442063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3487783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44368" y="3487783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26.0%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65776" y="3487783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187184" y="3487783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308592" y="3487783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scale, weak conversion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4016829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4062549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944368" y="4062549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17.1%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065776" y="4062549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187184" y="4062549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308592" y="4062549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Europe/Asia strong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77240" y="4591594"/>
            <a:ext cx="106070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960" y="4637314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44368" y="4637314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12.8%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065776" y="4637314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187184" y="4637314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n/a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308592" y="4637314"/>
            <a:ext cx="2029968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narrow reach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region is creating demand but not value?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should stop treating the world as one market?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Regional strategy must align price, feature value, technology, logistics and production.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spent most on R&amp;D and posted the largest loss.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option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98080" y="1417320"/>
            <a:ext cx="388620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Orange: USD 1.56bn R&amp;D and USD 762m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Green: USD 705m R&amp;D and negative profit.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Grey: moderate R&amp;D and best TSR.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Red: low R&amp;D, good profit; future risk must be tested.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R&amp;D spend created an option, and which created current damage?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evidence should justify large technology spending?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Technology possession becomes strategy only when customers, capacity and cash can commercialise 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holds the highest inventory despite strong margins.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cash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98080" y="1417320"/>
            <a:ext cx="388620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Red: high inventory of USD 589m, but positive ROS.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Ochre and The Godfathers carry short-term debt pressure.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has balanced cash and relatively moderate inventory.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Inventory is not a problem alone; it becomes dangerous with weak margin or debt.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Whose inventory is a buffer and whose inventory is a warning?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inventory threshold should trigger immediate correction?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Inventory is a stored managerial assumption about future demand.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quality separates the leader from the risk cases.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and risk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9/20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332720" cy="56170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89504" y="1188720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Credit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56048" y="1188720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Short debt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22592" y="1188720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Long debt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089136" y="1188720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704703"/>
            <a:ext cx="10332720" cy="561703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750423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889504" y="1750423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AA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56048" y="1750423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0m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022592" y="1750423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510m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089136" y="1750423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561m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2266406"/>
            <a:ext cx="103327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312126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The Godfathers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889504" y="2312126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BB+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956048" y="2312126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237m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022592" y="2312126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510m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089136" y="2312126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244m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828109"/>
            <a:ext cx="103327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873829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889504" y="2873829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B-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956048" y="2873829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0m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022592" y="2873829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810m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089136" y="2873829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480m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3389811"/>
            <a:ext cx="103327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3435531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889504" y="3435531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BB-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956048" y="3435531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0m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022592" y="3435531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510m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089136" y="3435531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575m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3951514"/>
            <a:ext cx="103327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3997234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889504" y="3997234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BB+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956048" y="3997234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270m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022592" y="3997234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810m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089136" y="3997234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1077m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77240" y="4513217"/>
            <a:ext cx="10332720" cy="56170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960" y="4558937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889504" y="4558937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A+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956048" y="4558937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302m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022592" y="4558937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510m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089136" y="4558937"/>
            <a:ext cx="1975104" cy="488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316m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does Grey’s AA rating matter for valuation?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debt position is planned risk and which looks like stress?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Debt changes risk and the discount rate; it is not merely a financing afterthought.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has the strongest market value; Orange remains highly valued despite losses.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Valuation 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23444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98080" y="1417320"/>
            <a:ext cx="388620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Grey: highest market cap and TSR.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Orange: second-highest market cap despite large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The Godfathers: rank 2 TSR despite slight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Red: profitable but lowest TSR rank, suggesting lower future-option story.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future cash flows could justify Orange’s valuation?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might Red be profitable but ranked last?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Valuation prices expectations, risk and growth options, not current profit alone.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is the cleanest U2 Round 3 system; Orange is the cautionary scale case.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relative scorecard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607040" cy="58782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884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Profit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Share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5236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77824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ROCE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104120" y="1188720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Risk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1730829"/>
            <a:ext cx="10607040" cy="587829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14884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47472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80060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12648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45236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77824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104120" y="1776549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318657"/>
            <a:ext cx="1060704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The Godfathers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14884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47472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80060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12648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45236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77824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0104120" y="2364377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77240" y="2906486"/>
            <a:ext cx="1060704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296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14884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47472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80060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2648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45236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77824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0104120" y="2952206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77240" y="3494314"/>
            <a:ext cx="1060704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296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14884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347472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80060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12648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745236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877824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0104120" y="3540034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777240" y="4082143"/>
            <a:ext cx="1060704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2296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214884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47472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480060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12648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745236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=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877824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10104120" y="4127863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77240" y="4669971"/>
            <a:ext cx="1060704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2296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214884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347472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480060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612648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--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745236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++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877824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10104120" y="4715691"/>
            <a:ext cx="123444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+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has the most coherent Round 3 pattern?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one bright spot hides a bigger risk?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 scorecard prevents metric cherry-picking.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 Round 3 leader.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Grey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16.1%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2208m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275m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12.5%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1520" y="22402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6112" y="235000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96112" y="2624328"/>
            <a:ext cx="534009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Highest TSR and market capitalisation.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Profit USD 275.1m; ROS 12.5%; ROCE 18.9%.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AA credit supports valuation credibility.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Must defend margin and avoid complacency.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766560" y="2240280"/>
          <a:ext cx="4023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did Grey do that made its value story coherent?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could make Grey lose leadership?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Team diagnosis must identify what to preserve, what to repair, and what evidence will test the next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Valuation-positive despite weak current profit.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The Godfathers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12.0%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1802m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-11m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-0.6%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BB+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1520" y="22402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6112" y="235000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96112" y="2624328"/>
            <a:ext cx="534009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Rank 2 on TSR despite a small loss.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Market cap USD 7.34bn.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BB+ credit makes the future option risky.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Needs immediate conversion of demand into profit.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766560" y="2240280"/>
          <a:ext cx="4023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Why does the market rank a loss-making team second?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must The Godfathers prove next?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Team diagnosis must identify what to preserve, what to repair, and what evidence will test the next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without current profitability.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Green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3rd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7.8%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1986m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-72m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-3.6%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B-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1520" y="22402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6112" y="235000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96112" y="2624328"/>
            <a:ext cx="534009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Strong global share at 17.8%.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Loss of USD 71.9m and B- credit.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Heavy R&amp;D creates option but also pressure.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Needs cash and product-market-fit discipline.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766560" y="2240280"/>
          <a:ext cx="4023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Green buying future share or accumulating risk?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first repair decision matters most?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Team diagnosis must identify what to preserve, what to repair, and what evidence will test the next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crisis: largest revenue, largest loss.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Orange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7.2%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2863m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-762m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-26.6%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BB-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1520" y="22402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6112" y="235000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96112" y="2624328"/>
            <a:ext cx="534009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Largest sales and global share.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Loss of USD 762m; ROS -26.6%.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R&amp;D USD 1.56bn raises payoff pressure.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BB- credit increases valuation risk.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766560" y="2240280"/>
          <a:ext cx="4023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assumption made Orange pursue so much scale and R&amp;D?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stop-loss rule should Orange write now?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Team diagnosis must identify what to preserve, what to repair, and what evidence will test the next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share, weak conversion.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Ochre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5th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1.3%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2135m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46m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2.1%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BB+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1520" y="22402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6112" y="235000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96112" y="2624328"/>
            <a:ext cx="534009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Second-highest share and decent sales.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Profit only USD 45.8m and BB+ credit.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High cash protects flexibility.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Needs margin and risk repair.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766560" y="2240280"/>
          <a:ext cx="4023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prevents Ochre’s high share from becoming stronger TSR?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Should Ochre defend share or rebuild margin?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Team diagnosis must identify what to preserve, what to repair, and what evidence will test the next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but small and under-valued.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Red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17/20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3035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Rank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9494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6th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15540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80132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TSR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80132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0132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300728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5320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Revenue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465320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1128m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5320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185916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508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Profit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50508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213m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0508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71104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35696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ROS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5696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18.9%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5696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956292" y="1078992"/>
            <a:ext cx="17754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20884" y="1188720"/>
            <a:ext cx="1446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Credit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20884" y="1463040"/>
            <a:ext cx="14462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20884" y="1709928"/>
            <a:ext cx="14462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1520" y="22402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6112" y="2350008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Managerial diagnosis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96112" y="2624328"/>
            <a:ext cx="534009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Strong ROS of 18.9%.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Positive profit USD 212.7m.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Lowest TSR rank due to weak share and smaller scale.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Needs growth option without losing margin.</a:t>
            </a:r>
            <a:endParaRPr lang="en-US" sz="11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766560" y="2240280"/>
          <a:ext cx="4023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Red efficient or strategically too small?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growth move can Red make without losing ROS?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Team diagnosis must identify what to preserve, what to repair, and what evidence will test the next decision.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 rewarded conversion discipline more than scale.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U2 rewarded and punished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Reward / penalty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28160" y="118872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Evidence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33360" y="118872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Teaching meaning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920240"/>
            <a:ext cx="10515600" cy="777240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96596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Reward: coherent conversion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328160" y="196596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 leads TSR with profit, AA credit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833360" y="196596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Profit quality matters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7240" y="2697480"/>
            <a:ext cx="10515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274320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Reward: efficiency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28160" y="274320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Red has high ROS but needs scale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833360" y="274320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Efficiency alone is not enough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3474720"/>
            <a:ext cx="10515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352044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Penalty: scale without margin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328160" y="352044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 largest sales, largest loss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833360" y="352044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Size can destroy value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251960"/>
            <a:ext cx="10515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29768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Penalty: option without proof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328160" y="429768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Heavy R&amp;D in Orange/Green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833360" y="4297680"/>
            <a:ext cx="3413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Timing matters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did the market reward most clearly in Universe 2?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did it punish most sharply?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The market rewards systems of choices, not isolated impressive numbers.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rule before changing the number.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checklist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Round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143000"/>
            <a:ext cx="10149840" cy="57476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188720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Area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0" y="1188720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1717766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1763486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Demand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035040" y="1763486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Validate region and technology demand before capacity.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292531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2338251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Price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035040" y="2338251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Protect contribution, not only volume.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2867297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2913017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R&amp;D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035040" y="2913017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Stage large options and set payoff evidence.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14400" y="3442063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487783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Inventory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035040" y="3487783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Define a correction threshold.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4016829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062549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Finance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035040" y="4062549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Protect credit rating and avoid unplanned debt.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14400" y="4591594"/>
            <a:ext cx="10149840" cy="57476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637314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Region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035040" y="4637314"/>
            <a:ext cx="4983480" cy="501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Make region-specific strategy choices.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rule would have prevented the largest U2 mistake?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decision must be made more slowly next round?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Responsible managers use guardrails before optimism becomes risk.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Universe 2, size and value diverged sharply.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20/20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005840" y="1600200"/>
            <a:ext cx="9875520" cy="201168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70432" y="1709928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Central lesson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70432" y="1984248"/>
            <a:ext cx="954633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The biggest firm was not the strongest firm. The leader was the team that combined valuation, profit, margin and risk quality most coherently.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will your team preserve?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will your team redesign?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Sustainable value creation demands coherence across customer value, operations, finance and risk.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Section D Round 3 Debrief</dc:title>
  <dc:subject>CESIM Global Challenge Section D Round 3 Debrief</dc:subject>
  <dc:creator>OpenAI</dc:creator>
  <cp:lastModifiedBy>OpenAI</cp:lastModifiedBy>
  <cp:revision>1</cp:revision>
  <dcterms:created xsi:type="dcterms:W3CDTF">2026-08-14T09:30:23Z</dcterms:created>
  <dcterms:modified xsi:type="dcterms:W3CDTF">2026-08-14T09:30:23Z</dcterms:modified>
</cp:coreProperties>
</file>