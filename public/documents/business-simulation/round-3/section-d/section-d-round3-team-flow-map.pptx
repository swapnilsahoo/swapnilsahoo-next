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sales $bn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2.72456812220305</c:v>
                </c:pt>
                <c:pt idx="1">
                  <c:v>1.33935039280295</c:v>
                </c:pt>
                <c:pt idx="2">
                  <c:v>0.502577750497732</c:v>
                </c:pt>
                <c:pt idx="3">
                  <c:v>1.88586341114679</c:v>
                </c:pt>
                <c:pt idx="4">
                  <c:v>1.99071469766095</c:v>
                </c:pt>
                <c:pt idx="5">
                  <c:v>1.94500306182476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R3 profit $bn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0.331320463776147</c:v>
                </c:pt>
                <c:pt idx="1">
                  <c:v>0.368629177900322</c:v>
                </c:pt>
                <c:pt idx="2">
                  <c:v>-0.258731653087635</c:v>
                </c:pt>
                <c:pt idx="3">
                  <c:v>0.0451652816068213</c:v>
                </c:pt>
                <c:pt idx="4">
                  <c:v>0.44882614803091697</c:v>
                </c:pt>
                <c:pt idx="5">
                  <c:v>0.111833666311653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BD5E1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sales $bn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 / 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1.98635912676689</c:v>
                </c:pt>
                <c:pt idx="1">
                  <c:v>1.1277755618745702</c:v>
                </c:pt>
                <c:pt idx="2">
                  <c:v>1.80213223842446</c:v>
                </c:pt>
                <c:pt idx="3">
                  <c:v>2.86252045008671</c:v>
                </c:pt>
                <c:pt idx="4">
                  <c:v>2.20758412047427</c:v>
                </c:pt>
                <c:pt idx="5">
                  <c:v>2.13547775016162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R3 profit $bn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Blue / The Godfathers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-0.071927358075501</c:v>
                </c:pt>
                <c:pt idx="1">
                  <c:v>0.21271471699724398</c:v>
                </c:pt>
                <c:pt idx="2">
                  <c:v>-0.010500682412393601</c:v>
                </c:pt>
                <c:pt idx="3">
                  <c:v>-0.7619798925357251</c:v>
                </c:pt>
                <c:pt idx="4">
                  <c:v>0.27506741934306</c:v>
                </c:pt>
                <c:pt idx="5">
                  <c:v>0.045767650651207796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BD5E1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685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CESIM Global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Section D team flow maps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Round 1 → Round 2 → Round 3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</a:rPr>
              <a:t>Universe 1 and Universe 2 • Rank, TSR, value, revenue, profit and strategic movement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6384" y="3218688"/>
            <a:ext cx="5102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Core teaching question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" y="3493008"/>
            <a:ext cx="51023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How did each team’s strategic path evolve across three rounds, and which movements reflect real managerial learning rather than noise?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310896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172034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38544" y="3218688"/>
            <a:ext cx="4187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Flow-map logic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38544" y="3493008"/>
            <a:ext cx="418795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Ranks are based on cumulative TSR. Supporting flows show where rank movements came from: share price, market capitalisation, revenue, profit, ROS, ROCE, debt and market share.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GL Sec D • R1→R3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0" y="63550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1/20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firms are tracked even where student-facing names changed.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integrity and team-name mapping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Sec D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77240" y="1188720"/>
            <a:ext cx="10789920" cy="402336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34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Universe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980944" y="1234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Round 1 identity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138928" y="1234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Round 2 identity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296912" y="1234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Round 3 identity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9454896" y="123444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Comparison name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77240" y="1591056"/>
            <a:ext cx="10789920" cy="40233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636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U1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80944" y="1636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138928" y="1636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Chahakars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296912" y="1636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454896" y="1636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1993392"/>
            <a:ext cx="10789920" cy="40233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039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U2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80944" y="2039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138928" y="2039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296912" y="2039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The Godfathers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454896" y="2039112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The Godfathers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395728"/>
            <a:ext cx="10789920" cy="40233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U1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80944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Green, Red Rangers, Orange, Grey, Ochre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138928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Same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296912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Same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454896" y="244144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unchanged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2798064"/>
            <a:ext cx="10789920" cy="40233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2843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U2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80944" y="2843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Green, Red, Orange, Grey, Ochre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138928" y="2843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Same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296912" y="2843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Same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454896" y="2843784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unchanged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22960" y="35204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69264" y="3630168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Files checked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9264" y="3904488"/>
            <a:ext cx="29992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Round 0, Round 1, Round 2 and Round 3 workbooks for Sec D Universe 1 and Universe 2 were inspected for team identities and metric locations.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34840" y="35204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81144" y="3630168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Ranking criterion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81144" y="3904488"/>
            <a:ext cx="29992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All rank-flow slides use cumulative TSR, the simulation’s principal shareholder-value criterion.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46720" y="35204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193024" y="3630168"/>
            <a:ext cx="2724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Comparison caution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93024" y="3904488"/>
            <a:ext cx="27249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Round 0 is treated as the baseline identity check; the main flow map is Round 1 → Round 2 → Round 3.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error would occur if Chahakars and Blue were treated as separate teams?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Why should Round 0 be used as baseline but not mixed with Round 1–3 flow?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 flow map is valid only when the identity of the firm remains constant across rounds.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Ranks show relative shareholder value; supporting flows reveal why value moved.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the flow maps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Sec D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3/20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Assumption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67712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414016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Decision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95344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41648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Operations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21224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22976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0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Market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48856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50608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296912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Finance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76488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78240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24544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Risk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04120" y="1417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405872" y="1234440"/>
            <a:ext cx="126187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552176" y="1344168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Valuation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2606040"/>
            <a:ext cx="49377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Do not explain rank by rank. Explain rank by the operating and financial movements underneath it.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A team may improve absolutely but fall relatively if competitors compound faster.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A team may gain share but destroy value if margin, cash or risk weaken.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Cumulative TSR must be read alongside share price, market capitalisation, and current profit.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675120" y="256032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21424" y="2670048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Facilitator move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21424" y="2944368"/>
            <a:ext cx="400507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Ask every team to state: one assumption, one result that confirmed it, one result that rejected it, and one decision rule for the next round.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number is an outcome, and which number explains the outcome?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Where did your team’s causal chain break?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Managerial learning begins when a team can connect its decision to a measurable consequence.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 regained leadership; Grey made the largest upward move.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rank-flow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2179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62179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62179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62179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2179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16052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3367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423367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23367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3367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23367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423367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77240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84555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84555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4555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784555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84555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84555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22960" y="4892040"/>
            <a:ext cx="3611880" cy="0"/>
          </a:xfrm>
          <a:prstGeom prst="line">
            <a:avLst/>
          </a:prstGeom>
          <a:noFill/>
          <a:ln w="12700">
            <a:solidFill>
              <a:srgbClr val="22C55E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434840" y="4892040"/>
            <a:ext cx="3611880" cy="0"/>
          </a:xfrm>
          <a:prstGeom prst="line">
            <a:avLst/>
          </a:prstGeom>
          <a:noFill/>
          <a:ln w="12700">
            <a:solidFill>
              <a:srgbClr val="22C55E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58952" y="4828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370832" y="4828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982712" y="48280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156448" y="480974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Green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822960" y="2807208"/>
            <a:ext cx="3611880" cy="0"/>
          </a:xfrm>
          <a:prstGeom prst="line">
            <a:avLst/>
          </a:prstGeom>
          <a:noFill/>
          <a:ln w="12700">
            <a:solidFill>
              <a:srgbClr val="EF4444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434840" y="2807208"/>
            <a:ext cx="3611880" cy="0"/>
          </a:xfrm>
          <a:prstGeom prst="line">
            <a:avLst/>
          </a:prstGeom>
          <a:noFill/>
          <a:ln w="12700">
            <a:solidFill>
              <a:srgbClr val="EF4444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58952" y="27432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370832" y="27432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982712" y="27432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156448" y="27249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Red Rangers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822960" y="3502152"/>
            <a:ext cx="3611880" cy="0"/>
          </a:xfrm>
          <a:prstGeom prst="line">
            <a:avLst/>
          </a:prstGeom>
          <a:noFill/>
          <a:ln w="12700">
            <a:solidFill>
              <a:srgbClr val="3B82F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434840" y="3502152"/>
            <a:ext cx="3611880" cy="694944"/>
          </a:xfrm>
          <a:prstGeom prst="line">
            <a:avLst/>
          </a:prstGeom>
          <a:noFill/>
          <a:ln w="12700">
            <a:solidFill>
              <a:srgbClr val="3B82F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58952" y="343814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370832" y="343814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982712" y="413308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156448" y="41148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Blue / Chahakars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822960" y="2112264"/>
            <a:ext cx="3611880" cy="-694944"/>
          </a:xfrm>
          <a:prstGeom prst="line">
            <a:avLst/>
          </a:prstGeom>
          <a:noFill/>
          <a:ln w="12700">
            <a:solidFill>
              <a:srgbClr val="F9731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434840" y="1417320"/>
            <a:ext cx="3611880" cy="2084832"/>
          </a:xfrm>
          <a:prstGeom prst="line">
            <a:avLst/>
          </a:prstGeom>
          <a:noFill/>
          <a:ln w="12700">
            <a:solidFill>
              <a:srgbClr val="F9731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58952" y="20482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370832" y="135331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982712" y="343814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156448" y="34198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Orange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822960" y="4197096"/>
            <a:ext cx="3611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434840" y="4197096"/>
            <a:ext cx="3611880" cy="-20848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758952" y="41330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370832" y="41330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982712" y="2048256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156448" y="20299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ACC15"/>
                </a:solidFill>
              </a:rPr>
              <a:t>Grey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822960" y="1417320"/>
            <a:ext cx="3611880" cy="694944"/>
          </a:xfrm>
          <a:prstGeom prst="line">
            <a:avLst/>
          </a:prstGeom>
          <a:noFill/>
          <a:ln w="12700">
            <a:solidFill>
              <a:srgbClr val="F59E0B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434840" y="2112264"/>
            <a:ext cx="3611880" cy="-694944"/>
          </a:xfrm>
          <a:prstGeom prst="line">
            <a:avLst/>
          </a:prstGeom>
          <a:noFill/>
          <a:ln w="12700">
            <a:solidFill>
              <a:srgbClr val="F59E0B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58952" y="13533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370832" y="20482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7982712" y="13533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156448" y="1335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Ochre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845820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604504" y="148132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Biggest riser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604504" y="175564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Grey: 5th → 5th → 2nd. The rank jump is supported by strong Round 3 profit, ROS, ROCE and AAA credit.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458200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604504" y="267004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Leadership path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604504" y="294436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Ochre: 1st → 2nd → 1st. It regained the lead even though current profit quality needs scrutiny.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8458200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604504" y="385876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Largest fall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604504" y="413308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Orange: 2nd → 1st → 4th. The R2 valuation story weakened by R3.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did Grey change between Round 2 and Round 3?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Why did Orange lose relative rank after leading Round 2?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Rank movement is a symptom. Diagnose the mechanism through profit, cash, risk and future option credibility.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dominated all three rounds; Red collapsed from middle rank to last.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rank-flow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864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2179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62179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62179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62179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2179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416052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3367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423367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423367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3367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423367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423367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772400" y="1106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0" y="1371600"/>
            <a:ext cx="0" cy="356616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845552" y="1335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1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845552" y="202996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2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45552" y="27249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3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7845552" y="341985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4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845552" y="41148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5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7845552" y="4809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6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22960" y="2807208"/>
            <a:ext cx="3611880" cy="-694944"/>
          </a:xfrm>
          <a:prstGeom prst="line">
            <a:avLst/>
          </a:prstGeom>
          <a:noFill/>
          <a:ln w="12700">
            <a:solidFill>
              <a:srgbClr val="22C55E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434840" y="2112264"/>
            <a:ext cx="3611880" cy="694944"/>
          </a:xfrm>
          <a:prstGeom prst="line">
            <a:avLst/>
          </a:prstGeom>
          <a:noFill/>
          <a:ln w="12700">
            <a:solidFill>
              <a:srgbClr val="22C55E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58952" y="27432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370832" y="20482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982712" y="27432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156448" y="27249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Green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822960" y="4197096"/>
            <a:ext cx="3611880" cy="-694944"/>
          </a:xfrm>
          <a:prstGeom prst="line">
            <a:avLst/>
          </a:prstGeom>
          <a:noFill/>
          <a:ln w="12700">
            <a:solidFill>
              <a:srgbClr val="EF4444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434840" y="3502152"/>
            <a:ext cx="3611880" cy="1389888"/>
          </a:xfrm>
          <a:prstGeom prst="line">
            <a:avLst/>
          </a:prstGeom>
          <a:noFill/>
          <a:ln w="12700">
            <a:solidFill>
              <a:srgbClr val="EF4444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58952" y="413308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370832" y="34381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982712" y="48280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156448" y="480974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Red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822960" y="2112264"/>
            <a:ext cx="3611880" cy="694944"/>
          </a:xfrm>
          <a:prstGeom prst="line">
            <a:avLst/>
          </a:prstGeom>
          <a:noFill/>
          <a:ln w="1270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434840" y="2807208"/>
            <a:ext cx="3611880" cy="-694944"/>
          </a:xfrm>
          <a:prstGeom prst="line">
            <a:avLst/>
          </a:prstGeom>
          <a:noFill/>
          <a:ln w="12700">
            <a:solidFill>
              <a:srgbClr val="A78BFA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58952" y="204825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370832" y="274320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982712" y="204825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8156448" y="20299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Blue / The Godfathers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822960" y="4892040"/>
            <a:ext cx="3611880" cy="-694944"/>
          </a:xfrm>
          <a:prstGeom prst="line">
            <a:avLst/>
          </a:prstGeom>
          <a:noFill/>
          <a:ln w="12700">
            <a:solidFill>
              <a:srgbClr val="F9731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434840" y="4197096"/>
            <a:ext cx="3611880" cy="-694944"/>
          </a:xfrm>
          <a:prstGeom prst="line">
            <a:avLst/>
          </a:prstGeom>
          <a:noFill/>
          <a:ln w="12700">
            <a:solidFill>
              <a:srgbClr val="F9731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58952" y="48280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370832" y="413308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982712" y="343814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156448" y="341985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Orange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822960" y="1417320"/>
            <a:ext cx="3611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434840" y="1417320"/>
            <a:ext cx="3611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758952" y="135331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370832" y="135331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982712" y="135331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156448" y="1335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ACC15"/>
                </a:solidFill>
              </a:rPr>
              <a:t>Grey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822960" y="3502152"/>
            <a:ext cx="3611880" cy="1389888"/>
          </a:xfrm>
          <a:prstGeom prst="line">
            <a:avLst/>
          </a:prstGeom>
          <a:noFill/>
          <a:ln w="12700">
            <a:solidFill>
              <a:srgbClr val="F59E0B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434840" y="4892040"/>
            <a:ext cx="3611880" cy="-694944"/>
          </a:xfrm>
          <a:prstGeom prst="line">
            <a:avLst/>
          </a:prstGeom>
          <a:noFill/>
          <a:ln w="12700">
            <a:solidFill>
              <a:srgbClr val="F59E0B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58952" y="34381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4370832" y="4828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7982712" y="41330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156448" y="41148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Ochre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8458200" y="13716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604504" y="148132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Stable leader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604504" y="175564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Grey: 1st → 1st → 1st. Leadership persisted despite declining cumulative TSR level.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458200" y="2560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604504" y="267004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Name change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604504" y="294436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Blue became The Godfathers in Round 3 and moved 2nd → 3rd → 2nd.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8458200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604504" y="3858768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Warning path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604504" y="4133088"/>
            <a:ext cx="2450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Red: 5th → 4th → 6th. A mid-pack recovery failed to hold.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made Grey’s position more defensible in Universe 2 than in Universe 1?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Why did Red’s relative position deteriorate by Round 3?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Persistent rank means the strategic system, not just one decision, is probably driving outcomes.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levels compressed sharply; only Ochre, Grey, Red and Orange stayed positive.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cumulative TSR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6/20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07568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-32.3%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9300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463600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-48.6%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5332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719632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-25.4%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3268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207568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34.9%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9300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6616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463600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16.3%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5332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719632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12.6%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3268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584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207568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24.8%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9300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6616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463600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9.5%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5332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2648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719632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-16.4%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3268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584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207568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35.0%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9300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56616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463600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24.1%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5332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2648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719632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11.3%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3268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0584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207568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16.7%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9300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56616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463600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9.0%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5332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719632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12.8%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3268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0584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207568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37.3%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49300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56616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463600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23.6%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5332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12648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719632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18.3%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732520" y="1417320"/>
            <a:ext cx="25146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Ochre ends at 18.3%, rank 1.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 ends at 12.8%, rank 2.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Green remains negative at -25.4%.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Blue/Chahakars turns negative at -16.4%.</a:t>
            </a:r>
            <a:endParaRPr lang="en-US" sz="1120" dirty="0"/>
          </a:p>
        </p:txBody>
      </p:sp>
      <p:sp>
        <p:nvSpPr>
          <p:cNvPr id="71" name="Shape 6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TSR decline is worrying, and which is only an annualised compounding effect?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evidence shows that Grey’s improvement is operational, not cosmetic?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Cumulative TSR is a value signal; use operating metrics to explain its movement.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remained first, but all TSR levels softened by Round 3.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cumulative TSR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7/20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07568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29.8%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9300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463600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27.1%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5332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719632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7.8%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3268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207568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23.7%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9300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6616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463600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19.4%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5332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719632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0.8%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3268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584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207568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31.4%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9300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6616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463600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22.9%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5332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2648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719632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12.0%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3268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584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207568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13.1%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9300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56616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463600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5.2%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5332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2648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719632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7.2%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3268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0584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207568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32.1%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9300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56616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463600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28.6%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5332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719632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16.1%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3268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0584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207568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28.1%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49300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56616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463600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-2.9%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5332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12648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719632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1.3%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732520" y="1417320"/>
            <a:ext cx="25146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 finishes first at 16.1%.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Blue/The Godfathers is second at 12.0%.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Red falls to last at 0.8%.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Orange recovers slightly from Round 2 but remains mid-table.</a:t>
            </a:r>
            <a:endParaRPr lang="en-US" sz="1120" dirty="0"/>
          </a:p>
        </p:txBody>
      </p:sp>
      <p:sp>
        <p:nvSpPr>
          <p:cNvPr id="71" name="Shape 6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Why can the leading team’s TSR decline while it remains leader?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made The Godfathers recover to second place?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Relative rank and absolute value level are different questions. Teach both.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Grey’s market capitalisation rose materially while Green stayed value-damaged.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market-value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8/20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07568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$4.92bn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9300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463600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$2.22bn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5332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719632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$3.26bn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3268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207568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$7.64bn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9300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6616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463600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$7.66bn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5332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 Rangers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719632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$8.10bn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3268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584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207568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$7.07bn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9300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6616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463600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$6.79bn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5332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2648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Chahakars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719632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$3.31bn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3268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584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207568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$7.65bn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9300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56616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463600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$8.72bn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5332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2648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719632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$7.82bn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3268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0584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207568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$6.61bn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9300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56616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463600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$6.66bn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5332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719632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$8.06bn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3268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0584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207568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$7.78bn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49300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56616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463600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$8.65bn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5332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12648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719632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$8.66bn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732520" y="1417320"/>
            <a:ext cx="25146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Grey: $6.61bn → $8.06bn.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Ochre remains highest-valued in Round 3.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Green’s market cap remains far below the leadership group.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Blue/Chahakars is the most visible value-destruction path.</a:t>
            </a:r>
            <a:endParaRPr lang="en-US" sz="1120" dirty="0"/>
          </a:p>
        </p:txBody>
      </p:sp>
      <p:sp>
        <p:nvSpPr>
          <p:cNvPr id="71" name="Shape 6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created market value without being rank 1?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firm needs to rebuild credibility before chasing growth?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Market capitalisation measures investor belief after adjusting for debt, cash and risk.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and The Godfathers held the strongest valuation positions by Round 3.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market-value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9/20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960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R3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2377440" cy="379476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18" name="Text 16"/>
          <p:cNvSpPr/>
          <p:nvPr/>
        </p:nvSpPr>
        <p:spPr>
          <a:xfrm>
            <a:off x="207568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$7.35bn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9300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463600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$9.14bn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53328" y="139903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26480" y="14447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Green</a:t>
            </a:r>
            <a:endParaRPr lang="en-US" sz="670" dirty="0"/>
          </a:p>
        </p:txBody>
      </p:sp>
      <p:sp>
        <p:nvSpPr>
          <p:cNvPr id="24" name="Text 22"/>
          <p:cNvSpPr/>
          <p:nvPr/>
        </p:nvSpPr>
        <p:spPr>
          <a:xfrm>
            <a:off x="7196328" y="147218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$6.65bn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3268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0584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207568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$7.01bn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9300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6616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463600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$7.81bn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53328" y="1976628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0" y="20223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Red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7196328" y="204978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$5.51bn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3268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0584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207568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$7.44bn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9300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6616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463600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$8.55bn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053328" y="2554224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26480" y="259994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Blue / The Godfathers</a:t>
            </a:r>
            <a:endParaRPr lang="en-US" sz="670" dirty="0"/>
          </a:p>
        </p:txBody>
      </p:sp>
      <p:sp>
        <p:nvSpPr>
          <p:cNvPr id="42" name="Text 40"/>
          <p:cNvSpPr/>
          <p:nvPr/>
        </p:nvSpPr>
        <p:spPr>
          <a:xfrm>
            <a:off x="7196328" y="262737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$7.34bn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3268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584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207568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$6.41bn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9300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56616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463600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$6.27bn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053328" y="3131820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126480" y="31775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Orange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7196328" y="320497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$8.37bn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3268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00584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207568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$7.48bn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49300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56616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463600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$9.37bn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53328" y="3709416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FF7CC"/>
          </a:solidFill>
          <a:ln w="12700">
            <a:solidFill>
              <a:srgbClr val="FACC1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126480" y="37551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172A"/>
                </a:solidFill>
              </a:rPr>
              <a:t>Grey</a:t>
            </a: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7196328" y="378256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$8.87bn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3268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0584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207568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$7.25bn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49300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56616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463600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$5.33bn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53328" y="4287012"/>
            <a:ext cx="2157984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126480" y="43327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Ochre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7196328" y="436016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$5.88bn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732520" y="1417320"/>
            <a:ext cx="25146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 remains the value anchor in Universe 2.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The Godfathers sits second on TSR and maintains a large value base.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Red ends last on TSR despite not being the smallest by revenue.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Ochre recovers from a weak Round 2 ranking but remains low TSR.</a:t>
            </a:r>
            <a:endParaRPr lang="en-US" sz="1120" dirty="0"/>
          </a:p>
        </p:txBody>
      </p:sp>
      <p:sp>
        <p:nvSpPr>
          <p:cNvPr id="71" name="Shape 6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the most credible value story in U2 after three rounds?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market-cap movement needs a risk explanation?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Investors value repeatable cash-flow credibility more than isolated operating activity.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leads revenue; Grey and Red show stronger profit conversion.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revenue and profit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10/20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14300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Green: highest sales, but negative cumulative TSR.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Grey: high profit conversion and rank jump.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Red Rangers: strong profit despite lower rank movement.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Blue/Chahakars: revenue and profit both collapsed.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Who converted revenue into value, and who converted revenue into burden?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should stop chasing volume and repair economics first?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Revenue is not value until it survives margin, cash, risk and valuation.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Grey’s rank leadership is supported by stronger profit conversion.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revenue and profit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11/20</a:t>
            </a:r>
            <a:endParaRPr lang="en-US" sz="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114300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49808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Grey leads the rank table with visible profit support.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The Godfathers retains rank 2; test if valuation is backed by operating conversion.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Green falls from 3rd to 3rd but with weaker TSR level.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</a:rPr>
              <a:t>• Red ends last and must diagnose conversion and risk.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Does Universe 2 show more stable leadership or less competitive disruption?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the best profit-to-value alignment?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 leader is stronger when rank, profit, capital productivity and risk move in the same direction.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captured share; Grey captured economic quality.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market-share and margin migration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12/20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10835640" cy="574766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53746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R3 rank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34340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Global share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14934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95528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ROCE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76122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Reading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5800" y="1672046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53746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6th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4340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31.7%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14934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12.2%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95528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11.0%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76122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scale without credibility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2246811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53746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3rd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34340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12.2%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4934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27.5%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95528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20.2%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76122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margin engine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85800" y="2821577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53746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5th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34340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4.4%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4934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-51.5%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95528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-6.1%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76122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85800" y="3396343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152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53746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4th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34340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16.8%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4934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2.4%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95528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6.2%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976122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85800" y="3971109"/>
            <a:ext cx="10835640" cy="574766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152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253746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2nd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34340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17.1%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14934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22.5%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95528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41.4%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76122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compounder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85800" y="4545874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152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53746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1st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434340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17.8%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14934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5.7%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795528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11.4%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976122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leader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share without trust?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economics strong enough to fund future options?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The strongest strategic position combines share, margin, capital productivity and valuation credibility.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Grey’s leadership is backed by value quality, not just rank inertia.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market-share and margin migration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13/20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85800" y="1097280"/>
            <a:ext cx="10835640" cy="574766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53746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R3 rank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434340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Global share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14934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95528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ROCE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761220" y="1143000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Reading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85800" y="1672046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53746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3rd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4340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17.8%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14934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-3.6%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95528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0.5%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761220" y="1717766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5800" y="2246811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3152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53746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6th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34340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8.7%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4934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18.9%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95528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16.2%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761220" y="2292531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85800" y="2821577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The Godfathers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253746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2nd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34340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14.4%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4934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-0.6%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95528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6.0%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761220" y="2867297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85800" y="3396343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152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53746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4th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34340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21.6%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4934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-26.6%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95528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-39.9%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9761220" y="3442063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85800" y="3971109"/>
            <a:ext cx="10835640" cy="574766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152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253746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1st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34340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16.4%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14934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12.5%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95528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18.9%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761220" y="4016829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leader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85800" y="4545874"/>
            <a:ext cx="10835640" cy="574766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152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53746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5th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434340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21.1%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14934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2.1%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795528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8.7%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9761220" y="4591594"/>
            <a:ext cx="17145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Where does Grey’s advantage show up beyond rank?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a high enough share but weak enough margin to worry us?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Market share must be read with profitability; otherwise scale can become disguised fragility.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distinct pathways: leader, compounder, margin engine, option fade, repair, value crisis.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team journeys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14/20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1051560"/>
            <a:ext cx="11201400" cy="607423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1488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Rank flow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7490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TSR R3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3492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Rank move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9494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Profit R3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5496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ROS R3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01498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Profile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02920" y="1658983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1488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6th → 6th → 6th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7490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-25.4%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3492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9494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331m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5496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12.2%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01498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scale without credibility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02920" y="2266406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1488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3rd → 3rd → 3rd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7490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12.6%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3492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9494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369m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5496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27.5%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1498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margin engine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02920" y="2873829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1488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4th → 4th → 5th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7490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-16.4%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3492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-1.0%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9494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-259m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5496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-51.5%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01498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02920" y="3481251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21488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2nd → 1st → 4th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37490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11.3%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3492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-2.0%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9494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45m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85496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2.4%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101498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02920" y="4088674"/>
            <a:ext cx="11201400" cy="607423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486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21488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5th → 5th → 2nd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37490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12.8%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3492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+3.0%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9494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449m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5496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22.5%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101498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compounder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02920" y="4696097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486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21488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1st → 2nd → 1st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37490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18.3%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53492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9494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112m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5496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5.7%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101498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leader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profile best describes your team: leader, compounder, repair, or crisis?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is the one decision that explains your pathway?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 team journey is a pattern, not a single score. Look for coherence across the path.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 remained the anchor; The Godfathers recovered rank; Red became the warning case.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team journeys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15/20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1051560"/>
            <a:ext cx="11201400" cy="607423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1488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Rank flow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37490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TSR R3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53492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Rank move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9494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Profit R3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85496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ROS R3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10149840" y="1097280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Profile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02920" y="1658983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1488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3rd → 2nd → 3rd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7490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7.8%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3492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9494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-72m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5496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-3.6%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0149840" y="1704703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02920" y="2266406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1488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5th → 4th → 6th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7490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0.8%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3492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-1.0%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9494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213m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5496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18.9%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0149840" y="2312126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02920" y="2873829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The Godfathers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1488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2nd → 3rd → 2nd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7490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12.0%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3492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9494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-11m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5496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-0.6%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0149840" y="2919549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02920" y="3481251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21488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6th → 5th → 4th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37490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7.2%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3492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+2.0%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9494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-762m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85496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-26.6%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10149840" y="3526971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crisis / repair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502920" y="4088674"/>
            <a:ext cx="11201400" cy="607423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486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21488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1st → 1st → 1st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37490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16.1%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3492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+0.0%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9494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275m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85496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12.5%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10149840" y="4134394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leader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502920" y="4696097"/>
            <a:ext cx="11201400" cy="607423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486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21488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4th → 6th → 5th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37490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1.3%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53492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-1.0%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9494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46m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5496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2.1%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10149840" y="4741817"/>
            <a:ext cx="1508760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challenger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learned fastest across the three rounds?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has the most urgent Round 4 repair agenda?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Pathway diagnosis converts scorekeeping into managerial learning.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 was more volatile; Universe 2 had more persistent rank leadership.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movement pattern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vs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16/20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77240" y="1188720"/>
            <a:ext cx="10607040" cy="533400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1234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Metric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944368" y="1234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Universe 1 R3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5065776" y="1234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Δ vs R1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187184" y="1234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Universe 2 R3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9308592" y="1234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Δ vs R1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77240" y="1722120"/>
            <a:ext cx="10607040" cy="53340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7678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Sales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2944368" y="17678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$10.39bn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065776" y="17678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+14.2%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187184" y="17678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$12.12bn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308592" y="17678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+26.2%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2255520"/>
            <a:ext cx="10607040" cy="53340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3012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Profit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944368" y="23012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1047m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65776" y="23012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+96.2%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187184" y="23012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-311m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308592" y="23012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-121.8%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" y="2788920"/>
            <a:ext cx="10607040" cy="53340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8346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Aggregate ROS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944368" y="28346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10.1%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065776" y="28346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+4.2 pp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187184" y="28346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-2.6%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9308592" y="28346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-17.4 pp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3322320"/>
            <a:ext cx="10607040" cy="53340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3680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Market cap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944368" y="33680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$39.20bn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65776" y="33680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-5.9%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7187184" y="33680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$42.62bn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308592" y="33680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-0.8%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7240" y="3855720"/>
            <a:ext cx="10607040" cy="53340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" y="3901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Inventory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2944368" y="3901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1716m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065776" y="3901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+49.6%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187184" y="3901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1396m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9308592" y="3901440"/>
            <a:ext cx="202996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+50.1%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14400" y="46634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60704" y="4773168"/>
            <a:ext cx="4462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Universe 1 reading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60704" y="5047488"/>
            <a:ext cx="44622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High movement: Ochre reclaims leadership, Grey surges, Orange fades, Blue enters crisis.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00800" y="46634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547104" y="4773168"/>
            <a:ext cx="4279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Universe 2 reading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47104" y="5047488"/>
            <a:ext cx="427939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Lower movement: Grey remains first; the key action is behind it—The Godfathers versus Green and the Red decline.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universe learned faster, and what evidence supports that claim?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universe has the more dangerous hidden risk?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Compare universes by patterns, not by mixing teams into one artificial leaderboard.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lessons: rank is relative, value is risk-adjusted, and learning must be visible in conversion.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flow maps reveal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Sec D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17/20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31520" y="11430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824" y="1252728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1. Rank is relative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1527048"/>
            <a:ext cx="309067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Grey in U1 improved dramatically because competitors either faded or failed to convert value. Grey in U2 held rank because its system was more consistent.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81144" y="1252728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2. Value is risk-adjusted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81144" y="1527048"/>
            <a:ext cx="309067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Green’s U1 scale did not fix negative TSR. A large market-share position is not enough when investors question cash, risk or repeatability.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14300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84464" y="1252728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3. Learning shows in conversion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84464" y="1527048"/>
            <a:ext cx="263347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cleanest learning signal is not more activity, but better revenue-to-profit-to-value conversion.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lesson is most uncomfortable for your team?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Where did your team show learning that the numbers actually confirm?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 better decision system creates better conversion, not just more movement.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questions to move teams from defence to diagnosis.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Socratic question bank: Universe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U1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18/20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" y="1005840"/>
            <a:ext cx="11018520" cy="613954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31292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Classroom question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98576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Model answer direction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94360" y="1619794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1292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What must Ochre do to defend rank 1?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98576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Convert valuation leadership into durable margins and prevent share erosion.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4360" y="2233749"/>
            <a:ext cx="11018520" cy="613954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1292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What changed enough to move Grey from 5th to 2nd?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98576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Profit, ROS, ROCE and credit quality point to operating compounding.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94360" y="2847703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31292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Why is strong profit not enough for rank 1?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98576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Lower relative TSR suggests the market wants future growth and option credibility.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94360" y="3461657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31292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What weakened after Round 2 leadership?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98576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The R2 option story did not translate into enough Round 3 value.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94360" y="4075611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Chahakars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31292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What is the first rescue decision?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98576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Repair demand–cost fit and financing before aggressive growth.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94360" y="4689566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31292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Why did scale not repair TSR?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98576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Market share grew faster than credibility, cash or risk discipline.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should be asked first, and why?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 needs a constructive rescue conversation?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Socratic teaching asks for evidence and mechanism, not excuses.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questions to test persistence, recovery and decline.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Socratic question bank: Universe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U2 • R1→R3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19/20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4360" y="1005840"/>
            <a:ext cx="11018520" cy="613954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Team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431292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Classroom question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985760" y="1051560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Model answer direction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94360" y="1619794"/>
            <a:ext cx="11018520" cy="613954"/>
          </a:xfrm>
          <a:prstGeom prst="rect">
            <a:avLst/>
          </a:prstGeom>
          <a:solidFill>
            <a:srgbClr val="FFF7CC">
              <a:alpha val="98000"/>
            </a:srgbClr>
          </a:solidFill>
          <a:ln w="12700">
            <a:solidFill>
              <a:srgbClr val="FACC15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Grey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1292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What made leadership persist for three rounds?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985760" y="1665514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</a:rPr>
              <a:t>Coherence across valuation, profitability and risk is likely stronger than rivals.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94360" y="2233749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Blue / The Godfathers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31292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What explains the recovery to rank 2?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985760" y="2279469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The R3 identity must be linked to operating and value credibility, not name alone.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94360" y="2847703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Green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31292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Why did Green fall from 3rd to 3rd but lose TSR strength?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985760" y="2893423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Relative position held, but absolute shareholder returns weakened.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94360" y="3461657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Orange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31292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What changed after remaining last in R1?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985760" y="3507377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Some R3 recovery, but still not enough to challenge leadership.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94360" y="4075611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Ochre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31292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Why did Ochre recover from R2 last to R3 fifth?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985760" y="4121331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Partial repair occurred, but not enough to rebuild rank.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94360" y="4689566"/>
            <a:ext cx="11018520" cy="613954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Red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31292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Why did Red become the warning case?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985760" y="4735286"/>
            <a:ext cx="3581400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The path shows rank deterioration and likely weakening value conversion.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is the strongest evidence of strategic coherence in U2?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Which team’s story needs the most rigorous falsification?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Stable leadership must still be tested against the quality of its operating system.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-960120"/>
            <a:ext cx="3108960" cy="3108960"/>
          </a:xfrm>
          <a:prstGeom prst="arc">
            <a:avLst/>
          </a:prstGeom>
          <a:solidFill>
            <a:srgbClr val="123869">
              <a:alpha val="20000"/>
            </a:srgbClr>
          </a:solidFill>
          <a:ln w="12700">
            <a:solidFill>
              <a:srgbClr val="1238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594360" y="5394960"/>
            <a:ext cx="2194560" cy="2194560"/>
          </a:xfrm>
          <a:prstGeom prst="arc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560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decision must be a hypothesis with thresholds and guardrails.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decision rules from the flow maps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32520" y="310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GL Sec D • Sec D • R4 prep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Source: Section D R0/R1/R2/R3 results workbooks; ranking by cumulative TSR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20/20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68680" y="1143000"/>
            <a:ext cx="10424160" cy="502920"/>
          </a:xfrm>
          <a:prstGeom prst="rect">
            <a:avLst/>
          </a:prstGeom>
          <a:solidFill>
            <a:srgbClr val="0F2A44"/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Decision area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First-principles rule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68680" y="164592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Demand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Forecast by region and technology before deciding price or production.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68680" y="214884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Price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Change price only when expected contribution gain exceeds margin loss.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68680" y="265176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R&amp;D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12648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Invest only when market readiness, production capacity and finance can support commercialisation.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68680" y="315468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Production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Produce against specific demand estimates and inventory thresholds.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68680" y="365760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440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Finance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12648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Do not submit a plan that creates unplanned debt or damages credit credibility.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68680" y="4160520"/>
            <a:ext cx="10424160" cy="502920"/>
          </a:xfrm>
          <a:prstGeom prst="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Valuation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12648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F172A"/>
                </a:solidFill>
              </a:rPr>
              <a:t>Ask what future cash flow story the market will believe after risk.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143000" y="4983480"/>
            <a:ext cx="950976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89304" y="5093208"/>
            <a:ext cx="9217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Closing assignment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9304" y="5367528"/>
            <a:ext cx="9217152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Each team writes one strategic hypothesis, one falsifying metric, and one non-negotiable guardrail for Round 4.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5715000"/>
            <a:ext cx="10991088" cy="685800"/>
          </a:xfrm>
          <a:prstGeom prst="roundRect">
            <a:avLst>
              <a:gd name="adj" fmla="val 8000"/>
            </a:avLst>
          </a:prstGeom>
          <a:solidFill>
            <a:srgbClr val="0F172A">
              <a:alpha val="95000"/>
            </a:srgbClr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5833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4B8A6"/>
                </a:solidFill>
              </a:rPr>
              <a:t>Socratic questions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2377440" y="57972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will your team stop doing immediately?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</a:rPr>
              <a:t>• What evidence will prove that your Round 4 strategy is working?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001000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9E0B"/>
                </a:solidFill>
              </a:rPr>
              <a:t>First principle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9144000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The best team is the one whose choices form a coherent system of value creation.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Sec D Team Flow Map Deck</dc:title>
  <dc:subject>CESIM Global Challenge Section D Team Flow Maps R1-R3</dc:subject>
  <dc:creator>OpenAI</dc:creator>
  <cp:lastModifiedBy>OpenAI</cp:lastModifiedBy>
  <cp:revision>1</cp:revision>
  <dcterms:created xsi:type="dcterms:W3CDTF">2026-08-14T10:19:09Z</dcterms:created>
  <dcterms:modified xsi:type="dcterms:W3CDTF">2026-08-14T10:19:09Z</dcterms:modified>
</cp:coreProperties>
</file>