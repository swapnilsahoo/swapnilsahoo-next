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TSR after Round 4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Red Rangers</c:v>
                  </c:pt>
                  <c:pt idx="1">
                    <c:v>Ochre</c:v>
                  </c:pt>
                  <c:pt idx="2">
                    <c:v>Orange</c:v>
                  </c:pt>
                  <c:pt idx="3">
                    <c:v>Grey</c:v>
                  </c:pt>
                  <c:pt idx="4">
                    <c:v>Green</c:v>
                  </c:pt>
                  <c:pt idx="5">
                    <c:v>Blue / Chahakars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8.46038458287191</c:v>
                </c:pt>
                <c:pt idx="1">
                  <c:v>5.33854387152155</c:v>
                </c:pt>
                <c:pt idx="2">
                  <c:v>3.39836414780648</c:v>
                </c:pt>
                <c:pt idx="3">
                  <c:v>-2.31640231700591</c:v>
                </c:pt>
                <c:pt idx="4">
                  <c:v>-5.67140427779123</c:v>
                </c:pt>
                <c:pt idx="5">
                  <c:v>-16.6380440794815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6.638044079481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</c:v>
                </c:pt>
                <c:pt idx="1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Rangers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/ Chahakars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Orange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4</c:v>
                </c:pt>
                <c:pt idx="1">
                  <c:v>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  <c:pt idx="1">
                  <c:v>4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R3</c:v>
                  </c:pt>
                  <c:pt idx="1">
                    <c:v>R4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Sales</c:v>
                  </c:pt>
                  <c:pt idx="1">
                    <c:v>Profit</c:v>
                  </c:pt>
                  <c:pt idx="2">
                    <c:v>R&amp;D</c:v>
                  </c:pt>
                  <c:pt idx="3">
                    <c:v>Inventory</c:v>
                  </c:pt>
                  <c:pt idx="4">
                    <c:v>MCap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10.388077436136232</c:v>
                </c:pt>
                <c:pt idx="1">
                  <c:v>1.0470430845382253</c:v>
                </c:pt>
                <c:pt idx="2">
                  <c:v>1.596174</c:v>
                </c:pt>
                <c:pt idx="3">
                  <c:v>1.7158960338837728</c:v>
                </c:pt>
                <c:pt idx="4">
                  <c:v>39.20314995035777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Sales</c:v>
                  </c:pt>
                  <c:pt idx="1">
                    <c:v>Profit</c:v>
                  </c:pt>
                  <c:pt idx="2">
                    <c:v>R&amp;D</c:v>
                  </c:pt>
                  <c:pt idx="3">
                    <c:v>Inventory</c:v>
                  </c:pt>
                  <c:pt idx="4">
                    <c:v>MCap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9.61641546813057</c:v>
                </c:pt>
                <c:pt idx="1">
                  <c:v>0.6565102461227698</c:v>
                </c:pt>
                <c:pt idx="2">
                  <c:v>0.7130552857142861</c:v>
                </c:pt>
                <c:pt idx="3">
                  <c:v>2.59544946093832</c:v>
                </c:pt>
                <c:pt idx="4">
                  <c:v>34.328833114878236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versus TSR signal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193.658185088761</c:v>
                </c:pt>
                <c:pt idx="1">
                  <c:v>230.35527450394602</c:v>
                </c:pt>
                <c:pt idx="2">
                  <c:v>65.44147709135049</c:v>
                </c:pt>
                <c:pt idx="3">
                  <c:v>204.172843569952</c:v>
                </c:pt>
                <c:pt idx="4">
                  <c:v>-47.8275243212762</c:v>
                </c:pt>
                <c:pt idx="5">
                  <c:v>10.7099901900365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47.827524321276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2.72456812220305</c:v>
                </c:pt>
                <c:pt idx="1">
                  <c:v>1.33935039280295</c:v>
                </c:pt>
                <c:pt idx="2">
                  <c:v>0.502577750497732</c:v>
                </c:pt>
                <c:pt idx="3">
                  <c:v>1.88586341114679</c:v>
                </c:pt>
                <c:pt idx="4">
                  <c:v>1.99071469766095</c:v>
                </c:pt>
                <c:pt idx="5">
                  <c:v>1.94500306182476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2.60411619296592</c:v>
                </c:pt>
                <c:pt idx="1">
                  <c:v>1.1040607467016899</c:v>
                </c:pt>
                <c:pt idx="2">
                  <c:v>0.769447588023468</c:v>
                </c:pt>
                <c:pt idx="3">
                  <c:v>2.06793316776638</c:v>
                </c:pt>
                <c:pt idx="4">
                  <c:v>0.608189974827681</c:v>
                </c:pt>
                <c:pt idx="5">
                  <c:v>2.4626677978454303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331.320463776147</c:v>
                </c:pt>
                <c:pt idx="1">
                  <c:v>368.629177900322</c:v>
                </c:pt>
                <c:pt idx="2">
                  <c:v>-258.731653087635</c:v>
                </c:pt>
                <c:pt idx="3">
                  <c:v>45.1652816068213</c:v>
                </c:pt>
                <c:pt idx="4">
                  <c:v>448.826148030917</c:v>
                </c:pt>
                <c:pt idx="5">
                  <c:v>111.83366631165299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193.658185088761</c:v>
                </c:pt>
                <c:pt idx="1">
                  <c:v>230.35527450394602</c:v>
                </c:pt>
                <c:pt idx="2">
                  <c:v>65.44147709135049</c:v>
                </c:pt>
                <c:pt idx="3">
                  <c:v>204.172843569952</c:v>
                </c:pt>
                <c:pt idx="4">
                  <c:v>-47.8275243212762</c:v>
                </c:pt>
                <c:pt idx="5">
                  <c:v>10.7099901900365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USA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37.5913531186943</c:v>
                </c:pt>
                <c:pt idx="1">
                  <c:v>6.92470201655783</c:v>
                </c:pt>
                <c:pt idx="2">
                  <c:v>8.07387068084364</c:v>
                </c:pt>
                <c:pt idx="3">
                  <c:v>24.9688121788239</c:v>
                </c:pt>
                <c:pt idx="4">
                  <c:v>7.07470904543967</c:v>
                </c:pt>
                <c:pt idx="5">
                  <c:v>15.3665529596407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Asia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30.9373553634432</c:v>
                </c:pt>
                <c:pt idx="1">
                  <c:v>13.2819153580208</c:v>
                </c:pt>
                <c:pt idx="2">
                  <c:v>7.89229875757831</c:v>
                </c:pt>
                <c:pt idx="3">
                  <c:v>22.0998208828394</c:v>
                </c:pt>
                <c:pt idx="4">
                  <c:v>2.19235573086635</c:v>
                </c:pt>
                <c:pt idx="5">
                  <c:v>23.5962539072519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Europe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29.4793909114711</c:v>
                </c:pt>
                <c:pt idx="1">
                  <c:v>8.47106566561198</c:v>
                </c:pt>
                <c:pt idx="2">
                  <c:v>6.60432001170775</c:v>
                </c:pt>
                <c:pt idx="3">
                  <c:v>23.1530071221568</c:v>
                </c:pt>
                <c:pt idx="4">
                  <c:v>4.89205615426961</c:v>
                </c:pt>
                <c:pt idx="5">
                  <c:v>27.4001601347828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ROS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7.43661844321152</c:v>
                </c:pt>
                <c:pt idx="1">
                  <c:v>20.8643659501633</c:v>
                </c:pt>
                <c:pt idx="2">
                  <c:v>8.50499476636927</c:v>
                </c:pt>
                <c:pt idx="3">
                  <c:v>9.87328056595193</c:v>
                </c:pt>
                <c:pt idx="4">
                  <c:v>-7.863911984874</c:v>
                </c:pt>
                <c:pt idx="5">
                  <c:v>0.434893825281942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7.50951179065335</c:v>
                </c:pt>
                <c:pt idx="1">
                  <c:v>11.9183465998062</c:v>
                </c:pt>
                <c:pt idx="2">
                  <c:v>7.24013915304546</c:v>
                </c:pt>
                <c:pt idx="3">
                  <c:v>10.7219671381258</c:v>
                </c:pt>
                <c:pt idx="4">
                  <c:v>-0.468105885161098</c:v>
                </c:pt>
                <c:pt idx="5">
                  <c:v>4.90582356261775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</c:v>
                </c:pt>
              </c:strCache>
            </c:strRef>
          </c:tx>
          <c:spPr>
            <a:solidFill>
              <a:srgbClr val="6170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0</c:v>
                </c:pt>
                <c:pt idx="2">
                  <c:v>205</c:v>
                </c:pt>
                <c:pt idx="3">
                  <c:v>569.249</c:v>
                </c:pt>
                <c:pt idx="4">
                  <c:v>220</c:v>
                </c:pt>
                <c:pt idx="5">
                  <c:v>596.925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R4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8.08957142857143</c:v>
                </c:pt>
                <c:pt idx="1">
                  <c:v>17.8342857142857</c:v>
                </c:pt>
                <c:pt idx="2">
                  <c:v>9.59428571428571</c:v>
                </c:pt>
                <c:pt idx="3">
                  <c:v>72.8342857142857</c:v>
                </c:pt>
                <c:pt idx="4">
                  <c:v>17.8342857142857</c:v>
                </c:pt>
                <c:pt idx="5">
                  <c:v>586.868571428572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 USD bn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0.611756564861372</c:v>
                </c:pt>
                <c:pt idx="1">
                  <c:v>0.547643175270095</c:v>
                </c:pt>
                <c:pt idx="2">
                  <c:v>0.568359281668879</c:v>
                </c:pt>
                <c:pt idx="3">
                  <c:v>0.176823035840634</c:v>
                </c:pt>
                <c:pt idx="4">
                  <c:v>0.459985076318743</c:v>
                </c:pt>
                <c:pt idx="5">
                  <c:v>0.230882326978597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Unmet demand m units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1.268</c:v>
                </c:pt>
                <c:pt idx="3">
                  <c:v>0.908</c:v>
                </c:pt>
                <c:pt idx="4">
                  <c:v>3.908</c:v>
                </c:pt>
                <c:pt idx="5">
                  <c:v>0.02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capitalisation (USD bn)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5.792473890154571</c:v>
                </c:pt>
                <c:pt idx="1">
                  <c:v>7.83918986034989</c:v>
                </c:pt>
                <c:pt idx="2">
                  <c:v>2.73563534605984</c:v>
                </c:pt>
                <c:pt idx="3">
                  <c:v>6.4750226857587</c:v>
                </c:pt>
                <c:pt idx="4">
                  <c:v>5.07473644397768</c:v>
                </c:pt>
                <c:pt idx="5">
                  <c:v>6.41177488857756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Environmental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2.79575247257658</c:v>
                </c:pt>
                <c:pt idx="1">
                  <c:v>3.6971412710879</c:v>
                </c:pt>
                <c:pt idx="2">
                  <c:v>3.2336992608295</c:v>
                </c:pt>
                <c:pt idx="3">
                  <c:v>1.96084291194011</c:v>
                </c:pt>
                <c:pt idx="4">
                  <c:v>3.00290037312558</c:v>
                </c:pt>
                <c:pt idx="5">
                  <c:v>3.68639425626817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ESG reputation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Green</c:v>
                  </c:pt>
                  <c:pt idx="1">
                    <c:v>Red Rangers</c:v>
                  </c:pt>
                  <c:pt idx="2">
                    <c:v>Blue / Chahakars</c:v>
                  </c:pt>
                  <c:pt idx="3">
                    <c:v>Orange</c:v>
                  </c:pt>
                  <c:pt idx="4">
                    <c:v>Grey</c:v>
                  </c:pt>
                  <c:pt idx="5">
                    <c:v>Ochre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3.17111020181916</c:v>
                </c:pt>
                <c:pt idx="1">
                  <c:v>2.91650629827298</c:v>
                </c:pt>
                <c:pt idx="2">
                  <c:v>3.07837536090261</c:v>
                </c:pt>
                <c:pt idx="3">
                  <c:v>2.85206747592905</c:v>
                </c:pt>
                <c:pt idx="4">
                  <c:v>2.94584092927183</c:v>
                </c:pt>
                <c:pt idx="5">
                  <c:v>3.01351331390508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331.320463776147</c:v>
                </c:pt>
                <c:pt idx="1">
                  <c:v>193.658185088761</c:v>
                </c:pt>
                <c:pt idx="2">
                  <c:v>3.26441497450164</c:v>
                </c:pt>
                <c:pt idx="3">
                  <c:v>5.792473890154571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368.629177900322</c:v>
                </c:pt>
                <c:pt idx="1">
                  <c:v>230.35527450394602</c:v>
                </c:pt>
                <c:pt idx="2">
                  <c:v>8.09589923326008</c:v>
                </c:pt>
                <c:pt idx="3">
                  <c:v>7.83918986034989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-258.731653087635</c:v>
                </c:pt>
                <c:pt idx="1">
                  <c:v>65.44147709135049</c:v>
                </c:pt>
                <c:pt idx="2">
                  <c:v>3.3068326647715898</c:v>
                </c:pt>
                <c:pt idx="3">
                  <c:v>2.73563534605984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58.73165308763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45.1652816068213</c:v>
                </c:pt>
                <c:pt idx="1">
                  <c:v>204.172843569952</c:v>
                </c:pt>
                <c:pt idx="2">
                  <c:v>7.818445477611331</c:v>
                </c:pt>
                <c:pt idx="3">
                  <c:v>6.4750226857587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448.826148030917</c:v>
                </c:pt>
                <c:pt idx="1">
                  <c:v>-47.8275243212762</c:v>
                </c:pt>
                <c:pt idx="2">
                  <c:v>8.06084343996288</c:v>
                </c:pt>
                <c:pt idx="3">
                  <c:v>5.07473644397768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47.827524321276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R3 vs R4: profit and market value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Profit R3</c:v>
                  </c:pt>
                  <c:pt idx="1">
                    <c:v>Profit R4</c:v>
                  </c:pt>
                  <c:pt idx="2">
                    <c:v>MCap R3</c:v>
                  </c:pt>
                  <c:pt idx="3">
                    <c:v>MCap 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111.83366631165299</c:v>
                </c:pt>
                <c:pt idx="1">
                  <c:v>10.7099901900365</c:v>
                </c:pt>
                <c:pt idx="2">
                  <c:v>8.65671416025025</c:v>
                </c:pt>
                <c:pt idx="3">
                  <c:v>6.41177488857756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question: what did teams learn between Round 3 and Round 4?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labels changed in some exports. Use canonical identities for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discipline class discussion before moving to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identify what ranking does and does not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rank movement. It prevents static scoreboard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students from aggregate movement into team-level drivers.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central puzzle.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what caused sales movement: price, volume, technology mix or regional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operating improvements from one-off reductions in investment spending.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teams to state their primary region for Round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ROCE is key for technology and production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R&amp;D timing as a disciplined option, not as good or bad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inventory to pricing, production and capacity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Differentiate planned leverage from unplanned financing pressure.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only reported ESG metrics; avoid generic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 Rangers: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/ Chahakars: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Grey: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Ochre: discuss rank movement, then separate operating performance from valuation. Ask the team for one evidence-based action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team to identify one reward pattern they earned.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language constructive for weak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each team stating one hypothesis, one falsifying metric and one guardrail.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one commitment per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48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CESIM Global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11704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 U1: Round 4 Comparative Debrief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3 → Round 4 • cumulative TSR, value creation and decision quality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78892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teaching question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teams learned, which merely moved, and which decisions created durable shareholder value?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1005840"/>
            <a:ext cx="4480560" cy="4114800"/>
          </a:xfrm>
          <a:prstGeom prst="roundRect">
            <a:avLst>
              <a:gd name="adj" fmla="val 3333"/>
            </a:avLst>
          </a:prstGeom>
          <a:solidFill>
            <a:srgbClr val="EAF6F6"/>
          </a:solidFill>
          <a:ln w="12700">
            <a:solidFill>
              <a:srgbClr val="9DE2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2057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1396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562088" y="23774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07808" y="245973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0456" y="26974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7797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78824" y="301752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24544" y="309981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37192" y="333756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82912" y="341985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195560" y="36576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0" y="37398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4360" y="6126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identity map and data scope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2/25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97280"/>
          <a:ext cx="1078992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103120"/>
                <a:gridCol w="2103120"/>
                <a:gridCol w="2103120"/>
              </a:tblGrid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Identity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Round 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389120"/>
            <a:ext cx="530352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Principal ranking criterion: cumulative TSR (p.a.).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 period: Round 3 to Round 4; flow deck covers R1 to R4.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renamed teams are treated as the same company identity.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0" y="42976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440740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46451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error would occur if renamed teams were treated as new companies?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metric should determine formal rank?</a:t>
            </a:r>
            <a:endParaRPr lang="en-US" sz="920" dirty="0"/>
          </a:p>
        </p:txBody>
      </p:sp>
      <p:sp>
        <p:nvSpPr>
          <p:cNvPr id="13" name="Text 10"/>
          <p:cNvSpPr/>
          <p:nvPr/>
        </p:nvSpPr>
        <p:spPr>
          <a:xfrm>
            <a:off x="77724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2377440" y="57607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comes before interpretation: wrong mapping turns analysis into fiction.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Round 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61264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50876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996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02996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292608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756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4728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Resources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344728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34340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486460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76072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8192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628192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17804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8952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9924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769924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59536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0684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1656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911656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0012680" y="1353312"/>
            <a:ext cx="256032" cy="228600"/>
          </a:xfrm>
          <a:prstGeom prst="chevron">
            <a:avLst/>
          </a:prstGeom>
          <a:solidFill>
            <a:srgbClr val="D7DEE8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114300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33888" y="1252728"/>
            <a:ext cx="969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10533888" y="1527048"/>
            <a:ext cx="969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685800" y="2514600"/>
            <a:ext cx="539496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confuse current profit with shareholder value.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ranks companies, while share price and market cap show latest valuation movement.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number requires a mechanism: price, volume, mix, cost, capacity, cash, or risk.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0" y="42976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40740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537960" y="46451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can profit rise while TSR rank falls?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link in the chain is most fragile for your team?</a:t>
            </a:r>
            <a:endParaRPr lang="en-US" sz="920" dirty="0"/>
          </a:p>
        </p:txBody>
      </p:sp>
      <p:sp>
        <p:nvSpPr>
          <p:cNvPr id="43" name="Text 4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2286000" y="57607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 is repeatable cash flow discounted for risk, not a single attractive number.</a:t>
            </a:r>
            <a:endParaRPr lang="en-US" sz="8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leaderboard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4/25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5669280" cy="4023360"/>
        </p:xfrm>
        <a:graphic>
          <a:graphicData uri="http://schemas.openxmlformats.org/drawingml/2006/table">
            <a:tbl>
              <a:tblPr/>
              <a:tblGrid>
                <a:gridCol w="640080"/>
                <a:gridCol w="1965960"/>
                <a:gridCol w="822960"/>
                <a:gridCol w="868680"/>
                <a:gridCol w="822960"/>
                <a:gridCol w="64008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Rank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TSR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Share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Credit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230m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AA-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22.4%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204m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23.1%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-48m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4.0%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-5.7%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194m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-16.6%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37960" y="118872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after Round 4 (%)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37960" y="1417320"/>
          <a:ext cx="4800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537960" y="480060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0" y="4910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675120" y="514807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is the real leader: rank leader, profit leader, or share leader?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leader is most vulnerable in Round 5?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is the symptom; explanation sits in economics, risk and future credibility.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movement: Round 3 → Round 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5/25</a:t>
            </a:r>
            <a:endParaRPr lang="en-US" sz="7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5760720" cy="4389120"/>
        </p:xfrm>
        <a:graphic>
          <a:graphicData uri="http://schemas.openxmlformats.org/drawingml/2006/table">
            <a:tbl>
              <a:tblPr/>
              <a:tblGrid>
                <a:gridCol w="2057400"/>
                <a:gridCol w="731520"/>
                <a:gridCol w="731520"/>
                <a:gridCol w="1280160"/>
                <a:gridCol w="777240"/>
              </a:tblGrid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 rank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rank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Movement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TSR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 → 5  (+1)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-5.7%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 → 1  (+2)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8.5%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 → 6  (-1)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-16.6%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 → 3  (+1)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 → 4  (-2)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-2.3%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 → 2  (-1)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5.3%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29400" y="91440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path: lower is better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29400" y="1143000"/>
          <a:ext cx="4800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629400" y="475488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766560" y="486460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766560" y="5102352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movement reflects real learning rather than competitor weakness?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improved operationally but still lost relative position?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rank can worsen even when a team becomes better in absolute terms.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Universe-level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9552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$9.62bn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-7.4%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78892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9864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89864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657m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89864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-37.3%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89204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0176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6.8%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00176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-3.3 pp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99516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488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10488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$2.60bn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0488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+51.3%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9098280" y="10515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116128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9208008" y="1435608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$34.33bn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08008" y="1837944"/>
            <a:ext cx="1700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-12.4%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914400" y="251460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universe totals</a:t>
            </a:r>
            <a:endParaRPr lang="en-US" sz="10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914400" y="2743200"/>
          <a:ext cx="104241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6583680" y="54864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20840" y="5596128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6720840" y="583387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Did the universe become healthier, or just different?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aggregate number hides the most team-level variation?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Round 4 managerial puzzle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leader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8412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Rangers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 8.5%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39319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16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leader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40416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Rangers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0416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230.4m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7132320" y="11430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42048" y="1252728"/>
            <a:ext cx="2615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leader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7242048" y="152704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1929384"/>
            <a:ext cx="2615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32.3%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777240" y="2926080"/>
            <a:ext cx="53949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profit, market share and TSR do not point to the same team.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 question is whether the market is pricing current strength or future credibility.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decisions should target the weakest link in each team’s value system.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versus TSR signal</a:t>
            </a:r>
            <a:endParaRPr lang="en-US" sz="10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400800" y="2834640"/>
          <a:ext cx="493776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6400800" y="5349240"/>
            <a:ext cx="4937760" cy="822960"/>
          </a:xfrm>
          <a:prstGeom prst="roundRect">
            <a:avLst>
              <a:gd name="adj" fmla="val 8889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5458968"/>
            <a:ext cx="4663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537960" y="5696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might the profit leader not be the TSR leader?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would make a high-share team unattractive to investors?</a:t>
            </a:r>
            <a:endParaRPr lang="en-US" sz="920" dirty="0"/>
          </a:p>
        </p:txBody>
      </p:sp>
      <p:sp>
        <p:nvSpPr>
          <p:cNvPr id="26" name="Text 23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success becomes value only when it is repeatable, cash-generative and risk-aware.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revenue (USD bn)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400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360920" y="1188720"/>
            <a:ext cx="39319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2462.7m sales, movement +518m.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 / Chahakars: 769.4m sales, movement +267m.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Orange: 2067.9m sales, movement +182m.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60920" y="43891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9884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98080" y="4736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revenue growth was value-accretive?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revenue loss improved strategic focus, if any?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760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is price × volume × mix. It is an input to strategy, not strategy itself.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movement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for the round (USD m)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400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360920" y="1188720"/>
            <a:ext cx="393192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 / Chahakars: profit 65.4m, movement +324m.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Orange: profit 204.2m, movement +159m.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profit 10.7m, movement -101m.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60920" y="43891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449884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98080" y="4736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profit change is structural?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profit change could reverse if R&amp;D or inventory catches up?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76072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760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is a residual: reverse-engineer demand, price, cost, R&amp;D, financing and tax.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share and regional engines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100584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regional market share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234440"/>
          <a:ext cx="6858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818120" y="123444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27848" y="1344168"/>
            <a:ext cx="3072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 leader</a:t>
            </a:r>
            <a:endParaRPr lang="en-US" sz="830" dirty="0"/>
          </a:p>
        </p:txBody>
      </p:sp>
      <p:sp>
        <p:nvSpPr>
          <p:cNvPr id="12" name="Text 9"/>
          <p:cNvSpPr/>
          <p:nvPr/>
        </p:nvSpPr>
        <p:spPr>
          <a:xfrm>
            <a:off x="7927848" y="1618488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927848" y="2020824"/>
            <a:ext cx="3072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32.3%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7818120" y="2423160"/>
            <a:ext cx="32918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leader: Green.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Asia leader: Green.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Europe leader: Green.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18120" y="466344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55280" y="4773168"/>
            <a:ext cx="3017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955280" y="5010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region is an economic engine, not only a volume engine?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Where should each team defend, repair or exit?</a:t>
            </a:r>
            <a:endParaRPr lang="en-US" sz="920" dirty="0"/>
          </a:p>
        </p:txBody>
      </p:sp>
      <p:sp>
        <p:nvSpPr>
          <p:cNvPr id="18" name="Text 15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24028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averages hide strategic truth; regions reveal product-market fit.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and capital discipline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ROS and ROCE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6751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726680" y="1234440"/>
            <a:ext cx="34747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Rangers: ROCE 11.9%, ROS 20.9%.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Orange: ROCE 10.7%, ROS 9.9%.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Green: ROCE 7.5%, ROS 7.4%.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26680" y="452628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0" y="463600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863840" y="48737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used capital most intelligently?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should improve economics before chasing volume?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without capital productivity is expensive hope.</a:t>
            </a:r>
            <a:endParaRPr lang="en-US" sz="8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option discipline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expense (USD m)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Ochre: R&amp;D 586.9m; ROS 0.4%.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Orange: R&amp;D 72.8m; ROS 9.9%.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Rangers: R&amp;D 17.8m; ROS 20.9%.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When is R&amp;D an option, and when is it a current-period drag?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would justify increasing R&amp;D in Round 5?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do not buy R&amp;D. They buy relevant value, delivered at a price they accept.</a:t>
            </a:r>
            <a:endParaRPr lang="en-US" sz="8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Inventory, cash and fulfilment risk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and unmet demand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Green: inventory $0.61bn, unmet demand 0k units.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 / Chahakars: inventory $0.57bn, unmet demand 1268k units.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 Rangers: inventory $0.55bn, unmet demand 0k units.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When is inventory a strategic buffer, and when is it failed forecasting?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has demand without fulfilment or stock without demand?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is a deferred judgement about demand. When wrong, it traps cash and managerial attention.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 and valuation risk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14/25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6583680" cy="420624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914400"/>
                <a:gridCol w="914400"/>
                <a:gridCol w="731520"/>
                <a:gridCol w="1005840"/>
              </a:tblGrid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Credit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 debt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Gearing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WACC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MCap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358m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28.0%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$5.79bn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AA-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465m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-28.5%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$7.84bn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447m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7.7%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$2.74bn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-34.3%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6.5%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$6.48bn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BB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245m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-3.2%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6.6%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$5.07bn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B+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362m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97.7%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8.2%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$6.41bn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543800" y="114300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capitalisation (USD bn)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371600"/>
          <a:ext cx="3749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7543800" y="461772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80960" y="472744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80960" y="49651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Is debt creating leverage or signalling distress?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Why does the same cash flow become less valuable when risk rises?</a:t>
            </a:r>
            <a:endParaRPr lang="en-US" sz="920" dirty="0"/>
          </a:p>
        </p:txBody>
      </p:sp>
      <p:sp>
        <p:nvSpPr>
          <p:cNvPr id="14" name="Text 10"/>
          <p:cNvSpPr/>
          <p:nvPr/>
        </p:nvSpPr>
        <p:spPr>
          <a:xfrm>
            <a:off x="64008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1"/>
          <p:cNvSpPr/>
          <p:nvPr/>
        </p:nvSpPr>
        <p:spPr>
          <a:xfrm>
            <a:off x="2240280" y="5806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Valuation converts expected cash flows into equity value after risk, debt and excess cash.</a:t>
            </a:r>
            <a:endParaRPr lang="en-US" sz="8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and demand reputation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ESG indicators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1188720"/>
          <a:ext cx="65836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754380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environmental score: Red Rangers.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ESG reputation: Green.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matters when it reinforces demand, reputation, risk and operating economics.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43800" y="452628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4636008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80960" y="48737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Did ESG contribute to demand, or remain a separate score?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How would you test ESG payoff in Round 5?</a:t>
            </a:r>
            <a:endParaRPr lang="en-US" sz="920" dirty="0"/>
          </a:p>
        </p:txBody>
      </p:sp>
      <p:sp>
        <p:nvSpPr>
          <p:cNvPr id="14" name="Text 11"/>
          <p:cNvSpPr/>
          <p:nvPr/>
        </p:nvSpPr>
        <p:spPr>
          <a:xfrm>
            <a:off x="68580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2286000" y="5806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ESG is strategically powerful only when it joins the value system rather than decorating it.</a:t>
            </a:r>
            <a:endParaRPr lang="en-US" sz="8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Green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-5.7%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-25.4%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→ 5  (+1)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193.7m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-138m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32.3%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+0.6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7.4%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-4.7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7.5%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-3.5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Improver: convert momentum into durable systems.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2604.1m (-120m vs R3); market cap $5.79bn.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8.1m; inventory 611.8m; short-term debt 358.1m.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A; unmet demand 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Green's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Red Rangers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12.6%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→ 1  (+2)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230.4m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-138m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10.6%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-1.7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20.9%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-6.7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11.9%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-8.3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Leader: protect coherence and avoid complacency.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1104.1m (-235m vs R3); market cap $7.84bn.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17.8m; inventory 547.6m; short-term debt 465.5m.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AA-; unmet demand 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Red Rangers's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Blue / Chahakars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-16.6%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-16.4%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→ 6  (-1)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65.4m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+324m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7.6%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+3.2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+60.0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7.2%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+13.3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pressure: operational diagnosis must precede reaction.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769.4m (+267m vs R3); market cap $2.74bn.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9.6m; inventory 568.4m; short-term debt 446.7m.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BB; unmet demand 1268k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Blue / Chahakars's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Orange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11.3%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→ 3  (+1)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204.2m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+159m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23.1%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+6.3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9.9%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+7.5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10.7%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+4.5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Improver: convert momentum into durable systems.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2067.9m (+182m vs R3); market cap $6.48bn.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72.8m; inventory 176.8m; short-term debt 0.0m.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A+; unmet demand 908k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Orange's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-2.3%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12.8%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→ 4  (-2)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-47.8m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-497m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4.0%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-13.1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-7.9%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-30.4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-0.5%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-41.8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Crisis case: stop value leakage before chasing scale.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608.2m (-1383m vs R3); market cap $5.07bn.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17.8m; inventory 460.0m; short-term debt 245.4m.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BB; unmet demand 3908k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Grey's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Ochre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30" dirty="0"/>
          </a:p>
        </p:txBody>
      </p:sp>
      <p:sp>
        <p:nvSpPr>
          <p:cNvPr id="10" name="Text 8"/>
          <p:cNvSpPr/>
          <p:nvPr/>
        </p:nvSpPr>
        <p:spPr>
          <a:xfrm>
            <a:off x="74980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5.3%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4980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18.3%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56032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004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267004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→ 2  (-1)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7004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cumulative TSR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480560" y="1051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0288" y="116128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4590288" y="143560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10.7m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90288" y="183794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-101m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4008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share</a:t>
            </a:r>
            <a:endParaRPr lang="en-US" sz="830" dirty="0"/>
          </a:p>
        </p:txBody>
      </p:sp>
      <p:sp>
        <p:nvSpPr>
          <p:cNvPr id="22" name="Text 20"/>
          <p:cNvSpPr/>
          <p:nvPr/>
        </p:nvSpPr>
        <p:spPr>
          <a:xfrm>
            <a:off x="74980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22.4%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980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+4.7 pp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256032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7004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267004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0.4%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67004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-5.3 pp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480560" y="210312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90288" y="2212848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4590288" y="2487168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4.9%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90288" y="2889504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-6.5 pp</a:t>
            </a:r>
            <a:endParaRPr lang="en-US" sz="830" dirty="0"/>
          </a:p>
        </p:txBody>
      </p:sp>
      <p:sp>
        <p:nvSpPr>
          <p:cNvPr id="32" name="Text 30"/>
          <p:cNvSpPr/>
          <p:nvPr/>
        </p:nvSpPr>
        <p:spPr>
          <a:xfrm>
            <a:off x="640080" y="3337560"/>
            <a:ext cx="557784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pressure: operational diagnosis must precede reaction.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2462.7m (+518m vs R3); market cap $6.41bn.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586.9m; inventory 230.9m; short-term debt 362.0m.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rating B+; unmet demand 20k units.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83680" y="941832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 vs R4: profit and market value</a:t>
            </a:r>
            <a:endParaRPr lang="en-US" sz="10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583680" y="1170432"/>
          <a:ext cx="48920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6583680" y="4617720"/>
            <a:ext cx="489204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20840" y="472744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720840" y="49651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assumption explains Ochre's rank movement?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must the team preserve, repair, or stop before Round 5?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640080" y="58704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240280" y="58704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profile is not a verdict. It is a diagnosis of the weakest link in the value-creation chain.</a:t>
            </a:r>
            <a:endParaRPr lang="en-US" sz="8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rewarded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54864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Credible value conversion: teams that turned demand into margin and capital productivity.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discipline: stronger credit, lower WACC and manageable short-term debt.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coherence: clear engines in USA, Asia or Europe rather than equal spreading.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 discipline: R&amp;D connected to market readiness and financing capacity.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Working-capital discipline: inventory levels aligned with demand and product mix.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3852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37960" y="2176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reward factor did your team earn?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reward factor must you build next round?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market rewards systems, not isolated actions.</a:t>
            </a:r>
            <a:endParaRPr lang="en-US" sz="8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punished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54864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without demand validation.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without margin or cash conversion.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that did not translate into demand, share, pricing power or future credibility.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risk: short-term debt, weak credit and high WACC.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misfit: winning one metric while losing the engine market.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3852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37960" y="2176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punished error is reversible before Round 5?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error is sticky because it affects capacity, debt or technology path?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237744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begins by separating reversible decisions from structural constraints.</a:t>
            </a:r>
            <a:endParaRPr lang="en-US" sz="8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 checklist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24/25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10789920" cy="420624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  <a:gridCol w="4023360"/>
              </a:tblGrid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 area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First-principles question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Demand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Where will customers actually buy?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not forecast demand without fulfilment capacity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Which bundle protects contribution?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discount unless contribution rises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R&amp;D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must be ready now?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Stage investment; define stop-loss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should be made where?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Inventory threshold before production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 cash and rating survive?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Avoid unplanned debt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Region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Defend, attack, repair, harvest or exit?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equal spreading without evidence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0" y="55778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56875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37960" y="592531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is your one non-negotiable guardrail?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Round 5 decision has the largest irreversible downside?</a:t>
            </a:r>
            <a:endParaRPr lang="en-US" sz="9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 reflection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U1 • Round 3→4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25/25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2344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team is the most coherent, not the loudest or the boldest.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59436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Coherence links customer value, pricing, technology, production, finance, ESG and risk.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is evidence, not destiny. The team that learns fastest still has strategic room.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round should be submitted as a testable managerial hypothesis.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74320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8529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629400" y="3090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will your team stop doing immediately?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will prove your Round 5 strategy is working?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423160" y="58064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Responsible general managers convert results into explicit decision rules.</a:t>
            </a:r>
            <a:endParaRPr lang="en-US" sz="8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CESIM debrief</dc:subject>
  <dc:creator>OpenAI</dc:creator>
  <cp:lastModifiedBy>OpenAI</cp:lastModifiedBy>
  <cp:revision>1</cp:revision>
  <dcterms:created xsi:type="dcterms:W3CDTF">2026-08-18T06:40:48Z</dcterms:created>
  <dcterms:modified xsi:type="dcterms:W3CDTF">2026-08-18T06:40:48Z</dcterms:modified>
</cp:coreProperties>
</file>