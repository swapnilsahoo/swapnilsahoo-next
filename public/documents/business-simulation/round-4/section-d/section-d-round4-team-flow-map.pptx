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6</c:v>
                </c:pt>
                <c:pt idx="2">
                  <c:v>6</c:v>
                </c:pt>
                <c:pt idx="3">
                  <c:v>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Rangers</c:v>
                </c:pt>
              </c:strCache>
            </c:strRef>
          </c:tx>
          <c:spPr>
            <a:solidFill>
              <a:srgbClr val="D97706"/>
            </a:solidFill>
            <a:ln w="2540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Blue / Chahakars</c:v>
                </c:pt>
              </c:strCache>
            </c:strRef>
          </c:tx>
          <c:spPr>
            <a:solidFill>
              <a:srgbClr val="2563EB"/>
            </a:solidFill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Orange</c:v>
                </c:pt>
              </c:strCache>
            </c:strRef>
          </c:tx>
          <c:spPr>
            <a:solidFill>
              <a:srgbClr val="059669"/>
            </a:solidFill>
            <a:ln w="2540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4</c:v>
                </c:pt>
                <c:pt idx="3">
                  <c:v>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5</c:v>
                </c:pt>
                <c:pt idx="1">
                  <c:v>5</c:v>
                </c:pt>
                <c:pt idx="2">
                  <c:v>2</c:v>
                </c:pt>
                <c:pt idx="3">
                  <c:v>4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Ochre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</c:v>
                </c:pt>
              </c:strCache>
            </c:strRef>
          </c:tx>
          <c:spPr>
            <a:solidFill>
              <a:srgbClr val="D97706"/>
            </a:solidFill>
            <a:ln w="2540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4</c:v>
                </c:pt>
                <c:pt idx="2">
                  <c:v>6</c:v>
                </c:pt>
                <c:pt idx="3">
                  <c:v>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 Godfathers</c:v>
                </c:pt>
              </c:strCache>
            </c:strRef>
          </c:tx>
          <c:spPr>
            <a:solidFill>
              <a:srgbClr val="2563EB"/>
            </a:solidFill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HallaBol</c:v>
                </c:pt>
              </c:strCache>
            </c:strRef>
          </c:tx>
          <c:spPr>
            <a:solidFill>
              <a:srgbClr val="059669"/>
            </a:solidFill>
            <a:ln w="2540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</c:v>
                </c:pt>
                <c:pt idx="1">
                  <c:v>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Ochre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4</c:v>
                </c:pt>
                <c:pt idx="1">
                  <c:v>6</c:v>
                </c:pt>
                <c:pt idx="2">
                  <c:v>5</c:v>
                </c:pt>
                <c:pt idx="3">
                  <c:v>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-32.2645564458089</c:v>
                </c:pt>
                <c:pt idx="1">
                  <c:v>-48.6122345223704</c:v>
                </c:pt>
                <c:pt idx="2">
                  <c:v>-25.3717065477465</c:v>
                </c:pt>
                <c:pt idx="3">
                  <c:v>-5.67140427779123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Rangers</c:v>
                </c:pt>
              </c:strCache>
            </c:strRef>
          </c:tx>
          <c:spPr>
            <a:solidFill>
              <a:srgbClr val="D97706"/>
            </a:solidFill>
            <a:ln w="2540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34.9229973250667</c:v>
                </c:pt>
                <c:pt idx="1">
                  <c:v>16.2612089068482</c:v>
                </c:pt>
                <c:pt idx="2">
                  <c:v>12.6400471926993</c:v>
                </c:pt>
                <c:pt idx="3">
                  <c:v>8.46038458287191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Blue / Chahakars</c:v>
                </c:pt>
              </c:strCache>
            </c:strRef>
          </c:tx>
          <c:spPr>
            <a:solidFill>
              <a:srgbClr val="2563EB"/>
            </a:solidFill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24.8224669063993</c:v>
                </c:pt>
                <c:pt idx="1">
                  <c:v>9.4708072865503</c:v>
                </c:pt>
                <c:pt idx="2">
                  <c:v>-16.4252283365131</c:v>
                </c:pt>
                <c:pt idx="3">
                  <c:v>-16.6380440794815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Orange</c:v>
                </c:pt>
              </c:strCache>
            </c:strRef>
          </c:tx>
          <c:spPr>
            <a:solidFill>
              <a:srgbClr val="059669"/>
            </a:solidFill>
            <a:ln w="2540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35.016302000924</c:v>
                </c:pt>
                <c:pt idx="1">
                  <c:v>24.0993988398004</c:v>
                </c:pt>
                <c:pt idx="2">
                  <c:v>11.3383026960494</c:v>
                </c:pt>
                <c:pt idx="3">
                  <c:v>3.39836414780648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16.7207464437116</c:v>
                </c:pt>
                <c:pt idx="1">
                  <c:v>8.98787058163011</c:v>
                </c:pt>
                <c:pt idx="2">
                  <c:v>12.831003227733</c:v>
                </c:pt>
                <c:pt idx="3">
                  <c:v>-2.31640231700591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Ochre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37.2556677849063</c:v>
                </c:pt>
                <c:pt idx="1">
                  <c:v>23.605343228051</c:v>
                </c:pt>
                <c:pt idx="2">
                  <c:v>18.2697952413509</c:v>
                </c:pt>
                <c:pt idx="3">
                  <c:v>5.33854387152155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29.8162586907244</c:v>
                </c:pt>
                <c:pt idx="1">
                  <c:v>27.0534551313436</c:v>
                </c:pt>
                <c:pt idx="2">
                  <c:v>7.81413207657797</c:v>
                </c:pt>
                <c:pt idx="3">
                  <c:v>-4.34500024292055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</c:v>
                </c:pt>
              </c:strCache>
            </c:strRef>
          </c:tx>
          <c:spPr>
            <a:solidFill>
              <a:srgbClr val="D97706"/>
            </a:solidFill>
            <a:ln w="2540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23.6822546732466</c:v>
                </c:pt>
                <c:pt idx="1">
                  <c:v>19.4324302360661</c:v>
                </c:pt>
                <c:pt idx="2">
                  <c:v>0.833616118560143</c:v>
                </c:pt>
                <c:pt idx="3">
                  <c:v>-11.0361253798871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 Godfathers</c:v>
                </c:pt>
              </c:strCache>
            </c:strRef>
          </c:tx>
          <c:spPr>
            <a:solidFill>
              <a:srgbClr val="2563EB"/>
            </a:solidFill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31.3759806240677</c:v>
                </c:pt>
                <c:pt idx="1">
                  <c:v>22.8770016858947</c:v>
                </c:pt>
                <c:pt idx="2">
                  <c:v>12.008881050456</c:v>
                </c:pt>
                <c:pt idx="3">
                  <c:v>4.33596166514887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HallaBol</c:v>
                </c:pt>
              </c:strCache>
            </c:strRef>
          </c:tx>
          <c:spPr>
            <a:solidFill>
              <a:srgbClr val="059669"/>
            </a:solidFill>
            <a:ln w="2540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13.1388650562416</c:v>
                </c:pt>
                <c:pt idx="1">
                  <c:v>5.19227398378979</c:v>
                </c:pt>
                <c:pt idx="2">
                  <c:v>7.18905014106188</c:v>
                </c:pt>
                <c:pt idx="3">
                  <c:v>-11.3027496956236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32.1304310198058</c:v>
                </c:pt>
                <c:pt idx="1">
                  <c:v>28.6406016623064</c:v>
                </c:pt>
                <c:pt idx="2">
                  <c:v>16.1316563857089</c:v>
                </c:pt>
                <c:pt idx="3">
                  <c:v>8.54973852767273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Ochre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28.1419642774429</c:v>
                </c:pt>
                <c:pt idx="1">
                  <c:v>-2.88640787194574</c:v>
                </c:pt>
                <c:pt idx="2">
                  <c:v>1.29281382874828</c:v>
                </c:pt>
                <c:pt idx="3">
                  <c:v>-0.750092729728102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122.903181417004</c:v>
                </c:pt>
                <c:pt idx="1">
                  <c:v>44.4137383368851</c:v>
                </c:pt>
                <c:pt idx="2">
                  <c:v>72.5425549889252</c:v>
                </c:pt>
                <c:pt idx="3">
                  <c:v>143.024046670483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Rangers</c:v>
                </c:pt>
              </c:strCache>
            </c:strRef>
          </c:tx>
          <c:spPr>
            <a:solidFill>
              <a:srgbClr val="D97706"/>
            </a:solidFill>
            <a:ln w="2540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254.771795956243</c:v>
                </c:pt>
                <c:pt idx="1">
                  <c:v>255.231949142921</c:v>
                </c:pt>
                <c:pt idx="2">
                  <c:v>269.863307775336</c:v>
                </c:pt>
                <c:pt idx="3">
                  <c:v>261.30632867833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Blue / Chahakars</c:v>
                </c:pt>
              </c:strCache>
            </c:strRef>
          </c:tx>
          <c:spPr>
            <a:solidFill>
              <a:srgbClr val="2563EB"/>
            </a:solidFill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235.699211401405</c:v>
                </c:pt>
                <c:pt idx="1">
                  <c:v>226.288253002648</c:v>
                </c:pt>
                <c:pt idx="2">
                  <c:v>110.227755492386</c:v>
                </c:pt>
                <c:pt idx="3">
                  <c:v>91.1878448686613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Orange</c:v>
                </c:pt>
              </c:strCache>
            </c:strRef>
          </c:tx>
          <c:spPr>
            <a:solidFill>
              <a:srgbClr val="059669"/>
            </a:solidFill>
            <a:ln w="2540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254.947980893656</c:v>
                </c:pt>
                <c:pt idx="1">
                  <c:v>290.806911110894</c:v>
                </c:pt>
                <c:pt idx="2">
                  <c:v>260.614849253711</c:v>
                </c:pt>
                <c:pt idx="3">
                  <c:v>215.83408952529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220.400930800349</c:v>
                </c:pt>
                <c:pt idx="1">
                  <c:v>221.962756606079</c:v>
                </c:pt>
                <c:pt idx="2">
                  <c:v>268.694781332096</c:v>
                </c:pt>
                <c:pt idx="3">
                  <c:v>169.157881465923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Ochre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259.176520534037</c:v>
                </c:pt>
                <c:pt idx="1">
                  <c:v>288.49604105284</c:v>
                </c:pt>
                <c:pt idx="2">
                  <c:v>309.16836286608</c:v>
                </c:pt>
                <c:pt idx="3">
                  <c:v>228.991960306341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245.128866291584</c:v>
                </c:pt>
                <c:pt idx="1">
                  <c:v>304.816398753783</c:v>
                </c:pt>
                <c:pt idx="2">
                  <c:v>221.642334664316</c:v>
                </c:pt>
                <c:pt idx="3">
                  <c:v>141.736967175705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</c:v>
                </c:pt>
              </c:strCache>
            </c:strRef>
          </c:tx>
          <c:spPr>
            <a:solidFill>
              <a:srgbClr val="D97706"/>
            </a:solidFill>
            <a:ln w="2540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233.546176528397</c:v>
                </c:pt>
                <c:pt idx="1">
                  <c:v>269.345613461068</c:v>
                </c:pt>
                <c:pt idx="2">
                  <c:v>190.141044326867</c:v>
                </c:pt>
                <c:pt idx="3">
                  <c:v>114.523778637297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 Godfathers</c:v>
                </c:pt>
              </c:strCache>
            </c:strRef>
          </c:tx>
          <c:spPr>
            <a:solidFill>
              <a:srgbClr val="2563EB"/>
            </a:solidFill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248.074051071262</c:v>
                </c:pt>
                <c:pt idx="1">
                  <c:v>285.10614589672</c:v>
                </c:pt>
                <c:pt idx="2">
                  <c:v>262.13794578951</c:v>
                </c:pt>
                <c:pt idx="3">
                  <c:v>220.266222138519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HallaBol</c:v>
                </c:pt>
              </c:strCache>
            </c:strRef>
          </c:tx>
          <c:spPr>
            <a:solidFill>
              <a:srgbClr val="059669"/>
            </a:solidFill>
            <a:ln w="2540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213.637351780611</c:v>
                </c:pt>
                <c:pt idx="1">
                  <c:v>208.945515779742</c:v>
                </c:pt>
                <c:pt idx="2">
                  <c:v>232.550156072598</c:v>
                </c:pt>
                <c:pt idx="3">
                  <c:v>116.870793873784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249.498661301488</c:v>
                </c:pt>
                <c:pt idx="1">
                  <c:v>312.479472867896</c:v>
                </c:pt>
                <c:pt idx="2">
                  <c:v>295.744876288938</c:v>
                </c:pt>
                <c:pt idx="3">
                  <c:v>259.117643775005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Ochre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241.634003766874</c:v>
                </c:pt>
                <c:pt idx="1">
                  <c:v>177.720872978724</c:v>
                </c:pt>
                <c:pt idx="2">
                  <c:v>195.850175196767</c:v>
                </c:pt>
                <c:pt idx="3">
                  <c:v>182.727111108221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8.49816861330669</c:v>
                </c:pt>
                <c:pt idx="1">
                  <c:v>23.5838775770321</c:v>
                </c:pt>
                <c:pt idx="2">
                  <c:v>31.6904517168166</c:v>
                </c:pt>
                <c:pt idx="3">
                  <c:v>32.2626282687686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 Rangers</c:v>
                </c:pt>
              </c:strCache>
            </c:strRef>
          </c:tx>
          <c:spPr>
            <a:solidFill>
              <a:srgbClr val="D97706"/>
            </a:solidFill>
            <a:ln w="2540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20.84</c:v>
                </c:pt>
                <c:pt idx="1">
                  <c:v>16.76</c:v>
                </c:pt>
                <c:pt idx="2">
                  <c:v>12.22</c:v>
                </c:pt>
                <c:pt idx="3">
                  <c:v>10.57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Blue / Chahakars</c:v>
                </c:pt>
              </c:strCache>
            </c:strRef>
          </c:tx>
          <c:spPr>
            <a:solidFill>
              <a:srgbClr val="2563EB"/>
            </a:solidFill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17.22</c:v>
                </c:pt>
                <c:pt idx="1">
                  <c:v>9.02</c:v>
                </c:pt>
                <c:pt idx="2">
                  <c:v>4.44</c:v>
                </c:pt>
                <c:pt idx="3">
                  <c:v>7.64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Orange</c:v>
                </c:pt>
              </c:strCache>
            </c:strRef>
          </c:tx>
          <c:spPr>
            <a:solidFill>
              <a:srgbClr val="059669"/>
            </a:solidFill>
            <a:ln w="2540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18.06</c:v>
                </c:pt>
                <c:pt idx="1">
                  <c:v>21.03</c:v>
                </c:pt>
                <c:pt idx="2">
                  <c:v>16.79</c:v>
                </c:pt>
                <c:pt idx="3">
                  <c:v>23.06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13.17</c:v>
                </c:pt>
                <c:pt idx="1">
                  <c:v>11.11</c:v>
                </c:pt>
                <c:pt idx="2">
                  <c:v>17.1</c:v>
                </c:pt>
                <c:pt idx="3">
                  <c:v>4.05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Ochre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22.21</c:v>
                </c:pt>
                <c:pt idx="1">
                  <c:v>18.5</c:v>
                </c:pt>
                <c:pt idx="2">
                  <c:v>17.76</c:v>
                </c:pt>
                <c:pt idx="3">
                  <c:v>22.42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Green</c:v>
                </c:pt>
              </c:strCache>
            </c:strRef>
          </c:tx>
          <c:spPr>
            <a:solidFill>
              <a:srgbClr val="0D9488"/>
            </a:solidFill>
            <a:ln w="25400" cap="flat">
              <a:solidFill>
                <a:srgbClr val="0D948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19.5053787563606</c:v>
                </c:pt>
                <c:pt idx="1">
                  <c:v>24.4841677992973</c:v>
                </c:pt>
                <c:pt idx="2">
                  <c:v>17.7769983283133</c:v>
                </c:pt>
                <c:pt idx="3">
                  <c:v>12.7632012900936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</c:v>
                </c:pt>
              </c:strCache>
            </c:strRef>
          </c:tx>
          <c:spPr>
            <a:solidFill>
              <a:srgbClr val="D97706"/>
            </a:solidFill>
            <a:ln w="2540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16.64</c:v>
                </c:pt>
                <c:pt idx="1">
                  <c:v>11.26</c:v>
                </c:pt>
                <c:pt idx="2">
                  <c:v>8.74</c:v>
                </c:pt>
                <c:pt idx="3">
                  <c:v>7.14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 Godfathers</c:v>
                </c:pt>
              </c:strCache>
            </c:strRef>
          </c:tx>
          <c:spPr>
            <a:solidFill>
              <a:srgbClr val="2563EB"/>
            </a:solidFill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21.31</c:v>
                </c:pt>
                <c:pt idx="1">
                  <c:v>19.43</c:v>
                </c:pt>
                <c:pt idx="2">
                  <c:v>14.41</c:v>
                </c:pt>
                <c:pt idx="3">
                  <c:v>17.98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HallaBol</c:v>
                </c:pt>
              </c:strCache>
            </c:strRef>
          </c:tx>
          <c:spPr>
            <a:solidFill>
              <a:srgbClr val="059669"/>
            </a:solidFill>
            <a:ln w="2540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10.94</c:v>
                </c:pt>
                <c:pt idx="1">
                  <c:v>13</c:v>
                </c:pt>
                <c:pt idx="2">
                  <c:v>21.63</c:v>
                </c:pt>
                <c:pt idx="3">
                  <c:v>27.55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Grey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17.52</c:v>
                </c:pt>
                <c:pt idx="1">
                  <c:v>20.95</c:v>
                </c:pt>
                <c:pt idx="2">
                  <c:v>16.36</c:v>
                </c:pt>
                <c:pt idx="3">
                  <c:v>21.29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Ochre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14.1</c:v>
                </c:pt>
                <c:pt idx="1">
                  <c:v>10.88</c:v>
                </c:pt>
                <c:pt idx="2">
                  <c:v>21.08</c:v>
                </c:pt>
                <c:pt idx="3">
                  <c:v>13.28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deck as a continuity map across team-name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the main movement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the main movement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486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CESIM Global Challenge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94360" y="117043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Section D Team Flow Map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94360" y="19659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1 → Round 2 → Round 3 → Round 4 • team identity, rank and value movement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78892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9718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teaching question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teams learned, which merely moved, and which decisions created durable shareholder value?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29400" y="1005840"/>
            <a:ext cx="4480560" cy="4114800"/>
          </a:xfrm>
          <a:prstGeom prst="roundRect">
            <a:avLst>
              <a:gd name="adj" fmla="val 3333"/>
            </a:avLst>
          </a:prstGeom>
          <a:solidFill>
            <a:srgbClr val="EAF6F6"/>
          </a:solidFill>
          <a:ln w="12700">
            <a:solidFill>
              <a:srgbClr val="9DE2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20574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D9FA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0" y="213969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Choice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562088" y="237744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07808" y="245973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20456" y="269748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D9FA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77977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878824" y="301752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24544" y="309981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537192" y="333756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D9FAF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82912" y="341985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195560" y="3657600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0" y="3739896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4360" y="61264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team identity map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2/15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097280"/>
          <a:ext cx="10789920" cy="4023360"/>
        </p:xfrm>
        <a:graphic>
          <a:graphicData uri="http://schemas.openxmlformats.org/drawingml/2006/table">
            <a:tbl>
              <a:tblPr/>
              <a:tblGrid>
                <a:gridCol w="2468880"/>
                <a:gridCol w="2057400"/>
                <a:gridCol w="2057400"/>
                <a:gridCol w="2057400"/>
                <a:gridCol w="2057400"/>
              </a:tblGrid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Canonical identity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R1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R2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R3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R4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92240" y="544068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29400" y="555040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629400" y="57881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identity change would most distort comparison if missed?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 has the clearest learning trajectory?</a:t>
            </a:r>
            <a:endParaRPr lang="en-US" sz="9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team identity map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3/15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097280"/>
          <a:ext cx="10789920" cy="4023360"/>
        </p:xfrm>
        <a:graphic>
          <a:graphicData uri="http://schemas.openxmlformats.org/drawingml/2006/table">
            <a:tbl>
              <a:tblPr/>
              <a:tblGrid>
                <a:gridCol w="2468880"/>
                <a:gridCol w="2057400"/>
                <a:gridCol w="2057400"/>
                <a:gridCol w="2057400"/>
                <a:gridCol w="2057400"/>
              </a:tblGrid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Canonical identity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R1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R2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R3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R4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476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92240" y="5440680"/>
            <a:ext cx="4754880" cy="731520"/>
          </a:xfrm>
          <a:prstGeom prst="roundRect">
            <a:avLst>
              <a:gd name="adj" fmla="val 10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29400" y="555040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629400" y="578815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identity change would most distort comparison if missed?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 has the clearest learning trajectory?</a:t>
            </a:r>
            <a:endParaRPr lang="en-US" sz="9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U1: TSR rank path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0080" y="91440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Cumulative TSR rank path (lower is better)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1430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0" y="5486400"/>
            <a:ext cx="4846320" cy="777240"/>
          </a:xfrm>
          <a:prstGeom prst="roundRect">
            <a:avLst>
              <a:gd name="adj" fmla="val 9412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5596128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537960" y="58338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Who compounded, who recovered, and who slid?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rank movement was caused by own improvement versus competitor movement?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U2: TSR rank path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0080" y="91440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Cumulative TSR rank path (lower is better)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1430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0" y="5486400"/>
            <a:ext cx="4846320" cy="777240"/>
          </a:xfrm>
          <a:prstGeom prst="roundRect">
            <a:avLst>
              <a:gd name="adj" fmla="val 9412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5596128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537960" y="58338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Who compounded, who recovered, and who slid?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rank movement was caused by own improvement versus competitor movement?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U1: TSR value path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0080" y="91440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Cumulative TSR path (%)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1430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0" y="5486400"/>
            <a:ext cx="4846320" cy="777240"/>
          </a:xfrm>
          <a:prstGeom prst="roundRect">
            <a:avLst>
              <a:gd name="adj" fmla="val 9412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5596128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537960" y="58338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TSR path shows durable compounding?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path reflects recovery but not full credibility?</a:t>
            </a:r>
            <a:endParaRPr lang="en-US" sz="9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U2: TSR value path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0080" y="91440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Cumulative TSR path (%)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1430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0" y="5486400"/>
            <a:ext cx="4846320" cy="777240"/>
          </a:xfrm>
          <a:prstGeom prst="roundRect">
            <a:avLst>
              <a:gd name="adj" fmla="val 9412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5596128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537960" y="58338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TSR path shows durable compounding?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path reflects recovery but not full credibility?</a:t>
            </a:r>
            <a:endParaRPr lang="en-US" sz="9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U1: share-price path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0080" y="91440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price at end of round (USD)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1430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0" y="5486400"/>
            <a:ext cx="4846320" cy="777240"/>
          </a:xfrm>
          <a:prstGeom prst="roundRect">
            <a:avLst>
              <a:gd name="adj" fmla="val 9412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5596128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537960" y="58338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teams created investor confidence?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Where did share price diverge from current profit?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U2: share-price path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0080" y="91440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price at end of round (USD)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1430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0" y="5486400"/>
            <a:ext cx="4846320" cy="777240"/>
          </a:xfrm>
          <a:prstGeom prst="roundRect">
            <a:avLst>
              <a:gd name="adj" fmla="val 9412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5596128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537960" y="58338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teams created investor confidence?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Where did share price diverge from current profit?</a:t>
            </a:r>
            <a:endParaRPr lang="en-US" sz="9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U1: global market-share path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0080" y="91440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market share path (%)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1430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0" y="5486400"/>
            <a:ext cx="4846320" cy="777240"/>
          </a:xfrm>
          <a:prstGeom prst="roundRect">
            <a:avLst>
              <a:gd name="adj" fmla="val 9412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5596128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537960" y="58338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Who gained share at acceptable economics?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share gain created inventory or margin stress?</a:t>
            </a: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U2: global market-share path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0080" y="914400"/>
            <a:ext cx="10698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 market share path (%)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143000"/>
          <a:ext cx="10698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400800" y="5486400"/>
            <a:ext cx="4846320" cy="777240"/>
          </a:xfrm>
          <a:prstGeom prst="roundRect">
            <a:avLst>
              <a:gd name="adj" fmla="val 9412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5596128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537960" y="58338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Who gained share at acceptable economics?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share gain created inventory or margin stress?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U1: Round 1 to Round 4 storyline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12/15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05840"/>
          <a:ext cx="11155680" cy="4480560"/>
        </p:xfrm>
        <a:graphic>
          <a:graphicData uri="http://schemas.openxmlformats.org/drawingml/2006/table">
            <a:tbl>
              <a:tblPr/>
              <a:tblGrid>
                <a:gridCol w="2057400"/>
                <a:gridCol w="822960"/>
                <a:gridCol w="822960"/>
                <a:gridCol w="822960"/>
                <a:gridCol w="822960"/>
                <a:gridCol w="265176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Team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R1 rank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R2 rank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R3 rank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R4 rank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Storyline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Improved overall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 Rangers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Leader now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Blue / Chahakars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Declined overall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Orange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Declined overall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Improved overall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Declined overall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92240" y="553212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29400" y="564184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629400" y="5879592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is your team’s one-sentence story?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decision explains the biggest turn in the line?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U2: Round 1 to Round 4 storyline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13/15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05840"/>
          <a:ext cx="11155680" cy="4480560"/>
        </p:xfrm>
        <a:graphic>
          <a:graphicData uri="http://schemas.openxmlformats.org/drawingml/2006/table">
            <a:tbl>
              <a:tblPr/>
              <a:tblGrid>
                <a:gridCol w="2057400"/>
                <a:gridCol w="822960"/>
                <a:gridCol w="822960"/>
                <a:gridCol w="822960"/>
                <a:gridCol w="822960"/>
                <a:gridCol w="265176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Team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R1 rank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R2 rank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R3 rank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R4 rank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Storyline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Declined overall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Stable path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Godfathers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Stable path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HallaBol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Stable path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Grey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Leader now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Ochre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Improved overall</a:t>
                      </a:r>
                      <a:endParaRPr lang="en-US" sz="86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92240" y="5532120"/>
            <a:ext cx="4754880" cy="685800"/>
          </a:xfrm>
          <a:prstGeom prst="roundRect">
            <a:avLst>
              <a:gd name="adj" fmla="val 10667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29400" y="564184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629400" y="5879592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is your team’s one-sentence story?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decision explains the biggest turn in the line?</a:t>
            </a:r>
            <a:endParaRPr lang="en-US" sz="9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the flow map in class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14/15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143000"/>
          <a:ext cx="10332720" cy="3474720"/>
        </p:xfrm>
        <a:graphic>
          <a:graphicData uri="http://schemas.openxmlformats.org/drawingml/2006/table">
            <a:tbl>
              <a:tblPr/>
              <a:tblGrid>
                <a:gridCol w="1097280"/>
                <a:gridCol w="9235440"/>
              </a:tblGrid>
              <a:tr h="579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Step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Facilitator move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Ask each team to describe its path without excuses.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Require one metric that explains the turn.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Ask what assumption changed after each round.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Force one Round 5 decision rule.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72238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Distinguish recovery, compounding and crisis.</a:t>
                      </a:r>
                      <a:endParaRPr lang="en-US" sz="10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27432" marR="27432" marT="27432" marB="27432" anchor="mid">
                    <a:lnL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0" y="5120640"/>
            <a:ext cx="4754880" cy="777240"/>
          </a:xfrm>
          <a:prstGeom prst="roundRect">
            <a:avLst>
              <a:gd name="adj" fmla="val 9412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37960" y="5230368"/>
            <a:ext cx="4480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537960" y="54681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 changed its theory of the market?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Which team repeated the same logic despite evidence?</a:t>
            </a:r>
            <a:endParaRPr lang="en-US" sz="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474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Closing: flow maps reveal learning velocity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686800" y="38404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D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749808"/>
            <a:ext cx="1120140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473952"/>
            <a:ext cx="8229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D CESIM Excel results + CESIM materials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1201400" y="647395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1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15/15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2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team that learns fastest from evidence has the strongest path to Round 5.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468880"/>
            <a:ext cx="512064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movement is only the visible trace of deeper managerial learning.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path should end in a decision rule, not a defensive explanation.</a:t>
            </a:r>
            <a:endParaRPr lang="en-US" sz="1100" dirty="0"/>
          </a:p>
          <a:p>
            <a:r>
              <a:rPr lang="en-US" sz="110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teams update assumptions before the market forces them to.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498080" y="28346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EEF7F7"/>
          </a:solidFill>
          <a:ln w="12700">
            <a:solidFill>
              <a:srgbClr val="B7E4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35240" y="2944368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D94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635240" y="318211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changed in your team’s mental model?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1722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 evidence would make you abandon your current strategy?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CESIM debrief</dc:subject>
  <dc:creator>OpenAI</dc:creator>
  <cp:lastModifiedBy>OpenAI</cp:lastModifiedBy>
  <cp:revision>1</cp:revision>
  <dcterms:created xsi:type="dcterms:W3CDTF">2026-08-18T06:40:49Z</dcterms:created>
  <dcterms:modified xsi:type="dcterms:W3CDTF">2026-08-18T06:40:49Z</dcterms:modified>
</cp:coreProperties>
</file>