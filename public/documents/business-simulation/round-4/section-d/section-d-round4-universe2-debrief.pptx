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TSR after Round 4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Grey</c:v>
                  </c:pt>
                  <c:pt idx="1">
                    <c:v>The Godfathers</c:v>
                  </c:pt>
                  <c:pt idx="2">
                    <c:v>Ochre</c:v>
                  </c:pt>
                  <c:pt idx="3">
                    <c:v>Green</c:v>
                  </c:pt>
                  <c:pt idx="4">
                    <c:v>Red</c:v>
                  </c:pt>
                  <c:pt idx="5">
                    <c:v>HallaBol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8.54973852767273</c:v>
                </c:pt>
                <c:pt idx="1">
                  <c:v>4.33596166514887</c:v>
                </c:pt>
                <c:pt idx="2">
                  <c:v>-0.750092729728102</c:v>
                </c:pt>
                <c:pt idx="3">
                  <c:v>-4.34500024292055</c:v>
                </c:pt>
                <c:pt idx="4">
                  <c:v>-11.0361253798871</c:v>
                </c:pt>
                <c:pt idx="5">
                  <c:v>-11.3027496956236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1.302749695623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 Godfathers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HallaBol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5</c:v>
                </c:pt>
                <c:pt idx="1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Profit</c:v>
                  </c:pt>
                  <c:pt idx="2">
                    <c:v>R&amp;D</c:v>
                  </c:pt>
                  <c:pt idx="3">
                    <c:v>Inventory</c:v>
                  </c:pt>
                  <c:pt idx="4">
                    <c:v>MCap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12.121849247788521</c:v>
                </c:pt>
                <c:pt idx="1">
                  <c:v>-0.3108581460321078</c:v>
                </c:pt>
                <c:pt idx="2">
                  <c:v>3.497913</c:v>
                </c:pt>
                <c:pt idx="3">
                  <c:v>1.396404098459896</c:v>
                </c:pt>
                <c:pt idx="4">
                  <c:v>42.622879970699564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Profit</c:v>
                  </c:pt>
                  <c:pt idx="2">
                    <c:v>R&amp;D</c:v>
                  </c:pt>
                  <c:pt idx="3">
                    <c:v>Inventory</c:v>
                  </c:pt>
                  <c:pt idx="4">
                    <c:v>MCap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12.146321177187815</c:v>
                </c:pt>
                <c:pt idx="1">
                  <c:v>0.17106044087287137</c:v>
                </c:pt>
                <c:pt idx="2">
                  <c:v>2.122535714285715</c:v>
                </c:pt>
                <c:pt idx="3">
                  <c:v>2.784869857129185</c:v>
                </c:pt>
                <c:pt idx="4">
                  <c:v>31.51441766397385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versus TSR signal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-222.12128348131802</c:v>
                </c:pt>
                <c:pt idx="1">
                  <c:v>-176.99517670709298</c:v>
                </c:pt>
                <c:pt idx="2">
                  <c:v>-266.08487707468197</c:v>
                </c:pt>
                <c:pt idx="3">
                  <c:v>602.670447810693</c:v>
                </c:pt>
                <c:pt idx="4">
                  <c:v>330.730350062697</c:v>
                </c:pt>
                <c:pt idx="5">
                  <c:v>-97.1390197374256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266.0848770746819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1.98635912676689</c:v>
                </c:pt>
                <c:pt idx="1">
                  <c:v>1.1277755618745702</c:v>
                </c:pt>
                <c:pt idx="2">
                  <c:v>1.80213223842446</c:v>
                </c:pt>
                <c:pt idx="3">
                  <c:v>2.86252045008671</c:v>
                </c:pt>
                <c:pt idx="4">
                  <c:v>2.20758412047427</c:v>
                </c:pt>
                <c:pt idx="5">
                  <c:v>2.13547775016162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1.32636657373531</c:v>
                </c:pt>
                <c:pt idx="1">
                  <c:v>0.960138984419495</c:v>
                </c:pt>
                <c:pt idx="2">
                  <c:v>2.24344843400269</c:v>
                </c:pt>
                <c:pt idx="3">
                  <c:v>3.34067389111352</c:v>
                </c:pt>
                <c:pt idx="4">
                  <c:v>2.67975597451007</c:v>
                </c:pt>
                <c:pt idx="5">
                  <c:v>1.59593731940673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-71.927358075501</c:v>
                </c:pt>
                <c:pt idx="1">
                  <c:v>212.71471699724398</c:v>
                </c:pt>
                <c:pt idx="2">
                  <c:v>-10.5006824123936</c:v>
                </c:pt>
                <c:pt idx="3">
                  <c:v>-761.9798925357251</c:v>
                </c:pt>
                <c:pt idx="4">
                  <c:v>275.06741934306</c:v>
                </c:pt>
                <c:pt idx="5">
                  <c:v>45.767650651207795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-222.12128348131802</c:v>
                </c:pt>
                <c:pt idx="1">
                  <c:v>-176.99517670709298</c:v>
                </c:pt>
                <c:pt idx="2">
                  <c:v>-266.08487707468197</c:v>
                </c:pt>
                <c:pt idx="3">
                  <c:v>602.670447810693</c:v>
                </c:pt>
                <c:pt idx="4">
                  <c:v>330.730350062697</c:v>
                </c:pt>
                <c:pt idx="5">
                  <c:v>-97.1390197374256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5.44203096780107</c:v>
                </c:pt>
                <c:pt idx="1">
                  <c:v>10.1910172365296</c:v>
                </c:pt>
                <c:pt idx="2">
                  <c:v>14.5023949174796</c:v>
                </c:pt>
                <c:pt idx="3">
                  <c:v>41.02550750082</c:v>
                </c:pt>
                <c:pt idx="4">
                  <c:v>16.2145853385263</c:v>
                </c:pt>
                <c:pt idx="5">
                  <c:v>12.6244640388434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17.4542016728322</c:v>
                </c:pt>
                <c:pt idx="1">
                  <c:v>4.62110232339152</c:v>
                </c:pt>
                <c:pt idx="2">
                  <c:v>18.616344175901</c:v>
                </c:pt>
                <c:pt idx="3">
                  <c:v>23.8142804640693</c:v>
                </c:pt>
                <c:pt idx="4">
                  <c:v>19.5699376633047</c:v>
                </c:pt>
                <c:pt idx="5">
                  <c:v>15.9241337005015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9.52606562787107</c:v>
                </c:pt>
                <c:pt idx="1">
                  <c:v>9.67865221496452</c:v>
                </c:pt>
                <c:pt idx="2">
                  <c:v>19.7927818296948</c:v>
                </c:pt>
                <c:pt idx="3">
                  <c:v>23.1913829929602</c:v>
                </c:pt>
                <c:pt idx="4">
                  <c:v>29.5093671122305</c:v>
                </c:pt>
                <c:pt idx="5">
                  <c:v>8.30175022227891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-16.7465984049779</c:v>
                </c:pt>
                <c:pt idx="1">
                  <c:v>-18.4343287356575</c:v>
                </c:pt>
                <c:pt idx="2">
                  <c:v>-11.8605301125617</c:v>
                </c:pt>
                <c:pt idx="3">
                  <c:v>18.0403854867082</c:v>
                </c:pt>
                <c:pt idx="4">
                  <c:v>12.3418084784068</c:v>
                </c:pt>
                <c:pt idx="5">
                  <c:v>-6.08664378959043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-4.77784943071259</c:v>
                </c:pt>
                <c:pt idx="1">
                  <c:v>1.88704204214755</c:v>
                </c:pt>
                <c:pt idx="2">
                  <c:v>-10.6086235754113</c:v>
                </c:pt>
                <c:pt idx="3">
                  <c:v>24.976233875344</c:v>
                </c:pt>
                <c:pt idx="4">
                  <c:v>18.4324262600016</c:v>
                </c:pt>
                <c:pt idx="5">
                  <c:v>2.58023790890223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705.436</c:v>
                </c:pt>
                <c:pt idx="1">
                  <c:v>121.825</c:v>
                </c:pt>
                <c:pt idx="2">
                  <c:v>596.925</c:v>
                </c:pt>
                <c:pt idx="3">
                  <c:v>1562.75</c:v>
                </c:pt>
                <c:pt idx="4">
                  <c:v>421.049</c:v>
                </c:pt>
                <c:pt idx="5">
                  <c:v>89.928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385</c:v>
                </c:pt>
                <c:pt idx="1">
                  <c:v>182.834285714286</c:v>
                </c:pt>
                <c:pt idx="2">
                  <c:v>641.868571428572</c:v>
                </c:pt>
                <c:pt idx="3">
                  <c:v>238.88</c:v>
                </c:pt>
                <c:pt idx="4">
                  <c:v>326.118571428571</c:v>
                </c:pt>
                <c:pt idx="5">
                  <c:v>347.83428571428595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USD bn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0.27929803891279503</c:v>
                </c:pt>
                <c:pt idx="1">
                  <c:v>1.61920107075862</c:v>
                </c:pt>
                <c:pt idx="2">
                  <c:v>0.424332524990157</c:v>
                </c:pt>
                <c:pt idx="3">
                  <c:v>0.000258018188858867</c:v>
                </c:pt>
                <c:pt idx="4">
                  <c:v>0.14721530238127198</c:v>
                </c:pt>
                <c:pt idx="5">
                  <c:v>0.314564901897482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Unmet demand m units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0.933</c:v>
                </c:pt>
                <c:pt idx="1">
                  <c:v>0</c:v>
                </c:pt>
                <c:pt idx="2">
                  <c:v>0</c:v>
                </c:pt>
                <c:pt idx="3">
                  <c:v>1.714</c:v>
                </c:pt>
                <c:pt idx="4">
                  <c:v>0.054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capitalisation (USD bn)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4.25210901527114</c:v>
                </c:pt>
                <c:pt idx="1">
                  <c:v>3.32118958048161</c:v>
                </c:pt>
                <c:pt idx="2">
                  <c:v>6.607986664155559</c:v>
                </c:pt>
                <c:pt idx="3">
                  <c:v>4.20734857945624</c:v>
                </c:pt>
                <c:pt idx="4">
                  <c:v>7.64397049136266</c:v>
                </c:pt>
                <c:pt idx="5">
                  <c:v>5.48181333324664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2.23931560876612</c:v>
                </c:pt>
                <c:pt idx="1">
                  <c:v>3.23974446234569</c:v>
                </c:pt>
                <c:pt idx="2">
                  <c:v>3.41708668235491</c:v>
                </c:pt>
                <c:pt idx="3">
                  <c:v>3.6832865913063</c:v>
                </c:pt>
                <c:pt idx="4">
                  <c:v>3.0987924602567</c:v>
                </c:pt>
                <c:pt idx="5">
                  <c:v>2.89656632684118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 reputation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</c:v>
                  </c:pt>
                  <c:pt idx="2">
                    <c:v>The Godfathers</c:v>
                  </c:pt>
                  <c:pt idx="3">
                    <c:v>HallaBol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2.80167608928512</c:v>
                </c:pt>
                <c:pt idx="1">
                  <c:v>3.01779185105873</c:v>
                </c:pt>
                <c:pt idx="2">
                  <c:v>3.11470516411859</c:v>
                </c:pt>
                <c:pt idx="3">
                  <c:v>3.33503160429977</c:v>
                </c:pt>
                <c:pt idx="4">
                  <c:v>3.02155835242366</c:v>
                </c:pt>
                <c:pt idx="5">
                  <c:v>2.86365596299956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-71.927358075501</c:v>
                </c:pt>
                <c:pt idx="1">
                  <c:v>-222.12128348131802</c:v>
                </c:pt>
                <c:pt idx="2">
                  <c:v>6.649270039929481</c:v>
                </c:pt>
                <c:pt idx="3">
                  <c:v>4.25210901527114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222.1212834813180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212.71471699724398</c:v>
                </c:pt>
                <c:pt idx="1">
                  <c:v>-176.99517670709298</c:v>
                </c:pt>
                <c:pt idx="2">
                  <c:v>5.514090285479139</c:v>
                </c:pt>
                <c:pt idx="3">
                  <c:v>3.32118958048161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76.9951767070929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-10.5006824123936</c:v>
                </c:pt>
                <c:pt idx="1">
                  <c:v>-266.08487707468197</c:v>
                </c:pt>
                <c:pt idx="2">
                  <c:v>7.3398624821062795</c:v>
                </c:pt>
                <c:pt idx="3">
                  <c:v>6.607986664155559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266.0848770746819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-761.9798925357251</c:v>
                </c:pt>
                <c:pt idx="1">
                  <c:v>602.670447810693</c:v>
                </c:pt>
                <c:pt idx="2">
                  <c:v>8.37180561861352</c:v>
                </c:pt>
                <c:pt idx="3">
                  <c:v>4.20734857945624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761.979892535725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275.06741934306</c:v>
                </c:pt>
                <c:pt idx="1">
                  <c:v>330.730350062697</c:v>
                </c:pt>
                <c:pt idx="2">
                  <c:v>8.87234628866814</c:v>
                </c:pt>
                <c:pt idx="3">
                  <c:v>7.64397049136266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45.767650651207795</c:v>
                </c:pt>
                <c:pt idx="1">
                  <c:v>-97.1390197374256</c:v>
                </c:pt>
                <c:pt idx="2">
                  <c:v>5.875505255903</c:v>
                </c:pt>
                <c:pt idx="3">
                  <c:v>5.48181333324664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97.139019737425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548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 U2: Round 4 Comparative Debrief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 → Round 4 • cumulative TSR, value creation and decision quality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learned, which merely moved, and which decisions created durable shareholder value?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480560" cy="4114800"/>
          </a:xfrm>
          <a:prstGeom prst="roundRect">
            <a:avLst>
              <a:gd name="adj" fmla="val 3333"/>
            </a:avLst>
          </a:prstGeom>
          <a:solidFill>
            <a:srgbClr val="EAF6F6"/>
          </a:solidFill>
          <a:ln w="12700">
            <a:solidFill>
              <a:srgbClr val="9DE2E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03720" y="2057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0" y="21396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62088" y="2377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07808" y="24597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0456" y="26974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66176" y="2779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78824" y="3017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4544" y="30998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37192" y="33375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82912" y="34198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95560" y="36576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41280" y="37398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identity map and data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2/25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78992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103120"/>
                <a:gridCol w="2103120"/>
              </a:tblGrid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89120"/>
            <a:ext cx="5303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ranking criterion: cumulative TSR (p.a.).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Round 3 to Round 4; flow deck covers R1 to R4.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renamed teams are treated as the same company identity.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42976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440740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error would occur if renamed teams were treated as new companies?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metric should determine formal rank?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7724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2377440" y="5760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comes before interpretation: wrong mapping turns analysis into fiction.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Round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264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61264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50876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2024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2996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02996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92608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4728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44728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86460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76072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7220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8192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28192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17804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58952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9924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69924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59536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0684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1656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11656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01268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416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53388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1053388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85800" y="2514600"/>
            <a:ext cx="53949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current profit with shareholder value.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ranks companies, while share price and market cap show latest valuation movement.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number requires a mechanism: price, volume, mix, cost, capacity, cash, or risk.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2976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37960" y="440740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37960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can profit rise while TSR rank falls?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link in the chain is most fragile for your team?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760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is repeatable cash flow discounted for risk, not a single attractive number.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leaderboard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4/25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5669280" cy="4023360"/>
        </p:xfrm>
        <a:graphic>
          <a:graphicData uri="http://schemas.openxmlformats.org/drawingml/2006/table">
            <a:tbl>
              <a:tblPr/>
              <a:tblGrid>
                <a:gridCol w="640080"/>
                <a:gridCol w="1965960"/>
                <a:gridCol w="822960"/>
                <a:gridCol w="868680"/>
                <a:gridCol w="822960"/>
                <a:gridCol w="64008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331m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-266m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-222m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12.8%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603m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11887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after Round 4 (%)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537960" y="1417320"/>
          <a:ext cx="4800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48006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0" y="4910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75120" y="51480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is the real leader: rank leader, profit leader, or share leader?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leader is most vulnerable in Round 5?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is the symptom; explanation sits in economics, risk and future credibility.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movement: Round 3 → Round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5/25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5760720" cy="4389120"/>
        </p:xfrm>
        <a:graphic>
          <a:graphicData uri="http://schemas.openxmlformats.org/drawingml/2006/table">
            <a:tbl>
              <a:tblPr/>
              <a:tblGrid>
                <a:gridCol w="2057400"/>
                <a:gridCol w="731520"/>
                <a:gridCol w="731520"/>
                <a:gridCol w="1280160"/>
                <a:gridCol w="777240"/>
              </a:tblGrid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 rank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rank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Movement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TSR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→ 4  (-1)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→ 5  (+1)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-11.0%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→ 2  (=)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→ 6  (-2)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→ 1  (=)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→ 3  (+2)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29400" y="9144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path: lower is better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29400" y="1143000"/>
          <a:ext cx="4800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629400" y="47548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766560" y="486460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766560" y="5102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movement reflects real learning rather than competitor weakness?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improved operationally but still lost relative position?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rank can worsen even when a team becomes better in absolute terms.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Universe-level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9552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$12.15bn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+0.2%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78892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9864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89864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9864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+482m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89204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0176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00176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0176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+4.0 pp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99516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0488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10488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$2.78bn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488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+99.4%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09828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0800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920800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$31.51bn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0800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-26.1%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14400" y="251460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universe totals</a:t>
            </a:r>
            <a:endParaRPr lang="en-US" sz="1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914400" y="2743200"/>
          <a:ext cx="10424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6583680" y="5486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720840" y="55961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720840" y="58338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Did the universe become healthier, or just different?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aggregate number hides the most team-level variation?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Round 4 managerial puzzle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leader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8412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8.5%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9319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416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leader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0416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416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602.7m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1323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420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leader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2420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420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27.6%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77240" y="2926080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profit, market share and TSR do not point to the same team.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 question is whether the market is pricing current strength or future credibility.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decisions should target the weakest link in each team’s value system.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versus TSR signal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0" y="283464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400800" y="534924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537960" y="545896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37960" y="5696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might the profit leader not be the TSR leader?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a high-share team unattractive to investors?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success becomes value only when it is repeatable, cash-generative and risk-aware.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revenue (USD bn)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360920" y="1188720"/>
            <a:ext cx="39319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HallaBol: 3340.7m sales, movement +478m.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Grey: 2679.8m sales, movement +472m.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Godfathers: 2243.4m sales, movement +441m.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4389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8080" y="4498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98080" y="4736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revenue growth was value-accretive?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revenue loss improved strategic focus, if any?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760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price × volume × mix. It is an input to strategy, not strategy itself.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for the round (USD m)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360920" y="1188720"/>
            <a:ext cx="39319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HallaBol: profit 602.7m, movement +1365m.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Grey: profit 330.7m, movement +56m.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profit -97.1m, movement -143m.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4389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8080" y="4498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98080" y="4736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profit change is structural?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profit change could reverse if R&amp;D or inventory catches up?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760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is a residual: reverse-engineer demand, price, cost, R&amp;D, financing and tax.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share and regional engines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regional market share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234440"/>
          <a:ext cx="6858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818120" y="1234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27848" y="134416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 leader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7927848" y="161848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27848" y="20208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27.6%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7818120" y="2423160"/>
            <a:ext cx="3291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leader: HallaBol.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 leader: HallaBol.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 leader: Grey.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18120" y="4663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955280" y="47731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55280" y="5010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region is an economic engine, not only a volume engine?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should each team defend, repair or exit?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224028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averages hide strategic truth; regions reveal product-market fit.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and capital discipline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ROS and ROCE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675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726680" y="1234440"/>
            <a:ext cx="3474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HallaBol: ROCE 25.0%, ROS 18.0%.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Grey: ROCE 18.4%, ROS 12.3%.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ROCE 2.6%, ROS -6.1%.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45262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863840" y="463600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4873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used capital most intelligently?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should improve economics before chasing volume?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without capital productivity is expensive hope.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option discipline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expense (USD m)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Godfathers: R&amp;D 641.9m; ROS -11.9%.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Green: R&amp;D 385.0m; ROS -16.7%.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R&amp;D 347.8m; ROS -6.1%.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is R&amp;D an option, and when is it a current-period drag?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would justify increasing R&amp;D in Round 5?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do not buy R&amp;D. They buy relevant value, delivered at a price they accept.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cash and fulfilment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and unmet demand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Red: inventory $1.62bn, unmet demand 0k units.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Godfathers: inventory $0.42bn, unmet demand 0k units.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inventory $0.31bn, unmet demand 0k units.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is inventory a strategic buffer, and when is it failed forecasting?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has demand without fulfilment or stock without demand?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is a deferred judgement about demand. When wrong, it traps cash and managerial attention.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and valuation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14/25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658368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914400"/>
                <a:gridCol w="914400"/>
                <a:gridCol w="731520"/>
                <a:gridCol w="100584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 debt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Gearing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WACC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103.9%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$4.25bn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173.3%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$3.32bn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Godfathers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51.9%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$6.61bn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HallaBol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$4.21bn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$7.64bn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CCC+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592m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$5.48bn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543800" y="1143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capitalisation (USD bn)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543800" y="1371600"/>
          <a:ext cx="3749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543800" y="4617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680960" y="47274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680960" y="4965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debt creating leverage or signalling distress?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does the same cash flow become less valuable when risk rises?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converts expected cash flows into equity value after risk, debt and excess cash.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and demand reputation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ESG indicators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environmental score: HallaBol.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ESG reputation: HallaBol.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matters when it reinforces demand, reputation, risk and operating economics.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Did ESG contribute to demand, or remain a separate score?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would you test ESG payoff in Round 5?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is strategically powerful only when it joins the value system rather than decorating it.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Green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-4.3%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7.8%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→ 4  (-1)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-222.1m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-150m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12.8%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-5.0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-16.7%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-13.1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-4.8%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-5.2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case: stop value leakage before chasing scale.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1326.4m (-660m vs R3); market cap $4.25bn.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385.0m; inventory 279.3m; short-term debt 297.5m.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CCC+; unmet demand 933k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Green's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Red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-11.0%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0.8%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→ 5  (+1)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-177.0m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-390m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-1.6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-37.3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-14.3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case: stop value leakage before chasing scale.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960.1m (-168m vs R3); market cap $3.32bn.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182.8m; inventory 1619.2m; short-term debt 1277.6m.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CCC+; unmet demand 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Red's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The Godfathers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12.0%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→ 2  (=)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-266.1m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-256m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+3.6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-11.9%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-11.3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-10.6%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-16.6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case: stop value leakage before chasing scale.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2243.4m (+441m vs R3); market cap $6.61bn.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641.9m; inventory 424.3m; short-term debt 358.2m.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B; unmet demand 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The Godfathers's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HallaBol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-11.3%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7.2%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→ 6  (-2)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602.7m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+1365m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27.6%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+5.9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+44.7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25.0%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+64.9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pressure: operational diagnosis must precede reaction.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3340.7m (+478m vs R3); market cap $4.21bn.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238.9m; inventory 0.3m; short-term debt 0.0m.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A+; unmet demand 1714k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HallaBol's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16.1%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1  (=)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330.7m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+56m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21.3%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+4.9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-0.1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18.4%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-0.4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Leader: protect coherence and avoid complacency.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2679.8m (+472m vs R3); market cap $7.64bn.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326.1m; inventory 147.2m; short-term debt 114.6m.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AA-; unmet demand 54k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Grey's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Ochre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-0.8%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1.3%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→ 3  (+2)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-97.1m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-143m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13.3%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-7.8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-6.1%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-8.2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-6.1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case: stop value leakage before chasing scale.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1595.9m (-540m vs R3); market cap $5.48bn.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347.8m; inventory 314.6m; short-term debt 591.9m.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CCC+; unmet demand 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Ochre's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rewarded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5486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Credible value conversion: teams that turned demand into margin and capital productivity.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discipline: stronger credit, lower WACC and manageable short-term debt.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coherence: clear engines in USA, Asia or Europe rather than equal spreading.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discipline: R&amp;D connected to market readiness and financing capacity.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Working-capital discipline: inventory levels aligned with demand and product mix.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93852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37960" y="2176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reward factor did your team earn?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reward factor must you build next round?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rewards systems, not isolated actions.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punished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5486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without demand validation.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without margin or cash conversion.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that did not translate into demand, share, pricing power or future credibility.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risk: short-term debt, weak credit and high WACC.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misfit: winning one metric while losing the engine market.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93852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37960" y="2176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punished error is reversible before Round 5?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error is sticky because it affects capacity, debt or technology path?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begins by separating reversible decisions from structural constraints.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 checklist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24/25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89920" cy="420624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402336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area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First-principles question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Guardrail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will customers actually buy?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not forecast demand without fulfilment capacity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bundle protects contribution?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discount unless contribution rises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be ready now?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 investment; define stop-loss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should be made where?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threshold before production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cash and rating survive?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Avoid unplanned debt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Defend, attack, repair, harvest or exit?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equal spreading without evidence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55778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37960" y="56875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59253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your one non-negotiable guardrail?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Round 5 decision has the largest irreversible downside?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reflection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U2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team is the most coherent, not the loudest or the boldest.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9436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Coherence links customer value, pricing, technology, production, finance, ESG and risk.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is evidence, not destiny. The team that learns fastest still has strategic room.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round should be submitted as a testable managerial hypothesis.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29400" y="28529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2940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will your team stop doing immediately?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will prove your Round 5 strategy is working?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42316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general managers convert results into explicit decision rules.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debrief</dc:subject>
  <dc:creator>OpenAI</dc:creator>
  <cp:lastModifiedBy>OpenAI</cp:lastModifiedBy>
  <cp:revision>1</cp:revision>
  <dcterms:created xsi:type="dcterms:W3CDTF">2026-08-18T06:40:49Z</dcterms:created>
  <dcterms:modified xsi:type="dcterms:W3CDTF">2026-08-18T06:40:49Z</dcterms:modified>
</cp:coreProperties>
</file>