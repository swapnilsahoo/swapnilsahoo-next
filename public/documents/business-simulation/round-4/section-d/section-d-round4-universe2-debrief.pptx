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9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8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0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35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TSR after Round 4 (%)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Grey</c:v>
                  </c:pt>
                  <c:pt idx="1">
                    <c:v>The Godfathers</c:v>
                  </c:pt>
                  <c:pt idx="2">
                    <c:v>Ochre</c:v>
                  </c:pt>
                  <c:pt idx="3">
                    <c:v>Green</c:v>
                  </c:pt>
                  <c:pt idx="4">
                    <c:v>Red</c:v>
                  </c:pt>
                  <c:pt idx="5">
                    <c:v>HallaBol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8.54973852767273</c:v>
                </c:pt>
                <c:pt idx="1">
                  <c:v>4.33596166514887</c:v>
                </c:pt>
                <c:pt idx="2">
                  <c:v>-0.750092729728102</c:v>
                </c:pt>
                <c:pt idx="3">
                  <c:v>-4.34500024292055</c:v>
                </c:pt>
                <c:pt idx="4">
                  <c:v>-11.0361253798871</c:v>
                </c:pt>
                <c:pt idx="5">
                  <c:v>-11.3027496956236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11.3027496956236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R3</c:v>
                  </c:pt>
                  <c:pt idx="1">
                    <c:v>R4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</c:v>
                </c:pt>
                <c:pt idx="1">
                  <c:v>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</c:v>
                </c:pt>
              </c:strCache>
            </c:strRef>
          </c:tx>
          <c:spPr>
            <a:solidFill>
              <a:srgbClr val="D97706"/>
            </a:solidFill>
            <a:ln w="2540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R3</c:v>
                  </c:pt>
                  <c:pt idx="1">
                    <c:v>R4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 Godfathers</c:v>
                </c:pt>
              </c:strCache>
            </c:strRef>
          </c:tx>
          <c:spPr>
            <a:solidFill>
              <a:srgbClr val="2563EB"/>
            </a:solidFill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R3</c:v>
                  </c:pt>
                  <c:pt idx="1">
                    <c:v>R4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HallaBol</c:v>
                </c:pt>
              </c:strCache>
            </c:strRef>
          </c:tx>
          <c:spPr>
            <a:solidFill>
              <a:srgbClr val="059669"/>
            </a:solidFill>
            <a:ln w="2540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R3</c:v>
                  </c:pt>
                  <c:pt idx="1">
                    <c:v>R4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4</c:v>
                </c:pt>
                <c:pt idx="1">
                  <c:v>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R3</c:v>
                  </c:pt>
                  <c:pt idx="1">
                    <c:v>R4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Ochre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R3</c:v>
                  </c:pt>
                  <c:pt idx="1">
                    <c:v>R4</c:v>
                  </c:pt>
                </c:lvl>
              </c:multiLvlStrCache>
            </c:multiLvl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5</c:v>
                </c:pt>
                <c:pt idx="1">
                  <c:v>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Sales</c:v>
                  </c:pt>
                  <c:pt idx="1">
                    <c:v>Profit</c:v>
                  </c:pt>
                  <c:pt idx="2">
                    <c:v>R&amp;D</c:v>
                  </c:pt>
                  <c:pt idx="3">
                    <c:v>Inventory</c:v>
                  </c:pt>
                  <c:pt idx="4">
                    <c:v>MCap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12.121849247788521</c:v>
                </c:pt>
                <c:pt idx="1">
                  <c:v>-0.3108581460321078</c:v>
                </c:pt>
                <c:pt idx="2">
                  <c:v>3.497913</c:v>
                </c:pt>
                <c:pt idx="3">
                  <c:v>1.396404098459896</c:v>
                </c:pt>
                <c:pt idx="4">
                  <c:v>42.622879970699564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Sales</c:v>
                  </c:pt>
                  <c:pt idx="1">
                    <c:v>Profit</c:v>
                  </c:pt>
                  <c:pt idx="2">
                    <c:v>R&amp;D</c:v>
                  </c:pt>
                  <c:pt idx="3">
                    <c:v>Inventory</c:v>
                  </c:pt>
                  <c:pt idx="4">
                    <c:v>MCap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12.146321177187815</c:v>
                </c:pt>
                <c:pt idx="1">
                  <c:v>0.17106044087287137</c:v>
                </c:pt>
                <c:pt idx="2">
                  <c:v>2.122535714285715</c:v>
                </c:pt>
                <c:pt idx="3">
                  <c:v>2.784869857129185</c:v>
                </c:pt>
                <c:pt idx="4">
                  <c:v>31.51441766397385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 versus TSR signal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-222.12128348131802</c:v>
                </c:pt>
                <c:pt idx="1">
                  <c:v>-176.99517670709298</c:v>
                </c:pt>
                <c:pt idx="2">
                  <c:v>-266.08487707468197</c:v>
                </c:pt>
                <c:pt idx="3">
                  <c:v>602.670447810693</c:v>
                </c:pt>
                <c:pt idx="4">
                  <c:v>330.730350062697</c:v>
                </c:pt>
                <c:pt idx="5">
                  <c:v>-97.1390197374256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266.08487707468197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1.98635912676689</c:v>
                </c:pt>
                <c:pt idx="1">
                  <c:v>1.1277755618745702</c:v>
                </c:pt>
                <c:pt idx="2">
                  <c:v>1.80213223842446</c:v>
                </c:pt>
                <c:pt idx="3">
                  <c:v>2.86252045008671</c:v>
                </c:pt>
                <c:pt idx="4">
                  <c:v>2.20758412047427</c:v>
                </c:pt>
                <c:pt idx="5">
                  <c:v>2.13547775016162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1.32636657373531</c:v>
                </c:pt>
                <c:pt idx="1">
                  <c:v>0.960138984419495</c:v>
                </c:pt>
                <c:pt idx="2">
                  <c:v>2.24344843400269</c:v>
                </c:pt>
                <c:pt idx="3">
                  <c:v>3.34067389111352</c:v>
                </c:pt>
                <c:pt idx="4">
                  <c:v>2.67975597451007</c:v>
                </c:pt>
                <c:pt idx="5">
                  <c:v>1.59593731940673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-71.927358075501</c:v>
                </c:pt>
                <c:pt idx="1">
                  <c:v>212.71471699724398</c:v>
                </c:pt>
                <c:pt idx="2">
                  <c:v>-10.5006824123936</c:v>
                </c:pt>
                <c:pt idx="3">
                  <c:v>-761.9798925357251</c:v>
                </c:pt>
                <c:pt idx="4">
                  <c:v>275.06741934306</c:v>
                </c:pt>
                <c:pt idx="5">
                  <c:v>45.767650651207795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-222.12128348131802</c:v>
                </c:pt>
                <c:pt idx="1">
                  <c:v>-176.99517670709298</c:v>
                </c:pt>
                <c:pt idx="2">
                  <c:v>-266.08487707468197</c:v>
                </c:pt>
                <c:pt idx="3">
                  <c:v>602.670447810693</c:v>
                </c:pt>
                <c:pt idx="4">
                  <c:v>330.730350062697</c:v>
                </c:pt>
                <c:pt idx="5">
                  <c:v>-97.1390197374256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USA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5.44203096780107</c:v>
                </c:pt>
                <c:pt idx="1">
                  <c:v>10.1910172365296</c:v>
                </c:pt>
                <c:pt idx="2">
                  <c:v>14.5023949174796</c:v>
                </c:pt>
                <c:pt idx="3">
                  <c:v>41.02550750082</c:v>
                </c:pt>
                <c:pt idx="4">
                  <c:v>16.2145853385263</c:v>
                </c:pt>
                <c:pt idx="5">
                  <c:v>12.6244640388434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Asia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17.4542016728322</c:v>
                </c:pt>
                <c:pt idx="1">
                  <c:v>4.62110232339152</c:v>
                </c:pt>
                <c:pt idx="2">
                  <c:v>18.616344175901</c:v>
                </c:pt>
                <c:pt idx="3">
                  <c:v>23.8142804640693</c:v>
                </c:pt>
                <c:pt idx="4">
                  <c:v>19.5699376633047</c:v>
                </c:pt>
                <c:pt idx="5">
                  <c:v>15.9241337005015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Europe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9.52606562787107</c:v>
                </c:pt>
                <c:pt idx="1">
                  <c:v>9.67865221496452</c:v>
                </c:pt>
                <c:pt idx="2">
                  <c:v>19.7927818296948</c:v>
                </c:pt>
                <c:pt idx="3">
                  <c:v>23.1913829929602</c:v>
                </c:pt>
                <c:pt idx="4">
                  <c:v>29.5093671122305</c:v>
                </c:pt>
                <c:pt idx="5">
                  <c:v>8.30175022227891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ROS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-16.7465984049779</c:v>
                </c:pt>
                <c:pt idx="1">
                  <c:v>-18.4343287356575</c:v>
                </c:pt>
                <c:pt idx="2">
                  <c:v>-11.8605301125617</c:v>
                </c:pt>
                <c:pt idx="3">
                  <c:v>18.0403854867082</c:v>
                </c:pt>
                <c:pt idx="4">
                  <c:v>12.3418084784068</c:v>
                </c:pt>
                <c:pt idx="5">
                  <c:v>-6.08664378959043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-4.77784943071259</c:v>
                </c:pt>
                <c:pt idx="1">
                  <c:v>1.88704204214755</c:v>
                </c:pt>
                <c:pt idx="2">
                  <c:v>-10.6086235754113</c:v>
                </c:pt>
                <c:pt idx="3">
                  <c:v>24.976233875344</c:v>
                </c:pt>
                <c:pt idx="4">
                  <c:v>18.4324262600016</c:v>
                </c:pt>
                <c:pt idx="5">
                  <c:v>2.58023790890223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705.436</c:v>
                </c:pt>
                <c:pt idx="1">
                  <c:v>121.825</c:v>
                </c:pt>
                <c:pt idx="2">
                  <c:v>596.925</c:v>
                </c:pt>
                <c:pt idx="3">
                  <c:v>1562.75</c:v>
                </c:pt>
                <c:pt idx="4">
                  <c:v>421.049</c:v>
                </c:pt>
                <c:pt idx="5">
                  <c:v>89.928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385</c:v>
                </c:pt>
                <c:pt idx="1">
                  <c:v>182.834285714286</c:v>
                </c:pt>
                <c:pt idx="2">
                  <c:v>641.868571428572</c:v>
                </c:pt>
                <c:pt idx="3">
                  <c:v>238.88</c:v>
                </c:pt>
                <c:pt idx="4">
                  <c:v>326.118571428571</c:v>
                </c:pt>
                <c:pt idx="5">
                  <c:v>347.83428571428595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 USD bn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0.27929803891279503</c:v>
                </c:pt>
                <c:pt idx="1">
                  <c:v>1.61920107075862</c:v>
                </c:pt>
                <c:pt idx="2">
                  <c:v>0.424332524990157</c:v>
                </c:pt>
                <c:pt idx="3">
                  <c:v>0.000258018188858867</c:v>
                </c:pt>
                <c:pt idx="4">
                  <c:v>0.14721530238127198</c:v>
                </c:pt>
                <c:pt idx="5">
                  <c:v>0.314564901897482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Unmet demand m units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0.933</c:v>
                </c:pt>
                <c:pt idx="1">
                  <c:v>0</c:v>
                </c:pt>
                <c:pt idx="2">
                  <c:v>0</c:v>
                </c:pt>
                <c:pt idx="3">
                  <c:v>1.714</c:v>
                </c:pt>
                <c:pt idx="4">
                  <c:v>0.054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capitalisation (USD bn)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4.25210901527114</c:v>
                </c:pt>
                <c:pt idx="1">
                  <c:v>3.32118958048161</c:v>
                </c:pt>
                <c:pt idx="2">
                  <c:v>6.607986664155559</c:v>
                </c:pt>
                <c:pt idx="3">
                  <c:v>4.20734857945624</c:v>
                </c:pt>
                <c:pt idx="4">
                  <c:v>7.64397049136266</c:v>
                </c:pt>
                <c:pt idx="5">
                  <c:v>5.48181333324664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Environmental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2.23931560876612</c:v>
                </c:pt>
                <c:pt idx="1">
                  <c:v>3.23974446234569</c:v>
                </c:pt>
                <c:pt idx="2">
                  <c:v>3.41708668235491</c:v>
                </c:pt>
                <c:pt idx="3">
                  <c:v>3.6832865913063</c:v>
                </c:pt>
                <c:pt idx="4">
                  <c:v>3.0987924602567</c:v>
                </c:pt>
                <c:pt idx="5">
                  <c:v>2.89656632684118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ESG reputation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</c:v>
                  </c:pt>
                  <c:pt idx="2">
                    <c:v>The Godfathers</c:v>
                  </c:pt>
                  <c:pt idx="3">
                    <c:v>HallaBol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2.80167608928512</c:v>
                </c:pt>
                <c:pt idx="1">
                  <c:v>3.01779185105873</c:v>
                </c:pt>
                <c:pt idx="2">
                  <c:v>3.11470516411859</c:v>
                </c:pt>
                <c:pt idx="3">
                  <c:v>3.33503160429977</c:v>
                </c:pt>
                <c:pt idx="4">
                  <c:v>3.02155835242366</c:v>
                </c:pt>
                <c:pt idx="5">
                  <c:v>2.86365596299956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 vs R4: profit and market value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Profit R3</c:v>
                  </c:pt>
                  <c:pt idx="1">
                    <c:v>Profit R4</c:v>
                  </c:pt>
                  <c:pt idx="2">
                    <c:v>MCap R3</c:v>
                  </c:pt>
                  <c:pt idx="3">
                    <c:v>MCap 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-71.927358075501</c:v>
                </c:pt>
                <c:pt idx="1">
                  <c:v>-222.12128348131802</c:v>
                </c:pt>
                <c:pt idx="2">
                  <c:v>6.649270039929481</c:v>
                </c:pt>
                <c:pt idx="3">
                  <c:v>4.25210901527114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222.12128348131802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 vs R4: profit and market value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Profit R3</c:v>
                  </c:pt>
                  <c:pt idx="1">
                    <c:v>Profit R4</c:v>
                  </c:pt>
                  <c:pt idx="2">
                    <c:v>MCap R3</c:v>
                  </c:pt>
                  <c:pt idx="3">
                    <c:v>MCap 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212.71471699724398</c:v>
                </c:pt>
                <c:pt idx="1">
                  <c:v>-176.99517670709298</c:v>
                </c:pt>
                <c:pt idx="2">
                  <c:v>5.514090285479139</c:v>
                </c:pt>
                <c:pt idx="3">
                  <c:v>3.32118958048161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176.99517670709298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 vs R4: profit and market value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Profit R3</c:v>
                  </c:pt>
                  <c:pt idx="1">
                    <c:v>Profit R4</c:v>
                  </c:pt>
                  <c:pt idx="2">
                    <c:v>MCap R3</c:v>
                  </c:pt>
                  <c:pt idx="3">
                    <c:v>MCap 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-10.5006824123936</c:v>
                </c:pt>
                <c:pt idx="1">
                  <c:v>-266.08487707468197</c:v>
                </c:pt>
                <c:pt idx="2">
                  <c:v>7.3398624821062795</c:v>
                </c:pt>
                <c:pt idx="3">
                  <c:v>6.607986664155559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266.08487707468197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 vs R4: profit and market value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Profit R3</c:v>
                  </c:pt>
                  <c:pt idx="1">
                    <c:v>Profit R4</c:v>
                  </c:pt>
                  <c:pt idx="2">
                    <c:v>MCap R3</c:v>
                  </c:pt>
                  <c:pt idx="3">
                    <c:v>MCap 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-761.9798925357251</c:v>
                </c:pt>
                <c:pt idx="1">
                  <c:v>602.670447810693</c:v>
                </c:pt>
                <c:pt idx="2">
                  <c:v>8.37180561861352</c:v>
                </c:pt>
                <c:pt idx="3">
                  <c:v>4.20734857945624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761.9798925357251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 vs R4: profit and market value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Profit R3</c:v>
                  </c:pt>
                  <c:pt idx="1">
                    <c:v>Profit R4</c:v>
                  </c:pt>
                  <c:pt idx="2">
                    <c:v>MCap R3</c:v>
                  </c:pt>
                  <c:pt idx="3">
                    <c:v>MCap 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275.06741934306</c:v>
                </c:pt>
                <c:pt idx="1">
                  <c:v>330.730350062697</c:v>
                </c:pt>
                <c:pt idx="2">
                  <c:v>8.87234628866814</c:v>
                </c:pt>
                <c:pt idx="3">
                  <c:v>7.64397049136266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 vs R4: profit and market value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Profit R3</c:v>
                  </c:pt>
                  <c:pt idx="1">
                    <c:v>Profit R4</c:v>
                  </c:pt>
                  <c:pt idx="2">
                    <c:v>MCap R3</c:v>
                  </c:pt>
                  <c:pt idx="3">
                    <c:v>MCap 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45.767650651207795</c:v>
                </c:pt>
                <c:pt idx="1">
                  <c:v>-97.1390197374256</c:v>
                </c:pt>
                <c:pt idx="2">
                  <c:v>5.875505255903</c:v>
                </c:pt>
                <c:pt idx="3">
                  <c:v>5.48181333324664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97.1390197374256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core question: what did teams learn between Round 3 and Round 4?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Clarify that labels changed in some exports. Use canonical identities for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discipline class discussion before moving to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identify what ranking does and does not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time on rank movement. It prevents static scoreboard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students from aggregate movement into team-level drivers.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the central puzzle.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what caused sales movement: price, volume, technology mix or regional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operating improvements from one-off reductions in investment spending.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teams to state their primary region for Round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ROCE is key for technology and production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R&amp;D timing as a disciplined option, not as good or bad by default.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inventory to pricing, production and capacity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Differentiate planned leverage from unplanned financing pressure.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only reported ESG metrics; avoid generic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Green: discuss rank movement, then separate operating performance from valuation. Ask the team for one evidence-based action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Red: discuss rank movement, then separate operating performance from valuation. Ask the team for one evidence-based action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Godfathers: discuss rank movement, then separate operating performance from valuation. Ask the team for one evidence-based action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HallaBol: discuss rank movement, then separate operating performance from valuation. Ask the team for one evidence-based action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Grey: discuss rank movement, then separate operating performance from valuation. Ask the team for one evidence-based action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Ochre: discuss rank movement, then separate operating performance from valuation. Ask the team for one evidence-based action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each team to identify one reward pattern they earned.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language constructive for weak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with each team stating one hypothesis, one falsifying metric and one guardrail.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one commitment per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486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CESIM Global Challenge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94360" y="11704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 U2: Round 4 Comparative Debrief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94360" y="19659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3 → Round 4 • cumulative TSR, value creation and decision quality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78892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9718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teaching question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teams learned, which merely moved, and which decisions created durable shareholder value?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29400" y="1005840"/>
            <a:ext cx="4480560" cy="4114800"/>
          </a:xfrm>
          <a:prstGeom prst="roundRect">
            <a:avLst>
              <a:gd name="adj" fmla="val 3333"/>
            </a:avLst>
          </a:prstGeom>
          <a:solidFill>
            <a:srgbClr val="EAF6F6"/>
          </a:solidFill>
          <a:ln w="12700">
            <a:solidFill>
              <a:srgbClr val="9DE2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2057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D9FA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0" y="213969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Choice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562088" y="23774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07808" y="245973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20456" y="26974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D9FA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77977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878824" y="301752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24544" y="309981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537192" y="333756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D9FA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82912" y="341985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195560" y="36576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0" y="373989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4360" y="61264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identity map and data scope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2/25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097280"/>
          <a:ext cx="10789920" cy="301752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2103120"/>
                <a:gridCol w="2103120"/>
                <a:gridCol w="2103120"/>
              </a:tblGrid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Identity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Round 1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Round 2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Round 3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Round 4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389120"/>
            <a:ext cx="530352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Principal ranking criterion: cumulative TSR (p.a.).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 period: Round 3 to Round 4; flow deck covers R1 to R4.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renamed teams are treated as the same company identity.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0" y="42976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4407408"/>
            <a:ext cx="4663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537960" y="464515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error would occur if renamed teams were treated as new companies?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metric should determine formal rank?</a:t>
            </a:r>
            <a:endParaRPr lang="en-US" sz="920" dirty="0"/>
          </a:p>
        </p:txBody>
      </p:sp>
      <p:sp>
        <p:nvSpPr>
          <p:cNvPr id="13" name="Text 10"/>
          <p:cNvSpPr/>
          <p:nvPr/>
        </p:nvSpPr>
        <p:spPr>
          <a:xfrm>
            <a:off x="777240" y="576072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4" name="Text 11"/>
          <p:cNvSpPr/>
          <p:nvPr/>
        </p:nvSpPr>
        <p:spPr>
          <a:xfrm>
            <a:off x="2377440" y="576072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comes before interpretation: wrong mapping turns analysis into fiction.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read Round 4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61264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50876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024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2996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02996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292608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3756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4728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Resources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344728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34340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6460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486460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76072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7220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8192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628192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17804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8952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9924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769924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59536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0684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1656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911656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1001268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2416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53388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38" name="Text 36"/>
          <p:cNvSpPr/>
          <p:nvPr/>
        </p:nvSpPr>
        <p:spPr>
          <a:xfrm>
            <a:off x="1053388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685800" y="2514600"/>
            <a:ext cx="539496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confuse current profit with shareholder value.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Cumulative TSR ranks companies, while share price and market cap show latest valuation movement.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number requires a mechanism: price, volume, mix, cost, capacity, cash, or risk.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0" y="42976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7960" y="4407408"/>
            <a:ext cx="4663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537960" y="464515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Why can profit rise while TSR rank falls?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link in the chain is most fragile for your team?</a:t>
            </a:r>
            <a:endParaRPr lang="en-US" sz="920" dirty="0"/>
          </a:p>
        </p:txBody>
      </p:sp>
      <p:sp>
        <p:nvSpPr>
          <p:cNvPr id="43" name="Text 41"/>
          <p:cNvSpPr/>
          <p:nvPr/>
        </p:nvSpPr>
        <p:spPr>
          <a:xfrm>
            <a:off x="685800" y="576072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44" name="Text 42"/>
          <p:cNvSpPr/>
          <p:nvPr/>
        </p:nvSpPr>
        <p:spPr>
          <a:xfrm>
            <a:off x="2286000" y="576072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 is repeatable cash flow discounted for risk, not a single attractive number.</a:t>
            </a:r>
            <a:endParaRPr lang="en-US" sz="8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leaderboard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4/25</a:t>
            </a:r>
            <a:endParaRPr lang="en-US" sz="7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5669280" cy="4023360"/>
        </p:xfrm>
        <a:graphic>
          <a:graphicData uri="http://schemas.openxmlformats.org/drawingml/2006/table">
            <a:tbl>
              <a:tblPr/>
              <a:tblGrid>
                <a:gridCol w="640080"/>
                <a:gridCol w="1965960"/>
                <a:gridCol w="822960"/>
                <a:gridCol w="868680"/>
                <a:gridCol w="822960"/>
                <a:gridCol w="640080"/>
              </a:tblGrid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Rank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Team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TSR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Profit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Share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Credit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8.5%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331m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21.3%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AA-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-266m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18.0%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-0.8%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-97m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CCC+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-4.3%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-222m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12.8%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CCC+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-11.0%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-177m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7.1%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CCC+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-11.3%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603m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27.6%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A+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537960" y="118872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Cumulative TSR after Round 4 (%)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37960" y="1417320"/>
          <a:ext cx="48006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537960" y="480060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75120" y="491032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6675120" y="51480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Who is the real leader: rank leader, profit leader, or share leader?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leader is most vulnerable in Round 5?</a:t>
            </a:r>
            <a:endParaRPr lang="en-US" sz="920" dirty="0"/>
          </a:p>
        </p:txBody>
      </p:sp>
      <p:sp>
        <p:nvSpPr>
          <p:cNvPr id="14" name="Text 10"/>
          <p:cNvSpPr/>
          <p:nvPr/>
        </p:nvSpPr>
        <p:spPr>
          <a:xfrm>
            <a:off x="64008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1"/>
          <p:cNvSpPr/>
          <p:nvPr/>
        </p:nvSpPr>
        <p:spPr>
          <a:xfrm>
            <a:off x="2240280" y="5806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is the symptom; explanation sits in economics, risk and future credibility.</a:t>
            </a:r>
            <a:endParaRPr lang="en-US" sz="8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movement: Round 3 → Round 4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5/25</a:t>
            </a:r>
            <a:endParaRPr lang="en-US" sz="7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5760720" cy="4389120"/>
        </p:xfrm>
        <a:graphic>
          <a:graphicData uri="http://schemas.openxmlformats.org/drawingml/2006/table">
            <a:tbl>
              <a:tblPr/>
              <a:tblGrid>
                <a:gridCol w="2057400"/>
                <a:gridCol w="731520"/>
                <a:gridCol w="731520"/>
                <a:gridCol w="1280160"/>
                <a:gridCol w="777240"/>
              </a:tblGrid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Team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R3 rank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R4 rank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Movement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R4 TSR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 → 4  (-1)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-4.3%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 → 5  (+1)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-11.0%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 → 2  (=)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4.3%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→ 6  (-2)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-11.3%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 → 1  (=)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8.5%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 → 3  (+2)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-0.8%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29400" y="91440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path: lower is better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629400" y="1143000"/>
          <a:ext cx="4800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629400" y="475488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766560" y="486460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6766560" y="510235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movement reflects real learning rather than competitor weakness?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 improved operationally but still lost relative position?</a:t>
            </a:r>
            <a:endParaRPr lang="en-US" sz="920" dirty="0"/>
          </a:p>
        </p:txBody>
      </p:sp>
      <p:sp>
        <p:nvSpPr>
          <p:cNvPr id="14" name="Text 10"/>
          <p:cNvSpPr/>
          <p:nvPr/>
        </p:nvSpPr>
        <p:spPr>
          <a:xfrm>
            <a:off x="64008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1"/>
          <p:cNvSpPr/>
          <p:nvPr/>
        </p:nvSpPr>
        <p:spPr>
          <a:xfrm>
            <a:off x="2240280" y="58064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Relative rank can worsen even when a team becomes better in absolute terms.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Universe-level movement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0515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16128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95528" y="143560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$12.15bn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1837944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+0.2%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788920" y="10515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98648" y="116128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898648" y="143560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171m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898648" y="1837944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+482m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892040" y="10515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1768" y="116128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5001768" y="143560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1.4%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001768" y="1837944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+4.0 pp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995160" y="10515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4888" y="116128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104888" y="143560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$2.78bn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104888" y="1837944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+99.4%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9098280" y="10515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08008" y="116128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9208008" y="143560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$31.51bn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208008" y="1837944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-26.1%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914400" y="251460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universe totals</a:t>
            </a:r>
            <a:endParaRPr lang="en-US" sz="10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914400" y="2743200"/>
          <a:ext cx="104241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6583680" y="548640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720840" y="5596128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6720840" y="583387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Did the universe become healthier, or just different?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aggregate number hides the most team-level variation?</a:t>
            </a:r>
            <a:endParaRPr lang="en-US" sz="9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Round 4 managerial puzzle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2834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252728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Formal leader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841248" y="152704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1248" y="1929384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 8.5%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3931920" y="1143000"/>
            <a:ext cx="2834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41648" y="1252728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leader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4041648" y="152704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HallaBol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041648" y="1929384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602.7m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7132320" y="1143000"/>
            <a:ext cx="2834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42048" y="1252728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leader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7242048" y="152704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HallaBol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1929384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27.6%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777240" y="2926080"/>
            <a:ext cx="539496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profit, market share and TSR do not point to the same team.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class question is whether the market is pricing current strength or future credibility.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5 decisions should target the weakest link in each team’s value system.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060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versus TSR signal</a:t>
            </a:r>
            <a:endParaRPr lang="en-US" sz="10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400800" y="2834640"/>
          <a:ext cx="493776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Shape 20"/>
          <p:cNvSpPr/>
          <p:nvPr/>
        </p:nvSpPr>
        <p:spPr>
          <a:xfrm>
            <a:off x="6400800" y="5349240"/>
            <a:ext cx="4937760" cy="822960"/>
          </a:xfrm>
          <a:prstGeom prst="roundRect">
            <a:avLst>
              <a:gd name="adj" fmla="val 8889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37960" y="5458968"/>
            <a:ext cx="4663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537960" y="56967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Why might the profit leader not be the TSR leader?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would make a high-share team unattractive to investors?</a:t>
            </a:r>
            <a:endParaRPr lang="en-US" sz="920" dirty="0"/>
          </a:p>
        </p:txBody>
      </p:sp>
      <p:sp>
        <p:nvSpPr>
          <p:cNvPr id="26" name="Text 23"/>
          <p:cNvSpPr/>
          <p:nvPr/>
        </p:nvSpPr>
        <p:spPr>
          <a:xfrm>
            <a:off x="77724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2377440" y="5806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success becomes value only when it is repeatable, cash-generative and risk-aware.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movement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revenue (USD bn)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1188720"/>
          <a:ext cx="64008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360920" y="1188720"/>
            <a:ext cx="393192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HallaBol: 3340.7m sales, movement +478m.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Grey: 2679.8m sales, movement +472m.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Godfathers: 2243.4m sales, movement +441m.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60920" y="43891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0" y="449884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498080" y="4736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revenue growth was value-accretive?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revenue loss improved strategic focus, if any?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685800" y="576072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2286000" y="57607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is price × volume × mix. It is an input to strategy, not strategy itself.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movement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for the round (USD m)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1188720"/>
          <a:ext cx="64008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360920" y="1188720"/>
            <a:ext cx="393192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HallaBol: profit 602.7m, movement +1365m.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Grey: profit 330.7m, movement +56m.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Ochre: profit -97.1m, movement -143m.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60920" y="43891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0" y="449884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498080" y="4736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profit change is structural?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profit change could reverse if R&amp;D or inventory catches up?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685800" y="576072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2286000" y="57607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is a residual: reverse-engineer demand, price, cost, R&amp;D, financing and tax.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share and regional engines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0080" y="1005840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regional market share (%)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234440"/>
          <a:ext cx="68580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7818120" y="123444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27848" y="1344168"/>
            <a:ext cx="3072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 leader</a:t>
            </a:r>
            <a:endParaRPr lang="en-US" sz="830" dirty="0"/>
          </a:p>
        </p:txBody>
      </p:sp>
      <p:sp>
        <p:nvSpPr>
          <p:cNvPr id="12" name="Text 9"/>
          <p:cNvSpPr/>
          <p:nvPr/>
        </p:nvSpPr>
        <p:spPr>
          <a:xfrm>
            <a:off x="7927848" y="1618488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HallaBol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927848" y="2020824"/>
            <a:ext cx="3072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27.6%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7818120" y="2423160"/>
            <a:ext cx="32918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leader: HallaBol.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Asia leader: HallaBol.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Europe leader: Grey.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18120" y="466344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955280" y="4773168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7955280" y="50109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region is an economic engine, not only a volume engine?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Where should each team defend, repair or exit?</a:t>
            </a:r>
            <a:endParaRPr lang="en-US" sz="920" dirty="0"/>
          </a:p>
        </p:txBody>
      </p:sp>
      <p:sp>
        <p:nvSpPr>
          <p:cNvPr id="18" name="Text 15"/>
          <p:cNvSpPr/>
          <p:nvPr/>
        </p:nvSpPr>
        <p:spPr>
          <a:xfrm>
            <a:off x="64008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9" name="Text 16"/>
          <p:cNvSpPr/>
          <p:nvPr/>
        </p:nvSpPr>
        <p:spPr>
          <a:xfrm>
            <a:off x="2240280" y="58064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averages hide strategic truth; regions reveal product-market fit.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and capital discipline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6675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ROS and ROCE (%)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1188720"/>
          <a:ext cx="66751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726680" y="1234440"/>
            <a:ext cx="347472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HallaBol: ROCE 25.0%, ROS 18.0%.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Grey: ROCE 18.4%, ROS 12.3%.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Ochre: ROCE 2.6%, ROS -6.1%.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26680" y="452628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0" y="463600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863840" y="48737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 used capital most intelligently?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 should improve economics before chasing volume?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68580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2286000" y="58064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without capital productivity is expensive hope.</a:t>
            </a:r>
            <a:endParaRPr lang="en-US" sz="8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and option discipline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expense (USD m)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1188720"/>
          <a:ext cx="65836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54380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Godfathers: R&amp;D 641.9m; ROS -11.9%.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Green: R&amp;D 385.0m; ROS -16.7%.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Ochre: R&amp;D 347.8m; ROS -6.1%.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43800" y="452628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0" y="4636008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680960" y="48737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When is R&amp;D an option, and when is it a current-period drag?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evidence would justify increasing R&amp;D in Round 5?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68580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2286000" y="58064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do not buy R&amp;D. They buy relevant value, delivered at a price they accept.</a:t>
            </a:r>
            <a:endParaRPr lang="en-US" sz="8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Inventory, cash and fulfilment risk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and unmet demand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1188720"/>
          <a:ext cx="65836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54380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Red: inventory $1.62bn, unmet demand 0k units.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Godfathers: inventory $0.42bn, unmet demand 0k units.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Ochre: inventory $0.31bn, unmet demand 0k units.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43800" y="452628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0" y="4636008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680960" y="48737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When is inventory a strategic buffer, and when is it failed forecasting?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 has demand without fulfilment or stock without demand?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68580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2286000" y="58064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is a deferred judgement about demand. When wrong, it traps cash and managerial attention.</a:t>
            </a:r>
            <a:endParaRPr lang="en-US" sz="8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Financing and valuation risk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14/25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6583680" cy="420624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914400"/>
                <a:gridCol w="914400"/>
                <a:gridCol w="731520"/>
                <a:gridCol w="1005840"/>
              </a:tblGrid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Team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Credit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 debt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Gearing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WACC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MCap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CCC+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297m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103.9%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10.2%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$4.25bn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CCC+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1278m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173.3%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9.6%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$3.32bn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358m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51.9%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$6.61bn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A+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36.5%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6.7%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$4.21bn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AA-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115m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17.1%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6.4%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$7.64bn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CCC+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592m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21.4%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9.4%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$5.48bn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543800" y="114300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capitalisation (USD bn)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543800" y="1371600"/>
          <a:ext cx="3749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7543800" y="4617720"/>
            <a:ext cx="3749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680960" y="472744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680960" y="49651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Is debt creating leverage or signalling distress?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Why does the same cash flow become less valuable when risk rises?</a:t>
            </a:r>
            <a:endParaRPr lang="en-US" sz="920" dirty="0"/>
          </a:p>
        </p:txBody>
      </p:sp>
      <p:sp>
        <p:nvSpPr>
          <p:cNvPr id="14" name="Text 10"/>
          <p:cNvSpPr/>
          <p:nvPr/>
        </p:nvSpPr>
        <p:spPr>
          <a:xfrm>
            <a:off x="64008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1"/>
          <p:cNvSpPr/>
          <p:nvPr/>
        </p:nvSpPr>
        <p:spPr>
          <a:xfrm>
            <a:off x="2240280" y="58064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Valuation converts expected cash flows into equity value after risk, debt and excess cash.</a:t>
            </a:r>
            <a:endParaRPr lang="en-US" sz="8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ESG and demand reputation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ESG indicators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1188720"/>
          <a:ext cx="65836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54380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 environmental score: HallaBol.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 ESG reputation: HallaBol.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ESG matters when it reinforces demand, reputation, risk and operating economics.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43800" y="452628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0" y="4636008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680960" y="48737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Did ESG contribute to demand, or remain a separate score?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How would you test ESG payoff in Round 5?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68580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2286000" y="58064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ESG is strategically powerful only when it joins the value system rather than decorating it.</a:t>
            </a:r>
            <a:endParaRPr lang="en-US" sz="8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Green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4980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-4.3%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7.8%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56032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67004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→ 4  (-1)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7004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cumulative TSR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48056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459028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-222.1m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9028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-150m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4008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4980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12.8%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980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-5.0 pp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256032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267004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-16.7%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67004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-13.1 pp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48056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459028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-4.8%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9028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-5.2 pp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557784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Crisis case: stop value leakage before chasing scale.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1326.4m (-660m vs R3); market cap $4.25bn.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385.0m; inventory 279.3m; short-term debt 297.5m.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rating CCC+; unmet demand 933k units.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941832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profit and market value</a:t>
            </a:r>
            <a:endParaRPr lang="en-US" sz="10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583680" y="1170432"/>
          <a:ext cx="4892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583680" y="46177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20840" y="472744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720840" y="49651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assumption explains Green's rank movement?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must the team preserve, repair, or stop before Round 5?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640080" y="58704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240280" y="58704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profile is not a verdict. It is a diagnosis of the weakest link in the value-creation chain.</a:t>
            </a:r>
            <a:endParaRPr lang="en-US" sz="8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Red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4980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-11.0%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0.8%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56032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67004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→ 5  (+1)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7004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cumulative TSR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48056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459028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-177.0m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9028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-390m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4008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4980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7.1%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980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-1.6 pp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256032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267004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-18.4%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67004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-37.3 pp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48056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459028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1.9%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9028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-14.3 pp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557784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Crisis case: stop value leakage before chasing scale.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960.1m (-168m vs R3); market cap $3.32bn.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182.8m; inventory 1619.2m; short-term debt 1277.6m.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rating CCC+; unmet demand 0k units.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941832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profit and market value</a:t>
            </a:r>
            <a:endParaRPr lang="en-US" sz="10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583680" y="1170432"/>
          <a:ext cx="4892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583680" y="46177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20840" y="472744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720840" y="49651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assumption explains Red's rank movement?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must the team preserve, repair, or stop before Round 5?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640080" y="58704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240280" y="58704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profile is not a verdict. It is a diagnosis of the weakest link in the value-creation chain.</a:t>
            </a:r>
            <a:endParaRPr lang="en-US" sz="8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The Godfathers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4980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4.3%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12.0%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56032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67004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→ 2  (=)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7004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cumulative TSR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48056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459028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-266.1m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9028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-256m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4008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4980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18.0%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980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+3.6 pp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256032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267004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-11.9%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67004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-11.3 pp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48056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459028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-10.6%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9028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-16.6 pp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557784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Crisis case: stop value leakage before chasing scale.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2243.4m (+441m vs R3); market cap $6.61bn.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641.9m; inventory 424.3m; short-term debt 358.2m.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rating B; unmet demand 0k units.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941832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profit and market value</a:t>
            </a:r>
            <a:endParaRPr lang="en-US" sz="10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583680" y="1170432"/>
          <a:ext cx="4892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583680" y="46177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20840" y="472744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720840" y="49651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assumption explains The Godfathers's rank movement?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must the team preserve, repair, or stop before Round 5?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640080" y="58704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240280" y="58704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profile is not a verdict. It is a diagnosis of the weakest link in the value-creation chain.</a:t>
            </a:r>
            <a:endParaRPr lang="en-US" sz="8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HallaBol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4980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-11.3%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7.2%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56032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67004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→ 6  (-2)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7004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cumulative TSR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48056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459028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602.7m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9028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+1365m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4008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4980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27.6%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980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+5.9 pp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256032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267004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18.0%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67004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+44.7 pp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48056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459028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25.0%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9028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+64.9 pp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557784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pressure: operational diagnosis must precede reaction.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3340.7m (+478m vs R3); market cap $4.21bn.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238.9m; inventory 0.3m; short-term debt 0.0m.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rating A+; unmet demand 1714k units.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941832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profit and market value</a:t>
            </a:r>
            <a:endParaRPr lang="en-US" sz="10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583680" y="1170432"/>
          <a:ext cx="4892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583680" y="46177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20840" y="472744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720840" y="49651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assumption explains HallaBol's rank movement?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must the team preserve, repair, or stop before Round 5?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640080" y="58704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240280" y="58704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profile is not a verdict. It is a diagnosis of the weakest link in the value-creation chain.</a:t>
            </a:r>
            <a:endParaRPr lang="en-US" sz="8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Grey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4980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16.1%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56032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67004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→ 1  (=)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7004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cumulative TSR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48056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459028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330.7m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9028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+56m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4008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4980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21.3%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980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+4.9 pp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256032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267004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12.3%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67004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-0.1 pp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48056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459028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18.4%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9028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-0.4 pp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557784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Leader: protect coherence and avoid complacency.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2679.8m (+472m vs R3); market cap $7.64bn.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326.1m; inventory 147.2m; short-term debt 114.6m.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rating AA-; unmet demand 54k units.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941832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profit and market value</a:t>
            </a:r>
            <a:endParaRPr lang="en-US" sz="10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583680" y="1170432"/>
          <a:ext cx="4892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583680" y="46177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20840" y="472744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720840" y="49651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assumption explains Grey's rank movement?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must the team preserve, repair, or stop before Round 5?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640080" y="58704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240280" y="58704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profile is not a verdict. It is a diagnosis of the weakest link in the value-creation chain.</a:t>
            </a:r>
            <a:endParaRPr lang="en-US" sz="8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Ochre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4980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-0.8%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1.3%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56032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67004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→ 3  (+2)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7004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cumulative TSR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48056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459028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-97.1m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9028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-143m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4008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4980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13.3%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980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-7.8 pp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256032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267004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-6.1%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67004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-8.2 pp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48056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459028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2.6%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9028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-6.1 pp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557784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Crisis case: stop value leakage before chasing scale.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1595.9m (-540m vs R3); market cap $5.48bn.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347.8m; inventory 314.6m; short-term debt 591.9m.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rating CCC+; unmet demand 0k units.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941832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profit and market value</a:t>
            </a:r>
            <a:endParaRPr lang="en-US" sz="10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583680" y="1170432"/>
          <a:ext cx="4892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583680" y="46177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20840" y="472744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720840" y="49651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assumption explains Ochre's rank movement?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must the team preserve, repair, or stop before Round 5?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640080" y="58704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240280" y="58704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profile is not a verdict. It is a diagnosis of the weakest link in the value-creation chain.</a:t>
            </a:r>
            <a:endParaRPr lang="en-US" sz="8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Round 4 rewarded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54864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Credible value conversion: teams that turned demand into margin and capital productivity.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discipline: stronger credit, lower WACC and manageable short-term debt.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Regional coherence: clear engines in USA, Asia or Europe rather than equal spreading.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 discipline: R&amp;D connected to market readiness and financing capacity.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Working-capital discipline: inventory levels aligned with demand and product mix.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93852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37960" y="21762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reward factor did your team earn?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reward factor must you build next round?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77724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2377440" y="5806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market rewards systems, not isolated actions.</a:t>
            </a:r>
            <a:endParaRPr lang="en-US" sz="8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Round 4 punished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54864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without demand validation.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without margin or cash conversion.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that did not translate into demand, share, pricing power or future credibility.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risk: short-term debt, weak credit and high WACC.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Regional misfit: winning one metric while losing the engine market.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93852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37960" y="21762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punished error is reversible before Round 5?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error is sticky because it affects capacity, debt or technology path?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77724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2377440" y="5806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 begins by separating reversible decisions from structural constraints.</a:t>
            </a:r>
            <a:endParaRPr lang="en-US" sz="8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5 decision checklist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24/25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97280"/>
          <a:ext cx="10789920" cy="420624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  <a:gridCol w="4023360"/>
              </a:tblGrid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Decision area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First-principles question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Guardrail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Demand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Where will customers actually buy?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 not forecast demand without fulfilment capacity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Price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Which bundle protects contribution?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discount unless contribution rises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R&amp;D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must be ready now?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Stage investment; define stop-loss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Production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should be made where?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Inventory threshold before production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Finance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Can cash and rating survive?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Avoid unplanned debt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Region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Defend, attack, repair, harvest or exit?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equal spreading without evidence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0" y="557784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37960" y="568756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37960" y="5925312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is your one non-negotiable guardrail?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Round 5 decision has the largest irreversible downside?</a:t>
            </a:r>
            <a:endParaRPr lang="en-US" sz="9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 reflection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U2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77240" y="12344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strongest team is the most coherent, not the loudest or the boldest.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594360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Coherence links customer value, pricing, technology, production, finance, ESG and risk.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is evidence, not destiny. The team that learns fastest still has strategic room.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round should be submitted as a testable managerial hypothesis.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92240" y="274320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28529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629400" y="3090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will your team stop doing immediately?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evidence will prove your Round 5 strategy is working?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82296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2423160" y="5806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Responsible general managers convert results into explicit decision rules.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CESIM debrief</dc:subject>
  <dc:creator>OpenAI</dc:creator>
  <cp:lastModifiedBy>OpenAI</cp:lastModifiedBy>
  <cp:revision>1</cp:revision>
  <dcterms:created xsi:type="dcterms:W3CDTF">2026-08-18T06:40:49Z</dcterms:created>
  <dcterms:modified xsi:type="dcterms:W3CDTF">2026-08-18T06:40:49Z</dcterms:modified>
</cp:coreProperties>
</file>