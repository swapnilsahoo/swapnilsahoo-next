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37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8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9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0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3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7.xlsx"/></Relationships>
</file>

<file path=ppt/charts/_rels/chart3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8.xlsx"/></Relationships>
</file>

<file path=ppt/charts/_rels/chart3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9.xlsx"/></Relationships>
</file>

<file path=ppt/charts/_rels/chart4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0.xlsx"/></Relationships>
</file>

<file path=ppt/charts/_rels/chart4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1.xlsx"/></Relationships>
</file>

<file path=ppt/charts/_rels/chart4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2.xlsx"/></Relationships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U1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Sales</c:v>
                  </c:pt>
                  <c:pt idx="1">
                    <c:v>Profit</c:v>
                  </c:pt>
                  <c:pt idx="2">
                    <c:v>Inventory</c:v>
                  </c:pt>
                  <c:pt idx="3">
                    <c:v>MCap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9.61641546813057</c:v>
                </c:pt>
                <c:pt idx="1">
                  <c:v>0.6565102461227698</c:v>
                </c:pt>
                <c:pt idx="2">
                  <c:v>2.59544946093832</c:v>
                </c:pt>
                <c:pt idx="3">
                  <c:v>34.328833114878236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U2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Sales</c:v>
                  </c:pt>
                  <c:pt idx="1">
                    <c:v>Profit</c:v>
                  </c:pt>
                  <c:pt idx="2">
                    <c:v>Inventory</c:v>
                  </c:pt>
                  <c:pt idx="3">
                    <c:v>MCap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12.146321177187815</c:v>
                </c:pt>
                <c:pt idx="1">
                  <c:v>0.17106044087287137</c:v>
                </c:pt>
                <c:pt idx="2">
                  <c:v>2.784869857129185</c:v>
                </c:pt>
                <c:pt idx="3">
                  <c:v>31.51441766397385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R3</c:v>
                </c:pt>
              </c:strCache>
            </c:strRef>
          </c:tx>
          <c:spPr>
            <a:solidFill>
              <a:srgbClr val="61708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U1</c:v>
                  </c:pt>
                  <c:pt idx="1">
                    <c:v>U2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10.388077436136232</c:v>
                </c:pt>
                <c:pt idx="1">
                  <c:v>12.121849247788521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R4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U1</c:v>
                  </c:pt>
                  <c:pt idx="1">
                    <c:v>U2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9.61641546813057</c:v>
                </c:pt>
                <c:pt idx="1">
                  <c:v>12.146321177187815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R3</c:v>
                </c:pt>
              </c:strCache>
            </c:strRef>
          </c:tx>
          <c:spPr>
            <a:solidFill>
              <a:srgbClr val="61708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U1</c:v>
                  </c:pt>
                  <c:pt idx="1">
                    <c:v>U2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10.388077436136232</c:v>
                </c:pt>
                <c:pt idx="1">
                  <c:v>12.121849247788521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R4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U1</c:v>
                  </c:pt>
                  <c:pt idx="1">
                    <c:v>U2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9.61641546813057</c:v>
                </c:pt>
                <c:pt idx="1">
                  <c:v>12.146321177187815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R3</c:v>
                </c:pt>
              </c:strCache>
            </c:strRef>
          </c:tx>
          <c:spPr>
            <a:solidFill>
              <a:srgbClr val="61708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U1</c:v>
                  </c:pt>
                  <c:pt idx="1">
                    <c:v>U2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10.388077436136232</c:v>
                </c:pt>
                <c:pt idx="1">
                  <c:v>12.121849247788521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R4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U1</c:v>
                  </c:pt>
                  <c:pt idx="1">
                    <c:v>U2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9.61641546813057</c:v>
                </c:pt>
                <c:pt idx="1">
                  <c:v>12.146321177187815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R3</c:v>
                </c:pt>
              </c:strCache>
            </c:strRef>
          </c:tx>
          <c:spPr>
            <a:solidFill>
              <a:srgbClr val="61708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U1</c:v>
                  </c:pt>
                  <c:pt idx="1">
                    <c:v>U2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10.388077436136232</c:v>
                </c:pt>
                <c:pt idx="1">
                  <c:v>12.121849247788521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R4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U1</c:v>
                  </c:pt>
                  <c:pt idx="1">
                    <c:v>U2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9.61641546813057</c:v>
                </c:pt>
                <c:pt idx="1">
                  <c:v>12.146321177187815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R3</c:v>
                </c:pt>
              </c:strCache>
            </c:strRef>
          </c:tx>
          <c:spPr>
            <a:solidFill>
              <a:srgbClr val="61708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U1</c:v>
                  </c:pt>
                  <c:pt idx="1">
                    <c:v>U2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10.388077436136232</c:v>
                </c:pt>
                <c:pt idx="1">
                  <c:v>12.121849247788521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R4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U1</c:v>
                  </c:pt>
                  <c:pt idx="1">
                    <c:v>U2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9.61641546813057</c:v>
                </c:pt>
                <c:pt idx="1">
                  <c:v>12.146321177187815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comparison: universes are separate competitive markets, not one combined league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Warn against cross-universe rank inflation.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separate size from quality.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Red Rangers in U1 with Grey in U2.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that “leader” and “profit engine” differ across universes.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as cross-learning discussion.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 HallaBol as high-profit/low-TSR paradox.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cross-universe deck by requiring one rule from each universe.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 two-minute reflections by universe.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4864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CESIM Global Challenge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94360" y="117043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 Round 4: Universe 1 vs Universe 2 Insights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94360" y="196596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Cross-universe comparison • strategic coherence, risk and valuation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278892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9718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teaching question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32918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teams learned, which merely moved, and which decisions created durable shareholder value?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629400" y="1005840"/>
            <a:ext cx="4480560" cy="4114800"/>
          </a:xfrm>
          <a:prstGeom prst="roundRect">
            <a:avLst>
              <a:gd name="adj" fmla="val 3333"/>
            </a:avLst>
          </a:prstGeom>
          <a:solidFill>
            <a:srgbClr val="EAF6F6"/>
          </a:solidFill>
          <a:ln w="12700">
            <a:solidFill>
              <a:srgbClr val="9DE2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03720" y="2057400"/>
            <a:ext cx="1188720" cy="347472"/>
          </a:xfrm>
          <a:prstGeom prst="roundRect">
            <a:avLst>
              <a:gd name="adj" fmla="val 15789"/>
            </a:avLst>
          </a:prstGeom>
          <a:solidFill>
            <a:srgbClr val="D9FAF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49440" y="2139696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Choice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562088" y="2377440"/>
            <a:ext cx="118872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07808" y="2459736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220456" y="2697480"/>
            <a:ext cx="1188720" cy="347472"/>
          </a:xfrm>
          <a:prstGeom prst="roundRect">
            <a:avLst>
              <a:gd name="adj" fmla="val 15789"/>
            </a:avLst>
          </a:prstGeom>
          <a:solidFill>
            <a:srgbClr val="D9FAF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66176" y="2779776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Margin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878824" y="3017520"/>
            <a:ext cx="118872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24544" y="3099816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Cash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9537192" y="3337560"/>
            <a:ext cx="1188720" cy="347472"/>
          </a:xfrm>
          <a:prstGeom prst="roundRect">
            <a:avLst>
              <a:gd name="adj" fmla="val 15789"/>
            </a:avLst>
          </a:prstGeom>
          <a:solidFill>
            <a:srgbClr val="D9FAF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82912" y="3419856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0195560" y="3657600"/>
            <a:ext cx="118872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41280" y="3739896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94360" y="612648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D • Round 4 • U1 vs U2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to compare universes responsibly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86800" y="38404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D • Round 4 • U1 vs U2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D CESIM Excel results + CESIM materials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2/14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731520" y="1143000"/>
            <a:ext cx="5760720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combine teams into one artificial ranking; teams compete inside their own universe.</a:t>
            </a:r>
            <a:endParaRPr lang="en-US" sz="1100" dirty="0"/>
          </a:p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universe-level patterns: sales conversion, R&amp;D posture, risk, market-share concentration and valuation.</a:t>
            </a:r>
            <a:endParaRPr lang="en-US" sz="1100" dirty="0"/>
          </a:p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like-for-like measures and separate cumulative TSR from Round 4 operating results.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92240" y="1828800"/>
            <a:ext cx="4663440" cy="914400"/>
          </a:xfrm>
          <a:prstGeom prst="roundRect">
            <a:avLst>
              <a:gd name="adj" fmla="val 8000"/>
            </a:avLst>
          </a:prstGeom>
          <a:solidFill>
            <a:srgbClr val="EEF7F7"/>
          </a:solidFill>
          <a:ln w="12700">
            <a:solidFill>
              <a:srgbClr val="B7E4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1938528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629400" y="217627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Which universe created healthier value in Round 4?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does “healthier” mean: profit, market cap, risk or learning?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731520" y="580644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First-principles prompt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2331720" y="580644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Cross-universe analysis compares competitive systems, not only winning teams.</a:t>
            </a:r>
            <a:endParaRPr lang="en-US" sz="8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Universe-level dashboard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86800" y="38404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D • Round 4 • U1 vs U2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D CESIM Excel results + CESIM materials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3/14</a:t>
            </a:r>
            <a:endParaRPr lang="en-US" sz="7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97280"/>
          <a:ext cx="6949440" cy="4206240"/>
        </p:xfrm>
        <a:graphic>
          <a:graphicData uri="http://schemas.openxmlformats.org/drawingml/2006/table">
            <a:tbl>
              <a:tblPr/>
              <a:tblGrid>
                <a:gridCol w="1463040"/>
                <a:gridCol w="1463040"/>
                <a:gridCol w="1463040"/>
                <a:gridCol w="2560320"/>
              </a:tblGrid>
              <a:tr h="6008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Universe 1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Universe 2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Read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Sales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$9.62bn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$12.15bn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U2 larger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Profit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657m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171m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U1 stronger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Profit margin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6.8%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1.4%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U1 conversion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Inventory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$2.60bn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$2.78bn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U2 risk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Market cap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$34.33bn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$31.51bn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U1 valued higher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 debt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$1.88bn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$2.64bn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U2 more exposed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818120" y="11430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Universe totals (USD bn)</a:t>
            </a:r>
            <a:endParaRPr lang="en-US" sz="10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7818120" y="1371600"/>
          <a:ext cx="36576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7"/>
          <p:cNvSpPr/>
          <p:nvPr/>
        </p:nvSpPr>
        <p:spPr>
          <a:xfrm>
            <a:off x="7772400" y="4846320"/>
            <a:ext cx="3657600" cy="822960"/>
          </a:xfrm>
          <a:prstGeom prst="roundRect">
            <a:avLst>
              <a:gd name="adj" fmla="val 8889"/>
            </a:avLst>
          </a:prstGeom>
          <a:solidFill>
            <a:srgbClr val="EEF7F7"/>
          </a:solidFill>
          <a:ln w="12700">
            <a:solidFill>
              <a:srgbClr val="B7E4E1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909560" y="4956048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7909560" y="519379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Which universe converts sales into profit better?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Which universe has the more dangerous working-capital story?</a:t>
            </a:r>
            <a:endParaRPr lang="en-US" sz="9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Leaderboard contrast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86800" y="38404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D • Round 4 • U1 vs U2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D CESIM Excel results + CESIM materials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4/14</a:t>
            </a:r>
            <a:endParaRPr lang="en-US" sz="7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143000"/>
          <a:ext cx="5166360" cy="3291840"/>
        </p:xfrm>
        <a:graphic>
          <a:graphicData uri="http://schemas.openxmlformats.org/drawingml/2006/table">
            <a:tbl>
              <a:tblPr/>
              <a:tblGrid>
                <a:gridCol w="502920"/>
                <a:gridCol w="2011680"/>
                <a:gridCol w="777240"/>
                <a:gridCol w="822960"/>
                <a:gridCol w="822960"/>
              </a:tblGrid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U1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Leader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TSR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Profit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Share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Red Rangers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8.5%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230m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10.6%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Ochre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5.3%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11m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22.4%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Orange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3.4%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204m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23.1%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143000"/>
          <a:ext cx="5166360" cy="3291840"/>
        </p:xfrm>
        <a:graphic>
          <a:graphicData uri="http://schemas.openxmlformats.org/drawingml/2006/table">
            <a:tbl>
              <a:tblPr/>
              <a:tblGrid>
                <a:gridCol w="502920"/>
                <a:gridCol w="2011680"/>
                <a:gridCol w="777240"/>
                <a:gridCol w="822960"/>
                <a:gridCol w="822960"/>
              </a:tblGrid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U2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Leader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TSR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Profit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Share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Grey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8.5%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331m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21.3%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The Godfathers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4.3%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-266m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18.0%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Ochre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-0.8%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-97m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13.3%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3840480" y="4983480"/>
            <a:ext cx="4389120" cy="777240"/>
          </a:xfrm>
          <a:prstGeom prst="roundRect">
            <a:avLst>
              <a:gd name="adj" fmla="val 9412"/>
            </a:avLst>
          </a:prstGeom>
          <a:solidFill>
            <a:srgbClr val="EEF7F7"/>
          </a:solidFill>
          <a:ln w="12700">
            <a:solidFill>
              <a:srgbClr val="B7E4E1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977640" y="5093208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3977640" y="533095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Do the two universes reward similar strategies?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Which leader has the more coherent value story?</a:t>
            </a:r>
            <a:endParaRPr lang="en-US" sz="9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 conversion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86800" y="38404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D • Round 4 • U1 vs U2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D CESIM Excel results + CESIM materials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5/14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822960" y="1234440"/>
            <a:ext cx="38404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1344168"/>
            <a:ext cx="3621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insight</a:t>
            </a:r>
            <a:endParaRPr lang="en-US" sz="830" dirty="0"/>
          </a:p>
        </p:txBody>
      </p:sp>
      <p:sp>
        <p:nvSpPr>
          <p:cNvPr id="10" name="Text 8"/>
          <p:cNvSpPr/>
          <p:nvPr/>
        </p:nvSpPr>
        <p:spPr>
          <a:xfrm>
            <a:off x="932688" y="1618488"/>
            <a:ext cx="3621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U1 generated more profit and stronger margin despite lower sales.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22960" y="2743200"/>
            <a:ext cx="502920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U1 profit margin 6.8%</a:t>
            </a:r>
            <a:endParaRPr lang="en-US" sz="1100" dirty="0"/>
          </a:p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U2 profit margin 1.4%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0" y="118872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 conversion comparison</a:t>
            </a:r>
            <a:endParaRPr lang="en-US" sz="10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5943600" y="1417320"/>
          <a:ext cx="493776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Shape 11"/>
          <p:cNvSpPr/>
          <p:nvPr/>
        </p:nvSpPr>
        <p:spPr>
          <a:xfrm>
            <a:off x="5943600" y="4709160"/>
            <a:ext cx="4937760" cy="914400"/>
          </a:xfrm>
          <a:prstGeom prst="roundRect">
            <a:avLst>
              <a:gd name="adj" fmla="val 8000"/>
            </a:avLst>
          </a:prstGeom>
          <a:solidFill>
            <a:srgbClr val="EEF7F7"/>
          </a:solidFill>
          <a:ln w="12700">
            <a:solidFill>
              <a:srgbClr val="B7E4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80760" y="4818888"/>
            <a:ext cx="4663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6080760" y="505663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managerial behaviour explains this contrast?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should the weaker universe learn from the stronger one?</a:t>
            </a:r>
            <a:endParaRPr lang="en-US" sz="920" dirty="0"/>
          </a:p>
        </p:txBody>
      </p:sp>
      <p:sp>
        <p:nvSpPr>
          <p:cNvPr id="17" name="Text 14"/>
          <p:cNvSpPr/>
          <p:nvPr/>
        </p:nvSpPr>
        <p:spPr>
          <a:xfrm>
            <a:off x="822960" y="580644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First-principles prompt</a:t>
            </a:r>
            <a:endParaRPr lang="en-US" sz="780" dirty="0"/>
          </a:p>
        </p:txBody>
      </p:sp>
      <p:sp>
        <p:nvSpPr>
          <p:cNvPr id="18" name="Text 15"/>
          <p:cNvSpPr/>
          <p:nvPr/>
        </p:nvSpPr>
        <p:spPr>
          <a:xfrm>
            <a:off x="2423160" y="580644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universe-level pattern is a collective result of pricing, R&amp;D, operations and financing behaviour.</a:t>
            </a:r>
            <a:endParaRPr lang="en-US" sz="8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R&amp;D posture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86800" y="38404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D • Round 4 • U1 vs U2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D CESIM Excel results + CESIM materials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6/14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822960" y="1234440"/>
            <a:ext cx="38404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1344168"/>
            <a:ext cx="3621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insight</a:t>
            </a:r>
            <a:endParaRPr lang="en-US" sz="830" dirty="0"/>
          </a:p>
        </p:txBody>
      </p:sp>
      <p:sp>
        <p:nvSpPr>
          <p:cNvPr id="10" name="Text 8"/>
          <p:cNvSpPr/>
          <p:nvPr/>
        </p:nvSpPr>
        <p:spPr>
          <a:xfrm>
            <a:off x="932688" y="1618488"/>
            <a:ext cx="3621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Both universes reduced R&amp;D from R3, but U2 still spent much more.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22960" y="2743200"/>
            <a:ext cx="502920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U1 R&amp;D $0.71bn</a:t>
            </a:r>
            <a:endParaRPr lang="en-US" sz="1100" dirty="0"/>
          </a:p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U2 R&amp;D $2.12bn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0" y="118872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R&amp;D posture comparison</a:t>
            </a:r>
            <a:endParaRPr lang="en-US" sz="10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5943600" y="1417320"/>
          <a:ext cx="493776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Shape 11"/>
          <p:cNvSpPr/>
          <p:nvPr/>
        </p:nvSpPr>
        <p:spPr>
          <a:xfrm>
            <a:off x="5943600" y="4709160"/>
            <a:ext cx="4937760" cy="914400"/>
          </a:xfrm>
          <a:prstGeom prst="roundRect">
            <a:avLst>
              <a:gd name="adj" fmla="val 8000"/>
            </a:avLst>
          </a:prstGeom>
          <a:solidFill>
            <a:srgbClr val="EEF7F7"/>
          </a:solidFill>
          <a:ln w="12700">
            <a:solidFill>
              <a:srgbClr val="B7E4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80760" y="4818888"/>
            <a:ext cx="4663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6080760" y="505663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managerial behaviour explains this contrast?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should the weaker universe learn from the stronger one?</a:t>
            </a:r>
            <a:endParaRPr lang="en-US" sz="920" dirty="0"/>
          </a:p>
        </p:txBody>
      </p:sp>
      <p:sp>
        <p:nvSpPr>
          <p:cNvPr id="17" name="Text 14"/>
          <p:cNvSpPr/>
          <p:nvPr/>
        </p:nvSpPr>
        <p:spPr>
          <a:xfrm>
            <a:off x="822960" y="580644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First-principles prompt</a:t>
            </a:r>
            <a:endParaRPr lang="en-US" sz="780" dirty="0"/>
          </a:p>
        </p:txBody>
      </p:sp>
      <p:sp>
        <p:nvSpPr>
          <p:cNvPr id="18" name="Text 15"/>
          <p:cNvSpPr/>
          <p:nvPr/>
        </p:nvSpPr>
        <p:spPr>
          <a:xfrm>
            <a:off x="2423160" y="580644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universe-level pattern is a collective result of pricing, R&amp;D, operations and financing behaviour.</a:t>
            </a:r>
            <a:endParaRPr lang="en-US" sz="8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Inventory risk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86800" y="38404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D • Round 4 • U1 vs U2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D CESIM Excel results + CESIM materials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7/14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822960" y="1234440"/>
            <a:ext cx="38404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1344168"/>
            <a:ext cx="3621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insight</a:t>
            </a:r>
            <a:endParaRPr lang="en-US" sz="830" dirty="0"/>
          </a:p>
        </p:txBody>
      </p:sp>
      <p:sp>
        <p:nvSpPr>
          <p:cNvPr id="10" name="Text 8"/>
          <p:cNvSpPr/>
          <p:nvPr/>
        </p:nvSpPr>
        <p:spPr>
          <a:xfrm>
            <a:off x="932688" y="1618488"/>
            <a:ext cx="3621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Both universes accumulated inventory; U2 nearly doubled from Round 3.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22960" y="2743200"/>
            <a:ext cx="502920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U1 inventory change +51.3%</a:t>
            </a:r>
            <a:endParaRPr lang="en-US" sz="1100" dirty="0"/>
          </a:p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U2 inventory change +99.4%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0" y="118872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Inventory risk comparison</a:t>
            </a:r>
            <a:endParaRPr lang="en-US" sz="10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5943600" y="1417320"/>
          <a:ext cx="493776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Shape 11"/>
          <p:cNvSpPr/>
          <p:nvPr/>
        </p:nvSpPr>
        <p:spPr>
          <a:xfrm>
            <a:off x="5943600" y="4709160"/>
            <a:ext cx="4937760" cy="914400"/>
          </a:xfrm>
          <a:prstGeom prst="roundRect">
            <a:avLst>
              <a:gd name="adj" fmla="val 8000"/>
            </a:avLst>
          </a:prstGeom>
          <a:solidFill>
            <a:srgbClr val="EEF7F7"/>
          </a:solidFill>
          <a:ln w="12700">
            <a:solidFill>
              <a:srgbClr val="B7E4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80760" y="4818888"/>
            <a:ext cx="4663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6080760" y="505663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managerial behaviour explains this contrast?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should the weaker universe learn from the stronger one?</a:t>
            </a:r>
            <a:endParaRPr lang="en-US" sz="920" dirty="0"/>
          </a:p>
        </p:txBody>
      </p:sp>
      <p:sp>
        <p:nvSpPr>
          <p:cNvPr id="17" name="Text 14"/>
          <p:cNvSpPr/>
          <p:nvPr/>
        </p:nvSpPr>
        <p:spPr>
          <a:xfrm>
            <a:off x="822960" y="580644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First-principles prompt</a:t>
            </a:r>
            <a:endParaRPr lang="en-US" sz="780" dirty="0"/>
          </a:p>
        </p:txBody>
      </p:sp>
      <p:sp>
        <p:nvSpPr>
          <p:cNvPr id="18" name="Text 15"/>
          <p:cNvSpPr/>
          <p:nvPr/>
        </p:nvSpPr>
        <p:spPr>
          <a:xfrm>
            <a:off x="2423160" y="580644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universe-level pattern is a collective result of pricing, R&amp;D, operations and financing behaviour.</a:t>
            </a:r>
            <a:endParaRPr lang="en-US" sz="8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Financial pressure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86800" y="38404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D • Round 4 • U1 vs U2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D CESIM Excel results + CESIM materials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8/14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822960" y="1234440"/>
            <a:ext cx="38404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1344168"/>
            <a:ext cx="3621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insight</a:t>
            </a:r>
            <a:endParaRPr lang="en-US" sz="830" dirty="0"/>
          </a:p>
        </p:txBody>
      </p:sp>
      <p:sp>
        <p:nvSpPr>
          <p:cNvPr id="10" name="Text 8"/>
          <p:cNvSpPr/>
          <p:nvPr/>
        </p:nvSpPr>
        <p:spPr>
          <a:xfrm>
            <a:off x="932688" y="1618488"/>
            <a:ext cx="3621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U2 carried higher short-term debt and weaker market-cap movement.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22960" y="2743200"/>
            <a:ext cx="502920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U1 ST debt $1.88bn</a:t>
            </a:r>
            <a:endParaRPr lang="en-US" sz="1100" dirty="0"/>
          </a:p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U2 ST debt $2.64bn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0" y="118872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Financial pressure comparison</a:t>
            </a:r>
            <a:endParaRPr lang="en-US" sz="10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5943600" y="1417320"/>
          <a:ext cx="493776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Shape 11"/>
          <p:cNvSpPr/>
          <p:nvPr/>
        </p:nvSpPr>
        <p:spPr>
          <a:xfrm>
            <a:off x="5943600" y="4709160"/>
            <a:ext cx="4937760" cy="914400"/>
          </a:xfrm>
          <a:prstGeom prst="roundRect">
            <a:avLst>
              <a:gd name="adj" fmla="val 8000"/>
            </a:avLst>
          </a:prstGeom>
          <a:solidFill>
            <a:srgbClr val="EEF7F7"/>
          </a:solidFill>
          <a:ln w="12700">
            <a:solidFill>
              <a:srgbClr val="B7E4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80760" y="4818888"/>
            <a:ext cx="4663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6080760" y="505663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managerial behaviour explains this contrast?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should the weaker universe learn from the stronger one?</a:t>
            </a:r>
            <a:endParaRPr lang="en-US" sz="920" dirty="0"/>
          </a:p>
        </p:txBody>
      </p:sp>
      <p:sp>
        <p:nvSpPr>
          <p:cNvPr id="17" name="Text 14"/>
          <p:cNvSpPr/>
          <p:nvPr/>
        </p:nvSpPr>
        <p:spPr>
          <a:xfrm>
            <a:off x="822960" y="580644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First-principles prompt</a:t>
            </a:r>
            <a:endParaRPr lang="en-US" sz="780" dirty="0"/>
          </a:p>
        </p:txBody>
      </p:sp>
      <p:sp>
        <p:nvSpPr>
          <p:cNvPr id="18" name="Text 15"/>
          <p:cNvSpPr/>
          <p:nvPr/>
        </p:nvSpPr>
        <p:spPr>
          <a:xfrm>
            <a:off x="2423160" y="580644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universe-level pattern is a collective result of pricing, R&amp;D, operations and financing behaviour.</a:t>
            </a:r>
            <a:endParaRPr lang="en-US" sz="8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Market-cap signal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86800" y="38404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D • Round 4 • U1 vs U2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D CESIM Excel results + CESIM materials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9/14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822960" y="1234440"/>
            <a:ext cx="38404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1344168"/>
            <a:ext cx="3621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insight</a:t>
            </a:r>
            <a:endParaRPr lang="en-US" sz="830" dirty="0"/>
          </a:p>
        </p:txBody>
      </p:sp>
      <p:sp>
        <p:nvSpPr>
          <p:cNvPr id="10" name="Text 8"/>
          <p:cNvSpPr/>
          <p:nvPr/>
        </p:nvSpPr>
        <p:spPr>
          <a:xfrm>
            <a:off x="932688" y="1618488"/>
            <a:ext cx="3621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Investors marked both universes down, but U2 was penalised more heavily.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22960" y="2743200"/>
            <a:ext cx="502920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U1 market cap change -12.4%</a:t>
            </a:r>
            <a:endParaRPr lang="en-US" sz="1100" dirty="0"/>
          </a:p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U2 market cap change -26.1%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0" y="118872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Market-cap signal comparison</a:t>
            </a:r>
            <a:endParaRPr lang="en-US" sz="10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5943600" y="1417320"/>
          <a:ext cx="493776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Shape 11"/>
          <p:cNvSpPr/>
          <p:nvPr/>
        </p:nvSpPr>
        <p:spPr>
          <a:xfrm>
            <a:off x="5943600" y="4709160"/>
            <a:ext cx="4937760" cy="914400"/>
          </a:xfrm>
          <a:prstGeom prst="roundRect">
            <a:avLst>
              <a:gd name="adj" fmla="val 8000"/>
            </a:avLst>
          </a:prstGeom>
          <a:solidFill>
            <a:srgbClr val="EEF7F7"/>
          </a:solidFill>
          <a:ln w="12700">
            <a:solidFill>
              <a:srgbClr val="B7E4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80760" y="4818888"/>
            <a:ext cx="4663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6080760" y="505663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managerial behaviour explains this contrast?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should the weaker universe learn from the stronger one?</a:t>
            </a:r>
            <a:endParaRPr lang="en-US" sz="920" dirty="0"/>
          </a:p>
        </p:txBody>
      </p:sp>
      <p:sp>
        <p:nvSpPr>
          <p:cNvPr id="17" name="Text 14"/>
          <p:cNvSpPr/>
          <p:nvPr/>
        </p:nvSpPr>
        <p:spPr>
          <a:xfrm>
            <a:off x="822960" y="580644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First-principles prompt</a:t>
            </a:r>
            <a:endParaRPr lang="en-US" sz="780" dirty="0"/>
          </a:p>
        </p:txBody>
      </p:sp>
      <p:sp>
        <p:nvSpPr>
          <p:cNvPr id="18" name="Text 15"/>
          <p:cNvSpPr/>
          <p:nvPr/>
        </p:nvSpPr>
        <p:spPr>
          <a:xfrm>
            <a:off x="2423160" y="580644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universe-level pattern is a collective result of pricing, R&amp;D, operations and financing behaviour.</a:t>
            </a:r>
            <a:endParaRPr lang="en-US" sz="8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Strategic archetypes by universe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86800" y="38404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D • Round 4 • U1 vs U2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D CESIM Excel results + CESIM materials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10/14</a:t>
            </a:r>
            <a:endParaRPr lang="en-US" sz="7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143000"/>
          <a:ext cx="10789920" cy="2560320"/>
        </p:xfrm>
        <a:graphic>
          <a:graphicData uri="http://schemas.openxmlformats.org/drawingml/2006/table">
            <a:tbl>
              <a:tblPr/>
              <a:tblGrid>
                <a:gridCol w="1005840"/>
                <a:gridCol w="2377440"/>
                <a:gridCol w="2560320"/>
                <a:gridCol w="2194560"/>
                <a:gridCol w="2651760"/>
              </a:tblGrid>
              <a:tr h="8534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Universe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Leader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Profit engine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Share engine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Risk case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U1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Red Rangers by TSR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Red Rangers / Orange / Green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Green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Blue / Grey / Ochre risk pockets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U2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Grey by TSR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HallaBol current profit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HallaBol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The Godfathers / Green / Red / Ochre losses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400800" y="4434840"/>
            <a:ext cx="4754880" cy="914400"/>
          </a:xfrm>
          <a:prstGeom prst="roundRect">
            <a:avLst>
              <a:gd name="adj" fmla="val 8000"/>
            </a:avLst>
          </a:prstGeom>
          <a:solidFill>
            <a:srgbClr val="EEF7F7"/>
          </a:solidFill>
          <a:ln w="12700">
            <a:solidFill>
              <a:srgbClr val="B7E4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37960" y="4544568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537960" y="478231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Which archetype is easiest to imitate?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Which archetype is most defensible?</a:t>
            </a:r>
            <a:endParaRPr lang="en-US" sz="920" dirty="0"/>
          </a:p>
        </p:txBody>
      </p:sp>
      <p:sp>
        <p:nvSpPr>
          <p:cNvPr id="12" name="Text 9"/>
          <p:cNvSpPr/>
          <p:nvPr/>
        </p:nvSpPr>
        <p:spPr>
          <a:xfrm>
            <a:off x="777240" y="580644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First-principles prompt</a:t>
            </a:r>
            <a:endParaRPr lang="en-US" sz="780" dirty="0"/>
          </a:p>
        </p:txBody>
      </p:sp>
      <p:sp>
        <p:nvSpPr>
          <p:cNvPr id="13" name="Text 10"/>
          <p:cNvSpPr/>
          <p:nvPr/>
        </p:nvSpPr>
        <p:spPr>
          <a:xfrm>
            <a:off x="2377440" y="580644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Winning is not one archetype; it is coherence between posture and operating economics.</a:t>
            </a:r>
            <a:endParaRPr lang="en-US" sz="8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Universe 1 can teach Universe 2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86800" y="38404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D • Round 4 • U1 vs U2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D CESIM Excel results + CESIM materials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11/14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777240" y="1188720"/>
            <a:ext cx="5303520" cy="1828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 sales-to-profit conversion before celebrating size.</a:t>
            </a:r>
            <a:endParaRPr lang="en-US" sz="1100" dirty="0"/>
          </a:p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inventory and short-term debt as strategic constraints.</a:t>
            </a:r>
            <a:endParaRPr lang="en-US" sz="1100" dirty="0"/>
          </a:p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Treat R&amp;D as staged options rather than bulk spending.</a:t>
            </a:r>
            <a:endParaRPr lang="en-US" sz="1100" dirty="0"/>
          </a:p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Preserve market value by showing credible cash-flow recovery.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83680" y="1828800"/>
            <a:ext cx="4663440" cy="914400"/>
          </a:xfrm>
          <a:prstGeom prst="roundRect">
            <a:avLst>
              <a:gd name="adj" fmla="val 8000"/>
            </a:avLst>
          </a:prstGeom>
          <a:solidFill>
            <a:srgbClr val="EEF7F7"/>
          </a:solidFill>
          <a:ln w="12700">
            <a:solidFill>
              <a:srgbClr val="B7E4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20840" y="1938528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720840" y="217627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Which U1 practice should U2 copy first?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Which U1 risk should U2 avoid copying?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777240" y="580644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First-principles prompt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2377440" y="580644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across universes is about mechanisms, not mimicry.</a:t>
            </a:r>
            <a:endParaRPr lang="en-US" sz="8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Universe 2 can teach Universe 1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86800" y="38404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D • Round 4 • U1 vs U2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D CESIM Excel results + CESIM materials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12/14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777240" y="1188720"/>
            <a:ext cx="5303520" cy="1828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Larger sales scale can create options if operations catch up.</a:t>
            </a:r>
            <a:endParaRPr lang="en-US" sz="1100" dirty="0"/>
          </a:p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strong profit leader can still rank low when cumulative value story is weak.</a:t>
            </a:r>
            <a:endParaRPr lang="en-US" sz="1100" dirty="0"/>
          </a:p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inventory growth reveals optimism that must be tested.</a:t>
            </a:r>
            <a:endParaRPr lang="en-US" sz="1100" dirty="0"/>
          </a:p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Rename continuity matters: team identities must be tracked across rounds.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83680" y="1828800"/>
            <a:ext cx="4663440" cy="914400"/>
          </a:xfrm>
          <a:prstGeom prst="roundRect">
            <a:avLst>
              <a:gd name="adj" fmla="val 8000"/>
            </a:avLst>
          </a:prstGeom>
          <a:solidFill>
            <a:srgbClr val="EEF7F7"/>
          </a:solidFill>
          <a:ln w="12700">
            <a:solidFill>
              <a:srgbClr val="B7E4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20840" y="1938528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720840" y="217627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Which U2 move would improve U1’s Round 5 plan?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Which U2 warning is most relevant for U1?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777240" y="580644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First-principles prompt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2377440" y="580644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goal is not copying decisions but improving decision rules.</a:t>
            </a:r>
            <a:endParaRPr lang="en-US" sz="8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Round 5 cross-universe decision rules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86800" y="38404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D • Round 4 • U1 vs U2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D CESIM Excel results + CESIM materials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13/14</a:t>
            </a:r>
            <a:endParaRPr lang="en-US" sz="7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88720"/>
          <a:ext cx="10424160" cy="3474720"/>
        </p:xfrm>
        <a:graphic>
          <a:graphicData uri="http://schemas.openxmlformats.org/drawingml/2006/table">
            <a:tbl>
              <a:tblPr/>
              <a:tblGrid>
                <a:gridCol w="1828800"/>
                <a:gridCol w="8595360"/>
              </a:tblGrid>
              <a:tr h="5791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Rule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Universe-level test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Demand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Can each region be served profitably at the planned price?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R&amp;D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Is every technology bet linked to adoption, capacity and finance?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Inventory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What threshold will trigger price or production correction?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Finance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Will the plan avoid unplanned debt and protect credit rating?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Valuation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What future cash-flow story should investors believe?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400800" y="5120640"/>
            <a:ext cx="4754880" cy="777240"/>
          </a:xfrm>
          <a:prstGeom prst="roundRect">
            <a:avLst>
              <a:gd name="adj" fmla="val 9412"/>
            </a:avLst>
          </a:prstGeom>
          <a:solidFill>
            <a:srgbClr val="EEF7F7"/>
          </a:solidFill>
          <a:ln w="12700">
            <a:solidFill>
              <a:srgbClr val="B7E4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37960" y="5230368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537960" y="546811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Which rule is most urgent for U1?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Which rule is most urgent for U2?</a:t>
            </a:r>
            <a:endParaRPr lang="en-US" sz="9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Closing reflection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86800" y="38404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D • Round 4 • U1 vs U2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D CESIM Excel results + CESIM materials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14/14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22960" y="13716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better universe is the one that learns faster, not the one with one spectacular number.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868680" y="2377440"/>
            <a:ext cx="5760720" cy="11887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Round 4 shows that value can be lost even when sales are high.</a:t>
            </a:r>
            <a:endParaRPr lang="en-US" sz="1100" dirty="0"/>
          </a:p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Strategic coherence is visible in how metrics move together.</a:t>
            </a:r>
            <a:endParaRPr lang="en-US" sz="1100" dirty="0"/>
          </a:p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Round 5 should be governed by hypotheses, thresholds and guardrails.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92240" y="2834640"/>
            <a:ext cx="4754880" cy="914400"/>
          </a:xfrm>
          <a:prstGeom prst="roundRect">
            <a:avLst>
              <a:gd name="adj" fmla="val 8000"/>
            </a:avLst>
          </a:prstGeom>
          <a:solidFill>
            <a:srgbClr val="EEF7F7"/>
          </a:solidFill>
          <a:ln w="12700">
            <a:solidFill>
              <a:srgbClr val="B7E4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29400" y="2944368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629400" y="318211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will each universe do more deliberately next round?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evidence will show learning rather than activity?</a:t>
            </a:r>
            <a:endParaRPr lang="en-US" sz="9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CESIM debrief</dc:subject>
  <dc:creator>OpenAI</dc:creator>
  <cp:lastModifiedBy>OpenAI</cp:lastModifiedBy>
  <cp:revision>1</cp:revision>
  <dcterms:created xsi:type="dcterms:W3CDTF">2026-08-18T06:40:49Z</dcterms:created>
  <dcterms:modified xsi:type="dcterms:W3CDTF">2026-08-18T06:40:49Z</dcterms:modified>
</cp:coreProperties>
</file>