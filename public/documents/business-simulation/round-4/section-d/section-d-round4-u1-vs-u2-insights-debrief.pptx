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U1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Sales</c:v>
                  </c:pt>
                  <c:pt idx="1">
                    <c:v>Profit</c:v>
                  </c:pt>
                  <c:pt idx="2">
                    <c:v>Inventory</c:v>
                  </c:pt>
                  <c:pt idx="3">
                    <c:v>MCap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9.61641546813057</c:v>
                </c:pt>
                <c:pt idx="1">
                  <c:v>0.6565102461227698</c:v>
                </c:pt>
                <c:pt idx="2">
                  <c:v>2.59544946093832</c:v>
                </c:pt>
                <c:pt idx="3">
                  <c:v>34.328833114878236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U2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Sales</c:v>
                  </c:pt>
                  <c:pt idx="1">
                    <c:v>Profit</c:v>
                  </c:pt>
                  <c:pt idx="2">
                    <c:v>Inventory</c:v>
                  </c:pt>
                  <c:pt idx="3">
                    <c:v>MCap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12.146321177187815</c:v>
                </c:pt>
                <c:pt idx="1">
                  <c:v>0.17106044087287137</c:v>
                </c:pt>
                <c:pt idx="2">
                  <c:v>2.784869857129185</c:v>
                </c:pt>
                <c:pt idx="3">
                  <c:v>31.51441766397385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U1</c:v>
                  </c:pt>
                  <c:pt idx="1">
                    <c:v>U2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10.388077436136232</c:v>
                </c:pt>
                <c:pt idx="1">
                  <c:v>12.121849247788521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U1</c:v>
                  </c:pt>
                  <c:pt idx="1">
                    <c:v>U2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9.61641546813057</c:v>
                </c:pt>
                <c:pt idx="1">
                  <c:v>12.146321177187815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U1</c:v>
                  </c:pt>
                  <c:pt idx="1">
                    <c:v>U2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10.388077436136232</c:v>
                </c:pt>
                <c:pt idx="1">
                  <c:v>12.121849247788521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U1</c:v>
                  </c:pt>
                  <c:pt idx="1">
                    <c:v>U2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9.61641546813057</c:v>
                </c:pt>
                <c:pt idx="1">
                  <c:v>12.146321177187815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U1</c:v>
                  </c:pt>
                  <c:pt idx="1">
                    <c:v>U2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10.388077436136232</c:v>
                </c:pt>
                <c:pt idx="1">
                  <c:v>12.121849247788521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U1</c:v>
                  </c:pt>
                  <c:pt idx="1">
                    <c:v>U2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9.61641546813057</c:v>
                </c:pt>
                <c:pt idx="1">
                  <c:v>12.146321177187815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U1</c:v>
                  </c:pt>
                  <c:pt idx="1">
                    <c:v>U2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10.388077436136232</c:v>
                </c:pt>
                <c:pt idx="1">
                  <c:v>12.121849247788521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U1</c:v>
                  </c:pt>
                  <c:pt idx="1">
                    <c:v>U2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9.61641546813057</c:v>
                </c:pt>
                <c:pt idx="1">
                  <c:v>12.146321177187815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U1</c:v>
                  </c:pt>
                  <c:pt idx="1">
                    <c:v>U2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10.388077436136232</c:v>
                </c:pt>
                <c:pt idx="1">
                  <c:v>12.121849247788521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U1</c:v>
                  </c:pt>
                  <c:pt idx="1">
                    <c:v>U2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9.61641546813057</c:v>
                </c:pt>
                <c:pt idx="1">
                  <c:v>12.146321177187815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4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5486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CESIM Global Challenge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94360" y="11704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 Round 4: Universe 1 vs Universe 2 Insights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94360" y="19659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Cross-universe comparison • strategic coherence, risk and valuation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78892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9718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teaching question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teams learned, which merely moved, and which decisions created durable shareholder value?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29400" y="1005840"/>
            <a:ext cx="4480560" cy="4114800"/>
          </a:xfrm>
          <a:prstGeom prst="roundRect">
            <a:avLst>
              <a:gd name="adj" fmla="val 3333"/>
            </a:avLst>
          </a:prstGeom>
          <a:solidFill>
            <a:srgbClr val="EAF6F6"/>
          </a:solidFill>
          <a:ln w="12700">
            <a:solidFill>
              <a:srgbClr val="9DE2E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903720" y="2057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949440" y="213969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Choice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562088" y="23774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607808" y="245973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0456" y="26974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66176" y="277977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878824" y="301752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24544" y="309981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537192" y="333756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582912" y="341985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195560" y="36576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241280" y="373989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4360" y="61264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compare universes responsibly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576072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combine teams into one artificial ranking; teams compete inside their own universe.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universe-level patterns: sales conversion, R&amp;D posture, risk, market-share concentration and valuation.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like-for-like measures and separate cumulative TSR from Round 4 operating results.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92240" y="182880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29400" y="1938528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629400" y="21762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universe created healthier value in Round 4?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does “healthier” mean: profit, market cap, risk or learning?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3152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2331720" y="58064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Cross-universe analysis compares competitive systems, not only winning teams.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Universe-level dashboard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3/14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6949440" cy="420624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463040"/>
                <a:gridCol w="2560320"/>
              </a:tblGrid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Universe 1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Universe 2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Read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Sales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$9.62bn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$12.15bn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U2 larger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Profit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657m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171m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U1 stronger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Profit margin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6.8%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U1 conversion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Inventory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$2.60bn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$2.78bn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U2 risk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Market cap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$34.33bn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$31.51bn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U1 valued higher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 debt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$1.88bn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$2.64bn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U2 more exposed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818120" y="11430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 totals (USD bn)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818120" y="1371600"/>
          <a:ext cx="3657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7772400" y="4846320"/>
            <a:ext cx="3657600" cy="822960"/>
          </a:xfrm>
          <a:prstGeom prst="roundRect">
            <a:avLst>
              <a:gd name="adj" fmla="val 8889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7909560" y="4956048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909560" y="51937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universe converts sales into profit better?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universe has the more dangerous working-capital story?</a:t>
            </a:r>
            <a:endParaRPr lang="en-US" sz="9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Leaderboard contrast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4/14</a:t>
            </a:r>
            <a:endParaRPr lang="en-US" sz="7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43000"/>
          <a:ext cx="5166360" cy="3291840"/>
        </p:xfrm>
        <a:graphic>
          <a:graphicData uri="http://schemas.openxmlformats.org/drawingml/2006/table">
            <a:tbl>
              <a:tblPr/>
              <a:tblGrid>
                <a:gridCol w="502920"/>
                <a:gridCol w="2011680"/>
                <a:gridCol w="777240"/>
                <a:gridCol w="822960"/>
                <a:gridCol w="822960"/>
              </a:tblGrid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U1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Leader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TSR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Profit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Share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8.5%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230m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10.6%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22.4%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204m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23.1%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43000"/>
          <a:ext cx="5166360" cy="3291840"/>
        </p:xfrm>
        <a:graphic>
          <a:graphicData uri="http://schemas.openxmlformats.org/drawingml/2006/table">
            <a:tbl>
              <a:tblPr/>
              <a:tblGrid>
                <a:gridCol w="502920"/>
                <a:gridCol w="2011680"/>
                <a:gridCol w="777240"/>
                <a:gridCol w="822960"/>
                <a:gridCol w="822960"/>
              </a:tblGrid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U2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Leader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TSR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Profit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Share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8.5%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331m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-266m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18.0%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-0.8%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-97m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840480" y="4983480"/>
            <a:ext cx="4389120" cy="777240"/>
          </a:xfrm>
          <a:prstGeom prst="roundRect">
            <a:avLst>
              <a:gd name="adj" fmla="val 9412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3977640" y="509320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3977640" y="53309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 the two universes reward similar strategies?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leader has the more coherent value story?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conversion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5/14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822960" y="123444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32688" y="1344168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insight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932688" y="1618488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generated more profit and stronger margin despite lower sales.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502920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profit margin 6.8%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profit margin 1.4%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11887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conversion comparison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943600" y="141732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5943600" y="470916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080760" y="4818888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080760" y="50566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managerial behaviour explains this contrast?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should the weaker universe learn from the stronger one?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82296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423160" y="5806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universe-level pattern is a collective result of pricing, R&amp;D, operations and financing behaviour.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posture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6/14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822960" y="123444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32688" y="1344168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insight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932688" y="1618488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universes reduced R&amp;D from R3, but U2 still spent much more.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502920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R&amp;D $0.71bn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R&amp;D $2.12bn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11887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posture comparison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943600" y="141732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5943600" y="470916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080760" y="4818888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080760" y="50566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managerial behaviour explains this contrast?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should the weaker universe learn from the stronger one?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82296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423160" y="5806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universe-level pattern is a collective result of pricing, R&amp;D, operations and financing behaviour.</a:t>
            </a:r>
            <a:endParaRPr lang="en-US" sz="8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risk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7/14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822960" y="123444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32688" y="1344168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insight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932688" y="1618488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universes accumulated inventory; U2 nearly doubled from Round 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502920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inventory change +51.3%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inventory change +99.4%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11887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risk comparison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943600" y="141732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5943600" y="470916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080760" y="4818888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080760" y="50566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managerial behaviour explains this contrast?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should the weaker universe learn from the stronger one?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82296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423160" y="5806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universe-level pattern is a collective result of pricing, R&amp;D, operations and financing behaviour.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pressure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8/14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822960" y="123444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32688" y="1344168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insight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932688" y="1618488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carried higher short-term debt and weaker market-cap movement.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502920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ST debt $1.88bn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ST debt $2.64bn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11887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pressure comparison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943600" y="141732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5943600" y="470916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080760" y="4818888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080760" y="50566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managerial behaviour explains this contrast?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should the weaker universe learn from the stronger one?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82296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423160" y="5806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universe-level pattern is a collective result of pricing, R&amp;D, operations and financing behaviour.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Market-cap signal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9/14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822960" y="123444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32688" y="1344168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insight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932688" y="1618488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Investors marked both universes down, but U2 was penalised more heavily.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502920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market cap change -12.4%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market cap change -26.1%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11887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Market-cap signal comparison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943600" y="141732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5943600" y="470916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080760" y="4818888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080760" y="50566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managerial behaviour explains this contrast?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should the weaker universe learn from the stronger one?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82296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423160" y="5806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universe-level pattern is a collective result of pricing, R&amp;D, operations and financing behaviour.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archetypes by universe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10/14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43000"/>
          <a:ext cx="10789920" cy="256032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2560320"/>
                <a:gridCol w="2194560"/>
                <a:gridCol w="2651760"/>
              </a:tblGrid>
              <a:tr h="8534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Universe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Leader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Profit engine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Share engine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Risk case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U1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 by TSR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 / Orange / 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Grey / Ochre risk pockets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U2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 by TSR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 current profit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 / Green / Red / Ochre losses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0" y="443484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37960" y="454456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37960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archetype is easiest to imitate?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archetype is most defensible?</a:t>
            </a:r>
            <a:endParaRPr lang="en-US" sz="920" dirty="0"/>
          </a:p>
        </p:txBody>
      </p:sp>
      <p:sp>
        <p:nvSpPr>
          <p:cNvPr id="12" name="Text 9"/>
          <p:cNvSpPr/>
          <p:nvPr/>
        </p:nvSpPr>
        <p:spPr>
          <a:xfrm>
            <a:off x="77724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2377440" y="5806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Winning is not one archetype; it is coherence between posture and operating economics.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Universe 1 can teach Universe 2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" y="1188720"/>
            <a:ext cx="530352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sales-to-profit conversion before celebrating size.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inventory and short-term debt as strategic constraints.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 R&amp;D as staged options rather than bulk spending.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market value by showing credible cash-flow recovery.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182880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938528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720840" y="21762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U1 practice should U2 copy first?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U1 risk should U2 avoid copying?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7724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2377440" y="5806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across universes is about mechanisms, not mimicry.</a:t>
            </a:r>
            <a:endParaRPr lang="en-US" sz="8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Universe 2 can teach Universe 1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" y="1188720"/>
            <a:ext cx="530352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Larger sales scale can create options if operations catch up.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strong profit leader can still rank low when cumulative value story is weak.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inventory growth reveals optimism that must be tested.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Rename continuity matters: team identities must be tracked across rounds.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182880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938528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720840" y="21762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U2 move would improve U1’s Round 5 plan?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U2 warning is most relevant for U1?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7724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2377440" y="5806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not copying decisions but improving decision rules.</a:t>
            </a:r>
            <a:endParaRPr lang="en-US" sz="8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5 cross-universe decision rules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13/14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1042416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8595360"/>
              </a:tblGrid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Rule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Universe-level test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Demand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Can each region be served profitably at the planned price?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R&amp;D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every technology bet linked to adoption, capacity and finance?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Inventory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threshold will trigger price or production correction?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Finance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Will the plan avoid unplanned debt and protect credit rating?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Valuation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future cash-flow story should investors believe?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0" y="5120640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37960" y="523036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37960" y="54681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rule is most urgent for U1?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rule is most urgent for U2?</a:t>
            </a:r>
            <a:endParaRPr lang="en-US" sz="9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 reflection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Round 4 • U1 vs U2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3716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better universe is the one that learns faster, not the one with one spectacular number.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868680" y="2377440"/>
            <a:ext cx="576072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shows that value can be lost even when sales are high.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coherence is visible in how metrics move together.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5 should be governed by hypotheses, thresholds and guardrails.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92240" y="283464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29400" y="294436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629400" y="31821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will each universe do more deliberately next round?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evidence will show learning rather than activity?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CESIM debrief</dc:subject>
  <dc:creator>OpenAI</dc:creator>
  <cp:lastModifiedBy>OpenAI</cp:lastModifiedBy>
  <cp:revision>1</cp:revision>
  <dcterms:created xsi:type="dcterms:W3CDTF">2026-08-18T06:40:49Z</dcterms:created>
  <dcterms:modified xsi:type="dcterms:W3CDTF">2026-08-18T06:40:49Z</dcterms:modified>
</cp:coreProperties>
</file>