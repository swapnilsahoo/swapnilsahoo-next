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772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CESIM Team Flow Map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Round 1 → Round 2 → Round 3 → Round 4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1488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0D5DD"/>
                </a:solidFill>
              </a:rPr>
              <a:t>GL Sec C Group July 2026 • Teams mapped across name changes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0D5DD"/>
                </a:solidFill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Team-name mapping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These mappings preserve company identity across changed team names.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R1→R4 Flow Map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Universe 1 and Universe 2 R1–R4 Excel results; principal criterion: cumulative TSR (p.a.)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914400" y="1280160"/>
            <a:ext cx="3291840" cy="384048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50976" y="1325880"/>
            <a:ext cx="3218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06240" y="1280160"/>
            <a:ext cx="3291840" cy="384048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242816" y="1325880"/>
            <a:ext cx="3218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Round 1 / 2 name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498080" y="1280160"/>
            <a:ext cx="3291840" cy="384048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534656" y="1325880"/>
            <a:ext cx="3218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Round 3 / 4 name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14400" y="1664208"/>
            <a:ext cx="32918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50976" y="1709928"/>
            <a:ext cx="3218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06240" y="1664208"/>
            <a:ext cx="32918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242816" y="1709928"/>
            <a:ext cx="3218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498080" y="1664208"/>
            <a:ext cx="32918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534656" y="1709928"/>
            <a:ext cx="3218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Harshad Mehta Gang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14400" y="2048256"/>
            <a:ext cx="32918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950976" y="2093976"/>
            <a:ext cx="3218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06240" y="2048256"/>
            <a:ext cx="32918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242816" y="2093976"/>
            <a:ext cx="3218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Blue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498080" y="2048256"/>
            <a:ext cx="32918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7534656" y="2093976"/>
            <a:ext cx="3218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Lakshmi Chit Fund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914400" y="2432304"/>
            <a:ext cx="32918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50976" y="2478024"/>
            <a:ext cx="3218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06240" y="2432304"/>
            <a:ext cx="32918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4242816" y="2478024"/>
            <a:ext cx="3218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Orange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498080" y="2432304"/>
            <a:ext cx="32918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7534656" y="2478024"/>
            <a:ext cx="3218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Big Bulls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14400" y="2816352"/>
            <a:ext cx="32918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950976" y="2862072"/>
            <a:ext cx="3218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U2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206240" y="2816352"/>
            <a:ext cx="32918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4242816" y="2862072"/>
            <a:ext cx="3218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Vijay Mallya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498080" y="2816352"/>
            <a:ext cx="32918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7534656" y="2862072"/>
            <a:ext cx="3218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Satyam 2.0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914400" y="3657600"/>
            <a:ext cx="685800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All rank flows use the final name for readability.
</a:t>
            </a:r>
            <a:pPr indent="0" marL="0">
              <a:buNone/>
            </a:pPr>
            <a:r>
              <a:rPr lang="en-US" sz="11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 renamed team is not treated as a new company.
</a:t>
            </a:r>
            <a:pPr indent="0" marL="0">
              <a:buNone/>
            </a:pPr>
            <a:r>
              <a:rPr lang="en-US" sz="11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R1–R4 comparisons use cumulative TSR rank within the same universe.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Why does mapping matter for strategy diagnosis?    › What error occurs if names are compared literally?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Universe 1 rank flow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Big Bulls becomes leader; Green recovers; Harshad and Grey collapse in rank.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R1→R4 Flow Map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Universe 1 and Universe 2 R1–R4 Excel results; principal criterion: cumulative TSR (p.a.)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777240" y="10058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3233A"/>
                </a:solidFill>
              </a:rPr>
              <a:t>R1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520440" y="10058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3233A"/>
                </a:solidFill>
              </a:rPr>
              <a:t>R2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263640" y="10058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3233A"/>
                </a:solidFill>
              </a:rPr>
              <a:t>R3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006840" y="10058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3233A"/>
                </a:solidFill>
              </a:rPr>
              <a:t>R4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14400" y="1234440"/>
            <a:ext cx="8229600" cy="0"/>
          </a:xfrm>
          <a:prstGeom prst="line">
            <a:avLst/>
          </a:prstGeom>
          <a:noFill/>
          <a:ln w="12700">
            <a:solidFill>
              <a:srgbClr val="E6EAF0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85800" y="1161288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1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914400" y="1950720"/>
            <a:ext cx="8229600" cy="0"/>
          </a:xfrm>
          <a:prstGeom prst="line">
            <a:avLst/>
          </a:prstGeom>
          <a:noFill/>
          <a:ln w="12700">
            <a:solidFill>
              <a:srgbClr val="E6EAF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85800" y="1877568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2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914400" y="2667000"/>
            <a:ext cx="8229600" cy="0"/>
          </a:xfrm>
          <a:prstGeom prst="line">
            <a:avLst/>
          </a:prstGeom>
          <a:noFill/>
          <a:ln w="12700">
            <a:solidFill>
              <a:srgbClr val="E6EAF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85800" y="2593848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3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914400" y="3383280"/>
            <a:ext cx="8229600" cy="0"/>
          </a:xfrm>
          <a:prstGeom prst="line">
            <a:avLst/>
          </a:prstGeom>
          <a:noFill/>
          <a:ln w="12700">
            <a:solidFill>
              <a:srgbClr val="E6EAF0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85800" y="3310128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4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914400" y="4099560"/>
            <a:ext cx="8229600" cy="0"/>
          </a:xfrm>
          <a:prstGeom prst="line">
            <a:avLst/>
          </a:prstGeom>
          <a:noFill/>
          <a:ln w="12700">
            <a:solidFill>
              <a:srgbClr val="E6EAF0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85800" y="4026408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5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914400" y="4815840"/>
            <a:ext cx="8229600" cy="0"/>
          </a:xfrm>
          <a:prstGeom prst="line">
            <a:avLst/>
          </a:prstGeom>
          <a:noFill/>
          <a:ln w="12700">
            <a:solidFill>
              <a:srgbClr val="E6EAF0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85800" y="4742688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6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914400" y="5532120"/>
            <a:ext cx="8229600" cy="0"/>
          </a:xfrm>
          <a:prstGeom prst="line">
            <a:avLst/>
          </a:prstGeom>
          <a:noFill/>
          <a:ln w="12700">
            <a:solidFill>
              <a:srgbClr val="E6EAF0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85800" y="5458968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7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914400" y="5532120"/>
            <a:ext cx="2743200" cy="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3657600" y="5532120"/>
            <a:ext cx="2743200" cy="-143256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6400800" y="4099560"/>
            <a:ext cx="2743200" cy="-214884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859536" y="5477256"/>
            <a:ext cx="109728" cy="1097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3602736" y="5477256"/>
            <a:ext cx="109728" cy="1097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6345936" y="4044696"/>
            <a:ext cx="109728" cy="1097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9089136" y="1895856"/>
            <a:ext cx="109728" cy="1097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9235440" y="18592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</a:t>
            </a:r>
            <a:endParaRPr lang="en-US" sz="720" dirty="0"/>
          </a:p>
        </p:txBody>
      </p:sp>
      <p:sp>
        <p:nvSpPr>
          <p:cNvPr id="34" name="Shape 32"/>
          <p:cNvSpPr/>
          <p:nvPr/>
        </p:nvSpPr>
        <p:spPr>
          <a:xfrm>
            <a:off x="914400" y="4815840"/>
            <a:ext cx="2743200" cy="-3581400"/>
          </a:xfrm>
          <a:prstGeom prst="line">
            <a:avLst/>
          </a:prstGeom>
          <a:noFill/>
          <a:ln w="12700">
            <a:solidFill>
              <a:srgbClr val="2563EB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3657600" y="1234440"/>
            <a:ext cx="2743200" cy="716280"/>
          </a:xfrm>
          <a:prstGeom prst="line">
            <a:avLst/>
          </a:prstGeom>
          <a:noFill/>
          <a:ln w="12700">
            <a:solidFill>
              <a:srgbClr val="2563EB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6400800" y="1950720"/>
            <a:ext cx="2743200" cy="2865120"/>
          </a:xfrm>
          <a:prstGeom prst="line">
            <a:avLst/>
          </a:prstGeom>
          <a:noFill/>
          <a:ln w="12700">
            <a:solidFill>
              <a:srgbClr val="2563EB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859536" y="4760976"/>
            <a:ext cx="109728" cy="10972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3602736" y="1179576"/>
            <a:ext cx="109728" cy="10972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6345936" y="1895856"/>
            <a:ext cx="109728" cy="10972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9089136" y="4760976"/>
            <a:ext cx="109728" cy="10972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9235440" y="472440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Harshad Mehta Gang</a:t>
            </a:r>
            <a:endParaRPr lang="en-US" sz="720" dirty="0"/>
          </a:p>
        </p:txBody>
      </p:sp>
      <p:sp>
        <p:nvSpPr>
          <p:cNvPr id="42" name="Shape 40"/>
          <p:cNvSpPr/>
          <p:nvPr/>
        </p:nvSpPr>
        <p:spPr>
          <a:xfrm>
            <a:off x="914400" y="3383280"/>
            <a:ext cx="2743200" cy="1432560"/>
          </a:xfrm>
          <a:prstGeom prst="line">
            <a:avLst/>
          </a:prstGeom>
          <a:noFill/>
          <a:ln w="12700">
            <a:solidFill>
              <a:srgbClr val="6D28D9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3657600" y="4815840"/>
            <a:ext cx="2743200" cy="716280"/>
          </a:xfrm>
          <a:prstGeom prst="line">
            <a:avLst/>
          </a:prstGeom>
          <a:noFill/>
          <a:ln w="12700">
            <a:solidFill>
              <a:srgbClr val="6D28D9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6400800" y="5532120"/>
            <a:ext cx="2743200" cy="0"/>
          </a:xfrm>
          <a:prstGeom prst="line">
            <a:avLst/>
          </a:prstGeom>
          <a:noFill/>
          <a:ln w="12700">
            <a:solidFill>
              <a:srgbClr val="6D28D9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859536" y="3328416"/>
            <a:ext cx="109728" cy="109728"/>
          </a:xfrm>
          <a:prstGeom prst="ellipse">
            <a:avLst/>
          </a:prstGeom>
          <a:solidFill>
            <a:srgbClr val="6D28D9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3602736" y="4760976"/>
            <a:ext cx="109728" cy="109728"/>
          </a:xfrm>
          <a:prstGeom prst="ellipse">
            <a:avLst/>
          </a:prstGeom>
          <a:solidFill>
            <a:srgbClr val="6D28D9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6345936" y="5477256"/>
            <a:ext cx="109728" cy="109728"/>
          </a:xfrm>
          <a:prstGeom prst="ellipse">
            <a:avLst/>
          </a:prstGeom>
          <a:solidFill>
            <a:srgbClr val="6D28D9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9089136" y="5477256"/>
            <a:ext cx="109728" cy="109728"/>
          </a:xfrm>
          <a:prstGeom prst="ellipse">
            <a:avLst/>
          </a:prstGeom>
          <a:solidFill>
            <a:srgbClr val="6D28D9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9235440" y="54406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Lakshmi Chit Fund</a:t>
            </a:r>
            <a:endParaRPr lang="en-US" sz="720" dirty="0"/>
          </a:p>
        </p:txBody>
      </p:sp>
      <p:sp>
        <p:nvSpPr>
          <p:cNvPr id="50" name="Shape 48"/>
          <p:cNvSpPr/>
          <p:nvPr/>
        </p:nvSpPr>
        <p:spPr>
          <a:xfrm>
            <a:off x="914400" y="4099560"/>
            <a:ext cx="2743200" cy="-71628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3657600" y="3383280"/>
            <a:ext cx="2743200" cy="-71628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52" name="Shape 50"/>
          <p:cNvSpPr/>
          <p:nvPr/>
        </p:nvSpPr>
        <p:spPr>
          <a:xfrm>
            <a:off x="6400800" y="2667000"/>
            <a:ext cx="2743200" cy="-143256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53" name="Shape 51"/>
          <p:cNvSpPr/>
          <p:nvPr/>
        </p:nvSpPr>
        <p:spPr>
          <a:xfrm>
            <a:off x="859536" y="4044696"/>
            <a:ext cx="109728" cy="1097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4" name="Shape 52"/>
          <p:cNvSpPr/>
          <p:nvPr/>
        </p:nvSpPr>
        <p:spPr>
          <a:xfrm>
            <a:off x="3602736" y="3328416"/>
            <a:ext cx="109728" cy="1097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6345936" y="2612136"/>
            <a:ext cx="109728" cy="1097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9089136" y="1179576"/>
            <a:ext cx="109728" cy="1097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9235440" y="114300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Big Bulls</a:t>
            </a:r>
            <a:endParaRPr lang="en-US" sz="720" dirty="0"/>
          </a:p>
        </p:txBody>
      </p:sp>
      <p:sp>
        <p:nvSpPr>
          <p:cNvPr id="58" name="Shape 56"/>
          <p:cNvSpPr/>
          <p:nvPr/>
        </p:nvSpPr>
        <p:spPr>
          <a:xfrm>
            <a:off x="914400" y="1234440"/>
            <a:ext cx="2743200" cy="1432560"/>
          </a:xfrm>
          <a:prstGeom prst="line">
            <a:avLst/>
          </a:prstGeom>
          <a:noFill/>
          <a:ln w="12700">
            <a:solidFill>
              <a:srgbClr val="15803D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9" name="Shape 57"/>
          <p:cNvSpPr/>
          <p:nvPr/>
        </p:nvSpPr>
        <p:spPr>
          <a:xfrm>
            <a:off x="3657600" y="2667000"/>
            <a:ext cx="2743200" cy="-1432560"/>
          </a:xfrm>
          <a:prstGeom prst="line">
            <a:avLst/>
          </a:prstGeom>
          <a:noFill/>
          <a:ln w="12700">
            <a:solidFill>
              <a:srgbClr val="15803D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Shape 58"/>
          <p:cNvSpPr/>
          <p:nvPr/>
        </p:nvSpPr>
        <p:spPr>
          <a:xfrm>
            <a:off x="6400800" y="1234440"/>
            <a:ext cx="2743200" cy="2148840"/>
          </a:xfrm>
          <a:prstGeom prst="line">
            <a:avLst/>
          </a:prstGeom>
          <a:noFill/>
          <a:ln w="12700">
            <a:solidFill>
              <a:srgbClr val="15803D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1" name="Shape 59"/>
          <p:cNvSpPr/>
          <p:nvPr/>
        </p:nvSpPr>
        <p:spPr>
          <a:xfrm>
            <a:off x="859536" y="1179576"/>
            <a:ext cx="109728" cy="109728"/>
          </a:xfrm>
          <a:prstGeom prst="ellipse">
            <a:avLst/>
          </a:prstGeom>
          <a:solidFill>
            <a:srgbClr val="15803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3602736" y="2612136"/>
            <a:ext cx="109728" cy="109728"/>
          </a:xfrm>
          <a:prstGeom prst="ellipse">
            <a:avLst/>
          </a:prstGeom>
          <a:solidFill>
            <a:srgbClr val="15803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3" name="Shape 61"/>
          <p:cNvSpPr/>
          <p:nvPr/>
        </p:nvSpPr>
        <p:spPr>
          <a:xfrm>
            <a:off x="6345936" y="1179576"/>
            <a:ext cx="109728" cy="109728"/>
          </a:xfrm>
          <a:prstGeom prst="ellipse">
            <a:avLst/>
          </a:prstGeom>
          <a:solidFill>
            <a:srgbClr val="15803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9089136" y="3328416"/>
            <a:ext cx="109728" cy="109728"/>
          </a:xfrm>
          <a:prstGeom prst="ellipse">
            <a:avLst/>
          </a:prstGeom>
          <a:solidFill>
            <a:srgbClr val="15803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9235440" y="329184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Grey</a:t>
            </a:r>
            <a:endParaRPr lang="en-US" sz="720" dirty="0"/>
          </a:p>
        </p:txBody>
      </p:sp>
      <p:sp>
        <p:nvSpPr>
          <p:cNvPr id="66" name="Shape 64"/>
          <p:cNvSpPr/>
          <p:nvPr/>
        </p:nvSpPr>
        <p:spPr>
          <a:xfrm>
            <a:off x="914400" y="2667000"/>
            <a:ext cx="2743200" cy="-716280"/>
          </a:xfrm>
          <a:prstGeom prst="line">
            <a:avLst/>
          </a:prstGeom>
          <a:noFill/>
          <a:ln w="12700">
            <a:solidFill>
              <a:srgbClr val="B42318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7" name="Shape 65"/>
          <p:cNvSpPr/>
          <p:nvPr/>
        </p:nvSpPr>
        <p:spPr>
          <a:xfrm>
            <a:off x="3657600" y="1950720"/>
            <a:ext cx="2743200" cy="1432560"/>
          </a:xfrm>
          <a:prstGeom prst="line">
            <a:avLst/>
          </a:prstGeom>
          <a:noFill/>
          <a:ln w="12700">
            <a:solidFill>
              <a:srgbClr val="B42318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8" name="Shape 66"/>
          <p:cNvSpPr/>
          <p:nvPr/>
        </p:nvSpPr>
        <p:spPr>
          <a:xfrm>
            <a:off x="6400800" y="3383280"/>
            <a:ext cx="2743200" cy="-716280"/>
          </a:xfrm>
          <a:prstGeom prst="line">
            <a:avLst/>
          </a:prstGeom>
          <a:noFill/>
          <a:ln w="12700">
            <a:solidFill>
              <a:srgbClr val="B42318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9" name="Shape 67"/>
          <p:cNvSpPr/>
          <p:nvPr/>
        </p:nvSpPr>
        <p:spPr>
          <a:xfrm>
            <a:off x="859536" y="2612136"/>
            <a:ext cx="109728" cy="109728"/>
          </a:xfrm>
          <a:prstGeom prst="ellipse">
            <a:avLst/>
          </a:prstGeom>
          <a:solidFill>
            <a:srgbClr val="B42318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0" name="Shape 68"/>
          <p:cNvSpPr/>
          <p:nvPr/>
        </p:nvSpPr>
        <p:spPr>
          <a:xfrm>
            <a:off x="3602736" y="1895856"/>
            <a:ext cx="109728" cy="109728"/>
          </a:xfrm>
          <a:prstGeom prst="ellipse">
            <a:avLst/>
          </a:prstGeom>
          <a:solidFill>
            <a:srgbClr val="B42318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1" name="Shape 69"/>
          <p:cNvSpPr/>
          <p:nvPr/>
        </p:nvSpPr>
        <p:spPr>
          <a:xfrm>
            <a:off x="6345936" y="3328416"/>
            <a:ext cx="109728" cy="109728"/>
          </a:xfrm>
          <a:prstGeom prst="ellipse">
            <a:avLst/>
          </a:prstGeom>
          <a:solidFill>
            <a:srgbClr val="B42318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2" name="Shape 70"/>
          <p:cNvSpPr/>
          <p:nvPr/>
        </p:nvSpPr>
        <p:spPr>
          <a:xfrm>
            <a:off x="9089136" y="2612136"/>
            <a:ext cx="109728" cy="109728"/>
          </a:xfrm>
          <a:prstGeom prst="ellipse">
            <a:avLst/>
          </a:prstGeom>
          <a:solidFill>
            <a:srgbClr val="B42318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3" name="Text 71"/>
          <p:cNvSpPr/>
          <p:nvPr/>
        </p:nvSpPr>
        <p:spPr>
          <a:xfrm>
            <a:off x="9235440" y="257556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Akatsuki</a:t>
            </a:r>
            <a:endParaRPr lang="en-US" sz="720" dirty="0"/>
          </a:p>
        </p:txBody>
      </p:sp>
      <p:sp>
        <p:nvSpPr>
          <p:cNvPr id="74" name="Shape 72"/>
          <p:cNvSpPr/>
          <p:nvPr/>
        </p:nvSpPr>
        <p:spPr>
          <a:xfrm>
            <a:off x="914400" y="1950720"/>
            <a:ext cx="2743200" cy="2148840"/>
          </a:xfrm>
          <a:prstGeom prst="line">
            <a:avLst/>
          </a:prstGeom>
          <a:noFill/>
          <a:ln w="12700">
            <a:solidFill>
              <a:srgbClr val="667085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5" name="Shape 73"/>
          <p:cNvSpPr/>
          <p:nvPr/>
        </p:nvSpPr>
        <p:spPr>
          <a:xfrm>
            <a:off x="3657600" y="4099560"/>
            <a:ext cx="2743200" cy="716280"/>
          </a:xfrm>
          <a:prstGeom prst="line">
            <a:avLst/>
          </a:prstGeom>
          <a:noFill/>
          <a:ln w="12700">
            <a:solidFill>
              <a:srgbClr val="667085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6" name="Shape 74"/>
          <p:cNvSpPr/>
          <p:nvPr/>
        </p:nvSpPr>
        <p:spPr>
          <a:xfrm>
            <a:off x="6400800" y="4815840"/>
            <a:ext cx="2743200" cy="-716280"/>
          </a:xfrm>
          <a:prstGeom prst="line">
            <a:avLst/>
          </a:prstGeom>
          <a:noFill/>
          <a:ln w="12700">
            <a:solidFill>
              <a:srgbClr val="667085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7" name="Shape 75"/>
          <p:cNvSpPr/>
          <p:nvPr/>
        </p:nvSpPr>
        <p:spPr>
          <a:xfrm>
            <a:off x="859536" y="1895856"/>
            <a:ext cx="109728" cy="109728"/>
          </a:xfrm>
          <a:prstGeom prst="ellipse">
            <a:avLst/>
          </a:prstGeom>
          <a:solidFill>
            <a:srgbClr val="66708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8" name="Shape 76"/>
          <p:cNvSpPr/>
          <p:nvPr/>
        </p:nvSpPr>
        <p:spPr>
          <a:xfrm>
            <a:off x="3602736" y="4044696"/>
            <a:ext cx="109728" cy="109728"/>
          </a:xfrm>
          <a:prstGeom prst="ellipse">
            <a:avLst/>
          </a:prstGeom>
          <a:solidFill>
            <a:srgbClr val="66708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9" name="Shape 77"/>
          <p:cNvSpPr/>
          <p:nvPr/>
        </p:nvSpPr>
        <p:spPr>
          <a:xfrm>
            <a:off x="6345936" y="4760976"/>
            <a:ext cx="109728" cy="109728"/>
          </a:xfrm>
          <a:prstGeom prst="ellipse">
            <a:avLst/>
          </a:prstGeom>
          <a:solidFill>
            <a:srgbClr val="66708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0" name="Shape 78"/>
          <p:cNvSpPr/>
          <p:nvPr/>
        </p:nvSpPr>
        <p:spPr>
          <a:xfrm>
            <a:off x="9089136" y="4044696"/>
            <a:ext cx="109728" cy="109728"/>
          </a:xfrm>
          <a:prstGeom prst="ellipse">
            <a:avLst/>
          </a:prstGeom>
          <a:solidFill>
            <a:srgbClr val="667085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1" name="Text 79"/>
          <p:cNvSpPr/>
          <p:nvPr/>
        </p:nvSpPr>
        <p:spPr>
          <a:xfrm>
            <a:off x="9235440" y="400812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Pink</a:t>
            </a:r>
            <a:endParaRPr lang="en-US" sz="720" dirty="0"/>
          </a:p>
        </p:txBody>
      </p:sp>
      <p:sp>
        <p:nvSpPr>
          <p:cNvPr id="82" name="Text 80"/>
          <p:cNvSpPr/>
          <p:nvPr/>
        </p:nvSpPr>
        <p:spPr>
          <a:xfrm>
            <a:off x="9464040" y="1463040"/>
            <a:ext cx="219456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Big Bulls: 5th → 4th → 3rd → 1st.
</a:t>
            </a:r>
            <a:pPr indent="0" marL="0">
              <a:buNone/>
            </a:pPr>
            <a:r>
              <a:rPr lang="en-US" sz="9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Green: 7th → 7th → 5th → 2nd.
</a:t>
            </a:r>
            <a:pPr indent="0" marL="0">
              <a:buNone/>
            </a:pPr>
            <a:r>
              <a:rPr lang="en-US" sz="9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Harshad: 6th → 1st → 2nd → 6th.
</a:t>
            </a:r>
            <a:pPr indent="0" marL="0">
              <a:buNone/>
            </a:pPr>
            <a:r>
              <a:rPr lang="en-US" sz="9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Grey: 1st → 3rd → 1st → 4th.</a:t>
            </a:r>
            <a:endParaRPr lang="en-US" sz="950" dirty="0"/>
          </a:p>
        </p:txBody>
      </p:sp>
      <p:sp>
        <p:nvSpPr>
          <p:cNvPr id="83" name="Shape 81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84" name="Text 82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85" name="Text 83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Which movement shows genuine learning?    › Which movement hides future risk?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Universe 1 TSR trajectory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Cumulative TSR compressed sharply by Round 4.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R1→R4 Flow Map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Universe 1 and Universe 2 R1–R4 Excel results; principal criterion: cumulative TSR (p.a.)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85800" y="112471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92024" y="1124712"/>
            <a:ext cx="2567635" cy="237744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418734" y="112471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-1.8%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59659" y="1097280"/>
            <a:ext cx="0" cy="50292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834640" y="10972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R1 -49.5% → R4 -1.8%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172200" y="112471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Harshad Mehta Gang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678424" y="1124712"/>
            <a:ext cx="2567635" cy="237744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0905134" y="112471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-21.9%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8246059" y="1097280"/>
            <a:ext cx="0" cy="50292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321040" y="10972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R1 24.7% → R4 -21.9%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685800" y="213055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Lakshmi Chit Fund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192024" y="2130552"/>
            <a:ext cx="2567635" cy="237744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418734" y="213055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-25.4%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759659" y="2103120"/>
            <a:ext cx="0" cy="50292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2834640" y="21031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R1 27.2% → R4 -25.4%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6172200" y="213055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Big Bulls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8246059" y="2130552"/>
            <a:ext cx="2567635" cy="23774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10905134" y="213055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5.5%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8246059" y="2103120"/>
            <a:ext cx="0" cy="50292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8321040" y="21031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R1 26.1% → R4 5.5%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685800" y="313639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Grey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92024" y="3136392"/>
            <a:ext cx="2567635" cy="237744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5418734" y="31363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-4.6%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2759659" y="3108960"/>
            <a:ext cx="0" cy="50292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2834640" y="31089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R1 35.5% → R4 -4.6%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6172200" y="313639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Akatsuki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5678424" y="3136392"/>
            <a:ext cx="2567635" cy="237744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10905134" y="31363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-2.4%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8246059" y="3108960"/>
            <a:ext cx="0" cy="50292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8321040" y="31089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R1 31.2% → R4 -2.4%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685800" y="414223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Pink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92024" y="4142232"/>
            <a:ext cx="2567635" cy="237744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5418734" y="414223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-9.9%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2759659" y="4114800"/>
            <a:ext cx="0" cy="50292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2834640" y="41148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R1 31.3% → R4 -9.9%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Why did cumulative TSR compress?    › Which team still has a recoverable value story?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Universe 1 value and operating flow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 movement should be read with sales, profit and market cap.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R1→R4 Flow Map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Universe 1 and Universe 2 R1–R4 Excel results; principal criterion: cumulative TSR (p.a.)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731520" y="1097280"/>
            <a:ext cx="1752600" cy="537210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68096" y="1143000"/>
            <a:ext cx="167944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484120" y="1097280"/>
            <a:ext cx="1752600" cy="537210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520696" y="1143000"/>
            <a:ext cx="167944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R4 rank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236720" y="1097280"/>
            <a:ext cx="1752600" cy="537210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273296" y="1143000"/>
            <a:ext cx="167944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989320" y="1097280"/>
            <a:ext cx="1752600" cy="537210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025896" y="1143000"/>
            <a:ext cx="167944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7741920" y="1097280"/>
            <a:ext cx="1752600" cy="537210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778496" y="1143000"/>
            <a:ext cx="167944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Mkt cap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9494520" y="1097280"/>
            <a:ext cx="1752600" cy="537210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9531096" y="1143000"/>
            <a:ext cx="167944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Credit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731520" y="1634490"/>
            <a:ext cx="1752600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68096" y="1680210"/>
            <a:ext cx="167944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484120" y="1634490"/>
            <a:ext cx="1752600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2520696" y="1680210"/>
            <a:ext cx="167944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2nd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236720" y="1634490"/>
            <a:ext cx="1752600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4273296" y="1680210"/>
            <a:ext cx="167944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3m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989320" y="1634490"/>
            <a:ext cx="1752600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025896" y="1680210"/>
            <a:ext cx="167944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0m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741920" y="1634490"/>
            <a:ext cx="1752600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7778496" y="1680210"/>
            <a:ext cx="167944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5m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9494520" y="1634490"/>
            <a:ext cx="1752600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9531096" y="1680210"/>
            <a:ext cx="167944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BB-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31520" y="2171700"/>
            <a:ext cx="1752600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768096" y="2217420"/>
            <a:ext cx="167944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Harshad Mehta Gang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2484120" y="2171700"/>
            <a:ext cx="1752600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2520696" y="2217420"/>
            <a:ext cx="167944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6th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236720" y="2171700"/>
            <a:ext cx="1752600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4273296" y="2217420"/>
            <a:ext cx="167944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3m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989320" y="2171700"/>
            <a:ext cx="1752600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6025896" y="2217420"/>
            <a:ext cx="167944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0m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7741920" y="2171700"/>
            <a:ext cx="1752600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7778496" y="2217420"/>
            <a:ext cx="167944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3m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9494520" y="2171700"/>
            <a:ext cx="1752600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9531096" y="2217420"/>
            <a:ext cx="167944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BB-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731520" y="2708910"/>
            <a:ext cx="1752600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768096" y="2754630"/>
            <a:ext cx="167944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Lakshmi Chit Fund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2484120" y="2708910"/>
            <a:ext cx="1752600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2520696" y="2754630"/>
            <a:ext cx="167944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7th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4236720" y="2708910"/>
            <a:ext cx="1752600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4273296" y="2754630"/>
            <a:ext cx="167944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3m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5989320" y="2708910"/>
            <a:ext cx="1752600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6025896" y="2754630"/>
            <a:ext cx="167944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-1m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741920" y="2708910"/>
            <a:ext cx="1752600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7778496" y="2754630"/>
            <a:ext cx="167944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2m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9494520" y="2708910"/>
            <a:ext cx="1752600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9531096" y="2754630"/>
            <a:ext cx="167944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31520" y="3246120"/>
            <a:ext cx="1752600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768096" y="3291840"/>
            <a:ext cx="167944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Big Bulls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2484120" y="3246120"/>
            <a:ext cx="1752600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2520696" y="3291840"/>
            <a:ext cx="167944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1st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236720" y="3246120"/>
            <a:ext cx="1752600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4273296" y="3291840"/>
            <a:ext cx="167944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2m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5989320" y="3246120"/>
            <a:ext cx="1752600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6025896" y="3291840"/>
            <a:ext cx="167944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0m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7741920" y="3246120"/>
            <a:ext cx="1752600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7778496" y="3291840"/>
            <a:ext cx="167944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8m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9494520" y="3246120"/>
            <a:ext cx="1752600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7" name="Text 65"/>
          <p:cNvSpPr/>
          <p:nvPr/>
        </p:nvSpPr>
        <p:spPr>
          <a:xfrm>
            <a:off x="9531096" y="3291840"/>
            <a:ext cx="167944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AA+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731520" y="3783330"/>
            <a:ext cx="1752600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9" name="Text 67"/>
          <p:cNvSpPr/>
          <p:nvPr/>
        </p:nvSpPr>
        <p:spPr>
          <a:xfrm>
            <a:off x="768096" y="3829050"/>
            <a:ext cx="167944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Grey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2484120" y="3783330"/>
            <a:ext cx="1752600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2520696" y="3829050"/>
            <a:ext cx="167944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4th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236720" y="3783330"/>
            <a:ext cx="1752600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73" name="Text 71"/>
          <p:cNvSpPr/>
          <p:nvPr/>
        </p:nvSpPr>
        <p:spPr>
          <a:xfrm>
            <a:off x="4273296" y="3829050"/>
            <a:ext cx="167944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2m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5989320" y="3783330"/>
            <a:ext cx="1752600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75" name="Text 73"/>
          <p:cNvSpPr/>
          <p:nvPr/>
        </p:nvSpPr>
        <p:spPr>
          <a:xfrm>
            <a:off x="6025896" y="3829050"/>
            <a:ext cx="167944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-0m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7741920" y="3783330"/>
            <a:ext cx="1752600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77" name="Text 75"/>
          <p:cNvSpPr/>
          <p:nvPr/>
        </p:nvSpPr>
        <p:spPr>
          <a:xfrm>
            <a:off x="7778496" y="3829050"/>
            <a:ext cx="167944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5m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9494520" y="3783330"/>
            <a:ext cx="1752600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79" name="Text 77"/>
          <p:cNvSpPr/>
          <p:nvPr/>
        </p:nvSpPr>
        <p:spPr>
          <a:xfrm>
            <a:off x="9531096" y="3829050"/>
            <a:ext cx="167944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731520" y="4320540"/>
            <a:ext cx="1752600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81" name="Text 79"/>
          <p:cNvSpPr/>
          <p:nvPr/>
        </p:nvSpPr>
        <p:spPr>
          <a:xfrm>
            <a:off x="768096" y="4366260"/>
            <a:ext cx="167944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Akatsuki</a:t>
            </a:r>
            <a:endParaRPr lang="en-US" sz="800" dirty="0"/>
          </a:p>
        </p:txBody>
      </p:sp>
      <p:sp>
        <p:nvSpPr>
          <p:cNvPr id="82" name="Shape 80"/>
          <p:cNvSpPr/>
          <p:nvPr/>
        </p:nvSpPr>
        <p:spPr>
          <a:xfrm>
            <a:off x="2484120" y="4320540"/>
            <a:ext cx="1752600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83" name="Text 81"/>
          <p:cNvSpPr/>
          <p:nvPr/>
        </p:nvSpPr>
        <p:spPr>
          <a:xfrm>
            <a:off x="2520696" y="4366260"/>
            <a:ext cx="167944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3rd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4236720" y="4320540"/>
            <a:ext cx="1752600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85" name="Text 83"/>
          <p:cNvSpPr/>
          <p:nvPr/>
        </p:nvSpPr>
        <p:spPr>
          <a:xfrm>
            <a:off x="4273296" y="4366260"/>
            <a:ext cx="167944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2m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5989320" y="4320540"/>
            <a:ext cx="1752600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87" name="Text 85"/>
          <p:cNvSpPr/>
          <p:nvPr/>
        </p:nvSpPr>
        <p:spPr>
          <a:xfrm>
            <a:off x="6025896" y="4366260"/>
            <a:ext cx="167944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-0m</a:t>
            </a:r>
            <a:endParaRPr lang="en-US" sz="800" dirty="0"/>
          </a:p>
        </p:txBody>
      </p:sp>
      <p:sp>
        <p:nvSpPr>
          <p:cNvPr id="88" name="Shape 86"/>
          <p:cNvSpPr/>
          <p:nvPr/>
        </p:nvSpPr>
        <p:spPr>
          <a:xfrm>
            <a:off x="7741920" y="4320540"/>
            <a:ext cx="1752600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89" name="Text 87"/>
          <p:cNvSpPr/>
          <p:nvPr/>
        </p:nvSpPr>
        <p:spPr>
          <a:xfrm>
            <a:off x="7778496" y="4366260"/>
            <a:ext cx="167944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5m</a:t>
            </a:r>
            <a:endParaRPr lang="en-US" sz="800" dirty="0"/>
          </a:p>
        </p:txBody>
      </p:sp>
      <p:sp>
        <p:nvSpPr>
          <p:cNvPr id="90" name="Shape 88"/>
          <p:cNvSpPr/>
          <p:nvPr/>
        </p:nvSpPr>
        <p:spPr>
          <a:xfrm>
            <a:off x="9494520" y="4320540"/>
            <a:ext cx="1752600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91" name="Text 89"/>
          <p:cNvSpPr/>
          <p:nvPr/>
        </p:nvSpPr>
        <p:spPr>
          <a:xfrm>
            <a:off x="9531096" y="4366260"/>
            <a:ext cx="167944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</a:t>
            </a:r>
            <a:endParaRPr lang="en-US" sz="800" dirty="0"/>
          </a:p>
        </p:txBody>
      </p:sp>
      <p:sp>
        <p:nvSpPr>
          <p:cNvPr id="92" name="Shape 90"/>
          <p:cNvSpPr/>
          <p:nvPr/>
        </p:nvSpPr>
        <p:spPr>
          <a:xfrm>
            <a:off x="731520" y="4857750"/>
            <a:ext cx="1752600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93" name="Text 91"/>
          <p:cNvSpPr/>
          <p:nvPr/>
        </p:nvSpPr>
        <p:spPr>
          <a:xfrm>
            <a:off x="768096" y="4903470"/>
            <a:ext cx="167944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Pink</a:t>
            </a:r>
            <a:endParaRPr lang="en-US" sz="800" dirty="0"/>
          </a:p>
        </p:txBody>
      </p:sp>
      <p:sp>
        <p:nvSpPr>
          <p:cNvPr id="94" name="Shape 92"/>
          <p:cNvSpPr/>
          <p:nvPr/>
        </p:nvSpPr>
        <p:spPr>
          <a:xfrm>
            <a:off x="2484120" y="4857750"/>
            <a:ext cx="1752600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95" name="Text 93"/>
          <p:cNvSpPr/>
          <p:nvPr/>
        </p:nvSpPr>
        <p:spPr>
          <a:xfrm>
            <a:off x="2520696" y="4903470"/>
            <a:ext cx="167944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5th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236720" y="4857750"/>
            <a:ext cx="1752600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97" name="Text 95"/>
          <p:cNvSpPr/>
          <p:nvPr/>
        </p:nvSpPr>
        <p:spPr>
          <a:xfrm>
            <a:off x="4273296" y="4903470"/>
            <a:ext cx="167944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2m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5989320" y="4857750"/>
            <a:ext cx="1752600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99" name="Text 97"/>
          <p:cNvSpPr/>
          <p:nvPr/>
        </p:nvSpPr>
        <p:spPr>
          <a:xfrm>
            <a:off x="6025896" y="4903470"/>
            <a:ext cx="167944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-0m</a:t>
            </a:r>
            <a:endParaRPr lang="en-US" sz="800" dirty="0"/>
          </a:p>
        </p:txBody>
      </p:sp>
      <p:sp>
        <p:nvSpPr>
          <p:cNvPr id="100" name="Shape 98"/>
          <p:cNvSpPr/>
          <p:nvPr/>
        </p:nvSpPr>
        <p:spPr>
          <a:xfrm>
            <a:off x="7741920" y="4857750"/>
            <a:ext cx="1752600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01" name="Text 99"/>
          <p:cNvSpPr/>
          <p:nvPr/>
        </p:nvSpPr>
        <p:spPr>
          <a:xfrm>
            <a:off x="7778496" y="4903470"/>
            <a:ext cx="167944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4m</a:t>
            </a:r>
            <a:endParaRPr lang="en-US" sz="800" dirty="0"/>
          </a:p>
        </p:txBody>
      </p:sp>
      <p:sp>
        <p:nvSpPr>
          <p:cNvPr id="102" name="Shape 100"/>
          <p:cNvSpPr/>
          <p:nvPr/>
        </p:nvSpPr>
        <p:spPr>
          <a:xfrm>
            <a:off x="9494520" y="4857750"/>
            <a:ext cx="1752600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03" name="Text 101"/>
          <p:cNvSpPr/>
          <p:nvPr/>
        </p:nvSpPr>
        <p:spPr>
          <a:xfrm>
            <a:off x="9531096" y="4903470"/>
            <a:ext cx="167944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CCC+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105" name="Text 103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106" name="Text 104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Which team has rank but weak economics?    › Which team has operating recovery but financing risk?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Universe 2 rank flow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Lehman Bros. retakes leadership; Blues Clues rises sharply; SEBI falls.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R1→R4 Flow Map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Universe 1 and Universe 2 R1–R4 Excel results; principal criterion: cumulative TSR (p.a.)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777240" y="10058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3233A"/>
                </a:solidFill>
              </a:rPr>
              <a:t>R1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520440" y="10058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3233A"/>
                </a:solidFill>
              </a:rPr>
              <a:t>R2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263640" y="10058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3233A"/>
                </a:solidFill>
              </a:rPr>
              <a:t>R3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006840" y="10058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3233A"/>
                </a:solidFill>
              </a:rPr>
              <a:t>R4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14400" y="1234440"/>
            <a:ext cx="8229600" cy="0"/>
          </a:xfrm>
          <a:prstGeom prst="line">
            <a:avLst/>
          </a:prstGeom>
          <a:noFill/>
          <a:ln w="12700">
            <a:solidFill>
              <a:srgbClr val="E6EAF0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85800" y="1161288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1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914400" y="2093976"/>
            <a:ext cx="8229600" cy="0"/>
          </a:xfrm>
          <a:prstGeom prst="line">
            <a:avLst/>
          </a:prstGeom>
          <a:noFill/>
          <a:ln w="12700">
            <a:solidFill>
              <a:srgbClr val="E6EAF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85800" y="2020824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2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914400" y="2953512"/>
            <a:ext cx="8229600" cy="0"/>
          </a:xfrm>
          <a:prstGeom prst="line">
            <a:avLst/>
          </a:prstGeom>
          <a:noFill/>
          <a:ln w="12700">
            <a:solidFill>
              <a:srgbClr val="E6EAF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85800" y="2880360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3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914400" y="3813048"/>
            <a:ext cx="8229600" cy="0"/>
          </a:xfrm>
          <a:prstGeom prst="line">
            <a:avLst/>
          </a:prstGeom>
          <a:noFill/>
          <a:ln w="12700">
            <a:solidFill>
              <a:srgbClr val="E6EAF0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85800" y="3739896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4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914400" y="4672584"/>
            <a:ext cx="8229600" cy="0"/>
          </a:xfrm>
          <a:prstGeom prst="line">
            <a:avLst/>
          </a:prstGeom>
          <a:noFill/>
          <a:ln w="12700">
            <a:solidFill>
              <a:srgbClr val="E6EAF0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85800" y="459943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5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914400" y="5532120"/>
            <a:ext cx="8229600" cy="0"/>
          </a:xfrm>
          <a:prstGeom prst="line">
            <a:avLst/>
          </a:prstGeom>
          <a:noFill/>
          <a:ln w="12700">
            <a:solidFill>
              <a:srgbClr val="E6EAF0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85800" y="5458968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6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914400" y="2093976"/>
            <a:ext cx="2743200" cy="2578608"/>
          </a:xfrm>
          <a:prstGeom prst="line">
            <a:avLst/>
          </a:prstGeom>
          <a:noFill/>
          <a:ln w="12700">
            <a:solidFill>
              <a:srgbClr val="0F766E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3657600" y="4672584"/>
            <a:ext cx="2743200" cy="859536"/>
          </a:xfrm>
          <a:prstGeom prst="line">
            <a:avLst/>
          </a:prstGeom>
          <a:noFill/>
          <a:ln w="12700">
            <a:solidFill>
              <a:srgbClr val="0F766E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6400800" y="5532120"/>
            <a:ext cx="2743200" cy="0"/>
          </a:xfrm>
          <a:prstGeom prst="line">
            <a:avLst/>
          </a:prstGeom>
          <a:noFill/>
          <a:ln w="12700">
            <a:solidFill>
              <a:srgbClr val="0F766E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859536" y="2039112"/>
            <a:ext cx="109728" cy="1097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3602736" y="4617720"/>
            <a:ext cx="109728" cy="1097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6345936" y="5477256"/>
            <a:ext cx="109728" cy="1097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9089136" y="5477256"/>
            <a:ext cx="109728" cy="1097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9235440" y="54406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914400" y="3813048"/>
            <a:ext cx="2743200" cy="-1719072"/>
          </a:xfrm>
          <a:prstGeom prst="line">
            <a:avLst/>
          </a:prstGeom>
          <a:noFill/>
          <a:ln w="12700">
            <a:solidFill>
              <a:srgbClr val="2563EB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3657600" y="2093976"/>
            <a:ext cx="2743200" cy="-859536"/>
          </a:xfrm>
          <a:prstGeom prst="line">
            <a:avLst/>
          </a:prstGeom>
          <a:noFill/>
          <a:ln w="12700">
            <a:solidFill>
              <a:srgbClr val="2563EB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6400800" y="1234440"/>
            <a:ext cx="2743200" cy="1719072"/>
          </a:xfrm>
          <a:prstGeom prst="line">
            <a:avLst/>
          </a:prstGeom>
          <a:noFill/>
          <a:ln w="12700">
            <a:solidFill>
              <a:srgbClr val="2563EB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859536" y="3758184"/>
            <a:ext cx="109728" cy="10972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3602736" y="2039112"/>
            <a:ext cx="109728" cy="10972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6345936" y="1179576"/>
            <a:ext cx="109728" cy="10972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9089136" y="2898648"/>
            <a:ext cx="109728" cy="10972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9235440" y="286207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Satyam 2.0</a:t>
            </a:r>
            <a:endParaRPr lang="en-US" sz="720" dirty="0"/>
          </a:p>
        </p:txBody>
      </p:sp>
      <p:sp>
        <p:nvSpPr>
          <p:cNvPr id="40" name="Shape 38"/>
          <p:cNvSpPr/>
          <p:nvPr/>
        </p:nvSpPr>
        <p:spPr>
          <a:xfrm>
            <a:off x="914400" y="5532120"/>
            <a:ext cx="2743200" cy="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3657600" y="5532120"/>
            <a:ext cx="2743200" cy="-859536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6400800" y="4672584"/>
            <a:ext cx="2743200" cy="-2578608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859536" y="5477256"/>
            <a:ext cx="109728" cy="1097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3602736" y="5477256"/>
            <a:ext cx="109728" cy="1097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6345936" y="4617720"/>
            <a:ext cx="109728" cy="1097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9089136" y="2039112"/>
            <a:ext cx="109728" cy="1097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9235440" y="2002536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Blues Clues</a:t>
            </a:r>
            <a:endParaRPr lang="en-US" sz="720" dirty="0"/>
          </a:p>
        </p:txBody>
      </p:sp>
      <p:sp>
        <p:nvSpPr>
          <p:cNvPr id="48" name="Shape 46"/>
          <p:cNvSpPr/>
          <p:nvPr/>
        </p:nvSpPr>
        <p:spPr>
          <a:xfrm>
            <a:off x="914400" y="1234440"/>
            <a:ext cx="2743200" cy="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3657600" y="1234440"/>
            <a:ext cx="2743200" cy="1719072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6400800" y="2953512"/>
            <a:ext cx="2743200" cy="-1719072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859536" y="1179576"/>
            <a:ext cx="109728" cy="1097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2" name="Shape 50"/>
          <p:cNvSpPr/>
          <p:nvPr/>
        </p:nvSpPr>
        <p:spPr>
          <a:xfrm>
            <a:off x="3602736" y="1179576"/>
            <a:ext cx="109728" cy="1097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3" name="Shape 51"/>
          <p:cNvSpPr/>
          <p:nvPr/>
        </p:nvSpPr>
        <p:spPr>
          <a:xfrm>
            <a:off x="6345936" y="2898648"/>
            <a:ext cx="109728" cy="1097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4" name="Shape 52"/>
          <p:cNvSpPr/>
          <p:nvPr/>
        </p:nvSpPr>
        <p:spPr>
          <a:xfrm>
            <a:off x="9089136" y="1179576"/>
            <a:ext cx="109728" cy="10972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9235440" y="114300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Lehman Bros.</a:t>
            </a:r>
            <a:endParaRPr lang="en-US" sz="720" dirty="0"/>
          </a:p>
        </p:txBody>
      </p:sp>
      <p:sp>
        <p:nvSpPr>
          <p:cNvPr id="56" name="Shape 54"/>
          <p:cNvSpPr/>
          <p:nvPr/>
        </p:nvSpPr>
        <p:spPr>
          <a:xfrm>
            <a:off x="914400" y="2953512"/>
            <a:ext cx="2743200" cy="859536"/>
          </a:xfrm>
          <a:prstGeom prst="line">
            <a:avLst/>
          </a:prstGeom>
          <a:noFill/>
          <a:ln w="12700">
            <a:solidFill>
              <a:srgbClr val="15803D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3657600" y="3813048"/>
            <a:ext cx="2743200" cy="0"/>
          </a:xfrm>
          <a:prstGeom prst="line">
            <a:avLst/>
          </a:prstGeom>
          <a:noFill/>
          <a:ln w="12700">
            <a:solidFill>
              <a:srgbClr val="15803D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6400800" y="3813048"/>
            <a:ext cx="2743200" cy="0"/>
          </a:xfrm>
          <a:prstGeom prst="line">
            <a:avLst/>
          </a:prstGeom>
          <a:noFill/>
          <a:ln w="12700">
            <a:solidFill>
              <a:srgbClr val="15803D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9" name="Shape 57"/>
          <p:cNvSpPr/>
          <p:nvPr/>
        </p:nvSpPr>
        <p:spPr>
          <a:xfrm>
            <a:off x="859536" y="2898648"/>
            <a:ext cx="109728" cy="109728"/>
          </a:xfrm>
          <a:prstGeom prst="ellipse">
            <a:avLst/>
          </a:prstGeom>
          <a:solidFill>
            <a:srgbClr val="15803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0" name="Shape 58"/>
          <p:cNvSpPr/>
          <p:nvPr/>
        </p:nvSpPr>
        <p:spPr>
          <a:xfrm>
            <a:off x="3602736" y="3758184"/>
            <a:ext cx="109728" cy="109728"/>
          </a:xfrm>
          <a:prstGeom prst="ellipse">
            <a:avLst/>
          </a:prstGeom>
          <a:solidFill>
            <a:srgbClr val="15803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1" name="Shape 59"/>
          <p:cNvSpPr/>
          <p:nvPr/>
        </p:nvSpPr>
        <p:spPr>
          <a:xfrm>
            <a:off x="6345936" y="3758184"/>
            <a:ext cx="109728" cy="109728"/>
          </a:xfrm>
          <a:prstGeom prst="ellipse">
            <a:avLst/>
          </a:prstGeom>
          <a:solidFill>
            <a:srgbClr val="15803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9089136" y="3758184"/>
            <a:ext cx="109728" cy="109728"/>
          </a:xfrm>
          <a:prstGeom prst="ellipse">
            <a:avLst/>
          </a:prstGeom>
          <a:solidFill>
            <a:srgbClr val="15803D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9235440" y="372160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T5S</a:t>
            </a:r>
            <a:endParaRPr lang="en-US" sz="720" dirty="0"/>
          </a:p>
        </p:txBody>
      </p:sp>
      <p:sp>
        <p:nvSpPr>
          <p:cNvPr id="64" name="Shape 62"/>
          <p:cNvSpPr/>
          <p:nvPr/>
        </p:nvSpPr>
        <p:spPr>
          <a:xfrm>
            <a:off x="914400" y="4672584"/>
            <a:ext cx="2743200" cy="-1719072"/>
          </a:xfrm>
          <a:prstGeom prst="line">
            <a:avLst/>
          </a:prstGeom>
          <a:noFill/>
          <a:ln w="12700">
            <a:solidFill>
              <a:srgbClr val="B42318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5" name="Shape 63"/>
          <p:cNvSpPr/>
          <p:nvPr/>
        </p:nvSpPr>
        <p:spPr>
          <a:xfrm>
            <a:off x="3657600" y="2953512"/>
            <a:ext cx="2743200" cy="-859536"/>
          </a:xfrm>
          <a:prstGeom prst="line">
            <a:avLst/>
          </a:prstGeom>
          <a:noFill/>
          <a:ln w="12700">
            <a:solidFill>
              <a:srgbClr val="B42318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6" name="Shape 64"/>
          <p:cNvSpPr/>
          <p:nvPr/>
        </p:nvSpPr>
        <p:spPr>
          <a:xfrm>
            <a:off x="6400800" y="2093976"/>
            <a:ext cx="2743200" cy="2578608"/>
          </a:xfrm>
          <a:prstGeom prst="line">
            <a:avLst/>
          </a:prstGeom>
          <a:noFill/>
          <a:ln w="12700">
            <a:solidFill>
              <a:srgbClr val="B42318">
                <a:alpha val="7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7" name="Shape 65"/>
          <p:cNvSpPr/>
          <p:nvPr/>
        </p:nvSpPr>
        <p:spPr>
          <a:xfrm>
            <a:off x="859536" y="4617720"/>
            <a:ext cx="109728" cy="109728"/>
          </a:xfrm>
          <a:prstGeom prst="ellipse">
            <a:avLst/>
          </a:prstGeom>
          <a:solidFill>
            <a:srgbClr val="B42318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8" name="Shape 66"/>
          <p:cNvSpPr/>
          <p:nvPr/>
        </p:nvSpPr>
        <p:spPr>
          <a:xfrm>
            <a:off x="3602736" y="2898648"/>
            <a:ext cx="109728" cy="109728"/>
          </a:xfrm>
          <a:prstGeom prst="ellipse">
            <a:avLst/>
          </a:prstGeom>
          <a:solidFill>
            <a:srgbClr val="B42318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9" name="Shape 67"/>
          <p:cNvSpPr/>
          <p:nvPr/>
        </p:nvSpPr>
        <p:spPr>
          <a:xfrm>
            <a:off x="6345936" y="2039112"/>
            <a:ext cx="109728" cy="109728"/>
          </a:xfrm>
          <a:prstGeom prst="ellipse">
            <a:avLst/>
          </a:prstGeom>
          <a:solidFill>
            <a:srgbClr val="B42318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0" name="Shape 68"/>
          <p:cNvSpPr/>
          <p:nvPr/>
        </p:nvSpPr>
        <p:spPr>
          <a:xfrm>
            <a:off x="9089136" y="4617720"/>
            <a:ext cx="109728" cy="109728"/>
          </a:xfrm>
          <a:prstGeom prst="ellipse">
            <a:avLst/>
          </a:prstGeom>
          <a:solidFill>
            <a:srgbClr val="B42318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9235440" y="4581144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SEBI's Watchlist</a:t>
            </a:r>
            <a:endParaRPr lang="en-US" sz="720" dirty="0"/>
          </a:p>
        </p:txBody>
      </p:sp>
      <p:sp>
        <p:nvSpPr>
          <p:cNvPr id="72" name="Text 70"/>
          <p:cNvSpPr/>
          <p:nvPr/>
        </p:nvSpPr>
        <p:spPr>
          <a:xfrm>
            <a:off x="9464040" y="1463040"/>
            <a:ext cx="219456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Lehman Bros.: 1st → 1st → 3rd → 1st.
</a:t>
            </a:r>
            <a:pPr indent="0" marL="0">
              <a:buNone/>
            </a:pPr>
            <a:r>
              <a:rPr lang="en-US" sz="9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Blues Clues: 6th → 6th → 5th → 2nd.
</a:t>
            </a:r>
            <a:pPr indent="0" marL="0">
              <a:buNone/>
            </a:pPr>
            <a:r>
              <a:rPr lang="en-US" sz="9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Satyam 2.0: 4th → 2nd → 1st → 3rd.
</a:t>
            </a:r>
            <a:pPr indent="0" marL="0">
              <a:buNone/>
            </a:pPr>
            <a:r>
              <a:rPr lang="en-US" sz="9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SEBI: 5th → 3rd → 2nd → 5th.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74" name="Text 72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Which team learned fastest?    › Which fall is most strategically worrying?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Universe 2 TSR trajectory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Universe 2 retains a stronger leader but broad compression remains.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R1→R4 Flow Map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Universe 1 and Universe 2 R1–R4 Excel results; principal criterion: cumulative TSR (p.a.)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85800" y="112471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92024" y="1124712"/>
            <a:ext cx="2567635" cy="237744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418734" y="112471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-7.8%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59659" y="1097280"/>
            <a:ext cx="0" cy="50292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834640" y="10972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R1 33.5% → R4 -7.8%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172200" y="112471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Satyam 2.0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8246059" y="1124712"/>
            <a:ext cx="2567635" cy="23774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0905134" y="112471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5.7%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8246059" y="1097280"/>
            <a:ext cx="0" cy="50292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321040" y="10972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R1 24.2% → R4 5.7%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685800" y="213055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Blues Clues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759659" y="2130552"/>
            <a:ext cx="2567635" cy="23774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418734" y="213055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7.0%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759659" y="2103120"/>
            <a:ext cx="0" cy="50292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2834640" y="21031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R1 16.5% → R4 7.0%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6172200" y="213055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Lehman Bros.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8246059" y="2130552"/>
            <a:ext cx="2567635" cy="23774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10905134" y="213055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22.3%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8246059" y="2103120"/>
            <a:ext cx="0" cy="50292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8321040" y="21031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R1 51.5% → R4 22.3%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685800" y="313639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T5S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2759659" y="3136392"/>
            <a:ext cx="2567635" cy="23774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5418734" y="31363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1.6%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2759659" y="3108960"/>
            <a:ext cx="0" cy="50292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2834640" y="31089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R1 31.9% → R4 1.6%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6172200" y="313639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SEBI's Watchlist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5678424" y="3136392"/>
            <a:ext cx="2567635" cy="237744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10905134" y="31363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-4.1%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8246059" y="3108960"/>
            <a:ext cx="0" cy="50292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8321040" y="31089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</a:rPr>
              <a:t>R1 21.6% → R4 -4.1%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Why did some teams fall despite earlier strength?    › What makes Lehman’s leadership more credible?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Universe 2 value and operating flow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Strong revenue share did not automatically create TSR leadership.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R1→R4 Flow Map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Universe 1 and Universe 2 R1–R4 Excel results; principal criterion: cumulative TSR (p.a.)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731520" y="1097280"/>
            <a:ext cx="1752600" cy="613954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68096" y="1143000"/>
            <a:ext cx="1679448" cy="5225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484120" y="1097280"/>
            <a:ext cx="1752600" cy="613954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520696" y="1143000"/>
            <a:ext cx="1679448" cy="5225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R4 rank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236720" y="1097280"/>
            <a:ext cx="1752600" cy="613954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273296" y="1143000"/>
            <a:ext cx="1679448" cy="5225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989320" y="1097280"/>
            <a:ext cx="1752600" cy="613954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025896" y="1143000"/>
            <a:ext cx="1679448" cy="5225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Profit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7741920" y="1097280"/>
            <a:ext cx="1752600" cy="613954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778496" y="1143000"/>
            <a:ext cx="1679448" cy="5225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Mkt cap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9494520" y="1097280"/>
            <a:ext cx="1752600" cy="613954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9531096" y="1143000"/>
            <a:ext cx="1679448" cy="5225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Credit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731520" y="1711234"/>
            <a:ext cx="1752600" cy="613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68096" y="1756954"/>
            <a:ext cx="1679448" cy="5225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484120" y="1711234"/>
            <a:ext cx="1752600" cy="613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2520696" y="1756954"/>
            <a:ext cx="1679448" cy="5225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6th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236720" y="1711234"/>
            <a:ext cx="1752600" cy="613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4273296" y="1756954"/>
            <a:ext cx="1679448" cy="5225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1m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989320" y="1711234"/>
            <a:ext cx="1752600" cy="613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025896" y="1756954"/>
            <a:ext cx="1679448" cy="5225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0m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741920" y="1711234"/>
            <a:ext cx="1752600" cy="613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7778496" y="1756954"/>
            <a:ext cx="1679448" cy="5225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4m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9494520" y="1711234"/>
            <a:ext cx="1752600" cy="613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9531096" y="1756954"/>
            <a:ext cx="1679448" cy="5225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BB-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31520" y="2325189"/>
            <a:ext cx="1752600" cy="613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768096" y="2370909"/>
            <a:ext cx="1679448" cy="5225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Satyam 2.0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2484120" y="2325189"/>
            <a:ext cx="1752600" cy="613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2520696" y="2370909"/>
            <a:ext cx="1679448" cy="5225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3rd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236720" y="2325189"/>
            <a:ext cx="1752600" cy="613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4273296" y="2370909"/>
            <a:ext cx="1679448" cy="5225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2m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989320" y="2325189"/>
            <a:ext cx="1752600" cy="613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6025896" y="2370909"/>
            <a:ext cx="1679448" cy="5225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-0m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7741920" y="2325189"/>
            <a:ext cx="1752600" cy="613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7778496" y="2370909"/>
            <a:ext cx="1679448" cy="5225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7m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9494520" y="2325189"/>
            <a:ext cx="1752600" cy="613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9531096" y="2370909"/>
            <a:ext cx="1679448" cy="5225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A+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731520" y="2939143"/>
            <a:ext cx="1752600" cy="613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768096" y="2984863"/>
            <a:ext cx="1679448" cy="5225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Blues Clues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2484120" y="2939143"/>
            <a:ext cx="1752600" cy="613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2520696" y="2984863"/>
            <a:ext cx="1679448" cy="5225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2nd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4236720" y="2939143"/>
            <a:ext cx="1752600" cy="613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4273296" y="2984863"/>
            <a:ext cx="1679448" cy="5225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4m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5989320" y="2939143"/>
            <a:ext cx="1752600" cy="613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6025896" y="2984863"/>
            <a:ext cx="1679448" cy="5225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0m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741920" y="2939143"/>
            <a:ext cx="1752600" cy="613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7778496" y="2984863"/>
            <a:ext cx="1679448" cy="5225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10m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9494520" y="2939143"/>
            <a:ext cx="1752600" cy="613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9531096" y="2984863"/>
            <a:ext cx="1679448" cy="5225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AA-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31520" y="3553097"/>
            <a:ext cx="1752600" cy="613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768096" y="3598817"/>
            <a:ext cx="1679448" cy="5225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Lehman Bros.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2484120" y="3553097"/>
            <a:ext cx="1752600" cy="613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2520696" y="3598817"/>
            <a:ext cx="1679448" cy="5225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1st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236720" y="3553097"/>
            <a:ext cx="1752600" cy="613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4273296" y="3598817"/>
            <a:ext cx="1679448" cy="5225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3m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5989320" y="3553097"/>
            <a:ext cx="1752600" cy="613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6025896" y="3598817"/>
            <a:ext cx="1679448" cy="5225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0m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7741920" y="3553097"/>
            <a:ext cx="1752600" cy="613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7778496" y="3598817"/>
            <a:ext cx="1679448" cy="5225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13m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9494520" y="3553097"/>
            <a:ext cx="1752600" cy="613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7" name="Text 65"/>
          <p:cNvSpPr/>
          <p:nvPr/>
        </p:nvSpPr>
        <p:spPr>
          <a:xfrm>
            <a:off x="9531096" y="3598817"/>
            <a:ext cx="1679448" cy="5225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AA+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731520" y="4167051"/>
            <a:ext cx="1752600" cy="613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9" name="Text 67"/>
          <p:cNvSpPr/>
          <p:nvPr/>
        </p:nvSpPr>
        <p:spPr>
          <a:xfrm>
            <a:off x="768096" y="4212771"/>
            <a:ext cx="1679448" cy="5225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T5S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2484120" y="4167051"/>
            <a:ext cx="1752600" cy="613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2520696" y="4212771"/>
            <a:ext cx="1679448" cy="5225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4th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236720" y="4167051"/>
            <a:ext cx="1752600" cy="613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73" name="Text 71"/>
          <p:cNvSpPr/>
          <p:nvPr/>
        </p:nvSpPr>
        <p:spPr>
          <a:xfrm>
            <a:off x="4273296" y="4212771"/>
            <a:ext cx="1679448" cy="5225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1m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5989320" y="4167051"/>
            <a:ext cx="1752600" cy="613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75" name="Text 73"/>
          <p:cNvSpPr/>
          <p:nvPr/>
        </p:nvSpPr>
        <p:spPr>
          <a:xfrm>
            <a:off x="6025896" y="4212771"/>
            <a:ext cx="1679448" cy="5225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0m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7741920" y="4167051"/>
            <a:ext cx="1752600" cy="613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77" name="Text 75"/>
          <p:cNvSpPr/>
          <p:nvPr/>
        </p:nvSpPr>
        <p:spPr>
          <a:xfrm>
            <a:off x="7778496" y="4212771"/>
            <a:ext cx="1679448" cy="5225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6m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9494520" y="4167051"/>
            <a:ext cx="1752600" cy="613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79" name="Text 77"/>
          <p:cNvSpPr/>
          <p:nvPr/>
        </p:nvSpPr>
        <p:spPr>
          <a:xfrm>
            <a:off x="9531096" y="4212771"/>
            <a:ext cx="1679448" cy="5225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731520" y="4781006"/>
            <a:ext cx="1752600" cy="613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81" name="Text 79"/>
          <p:cNvSpPr/>
          <p:nvPr/>
        </p:nvSpPr>
        <p:spPr>
          <a:xfrm>
            <a:off x="768096" y="4826726"/>
            <a:ext cx="1679448" cy="5225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SEBI's Watchlist</a:t>
            </a:r>
            <a:endParaRPr lang="en-US" sz="800" dirty="0"/>
          </a:p>
        </p:txBody>
      </p:sp>
      <p:sp>
        <p:nvSpPr>
          <p:cNvPr id="82" name="Shape 80"/>
          <p:cNvSpPr/>
          <p:nvPr/>
        </p:nvSpPr>
        <p:spPr>
          <a:xfrm>
            <a:off x="2484120" y="4781006"/>
            <a:ext cx="1752600" cy="613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83" name="Text 81"/>
          <p:cNvSpPr/>
          <p:nvPr/>
        </p:nvSpPr>
        <p:spPr>
          <a:xfrm>
            <a:off x="2520696" y="4826726"/>
            <a:ext cx="1679448" cy="5225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5th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4236720" y="4781006"/>
            <a:ext cx="1752600" cy="613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85" name="Text 83"/>
          <p:cNvSpPr/>
          <p:nvPr/>
        </p:nvSpPr>
        <p:spPr>
          <a:xfrm>
            <a:off x="4273296" y="4826726"/>
            <a:ext cx="1679448" cy="5225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2m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5989320" y="4781006"/>
            <a:ext cx="1752600" cy="613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87" name="Text 85"/>
          <p:cNvSpPr/>
          <p:nvPr/>
        </p:nvSpPr>
        <p:spPr>
          <a:xfrm>
            <a:off x="6025896" y="4826726"/>
            <a:ext cx="1679448" cy="5225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0m</a:t>
            </a:r>
            <a:endParaRPr lang="en-US" sz="800" dirty="0"/>
          </a:p>
        </p:txBody>
      </p:sp>
      <p:sp>
        <p:nvSpPr>
          <p:cNvPr id="88" name="Shape 86"/>
          <p:cNvSpPr/>
          <p:nvPr/>
        </p:nvSpPr>
        <p:spPr>
          <a:xfrm>
            <a:off x="7741920" y="4781006"/>
            <a:ext cx="1752600" cy="613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89" name="Text 87"/>
          <p:cNvSpPr/>
          <p:nvPr/>
        </p:nvSpPr>
        <p:spPr>
          <a:xfrm>
            <a:off x="7778496" y="4826726"/>
            <a:ext cx="1679448" cy="5225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5m</a:t>
            </a:r>
            <a:endParaRPr lang="en-US" sz="800" dirty="0"/>
          </a:p>
        </p:txBody>
      </p:sp>
      <p:sp>
        <p:nvSpPr>
          <p:cNvPr id="90" name="Shape 88"/>
          <p:cNvSpPr/>
          <p:nvPr/>
        </p:nvSpPr>
        <p:spPr>
          <a:xfrm>
            <a:off x="9494520" y="4781006"/>
            <a:ext cx="1752600" cy="613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91" name="Text 89"/>
          <p:cNvSpPr/>
          <p:nvPr/>
        </p:nvSpPr>
        <p:spPr>
          <a:xfrm>
            <a:off x="9531096" y="4826726"/>
            <a:ext cx="1679448" cy="5225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A+</a:t>
            </a:r>
            <a:endParaRPr lang="en-US" sz="800" dirty="0"/>
          </a:p>
        </p:txBody>
      </p:sp>
      <p:sp>
        <p:nvSpPr>
          <p:cNvPr id="92" name="Shape 90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93" name="Text 91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94" name="Text 92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Which team has scale without enough TSR?    › Which team has profit without enough market confidence?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Cross-universe flow comparison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U2 retains stronger investor value; U1 shows deeper repair needs.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R1→R4 Flow Map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Universe 1 and Universe 2 R1–R4 Excel results; principal criterion: cumulative TSR (p.a.)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22960" y="130759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 market cap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606040" y="1307592"/>
            <a:ext cx="2455516" cy="32689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212080" y="13075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31.3bn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822960" y="182194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U2 market cap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606040" y="1821942"/>
            <a:ext cx="3401568" cy="32689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212080" y="182194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43.3bn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22960" y="233629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U1 profit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606040" y="2336292"/>
            <a:ext cx="46356" cy="326898"/>
          </a:xfrm>
          <a:prstGeom prst="rect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212080" y="233629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-0.6bn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" y="285064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U2 profit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606040" y="2850642"/>
            <a:ext cx="88806" cy="32689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212080" y="285064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1.1bn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675120" y="1417320"/>
            <a:ext cx="448056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U2 has stronger aggregate market value and positive aggregate profit.
</a:t>
            </a:r>
            <a:pPr indent="0" marL="0">
              <a:buNone/>
            </a:pPr>
            <a:r>
              <a:rPr lang="en-US" sz="11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U1 has severe team-level reversals and more negative profit pressure.
</a:t>
            </a:r>
            <a:pPr indent="0" marL="0">
              <a:buNone/>
            </a:pPr>
            <a:r>
              <a:rPr lang="en-US" sz="11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Flow maps show that momentum is dynamic, not guaranteed by earlier rank.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Which universe has stronger learning velocity?    › Which universe has higher fragility?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Round 5 flow-map questions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rank movement to improve decision discipline.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915400" y="2194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 Sec C • R1→R4 Flow Map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850392"/>
            <a:ext cx="11384280" cy="0"/>
          </a:xfrm>
          <a:prstGeom prst="line">
            <a:avLst/>
          </a:prstGeom>
          <a:noFill/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11480" y="64739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Section C Universe 1 and Universe 2 R1–R4 Excel results; principal criterion: cumulative TSR (p.a.)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914400" y="1234440"/>
            <a:ext cx="4343400" cy="621792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50976" y="1280160"/>
            <a:ext cx="42702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57800" y="1234440"/>
            <a:ext cx="4343400" cy="621792"/>
          </a:xfrm>
          <a:prstGeom prst="rect">
            <a:avLst/>
          </a:prstGeom>
          <a:solidFill>
            <a:srgbClr val="13233A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294376" y="1280160"/>
            <a:ext cx="42702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Purpose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14400" y="1856232"/>
            <a:ext cx="43434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50976" y="1901952"/>
            <a:ext cx="42702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assumption changed from R3 to R4?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57800" y="1856232"/>
            <a:ext cx="43434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294376" y="1901952"/>
            <a:ext cx="42702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Identify learning.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14400" y="2478024"/>
            <a:ext cx="43434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950976" y="2523744"/>
            <a:ext cx="42702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metric moved before TSR moved?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257800" y="2478024"/>
            <a:ext cx="43434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294376" y="2523744"/>
            <a:ext cx="42702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Find mechanism.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14400" y="3099816"/>
            <a:ext cx="43434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950976" y="3145536"/>
            <a:ext cx="42702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trade-off did rank movement hide?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257800" y="3099816"/>
            <a:ext cx="43434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294376" y="3145536"/>
            <a:ext cx="42702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Expose cost of success.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14400" y="3721608"/>
            <a:ext cx="43434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50976" y="3767328"/>
            <a:ext cx="42702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guardrail prevents reversal?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257800" y="3721608"/>
            <a:ext cx="43434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8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294376" y="3767328"/>
            <a:ext cx="42702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2434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Round 5 discipline.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5696712"/>
            <a:ext cx="11064240" cy="566928"/>
          </a:xfrm>
          <a:prstGeom prst="roundRect">
            <a:avLst>
              <a:gd name="adj" fmla="val 9677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D8DEE9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676656" y="5769864"/>
            <a:ext cx="1371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Socratic questions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676656" y="5961888"/>
            <a:ext cx="10808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1323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› What is your team’s flow story in one sentence?    › What is the first number you will watch next round?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Flow-map reflection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Rank movement is not a scorecard only. It is a map of managerial learning.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37490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0D5DD"/>
                </a:solidFill>
              </a:rPr>
              <a:t>Round 5: preserve what works, repair what constrains, and stop what only creates activity.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75720" y="647395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0D5DD"/>
                </a:solidFill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CESIM Round 4 Debrief</dc:title>
  <dc:subject>CESIM Global Challenge debrief</dc:subject>
  <dc:creator>OpenAI</dc:creator>
  <cp:lastModifiedBy>OpenAI</cp:lastModifiedBy>
  <cp:revision>1</cp:revision>
  <dcterms:created xsi:type="dcterms:W3CDTF">2026-08-17T09:43:37Z</dcterms:created>
  <dcterms:modified xsi:type="dcterms:W3CDTF">2026-08-17T09:43:37Z</dcterms:modified>
</cp:coreProperties>
</file>