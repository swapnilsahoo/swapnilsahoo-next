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is a pictorial flow map of team rank movement across four rounds. It is built on verified team-name mappings.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that the flow map is not cosmetic; it prevents false comparisons.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bump chart to talk about volatility. Big Bulls compounds rank upward. Green recovers but has financial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cumulative TSR trajectory as a compressed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table as a bridge from rank flow to operating diagnosis.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Universe 2 has a stronger leader but still shows volatility.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helps compare the U2 trajectories.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table to contrast Blues Clues and Lehman Bros.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synthesis slide for flow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closes the flow map deck as a teaching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flow map reminder.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CESIM Team Flow 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Round 1 → Round 2 → Round 3 → Round 4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5DD"/>
                </a:solidFill>
              </a:rPr>
              <a:t>GL Sec C Group July 2026 • Teams mapped across name changes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0D5DD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Team-name mapping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mappings preserve company identity across changed team names.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R1→R4 Flow Map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Universe 1 and Universe 2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14400" y="1280160"/>
            <a:ext cx="3291840" cy="384048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325880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1280160"/>
            <a:ext cx="3291840" cy="384048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42816" y="1325880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1 / 2 name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98080" y="1280160"/>
            <a:ext cx="3291840" cy="384048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34656" y="1325880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3 / 4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1664208"/>
            <a:ext cx="3291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1709928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06240" y="1664208"/>
            <a:ext cx="3291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42816" y="1709928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98080" y="1664208"/>
            <a:ext cx="3291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34656" y="1709928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Harshad Mehta Gang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2048256"/>
            <a:ext cx="3291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2093976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06240" y="2048256"/>
            <a:ext cx="3291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42816" y="2093976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98080" y="2048256"/>
            <a:ext cx="3291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34656" y="2093976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Lakshmi Chit Fund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2432304"/>
            <a:ext cx="3291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976" y="2478024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06240" y="2432304"/>
            <a:ext cx="3291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42816" y="2478024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98080" y="2432304"/>
            <a:ext cx="3291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34656" y="2478024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Bulls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14400" y="2816352"/>
            <a:ext cx="3291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" y="2862072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06240" y="2816352"/>
            <a:ext cx="3291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42816" y="2862072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Vijay Mallya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498080" y="2816352"/>
            <a:ext cx="3291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34656" y="2862072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 2.0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4400" y="3657600"/>
            <a:ext cx="68580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All rank flows use the final name for readability.
</a:t>
            </a:r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renamed team is not treated as a new company.
</a:t>
            </a:r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R1–R4 comparisons use cumulative TSR rank within the same universe.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Why does mapping matter for strategy diagnosis?    › What error occurs if names are compared literally?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 1 rank flow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Bulls becomes leader; Green recovers; Harshad and Grey collapse in rank.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R1→R4 Flow Map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Universe 1 and Universe 2 R1–R4 Excel results; principal criterion: cumulative TSR (p.a.)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" y="10058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33A"/>
                </a:solidFill>
              </a:rPr>
              <a:t>R1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20440" y="10058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33A"/>
                </a:solidFill>
              </a:rPr>
              <a:t>R2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63640" y="10058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33A"/>
                </a:solidFill>
              </a:rPr>
              <a:t>R3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006840" y="10058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33A"/>
                </a:solidFill>
              </a:rPr>
              <a:t>R4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14400" y="1234440"/>
            <a:ext cx="822960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16128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1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914400" y="1950720"/>
            <a:ext cx="822960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87756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2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914400" y="2667000"/>
            <a:ext cx="822960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59384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3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914400" y="3383280"/>
            <a:ext cx="822960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31012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4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914400" y="4099560"/>
            <a:ext cx="822960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02640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5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914400" y="4815840"/>
            <a:ext cx="822960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74268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6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914400" y="5532120"/>
            <a:ext cx="822960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45896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7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914400" y="5532120"/>
            <a:ext cx="274320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0" y="5532120"/>
            <a:ext cx="2743200" cy="-143256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4099560"/>
            <a:ext cx="2743200" cy="-214884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9536" y="5477256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02736" y="5477256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45936" y="4044696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89136" y="1895856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35440" y="1859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914400" y="4815840"/>
            <a:ext cx="2743200" cy="-3581400"/>
          </a:xfrm>
          <a:prstGeom prst="line">
            <a:avLst/>
          </a:prstGeom>
          <a:noFill/>
          <a:ln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0" y="1234440"/>
            <a:ext cx="2743200" cy="716280"/>
          </a:xfrm>
          <a:prstGeom prst="line">
            <a:avLst/>
          </a:prstGeom>
          <a:noFill/>
          <a:ln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1950720"/>
            <a:ext cx="2743200" cy="2865120"/>
          </a:xfrm>
          <a:prstGeom prst="line">
            <a:avLst/>
          </a:prstGeom>
          <a:noFill/>
          <a:ln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9536" y="476097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02736" y="117957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45936" y="18958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89136" y="476097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35440" y="47244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Harshad Mehta Gang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914400" y="3383280"/>
            <a:ext cx="2743200" cy="1432560"/>
          </a:xfrm>
          <a:prstGeom prst="line">
            <a:avLst/>
          </a:prstGeom>
          <a:noFill/>
          <a:ln w="12700">
            <a:solidFill>
              <a:srgbClr val="6D28D9">
                <a:alpha val="7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0" y="4815840"/>
            <a:ext cx="2743200" cy="716280"/>
          </a:xfrm>
          <a:prstGeom prst="line">
            <a:avLst/>
          </a:prstGeom>
          <a:noFill/>
          <a:ln w="12700">
            <a:solidFill>
              <a:srgbClr val="6D28D9">
                <a:alpha val="7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0" y="5532120"/>
            <a:ext cx="2743200" cy="0"/>
          </a:xfrm>
          <a:prstGeom prst="line">
            <a:avLst/>
          </a:prstGeom>
          <a:noFill/>
          <a:ln w="12700">
            <a:solidFill>
              <a:srgbClr val="6D28D9">
                <a:alpha val="7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9536" y="3328416"/>
            <a:ext cx="109728" cy="10972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02736" y="4760976"/>
            <a:ext cx="109728" cy="10972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45936" y="5477256"/>
            <a:ext cx="109728" cy="10972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89136" y="5477256"/>
            <a:ext cx="109728" cy="10972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235440" y="5440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Lakshmi Chit Fund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914400" y="4099560"/>
            <a:ext cx="2743200" cy="-71628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7600" y="3383280"/>
            <a:ext cx="2743200" cy="-71628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00800" y="2667000"/>
            <a:ext cx="2743200" cy="-143256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59536" y="4044696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02736" y="3328416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45936" y="2612136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89136" y="1179576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35440" y="11430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Bulls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914400" y="1234440"/>
            <a:ext cx="2743200" cy="1432560"/>
          </a:xfrm>
          <a:prstGeom prst="line">
            <a:avLst/>
          </a:prstGeom>
          <a:noFill/>
          <a:ln w="12700">
            <a:solidFill>
              <a:srgbClr val="15803D">
                <a:alpha val="7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657600" y="2667000"/>
            <a:ext cx="2743200" cy="-1432560"/>
          </a:xfrm>
          <a:prstGeom prst="line">
            <a:avLst/>
          </a:prstGeom>
          <a:noFill/>
          <a:ln w="12700">
            <a:solidFill>
              <a:srgbClr val="15803D">
                <a:alpha val="7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00800" y="1234440"/>
            <a:ext cx="2743200" cy="2148840"/>
          </a:xfrm>
          <a:prstGeom prst="line">
            <a:avLst/>
          </a:prstGeom>
          <a:noFill/>
          <a:ln w="12700">
            <a:solidFill>
              <a:srgbClr val="15803D">
                <a:alpha val="7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59536" y="1179576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602736" y="2612136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45936" y="1179576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089136" y="3328416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235440" y="32918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720" dirty="0"/>
          </a:p>
        </p:txBody>
      </p:sp>
      <p:sp>
        <p:nvSpPr>
          <p:cNvPr id="66" name="Shape 64"/>
          <p:cNvSpPr/>
          <p:nvPr/>
        </p:nvSpPr>
        <p:spPr>
          <a:xfrm>
            <a:off x="914400" y="2667000"/>
            <a:ext cx="2743200" cy="-716280"/>
          </a:xfrm>
          <a:prstGeom prst="line">
            <a:avLst/>
          </a:prstGeom>
          <a:noFill/>
          <a:ln w="12700">
            <a:solidFill>
              <a:srgbClr val="B42318">
                <a:alpha val="7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657600" y="1950720"/>
            <a:ext cx="2743200" cy="1432560"/>
          </a:xfrm>
          <a:prstGeom prst="line">
            <a:avLst/>
          </a:prstGeom>
          <a:noFill/>
          <a:ln w="12700">
            <a:solidFill>
              <a:srgbClr val="B42318">
                <a:alpha val="7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00800" y="3383280"/>
            <a:ext cx="2743200" cy="-716280"/>
          </a:xfrm>
          <a:prstGeom prst="line">
            <a:avLst/>
          </a:prstGeom>
          <a:noFill/>
          <a:ln w="12700">
            <a:solidFill>
              <a:srgbClr val="B42318">
                <a:alpha val="7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59536" y="2612136"/>
            <a:ext cx="109728" cy="10972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602736" y="1895856"/>
            <a:ext cx="109728" cy="10972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345936" y="3328416"/>
            <a:ext cx="109728" cy="10972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089136" y="2612136"/>
            <a:ext cx="109728" cy="10972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235440" y="25755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Akatsuki</a:t>
            </a:r>
            <a:endParaRPr lang="en-US" sz="720" dirty="0"/>
          </a:p>
        </p:txBody>
      </p:sp>
      <p:sp>
        <p:nvSpPr>
          <p:cNvPr id="74" name="Shape 72"/>
          <p:cNvSpPr/>
          <p:nvPr/>
        </p:nvSpPr>
        <p:spPr>
          <a:xfrm>
            <a:off x="914400" y="1950720"/>
            <a:ext cx="2743200" cy="2148840"/>
          </a:xfrm>
          <a:prstGeom prst="line">
            <a:avLst/>
          </a:prstGeom>
          <a:noFill/>
          <a:ln w="12700">
            <a:solidFill>
              <a:srgbClr val="667085">
                <a:alpha val="7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657600" y="4099560"/>
            <a:ext cx="2743200" cy="716280"/>
          </a:xfrm>
          <a:prstGeom prst="line">
            <a:avLst/>
          </a:prstGeom>
          <a:noFill/>
          <a:ln w="12700">
            <a:solidFill>
              <a:srgbClr val="667085">
                <a:alpha val="7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00800" y="4815840"/>
            <a:ext cx="2743200" cy="-716280"/>
          </a:xfrm>
          <a:prstGeom prst="line">
            <a:avLst/>
          </a:prstGeom>
          <a:noFill/>
          <a:ln w="12700">
            <a:solidFill>
              <a:srgbClr val="667085">
                <a:alpha val="7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59536" y="1895856"/>
            <a:ext cx="109728" cy="109728"/>
          </a:xfrm>
          <a:prstGeom prst="ellipse">
            <a:avLst/>
          </a:prstGeom>
          <a:solidFill>
            <a:srgbClr val="6670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602736" y="4044696"/>
            <a:ext cx="109728" cy="109728"/>
          </a:xfrm>
          <a:prstGeom prst="ellipse">
            <a:avLst/>
          </a:prstGeom>
          <a:solidFill>
            <a:srgbClr val="6670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345936" y="4760976"/>
            <a:ext cx="109728" cy="109728"/>
          </a:xfrm>
          <a:prstGeom prst="ellipse">
            <a:avLst/>
          </a:prstGeom>
          <a:solidFill>
            <a:srgbClr val="6670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089136" y="4044696"/>
            <a:ext cx="109728" cy="109728"/>
          </a:xfrm>
          <a:prstGeom prst="ellipse">
            <a:avLst/>
          </a:prstGeom>
          <a:solidFill>
            <a:srgbClr val="6670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235440" y="40081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Pink</a:t>
            </a:r>
            <a:endParaRPr lang="en-US" sz="720" dirty="0"/>
          </a:p>
        </p:txBody>
      </p:sp>
      <p:sp>
        <p:nvSpPr>
          <p:cNvPr id="82" name="Text 80"/>
          <p:cNvSpPr/>
          <p:nvPr/>
        </p:nvSpPr>
        <p:spPr>
          <a:xfrm>
            <a:off x="9464040" y="1463040"/>
            <a:ext cx="21945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Big Bulls: 5th → 4th → 3rd → 1st.
</a:t>
            </a:r>
            <a:pPr indent="0" marL="0">
              <a:buNone/>
            </a:pPr>
            <a:r>
              <a:rPr lang="en-US" sz="9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Green: 7th → 7th → 5th → 2nd.
</a:t>
            </a:r>
            <a:pPr indent="0" marL="0">
              <a:buNone/>
            </a:pPr>
            <a:r>
              <a:rPr lang="en-US" sz="9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Harshad: 6th → 1st → 2nd → 6th.
</a:t>
            </a:r>
            <a:pPr indent="0" marL="0">
              <a:buNone/>
            </a:pPr>
            <a:r>
              <a:rPr lang="en-US" sz="9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Grey: 1st → 3rd → 1st → 4th.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movement shows genuine learning?    › Which movement hides future risk?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 1 TSR trajectory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TSR compressed sharply by Round 4.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R1→R4 Flow Map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Universe 1 and Universe 2 R1–R4 Excel results; principal criterion: cumulative TSR (p.a.)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1124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2024" y="1124712"/>
            <a:ext cx="2567635" cy="23774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18734" y="1124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-1.8%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59659" y="1097280"/>
            <a:ext cx="0" cy="50292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1097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R1 -49.5% → R4 -1.8%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172200" y="1124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Harshad Mehta Gang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678424" y="1124712"/>
            <a:ext cx="2567635" cy="23774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05134" y="1124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-21.9%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246059" y="1097280"/>
            <a:ext cx="0" cy="50292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097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R1 24.7% → R4 -21.9%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85800" y="21305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Lakshmi Chit Fund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92024" y="2130552"/>
            <a:ext cx="2567635" cy="23774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18734" y="21305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-25.4%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59659" y="2103120"/>
            <a:ext cx="0" cy="50292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2103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R1 27.2% → R4 -25.4%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172200" y="21305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Bulls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246059" y="2130552"/>
            <a:ext cx="2567635" cy="23774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05134" y="21305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5.5%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246059" y="2103120"/>
            <a:ext cx="0" cy="50292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2103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R1 26.1% → R4 5.5%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85800" y="31363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92024" y="3136392"/>
            <a:ext cx="2567635" cy="23774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18734" y="31363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-4.6%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59659" y="3108960"/>
            <a:ext cx="0" cy="50292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34640" y="3108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R1 35.5% → R4 -4.6%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172200" y="31363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Akatsuki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678424" y="3136392"/>
            <a:ext cx="2567635" cy="23774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05134" y="31363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-2.4%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246059" y="3108960"/>
            <a:ext cx="0" cy="50292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21040" y="3108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R1 31.2% → R4 -2.4%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85800" y="41422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Pink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92024" y="4142232"/>
            <a:ext cx="2567635" cy="23774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18734" y="41422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-9.9%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59659" y="4114800"/>
            <a:ext cx="0" cy="50292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4640" y="4114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R1 31.3% → R4 -9.9%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Why did cumulative TSR compress?    › Which team still has a recoverable value story?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 1 value and operating flow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movement should be read with sales, profit and market cap.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R1→R4 Flow Map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Universe 1 and Universe 2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1752600" cy="53721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14300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84120" y="1097280"/>
            <a:ext cx="1752600" cy="53721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20696" y="114300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R4 rank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36720" y="1097280"/>
            <a:ext cx="1752600" cy="53721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3296" y="114300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89320" y="1097280"/>
            <a:ext cx="1752600" cy="53721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25896" y="114300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741920" y="1097280"/>
            <a:ext cx="1752600" cy="53721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8496" y="114300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Mkt cap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494520" y="1097280"/>
            <a:ext cx="1752600" cy="537210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31096" y="114300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" y="163449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168021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484120" y="163449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0696" y="168021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2nd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236720" y="163449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73296" y="168021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989320" y="163449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25896" y="168021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0m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741920" y="163449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8496" y="168021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5m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494520" y="163449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31096" y="168021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BB-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31520" y="217170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" y="221742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Harshad Mehta Gang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484120" y="217170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20696" y="221742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6th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236720" y="217170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73296" y="221742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3m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989320" y="217170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25896" y="221742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741920" y="217170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8496" y="221742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3m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494520" y="217170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31096" y="221742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BB-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31520" y="270891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8096" y="275463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Lakshmi Chit Fund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484120" y="270891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20696" y="275463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7th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236720" y="270891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73296" y="275463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3m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989320" y="270891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25896" y="275463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-1m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741920" y="270891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8496" y="275463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2m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9494520" y="270891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531096" y="275463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31520" y="324612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8096" y="329184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Bulls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484120" y="324612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20696" y="329184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1st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236720" y="324612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73296" y="329184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2m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989320" y="324612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025896" y="329184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0m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741920" y="324612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78496" y="329184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8m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494520" y="324612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531096" y="329184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AA+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31520" y="378333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68096" y="382905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484120" y="378333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520696" y="382905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4th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236720" y="378333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73296" y="382905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2m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989320" y="378333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025896" y="382905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-0m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7741920" y="378333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778496" y="382905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5m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9494520" y="378333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531096" y="382905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731520" y="432054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68096" y="436626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Akatsuki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2484120" y="432054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520696" y="436626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3rd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236720" y="432054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273296" y="436626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2m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5989320" y="432054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025896" y="436626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-0m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7741920" y="432054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778496" y="436626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5m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9494520" y="432054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531096" y="436626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731520" y="485775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68096" y="490347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Pink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2484120" y="485775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520696" y="490347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5th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4236720" y="485775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273296" y="490347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2m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5989320" y="485775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025896" y="490347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-0m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7741920" y="485775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778496" y="490347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4m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9494520" y="4857750"/>
            <a:ext cx="17526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531096" y="4903470"/>
            <a:ext cx="167944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CCC+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team has rank but weak economics?    › Which team has operating recovery but financing risk?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 2 rank flow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 retakes leadership; Blues Clues rises sharply; SEBI falls.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R1→R4 Flow Map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Universe 1 and Universe 2 R1–R4 Excel results; principal criterion: cumulative TSR (p.a.)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" y="10058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33A"/>
                </a:solidFill>
              </a:rPr>
              <a:t>R1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20440" y="10058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33A"/>
                </a:solidFill>
              </a:rPr>
              <a:t>R2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63640" y="10058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33A"/>
                </a:solidFill>
              </a:rPr>
              <a:t>R3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006840" y="10058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233A"/>
                </a:solidFill>
              </a:rPr>
              <a:t>R4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14400" y="1234440"/>
            <a:ext cx="822960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16128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1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914400" y="2093976"/>
            <a:ext cx="822960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020824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2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914400" y="2953512"/>
            <a:ext cx="822960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88036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3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914400" y="3813048"/>
            <a:ext cx="822960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73989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4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914400" y="4672584"/>
            <a:ext cx="822960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59943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5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914400" y="5532120"/>
            <a:ext cx="8229600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45896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6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914400" y="2093976"/>
            <a:ext cx="2743200" cy="2578608"/>
          </a:xfrm>
          <a:prstGeom prst="line">
            <a:avLst/>
          </a:prstGeom>
          <a:noFill/>
          <a:ln w="12700">
            <a:solidFill>
              <a:srgbClr val="0F766E">
                <a:alpha val="7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4672584"/>
            <a:ext cx="2743200" cy="859536"/>
          </a:xfrm>
          <a:prstGeom prst="line">
            <a:avLst/>
          </a:prstGeom>
          <a:noFill/>
          <a:ln w="12700">
            <a:solidFill>
              <a:srgbClr val="0F766E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5532120"/>
            <a:ext cx="2743200" cy="0"/>
          </a:xfrm>
          <a:prstGeom prst="line">
            <a:avLst/>
          </a:prstGeom>
          <a:noFill/>
          <a:ln w="12700">
            <a:solidFill>
              <a:srgbClr val="0F766E">
                <a:alpha val="7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2039112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02736" y="4617720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45936" y="5477256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89136" y="5477256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35440" y="5440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914400" y="3813048"/>
            <a:ext cx="2743200" cy="-1719072"/>
          </a:xfrm>
          <a:prstGeom prst="line">
            <a:avLst/>
          </a:prstGeom>
          <a:noFill/>
          <a:ln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0" y="2093976"/>
            <a:ext cx="2743200" cy="-859536"/>
          </a:xfrm>
          <a:prstGeom prst="line">
            <a:avLst/>
          </a:prstGeom>
          <a:noFill/>
          <a:ln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1234440"/>
            <a:ext cx="2743200" cy="1719072"/>
          </a:xfrm>
          <a:prstGeom prst="line">
            <a:avLst/>
          </a:prstGeom>
          <a:noFill/>
          <a:ln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9536" y="375818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02736" y="203911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45936" y="117957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89136" y="289864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35440" y="28620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 2.0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914400" y="5532120"/>
            <a:ext cx="274320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0" y="5532120"/>
            <a:ext cx="2743200" cy="-859536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0" y="4672584"/>
            <a:ext cx="2743200" cy="-2578608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9536" y="5477256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02736" y="5477256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45936" y="4617720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89136" y="2039112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35440" y="20025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914400" y="1234440"/>
            <a:ext cx="274320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0" y="1234440"/>
            <a:ext cx="2743200" cy="1719072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00800" y="2953512"/>
            <a:ext cx="2743200" cy="-1719072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9536" y="1179576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02736" y="1179576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45936" y="2898648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089136" y="1179576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35440" y="11430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914400" y="2953512"/>
            <a:ext cx="2743200" cy="859536"/>
          </a:xfrm>
          <a:prstGeom prst="line">
            <a:avLst/>
          </a:prstGeom>
          <a:noFill/>
          <a:ln w="12700">
            <a:solidFill>
              <a:srgbClr val="15803D">
                <a:alpha val="7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57600" y="3813048"/>
            <a:ext cx="2743200" cy="0"/>
          </a:xfrm>
          <a:prstGeom prst="line">
            <a:avLst/>
          </a:prstGeom>
          <a:noFill/>
          <a:ln w="12700">
            <a:solidFill>
              <a:srgbClr val="15803D">
                <a:alpha val="7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00800" y="3813048"/>
            <a:ext cx="2743200" cy="0"/>
          </a:xfrm>
          <a:prstGeom prst="line">
            <a:avLst/>
          </a:prstGeom>
          <a:noFill/>
          <a:ln w="12700">
            <a:solidFill>
              <a:srgbClr val="15803D">
                <a:alpha val="7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59536" y="2898648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02736" y="3758184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345936" y="3758184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089136" y="3758184"/>
            <a:ext cx="109728" cy="10972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235440" y="37216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T5S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914400" y="4672584"/>
            <a:ext cx="2743200" cy="-1719072"/>
          </a:xfrm>
          <a:prstGeom prst="line">
            <a:avLst/>
          </a:prstGeom>
          <a:noFill/>
          <a:ln w="12700">
            <a:solidFill>
              <a:srgbClr val="B42318">
                <a:alpha val="7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657600" y="2953512"/>
            <a:ext cx="2743200" cy="-859536"/>
          </a:xfrm>
          <a:prstGeom prst="line">
            <a:avLst/>
          </a:prstGeom>
          <a:noFill/>
          <a:ln w="12700">
            <a:solidFill>
              <a:srgbClr val="B42318">
                <a:alpha val="7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00800" y="2093976"/>
            <a:ext cx="2743200" cy="2578608"/>
          </a:xfrm>
          <a:prstGeom prst="line">
            <a:avLst/>
          </a:prstGeom>
          <a:noFill/>
          <a:ln w="12700">
            <a:solidFill>
              <a:srgbClr val="B42318">
                <a:alpha val="7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59536" y="4617720"/>
            <a:ext cx="109728" cy="10972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602736" y="2898648"/>
            <a:ext cx="109728" cy="10972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345936" y="2039112"/>
            <a:ext cx="109728" cy="10972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089136" y="4617720"/>
            <a:ext cx="109728" cy="10972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235440" y="45811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SEBI's Watchlist</a:t>
            </a:r>
            <a:endParaRPr lang="en-US" sz="720" dirty="0"/>
          </a:p>
        </p:txBody>
      </p:sp>
      <p:sp>
        <p:nvSpPr>
          <p:cNvPr id="72" name="Text 70"/>
          <p:cNvSpPr/>
          <p:nvPr/>
        </p:nvSpPr>
        <p:spPr>
          <a:xfrm>
            <a:off x="9464040" y="1463040"/>
            <a:ext cx="21945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Lehman Bros.: 1st → 1st → 3rd → 1st.
</a:t>
            </a:r>
            <a:pPr indent="0" marL="0">
              <a:buNone/>
            </a:pPr>
            <a:r>
              <a:rPr lang="en-US" sz="9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Blues Clues: 6th → 6th → 5th → 2nd.
</a:t>
            </a:r>
            <a:pPr indent="0" marL="0">
              <a:buNone/>
            </a:pPr>
            <a:r>
              <a:rPr lang="en-US" sz="9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Satyam 2.0: 4th → 2nd → 1st → 3rd.
</a:t>
            </a:r>
            <a:pPr indent="0" marL="0">
              <a:buNone/>
            </a:pPr>
            <a:r>
              <a:rPr lang="en-US" sz="9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SEBI: 5th → 3rd → 2nd → 5th.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team learned fastest?    › Which fall is most strategically worrying?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 2 TSR trajectory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 2 retains a stronger leader but broad compression remains.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R1→R4 Flow Map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Universe 1 and Universe 2 R1–R4 Excel results; principal criterion: cumulative TSR (p.a.)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1124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2024" y="1124712"/>
            <a:ext cx="2567635" cy="23774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18734" y="1124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-7.8%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59659" y="1097280"/>
            <a:ext cx="0" cy="50292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1097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R1 33.5% → R4 -7.8%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172200" y="1124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 2.0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246059" y="1124712"/>
            <a:ext cx="2567635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05134" y="1124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5.7%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246059" y="1097280"/>
            <a:ext cx="0" cy="50292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097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R1 24.2% → R4 5.7%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85800" y="21305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59659" y="2130552"/>
            <a:ext cx="2567635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18734" y="21305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7.0%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59659" y="2103120"/>
            <a:ext cx="0" cy="50292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2103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R1 16.5% → R4 7.0%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172200" y="21305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246059" y="2130552"/>
            <a:ext cx="2567635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05134" y="21305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22.3%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246059" y="2103120"/>
            <a:ext cx="0" cy="50292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2103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R1 51.5% → R4 22.3%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85800" y="31363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59659" y="3136392"/>
            <a:ext cx="2567635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18734" y="31363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1.6%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59659" y="3108960"/>
            <a:ext cx="0" cy="50292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34640" y="3108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R1 31.9% → R4 1.6%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172200" y="31363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SEBI's Watchlist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678424" y="3136392"/>
            <a:ext cx="2567635" cy="23774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05134" y="31363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-4.1%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246059" y="3108960"/>
            <a:ext cx="0" cy="50292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21040" y="3108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R1 21.6% → R4 -4.1%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Why did some teams fall despite earlier strength?    › What makes Lehman’s leadership more credible?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 2 value and operating flow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revenue share did not automatically create TSR leadership.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R1→R4 Flow Map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Universe 1 and Universe 2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1752600" cy="613954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143000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84120" y="1097280"/>
            <a:ext cx="1752600" cy="613954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20696" y="1143000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R4 rank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36720" y="1097280"/>
            <a:ext cx="1752600" cy="613954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3296" y="1143000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89320" y="1097280"/>
            <a:ext cx="1752600" cy="613954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25896" y="1143000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741920" y="1097280"/>
            <a:ext cx="1752600" cy="613954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8496" y="1143000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Mkt cap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494520" y="1097280"/>
            <a:ext cx="1752600" cy="613954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31096" y="1143000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" y="1711234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1756954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484120" y="1711234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0696" y="1756954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6th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236720" y="1711234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73296" y="1756954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989320" y="1711234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25896" y="1756954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0m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741920" y="1711234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8496" y="1756954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4m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494520" y="1711234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31096" y="1756954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BB-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31520" y="2325189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" y="2370909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 2.0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484120" y="2325189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20696" y="2370909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3rd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236720" y="2325189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73296" y="2370909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2m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989320" y="2325189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25896" y="2370909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741920" y="2325189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8496" y="2370909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7m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494520" y="2325189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31096" y="2370909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A+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31520" y="2939143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8096" y="2984863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484120" y="2939143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20696" y="2984863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2nd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236720" y="2939143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73296" y="2984863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4m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989320" y="2939143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25896" y="2984863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0m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741920" y="2939143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8496" y="2984863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10m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9494520" y="2939143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531096" y="2984863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AA-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31520" y="3553097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8096" y="3598817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484120" y="3553097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20696" y="3598817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1st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236720" y="3553097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73296" y="3598817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3m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989320" y="3553097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025896" y="3598817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0m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741920" y="3553097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78496" y="3598817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13m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494520" y="3553097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531096" y="3598817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AA+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31520" y="4167051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68096" y="4212771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484120" y="4167051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520696" y="4212771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4th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236720" y="4167051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73296" y="4212771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1m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989320" y="4167051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025896" y="4212771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0m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7741920" y="4167051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778496" y="4212771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6m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9494520" y="4167051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531096" y="4212771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731520" y="4781006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68096" y="4826726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SEBI's Watchlist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2484120" y="4781006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520696" y="4826726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5th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236720" y="4781006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273296" y="4826726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2m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5989320" y="4781006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025896" y="4826726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0m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7741920" y="4781006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778496" y="4826726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5m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9494520" y="4781006"/>
            <a:ext cx="1752600" cy="61395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531096" y="4826726"/>
            <a:ext cx="1679448" cy="52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A+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team has scale without enough TSR?    › Which team has profit without enough market confidence?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Cross-universe flow comparison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 retains stronger investor value; U1 shows deeper repair needs.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R1→R4 Flow Map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Universe 1 and Universe 2 R1–R4 Excel results; principal criterion: cumulative TSR (p.a.)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13075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 market cap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06040" y="1307592"/>
            <a:ext cx="2455516" cy="32689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13075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31.3bn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182194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 market cap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06040" y="1821942"/>
            <a:ext cx="3401568" cy="32689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182194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43.3bn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22960" y="23362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 profit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2336292"/>
            <a:ext cx="46356" cy="32689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3362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-0.6bn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" y="285064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 profit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606040" y="2850642"/>
            <a:ext cx="88806" cy="32689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285064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1.1bn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675120" y="1417320"/>
            <a:ext cx="44805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U2 has stronger aggregate market value and positive aggregate profit.
</a:t>
            </a:r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U1 has severe team-level reversals and more negative profit pressure.
</a:t>
            </a:r>
            <a:pPr indent="0" marL="0">
              <a:buNone/>
            </a:pPr>
            <a:r>
              <a:rPr lang="en-US" sz="11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Flow maps show that momentum is dynamic, not guaranteed by earlier rank.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Which universe has stronger learning velocity?    › Which universe has higher fragility?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5 flow-map questions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11480" y="5669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rank movement to improve decision discipline.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915400" y="219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C • R1→R4 Flow Map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850392"/>
            <a:ext cx="113842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647395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C Universe 1 and Universe 2 R1–R4 Excel results; principal criterion: cumulative TSR (p.a.)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14400" y="1234440"/>
            <a:ext cx="4343400" cy="621792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280160"/>
            <a:ext cx="4270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57800" y="1234440"/>
            <a:ext cx="4343400" cy="621792"/>
          </a:xfrm>
          <a:prstGeom prst="rect">
            <a:avLst/>
          </a:prstGeom>
          <a:solidFill>
            <a:srgbClr val="13233A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94376" y="1280160"/>
            <a:ext cx="4270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1856232"/>
            <a:ext cx="4343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1901952"/>
            <a:ext cx="4270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assumption changed from R3 to R4?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57800" y="1856232"/>
            <a:ext cx="4343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94376" y="1901952"/>
            <a:ext cx="4270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learning.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2478024"/>
            <a:ext cx="4343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2523744"/>
            <a:ext cx="4270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metric moved before TSR moved?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57800" y="2478024"/>
            <a:ext cx="4343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94376" y="2523744"/>
            <a:ext cx="4270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mechanism.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3099816"/>
            <a:ext cx="4343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3145536"/>
            <a:ext cx="4270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trade-off did rank movement hide?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57800" y="3099816"/>
            <a:ext cx="4343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94376" y="3145536"/>
            <a:ext cx="4270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 cost of success.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3721608"/>
            <a:ext cx="4343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" y="3767328"/>
            <a:ext cx="4270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guardrail prevents reversal?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57800" y="3721608"/>
            <a:ext cx="4343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94376" y="3767328"/>
            <a:ext cx="42702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Round 5 discipline.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57698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76656" y="5961888"/>
            <a:ext cx="10808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 What is your team’s flow story in one sentence?    › What is the first number you will watch next round?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Flow-map reflection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Rank movement is not a scorecard only. It is a map of managerial learning.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749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0D5DD"/>
                </a:solidFill>
              </a:rPr>
              <a:t>Round 5: preserve what works, repair what constrains, and stop what only creates activity.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7572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0D5DD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CESIM Round 4 Debrief</dc:title>
  <dc:subject>CESIM Global Challenge debrief</dc:subject>
  <dc:creator>OpenAI</dc:creator>
  <cp:lastModifiedBy>OpenAI</cp:lastModifiedBy>
  <cp:revision>1</cp:revision>
  <dcterms:created xsi:type="dcterms:W3CDTF">2026-08-17T09:43:37Z</dcterms:created>
  <dcterms:modified xsi:type="dcterms:W3CDTF">2026-08-17T09:43:37Z</dcterms:modified>
</cp:coreProperties>
</file>