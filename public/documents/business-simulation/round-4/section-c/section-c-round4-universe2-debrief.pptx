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frame. Ask the class to treat rank as the entry point, not the answer. The discussion will move from results to causal mechanisms and then to Round 5 decision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discipline the conversation. Teams must compare like with like, especially when names changed. The ranking metric is cumulative TSR, but the explanation is multi-metric.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aggregate dashboard. Use it to show that the universe-level numbers are only the beginning. The rest of the deck identifies which teams drove the movement.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rank order but immediately move students away from celebration. Ask them to identify which non-TSR metric makes the leader credible or fragile.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visual is designed for Socratic questioning. Ask each team whether the rank movement reflects an improved strategy system or merely a transient scoring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aim here is to block single-metric thinking. Have students nominate a winner under profit, share, valuation and capital productivity, then ask which is strategically coherent.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team to say whether its revenue movement came primarily from price, volume, product mix, technology mix or regional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should lead into cost structure. Ask teams to avoid “we grew” explanations and specify which cost or margin 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ask whether share gain came from a real value proposition or price/availability without economics.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teams to identify not only where they have share, but where they earn returns. Regional share is only useful if it creates contribution and capacity 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let students equate innovation with spending. Ask them to specify the path from R&amp;D to demand and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useful team challenge slide. Ask each team to explain whether its weak ROS is price, cost, R&amp;D or financing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inventory connects forecasting, pricing, production and cash. A team with profit but poor cash flow may have a timing or inventory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explain the connection between financing decisions and TSR. Debt is not automatically bad; unplanned debt and deteriorating credit quality are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a synthesis. Invite each team to pick the cell that best explains its result, and the cell it must fix before Round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Green.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Satyam 2.0.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Blues Clues.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Lehman Bros..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T5S.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Team profile for SEBI's Watchlist. Emphasize the distinction between result and learning. Ask the team for one preserved decision and one corrective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synthesis to ask teams to describe what the market rewarded in their own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humiliate underperforming teams. Frame punished outcomes as evidence for disciplined managerial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debrief with commitments. Each team should write one rule before touching the next decision 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requiring each team to express learning as a decision rule. The point is responsible general management, not storytelling after the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CESIM Global Challenge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07899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U2 • Round 4 Comparative Debrief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5DD"/>
                </a:solidFill>
              </a:rPr>
              <a:t>GL Sec C Group July 2026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4754880" cy="1188720"/>
          </a:xfrm>
          <a:prstGeom prst="roundRect">
            <a:avLst>
              <a:gd name="adj" fmla="val 6154"/>
            </a:avLst>
          </a:prstGeom>
          <a:solidFill>
            <a:srgbClr val="FFFFFF">
              <a:alpha val="93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94436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Core teaching question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Which Round 4 decisions converted activity into durable shareholder value, and which choices weakened credibility for the next round?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D5DD"/>
                </a:solidFill>
              </a:rPr>
              <a:t>Subtle executive template • strong foreground–background contrast • rank flow and causal diagnosis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3093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read Round 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Begin with the causal chain; do not stop at rank.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48640" y="1143000"/>
            <a:ext cx="548640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Decision-to-value chain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Assumption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49047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0020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3677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Decision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31343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42316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5973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Operations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313639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4612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8269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Market response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395935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6908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565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Cash/Risk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4782312" y="2011680"/>
            <a:ext cx="1097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92040" y="1874520"/>
            <a:ext cx="685800" cy="502920"/>
          </a:xfrm>
          <a:prstGeom prst="roundRect">
            <a:avLst>
              <a:gd name="adj" fmla="val 9091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28616" y="1984248"/>
            <a:ext cx="612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3233A"/>
                </a:solidFill>
              </a:rPr>
              <a:t>Valuation/TSR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6400800" y="1143000"/>
            <a:ext cx="493776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1325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Team-name continuity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629400" y="1691640"/>
            <a:ext cx="2194560" cy="50292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65976" y="17373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R1/R2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823960" y="1691640"/>
            <a:ext cx="2194560" cy="50292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860536" y="17373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R3/R4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629400" y="2194560"/>
            <a:ext cx="2194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65976" y="224028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Vijay Mallya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823960" y="2194560"/>
            <a:ext cx="21945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60536" y="224028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31520" y="3794760"/>
            <a:ext cx="54864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Cumulative TSR is the ranking criterion, but Round 4 movements also require share price, market cap, margins, cash and risk.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Percentage-point changes are used for ROS, ROCE and market share.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Loss-to-profit movement is treated as a turnaround, not conventional percentage growth.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0" y="3840480"/>
            <a:ext cx="4846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400800" y="400507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Round 4 answer explains mechanism: which assumption changed, which decision followed, which metric moved, and what risk remains.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3 assumption did your team carry into Round 4?    › Which evidence now confirms or rejects it?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Universe-level movement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universe changed scale, profitability, investment intensity and market value.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revenue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13.9m in R3 • -13.4%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880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90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990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2.1m in R3 • -45.6%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166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76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76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1.9m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276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2.8m in R3 • -33.1%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7452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62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62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3.1m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62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2.0m in R3 • +54.6%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9738360" y="1143000"/>
            <a:ext cx="20574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48088" y="1252728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9848088" y="1527048"/>
            <a:ext cx="18379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43.3m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48088" y="1929384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62.6m in R3 • -30.8%</a:t>
            </a:r>
            <a:endParaRPr lang="en-US" sz="770" dirty="0"/>
          </a:p>
        </p:txBody>
      </p:sp>
      <p:sp>
        <p:nvSpPr>
          <p:cNvPr id="28" name="Text 26"/>
          <p:cNvSpPr/>
          <p:nvPr/>
        </p:nvSpPr>
        <p:spPr>
          <a:xfrm>
            <a:off x="685800" y="277063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263001" y="2770632"/>
            <a:ext cx="688683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48502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-13.4%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85800" y="316382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7724" y="3163824"/>
            <a:ext cx="2343959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48502" y="316382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-45.6%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85800" y="355701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249425" y="3557016"/>
            <a:ext cx="1702258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48502" y="3557016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-33.1%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5800" y="395020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951683" y="3950208"/>
            <a:ext cx="2805379" cy="249631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48502" y="395020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+54.6%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85800" y="434340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368154" y="4343400"/>
            <a:ext cx="1583529" cy="249631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48502" y="434340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-30.8%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951683" y="2743200"/>
            <a:ext cx="0" cy="205740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92240" y="2788920"/>
            <a:ext cx="4754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Universe 2 lost sales, profit and market capitalisation from Round 3 to Round 4. The question is whether this is a temporary correction or a structural weakening of competitive quality.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average can conceal crisis cases. Read the movement by team and by causal driver.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92240" y="4251960"/>
            <a:ext cx="4754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492240" y="441655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universe is healthy only when sales convert into margin, cash and risk-adjusted value. Bigger activity is not automatically better value.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movement is most worrying: profit, inventory, R&amp;D, or market value?    › Does the universe look more disciplined than in Round 3?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leaderboard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Ranking by cumulative total shareholder return (p.a.).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31520" y="12618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Lehman Bros.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074213" y="1261872"/>
            <a:ext cx="2900477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66130" y="1261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22.3%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31520" y="189433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Blues Clues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4213" y="1894332"/>
            <a:ext cx="909237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66130" y="18943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7.0%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31520" y="25267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Satyam 2.0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074213" y="2526792"/>
            <a:ext cx="738044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66130" y="2526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315925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T5S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074213" y="3159252"/>
            <a:ext cx="213794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66130" y="31592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37917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SEBI's Watchlist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45077" y="3791712"/>
            <a:ext cx="529136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66130" y="3791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-4.1%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442417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Green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061090" y="4424172"/>
            <a:ext cx="1013123" cy="32918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66130" y="44241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-7.8%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074213" y="1234440"/>
            <a:ext cx="0" cy="388620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12801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84848" y="13898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Leader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784848" y="1664208"/>
            <a:ext cx="20665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84848" y="20665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22.3% TSR</a:t>
            </a:r>
            <a:endParaRPr lang="en-US" sz="770" dirty="0"/>
          </a:p>
        </p:txBody>
      </p:sp>
      <p:sp>
        <p:nvSpPr>
          <p:cNvPr id="31" name="Shape 29"/>
          <p:cNvSpPr/>
          <p:nvPr/>
        </p:nvSpPr>
        <p:spPr>
          <a:xfrm>
            <a:off x="9144000" y="12801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3728" y="1389888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Deepest trouble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253728" y="1664208"/>
            <a:ext cx="20665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253728" y="2066544"/>
            <a:ext cx="2066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-7.8% TSR</a:t>
            </a:r>
            <a:endParaRPr lang="en-US" sz="770" dirty="0"/>
          </a:p>
        </p:txBody>
      </p:sp>
      <p:sp>
        <p:nvSpPr>
          <p:cNvPr id="35" name="Text 33"/>
          <p:cNvSpPr/>
          <p:nvPr/>
        </p:nvSpPr>
        <p:spPr>
          <a:xfrm>
            <a:off x="6766560" y="2743200"/>
            <a:ext cx="44805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Lehman Bros. leads the formal ranking, but the leader's sustainability must be tested against margins, cash and risk.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has the weakest investor confidence signal and needs a rescue logic, not cosmetic adjustment.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766560" y="4251960"/>
            <a:ext cx="4480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766560" y="441655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is a symptom. The managerial explanation lies in customer capture, margin conversion, capital discipline and risk.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is Lehman Bros. leading on TSR?    › What evidence would make you distrust the rank table?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movement: Round 1 → Round 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flow map shows learning, compounding, collapse and recovery.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6868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8140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9412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06840" y="114300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129844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005840" y="2093976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020824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005840" y="2816352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74320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1005840" y="3538728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465576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005840" y="4261104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18795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005840" y="4983480"/>
            <a:ext cx="813816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491032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05840" y="2093976"/>
            <a:ext cx="2712720" cy="2167128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18560" y="4261104"/>
            <a:ext cx="2712720" cy="722376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31280" y="4983480"/>
            <a:ext cx="2712720" cy="0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0976" y="2039112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63696" y="4206240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76416" y="49286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89136" y="49286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35440" y="48920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1005840" y="3538728"/>
            <a:ext cx="2712720" cy="-1444752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18560" y="2093976"/>
            <a:ext cx="2712720" cy="-722376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31280" y="1371600"/>
            <a:ext cx="2712720" cy="1444752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50976" y="3483864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63696" y="20391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76416" y="131673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89136" y="276148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235440" y="27249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1005840" y="4983480"/>
            <a:ext cx="2712720" cy="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18560" y="4983480"/>
            <a:ext cx="2712720" cy="-722376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31280" y="4261104"/>
            <a:ext cx="2712720" cy="-2167128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0976" y="492861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63696" y="492861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76416" y="4206240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089136" y="2039112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35440" y="200253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1005840" y="1371600"/>
            <a:ext cx="2712720" cy="0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718560" y="1371600"/>
            <a:ext cx="2712720" cy="1444752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431280" y="2816352"/>
            <a:ext cx="2712720" cy="-1444752"/>
          </a:xfrm>
          <a:prstGeom prst="line">
            <a:avLst/>
          </a:prstGeom>
          <a:noFill/>
          <a:ln w="12700">
            <a:solidFill>
              <a:srgbClr val="B45309">
                <a:alpha val="7500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50976" y="131673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63696" y="131673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6416" y="2761488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089136" y="1316736"/>
            <a:ext cx="109728" cy="109728"/>
          </a:xfrm>
          <a:prstGeom prst="ellipse">
            <a:avLst/>
          </a:prstGeom>
          <a:solidFill>
            <a:srgbClr val="B4530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235440" y="12801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1005840" y="2816352"/>
            <a:ext cx="2712720" cy="722376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718560" y="3538728"/>
            <a:ext cx="2712720" cy="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431280" y="3538728"/>
            <a:ext cx="2712720" cy="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50976" y="2761488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63696" y="348386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76416" y="348386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089136" y="348386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35440" y="344728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1005840" y="4261104"/>
            <a:ext cx="2712720" cy="-1444752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718560" y="2816352"/>
            <a:ext cx="2712720" cy="-722376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31280" y="2093976"/>
            <a:ext cx="2712720" cy="2167128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50976" y="4206240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63696" y="2761488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376416" y="2039112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089136" y="4206240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235440" y="416966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9464040" y="1371600"/>
            <a:ext cx="762000" cy="333103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0616" y="1417320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10226040" y="1371600"/>
            <a:ext cx="762000" cy="333103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0262616" y="1417320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R3→R4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10988040" y="1371600"/>
            <a:ext cx="762000" cy="333103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1024616" y="1417320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9464040" y="1704703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500616" y="1750423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10226040" y="1704703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262616" y="1750423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→ 2nd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0988040" y="1704703"/>
            <a:ext cx="762000" cy="333103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024616" y="1750423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9464040" y="2037806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500616" y="2083526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0226040" y="2037806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2616" y="2083526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→ 1st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0988040" y="2037806"/>
            <a:ext cx="762000" cy="333103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024616" y="2083526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9464040" y="2370909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500616" y="2416629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10226040" y="2370909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262616" y="2416629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→ 6th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10988040" y="2370909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1024616" y="2416629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9464040" y="2704011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500616" y="2749731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10226040" y="2704011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0262616" y="2749731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→ 4th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88040" y="2704011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11024616" y="2749731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9464040" y="3037114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500616" y="3082834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10226040" y="3037114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262616" y="3082834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→ 3rd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10988040" y="3037114"/>
            <a:ext cx="762000" cy="333103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1024616" y="3082834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9464040" y="3370217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500616" y="3415937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750" dirty="0"/>
          </a:p>
        </p:txBody>
      </p:sp>
      <p:sp>
        <p:nvSpPr>
          <p:cNvPr id="110" name="Shape 108"/>
          <p:cNvSpPr/>
          <p:nvPr/>
        </p:nvSpPr>
        <p:spPr>
          <a:xfrm>
            <a:off x="10226040" y="3370217"/>
            <a:ext cx="762000" cy="333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262616" y="3415937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→ 5th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0988040" y="3370217"/>
            <a:ext cx="762000" cy="333103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024616" y="3415937"/>
            <a:ext cx="688848" cy="2416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</a:t>
            </a:r>
            <a:endParaRPr lang="en-US" sz="750" dirty="0"/>
          </a:p>
        </p:txBody>
      </p:sp>
      <p:sp>
        <p:nvSpPr>
          <p:cNvPr id="114" name="Text 112"/>
          <p:cNvSpPr/>
          <p:nvPr/>
        </p:nvSpPr>
        <p:spPr>
          <a:xfrm>
            <a:off x="1005840" y="5166360"/>
            <a:ext cx="5852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1005840" y="53309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team can improve operationally and still lose relative rank if competitors improve faster, or if cumulative TSR compresses.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movement is true learning rather than temporary recovery?    › Which rank loss hides an operational improvement?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Round 4 managerial puzzle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Profit, share, value and rank tell different stories.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profit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4980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324612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5584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market cap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5584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35584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13m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585216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6188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Highest share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6188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96188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34.7%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8458200" y="1234440"/>
            <a:ext cx="2377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928" y="134416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ROCE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567928" y="1618488"/>
            <a:ext cx="21579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567928" y="2020824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15.7%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822960" y="2743200"/>
            <a:ext cx="51206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0" y="498348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 (%)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640080" y="25146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 (%)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478038" y="4387717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15198" y="437857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Green</a:t>
            </a:r>
            <a:endParaRPr lang="en-US" sz="670" dirty="0"/>
          </a:p>
        </p:txBody>
      </p:sp>
      <p:sp>
        <p:nvSpPr>
          <p:cNvPr id="29" name="Shape 27"/>
          <p:cNvSpPr/>
          <p:nvPr/>
        </p:nvSpPr>
        <p:spPr>
          <a:xfrm>
            <a:off x="2966175" y="4873752"/>
            <a:ext cx="128016" cy="128016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3335" y="48646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Satyam 2.0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5879592" y="4114838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16752" y="410569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Blues Clues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4388904" y="4217960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26064" y="420881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Lehman Bros.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2023599" y="3333220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60759" y="33240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T5S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2592395" y="267919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29555" y="267004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SEBI's Watchlist</a:t>
            </a:r>
            <a:endParaRPr lang="en-US" sz="670" dirty="0"/>
          </a:p>
        </p:txBody>
      </p:sp>
      <p:sp>
        <p:nvSpPr>
          <p:cNvPr id="39" name="Text 37"/>
          <p:cNvSpPr/>
          <p:nvPr/>
        </p:nvSpPr>
        <p:spPr>
          <a:xfrm>
            <a:off x="6400800" y="2788920"/>
            <a:ext cx="47548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Accounting profit answers what was earned this round; valuation asks whether cash flows are repeatable after risk.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share without margins becomes pressure. High margin without future option value can become vulnerability.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00800" y="4114800"/>
            <a:ext cx="4754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00800" y="427939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best strategy is the coherent system, not the highest single metric.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the most coherent value story?    › Which metric flatters your team but hides the biggest risk?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comparison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is price × volume × mix; it is not a strategy by itself.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596739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90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90472"/>
            <a:ext cx="1453009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90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1.8bn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8105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810512"/>
            <a:ext cx="3344875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8105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130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130552"/>
            <a:ext cx="2255508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2.8bn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450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450592"/>
            <a:ext cx="690617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4505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770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770632"/>
            <a:ext cx="1368288" cy="20307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1.7bn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1267282" y="3685032"/>
            <a:ext cx="1684401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928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5749" y="3928872"/>
            <a:ext cx="2485934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48502" y="392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-1.0bn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4172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51683" y="4172712"/>
            <a:ext cx="1513527" cy="15354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48502" y="4172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+0.6bn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416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51683" y="4416552"/>
            <a:ext cx="2743487" cy="15354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48502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+1.1bn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660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61818" y="4660392"/>
            <a:ext cx="2089865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48502" y="4660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-0.8bn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904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46304" y="4904232"/>
            <a:ext cx="2805379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48502" y="4904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-1.1bn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951683" y="3657600"/>
            <a:ext cx="0" cy="15544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Blues Clues has the largest Round 4 revenue base.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Lehman Bros. added the most revenue from Round 3 to Round 4.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next question is whether this revenue converted into margin and risk-adjusted value.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growth is valuable only when the additional volume earns contribution after price, features, production, logistics and promotion.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Whose growth was value-accretive?    › Whose revenue growth created operating stress?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comparison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reveals the quality of conversion from sales into economics.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951683" y="1170432"/>
            <a:ext cx="108268" cy="20307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48502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+0.0bn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90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42371" y="1490472"/>
            <a:ext cx="9312" cy="20307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502" y="1490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-0.0bn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8105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951683" y="1810512"/>
            <a:ext cx="959619" cy="20307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48502" y="18105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+0.3bn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130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951683" y="2130552"/>
            <a:ext cx="557197" cy="20307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48502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450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951683" y="2450592"/>
            <a:ext cx="406751" cy="20307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48502" y="24505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770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951683" y="2770632"/>
            <a:ext cx="1151734" cy="20307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48502" y="2770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+0.4bn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951683" y="1143000"/>
            <a:ext cx="0" cy="20116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51683" y="3685032"/>
            <a:ext cx="689154" cy="15354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3928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02745" y="3928872"/>
            <a:ext cx="1948938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848502" y="3928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" y="4172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059908" y="4172712"/>
            <a:ext cx="891775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48502" y="4172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-0.3bn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85800" y="44165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951683" y="4416552"/>
            <a:ext cx="247596" cy="15354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48502" y="4416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" y="46603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1786200" y="4660392"/>
            <a:ext cx="1165483" cy="153543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48502" y="4660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-0.4bn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5800" y="4904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951683" y="4904232"/>
            <a:ext cx="407236" cy="153543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48502" y="4904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951683" y="3657600"/>
            <a:ext cx="0" cy="15544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SEBI's Watchlist produced the highest Round 4 profit.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Satyam 2.0 has the largest Round 4 loss.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must be read together with R&amp;D timing, inventory, financing and future option value.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 is a residual: reverse-engineer it into price, volume, unit cost, features, R&amp;D, promotion, financing and tax.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cost line explains your profit change?    › Was profit sacrificed deliberately or accidentally?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share battle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is valuable only when it improves learning, scale and future cash flow.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469717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4.9%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980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98092"/>
            <a:ext cx="1441790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980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14.9%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825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825752"/>
            <a:ext cx="3344875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825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34.7%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1534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153412"/>
            <a:ext cx="2371136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1534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24.6%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481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481072"/>
            <a:ext cx="826086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4810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8.6%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8087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808732"/>
            <a:ext cx="1197631" cy="20802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8087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12.4%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36850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150688" y="3685032"/>
            <a:ext cx="800995" cy="14859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8502" y="36850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-3.8 pp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9212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1435377" y="3921252"/>
            <a:ext cx="1516306" cy="14859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48502" y="39212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-7.1 pp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41574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51683" y="4157472"/>
            <a:ext cx="2009000" cy="14859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48502" y="41574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+9.5 pp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3936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51683" y="4393692"/>
            <a:ext cx="2805379" cy="14859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48502" y="43936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+13.2 pp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6299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728444" y="4629912"/>
            <a:ext cx="1223239" cy="14859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48502" y="46299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-5.8 pp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8661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677476" y="4866132"/>
            <a:ext cx="1274207" cy="148590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48502" y="48661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-6.0 pp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951683" y="3657600"/>
            <a:ext cx="0" cy="150876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Lehman Bros. gained the most global share.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Satyam 2.0 lost the most share.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Share must be tested against ROS, ROCE, inventory and cash conversion.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do not reward market-share ambition; they reward a value proposition. The firm must then convert the demand profitably.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bought share too expensively?    › Which team should protect margin before chasing share?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Regional battle map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three regions are different demand systems.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371600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1887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371600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93976" y="11887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29000" y="1143000"/>
            <a:ext cx="1371600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11887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Asia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00600" y="1143000"/>
            <a:ext cx="1371600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11887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Europe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5800" y="169164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17373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057400" y="169164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93976" y="17373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4.1%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29000" y="169164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65576" y="17373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4.6%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00600" y="169164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37176" y="17373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6.3%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224028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22860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057400" y="224028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93976" y="22860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14.2%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224028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65576" y="22860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15.1%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800600" y="224028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37176" y="22860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15.4%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85800" y="278892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28346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057400" y="2788920"/>
            <a:ext cx="1371600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093976" y="28346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42.2%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29000" y="2788920"/>
            <a:ext cx="1371600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65576" y="28346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27.0%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800600" y="2788920"/>
            <a:ext cx="1371600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37176" y="28346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43.3%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85800" y="333756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2376" y="3383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057400" y="333756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93976" y="3383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20.0%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3429000" y="3337560"/>
            <a:ext cx="1371600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65576" y="3383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25.8%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800600" y="3337560"/>
            <a:ext cx="1371600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37176" y="33832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26.6%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85800" y="388620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057400" y="388620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9397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4.7%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429000" y="388620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6557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13.8%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800600" y="388620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3717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1.5%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85800" y="443484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2376" y="4480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057400" y="443484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093976" y="4480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14.8%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3429000" y="4434840"/>
            <a:ext cx="1371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465576" y="4480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13.8%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800600" y="4434840"/>
            <a:ext cx="1371600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837176" y="4480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7.1%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492240" y="1371600"/>
            <a:ext cx="46634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USA leader: Blues Clues.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Asia leader: Blues Clues.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Europe leader: Blues Clues.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Round 5 choices should define defend, attack, repair, harvest or exit by region.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global strategy fails when it treats USA, Asia and Europe as one average customer.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region is your economic engine?    › Which region is your trap?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 and option discipline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spending must become commercialisation, not just capability ownership.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59653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980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98092"/>
            <a:ext cx="1471745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980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825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825752"/>
            <a:ext cx="2554147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825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0.8bn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1534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153412"/>
            <a:ext cx="2146970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1534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481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481072"/>
            <a:ext cx="59653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4810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8087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808732"/>
            <a:ext cx="0" cy="20802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8087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0.0bn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85800" y="3703320"/>
            <a:ext cx="53949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86000" y="534924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R&amp;D intensity (%)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02920" y="347472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ROCE (%)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154237" y="4564654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91397" y="455551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Green</a:t>
            </a:r>
            <a:endParaRPr lang="en-US" sz="670" dirty="0"/>
          </a:p>
        </p:txBody>
      </p:sp>
      <p:sp>
        <p:nvSpPr>
          <p:cNvPr id="31" name="Shape 29"/>
          <p:cNvSpPr/>
          <p:nvPr/>
        </p:nvSpPr>
        <p:spPr>
          <a:xfrm>
            <a:off x="6016752" y="490787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53912" y="489872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Satyam 2.0</a:t>
            </a:r>
            <a:endParaRPr lang="en-US" sz="670" dirty="0"/>
          </a:p>
        </p:txBody>
      </p:sp>
      <p:sp>
        <p:nvSpPr>
          <p:cNvPr id="33" name="Shape 31"/>
          <p:cNvSpPr/>
          <p:nvPr/>
        </p:nvSpPr>
        <p:spPr>
          <a:xfrm>
            <a:off x="4688938" y="3860750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26098" y="385160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Blues Clues</a:t>
            </a:r>
            <a:endParaRPr lang="en-US" sz="670" dirty="0"/>
          </a:p>
        </p:txBody>
      </p:sp>
      <p:sp>
        <p:nvSpPr>
          <p:cNvPr id="35" name="Shape 33"/>
          <p:cNvSpPr/>
          <p:nvPr/>
        </p:nvSpPr>
        <p:spPr>
          <a:xfrm>
            <a:off x="5691763" y="4247336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28923" y="423819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Lehman Bros.</a:t>
            </a:r>
            <a:endParaRPr lang="en-US" sz="670" dirty="0"/>
          </a:p>
        </p:txBody>
      </p:sp>
      <p:sp>
        <p:nvSpPr>
          <p:cNvPr id="37" name="Shape 35"/>
          <p:cNvSpPr/>
          <p:nvPr/>
        </p:nvSpPr>
        <p:spPr>
          <a:xfrm>
            <a:off x="1081860" y="4370325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219020" y="436118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T5S</a:t>
            </a:r>
            <a:endParaRPr lang="en-US" sz="670" dirty="0"/>
          </a:p>
        </p:txBody>
      </p:sp>
      <p:sp>
        <p:nvSpPr>
          <p:cNvPr id="39" name="Shape 37"/>
          <p:cNvSpPr/>
          <p:nvPr/>
        </p:nvSpPr>
        <p:spPr>
          <a:xfrm>
            <a:off x="621792" y="363931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8952" y="363016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SEBI's Watchlist</a:t>
            </a:r>
            <a:endParaRPr lang="en-US" sz="670" dirty="0"/>
          </a:p>
        </p:txBody>
      </p:sp>
      <p:sp>
        <p:nvSpPr>
          <p:cNvPr id="41" name="Text 39"/>
          <p:cNvSpPr/>
          <p:nvPr/>
        </p:nvSpPr>
        <p:spPr>
          <a:xfrm>
            <a:off x="6492240" y="1417320"/>
            <a:ext cx="466344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Blues Clues has the highest Round 4 R&amp;D spend.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R&amp;D is expensed now but may create future options if aligned with market readiness and fulfilment capacity.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 R&amp;D is not good or bad by itself; conversion is the test.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technology option has value only when demand, product readiness, capacity, cash and risk can carry it to market.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When is R&amp;D an investment rather than a cost?    › What evidence should govern R&amp;D timing?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and capital discipline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and ROCE separate attractive growth from expensive movement.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298448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1887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84248" y="1143000"/>
            <a:ext cx="1298448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20824" y="11887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82696" y="1143000"/>
            <a:ext cx="1298448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19272" y="11887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ROS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81144" y="1143000"/>
            <a:ext cx="1298448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11887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879592" y="1143000"/>
            <a:ext cx="1298448" cy="54864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16168" y="11887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Δ ROCE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85800" y="16916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17373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984248" y="16916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20824" y="17373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5.2%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82696" y="1691640"/>
            <a:ext cx="1298448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19272" y="17373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+20.1 pp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81144" y="16916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0" y="17373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6.6%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9592" y="1691640"/>
            <a:ext cx="1298448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16168" y="17373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+8.7 pp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5800" y="224028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22860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984248" y="224028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20824" y="22860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82696" y="224028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19272" y="22860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-25.2 pp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81144" y="224028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17720" y="22860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879592" y="224028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16168" y="228600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-29.3 pp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85800" y="278892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" y="283464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984248" y="278892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0824" y="283464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8.3%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82696" y="278892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9272" y="283464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-10.3 pp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81144" y="278892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0" y="283464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13.5%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879592" y="278892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16168" y="283464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-12.1 pp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85800" y="333756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33832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984248" y="333756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20824" y="33832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7.1%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282696" y="333756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19272" y="33832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+0.7 pp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81144" y="333756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617720" y="33832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9.7%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879592" y="333756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16168" y="338328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+3.3 pp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85800" y="388620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2376" y="3931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984248" y="388620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020824" y="3931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17.0%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3282696" y="388620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19272" y="3931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-16.7 pp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4581144" y="388620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617720" y="3931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8.5%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879592" y="3886200"/>
            <a:ext cx="1298448" cy="548640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16168" y="393192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-25.9 pp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85800" y="44348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2376" y="44805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984248" y="44348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20824" y="44805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24.2%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3282696" y="4434840"/>
            <a:ext cx="1298448" cy="548640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19272" y="44805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+14.7 pp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581144" y="44348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0" y="44805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15.7%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5879592" y="4434840"/>
            <a:ext cx="129844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916168" y="4480560"/>
            <a:ext cx="1225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-0.3 pp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543800" y="1417320"/>
            <a:ext cx="39319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Best ROS: SEBI's Watchlist.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Best ROCE: SEBI's Watchlist.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capital-intensive strategy must defend ROCE, not just sales.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543800" y="3657600"/>
            <a:ext cx="39319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7543800" y="3822192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asks what the team keeps from sales; ROCE asks whether the capital base earns an acceptable return.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metric should govern your next decision: ROS or ROCE?    › Where did capital become trapped without return?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and cash-flow risk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 is a deferred judgement about demand.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704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1170432"/>
            <a:ext cx="3344875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11704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1.3bn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4676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51760" y="1467612"/>
            <a:ext cx="758412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83480" y="14676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85800" y="17647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51760" y="1764792"/>
            <a:ext cx="0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7647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0619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51760" y="2061972"/>
            <a:ext cx="214082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20619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85800" y="23591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651760" y="2359152"/>
            <a:ext cx="852118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83480" y="23591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0.3bn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" y="26563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51760" y="2656332"/>
            <a:ext cx="2843459" cy="188214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6563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1.1bn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85800" y="35478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35237" y="3547872"/>
            <a:ext cx="2016446" cy="1783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8502" y="3547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85800" y="38298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63214" y="3829812"/>
            <a:ext cx="2288469" cy="1783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48502" y="38298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-0.8bn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411175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2911481" y="4111752"/>
            <a:ext cx="40203" cy="1783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48502" y="41117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-0.0bn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85800" y="43936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951683" y="4393692"/>
            <a:ext cx="550686" cy="17830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48502" y="43936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85800" y="46756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75680" y="4675632"/>
            <a:ext cx="2176004" cy="1783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48502" y="46756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-0.8bn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" y="49575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46304" y="4957572"/>
            <a:ext cx="2805379" cy="17830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48502" y="49575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-1.0bn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951683" y="3520440"/>
            <a:ext cx="0" cy="178308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92240" y="1417320"/>
            <a:ext cx="466344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carries the largest inventory balance.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SEBI's Watchlist has the weakest cash flow before financing.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Inventory can be a strategic buffer only if it matches verified future demand.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492240" y="365760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492240" y="382219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Cash flow tells whether the strategy can survive the time lag between spending and payoff.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When is inventory a warning signal?    › Which cash problem is temporary investment and which is operating weakness?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Financing risk and valuation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 changes the value of the same future cash flow.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1371600" cy="55517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188720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2057400" y="1143000"/>
            <a:ext cx="1371600" cy="55517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93976" y="1188720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3429000" y="1143000"/>
            <a:ext cx="1371600" cy="55517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65576" y="1188720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Short debt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800600" y="1143000"/>
            <a:ext cx="1371600" cy="55517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1188720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cap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172200" y="1143000"/>
            <a:ext cx="1371600" cy="55517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08776" y="1188720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price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685800" y="1698171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1743891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2057400" y="1698171"/>
            <a:ext cx="1371600" cy="55517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093976" y="1743891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429000" y="1698171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65576" y="1743891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800600" y="1698171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37176" y="1743891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6172200" y="1698171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08776" y="1743891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136.5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685800" y="2253343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2299063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057400" y="2253343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93976" y="2299063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3429000" y="2253343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65576" y="2299063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4800600" y="2253343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37176" y="2299063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7m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172200" y="2253343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08776" y="2299063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235.5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85800" y="2808514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" y="2854234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2057400" y="2808514"/>
            <a:ext cx="1371600" cy="55517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93976" y="2854234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AA-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3429000" y="2808514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65576" y="2854234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800600" y="2808514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37176" y="2854234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10m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6172200" y="2808514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08776" y="2854234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247.5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685800" y="3363686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2376" y="3409406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2057400" y="3363686"/>
            <a:ext cx="1371600" cy="55517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093976" y="3409406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3429000" y="3363686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65576" y="3409406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4800600" y="3363686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37176" y="3409406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13m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6172200" y="3363686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08776" y="3409406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419.7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685800" y="3918857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2376" y="3964577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2057400" y="3918857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093976" y="3964577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3429000" y="3918857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65576" y="3964577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4800600" y="3918857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837176" y="3964577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6m</a:t>
            </a:r>
            <a:endParaRPr lang="en-US" sz="780" dirty="0"/>
          </a:p>
        </p:txBody>
      </p:sp>
      <p:sp>
        <p:nvSpPr>
          <p:cNvPr id="66" name="Shape 64"/>
          <p:cNvSpPr/>
          <p:nvPr/>
        </p:nvSpPr>
        <p:spPr>
          <a:xfrm>
            <a:off x="6172200" y="3918857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08776" y="3964577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197.7</a:t>
            </a:r>
            <a:endParaRPr lang="en-US" sz="780" dirty="0"/>
          </a:p>
        </p:txBody>
      </p:sp>
      <p:sp>
        <p:nvSpPr>
          <p:cNvPr id="68" name="Shape 66"/>
          <p:cNvSpPr/>
          <p:nvPr/>
        </p:nvSpPr>
        <p:spPr>
          <a:xfrm>
            <a:off x="685800" y="4474029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22376" y="4519749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2057400" y="4474029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093976" y="4519749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780" dirty="0"/>
          </a:p>
        </p:txBody>
      </p:sp>
      <p:sp>
        <p:nvSpPr>
          <p:cNvPr id="72" name="Shape 70"/>
          <p:cNvSpPr/>
          <p:nvPr/>
        </p:nvSpPr>
        <p:spPr>
          <a:xfrm>
            <a:off x="3429000" y="4474029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465576" y="4519749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4800600" y="4474029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837176" y="4519749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6172200" y="4474029"/>
            <a:ext cx="1371600" cy="555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08776" y="4519749"/>
            <a:ext cx="1298448" cy="4637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159.9</a:t>
            </a:r>
            <a:endParaRPr lang="en-US" sz="780" dirty="0"/>
          </a:p>
        </p:txBody>
      </p:sp>
      <p:sp>
        <p:nvSpPr>
          <p:cNvPr id="78" name="Text 76"/>
          <p:cNvSpPr/>
          <p:nvPr/>
        </p:nvSpPr>
        <p:spPr>
          <a:xfrm>
            <a:off x="7818120" y="1417320"/>
            <a:ext cx="36576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Highest market capitalisation: Lehman Bros..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Largest unplanned short-term debt: SEBI's Watchlist.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and debt enter valuation by raising required return and reducing equity value.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7818120" y="3657600"/>
            <a:ext cx="3657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7818120" y="38221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Valuation: expected cash flows → risk adjustment → enterprise value → debt/cash adjustment → equity value → share price → TSR.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can the same profit be worth less under higher risk?    › Is debt here planned leverage or emergency financing?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Relative scorecard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 view of who improved where from Round 3 to Round 4.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09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15087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453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24231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33375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741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2519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885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51663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029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60807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173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6995160" y="1097280"/>
            <a:ext cx="914400" cy="600891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31736" y="1143000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594360" y="1698171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1508760" y="1698171"/>
            <a:ext cx="914400" cy="600891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453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2423160" y="1698171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4597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3337560" y="1698171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41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251960" y="1698171"/>
            <a:ext cx="914400" cy="600891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2885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5166360" y="1698171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029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6080760" y="1698171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173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6995160" y="1698171"/>
            <a:ext cx="914400" cy="600891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031736" y="1743891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594360" y="2299063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15087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5453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24231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97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33375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741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4251960" y="2299063"/>
            <a:ext cx="914400" cy="600891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885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51663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029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60807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173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6995160" y="2299063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1736" y="2344783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594360" y="2899954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309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1508760" y="2899954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5453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2423160" y="2899954"/>
            <a:ext cx="914400" cy="600891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597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62" name="Shape 60"/>
          <p:cNvSpPr/>
          <p:nvPr/>
        </p:nvSpPr>
        <p:spPr>
          <a:xfrm>
            <a:off x="3337560" y="2899954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3741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4251960" y="2899954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2885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66" name="Shape 64"/>
          <p:cNvSpPr/>
          <p:nvPr/>
        </p:nvSpPr>
        <p:spPr>
          <a:xfrm>
            <a:off x="5166360" y="2899954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029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68" name="Shape 66"/>
          <p:cNvSpPr/>
          <p:nvPr/>
        </p:nvSpPr>
        <p:spPr>
          <a:xfrm>
            <a:off x="6080760" y="2899954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173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6995160" y="2899954"/>
            <a:ext cx="914400" cy="600891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031736" y="2945674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72" name="Shape 70"/>
          <p:cNvSpPr/>
          <p:nvPr/>
        </p:nvSpPr>
        <p:spPr>
          <a:xfrm>
            <a:off x="594360" y="3500846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309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780" dirty="0"/>
          </a:p>
        </p:txBody>
      </p:sp>
      <p:sp>
        <p:nvSpPr>
          <p:cNvPr id="74" name="Shape 72"/>
          <p:cNvSpPr/>
          <p:nvPr/>
        </p:nvSpPr>
        <p:spPr>
          <a:xfrm>
            <a:off x="1508760" y="3500846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5453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2423160" y="3500846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4597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78" name="Shape 76"/>
          <p:cNvSpPr/>
          <p:nvPr/>
        </p:nvSpPr>
        <p:spPr>
          <a:xfrm>
            <a:off x="3337560" y="3500846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3741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80" name="Shape 78"/>
          <p:cNvSpPr/>
          <p:nvPr/>
        </p:nvSpPr>
        <p:spPr>
          <a:xfrm>
            <a:off x="4251960" y="3500846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2885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82" name="Shape 80"/>
          <p:cNvSpPr/>
          <p:nvPr/>
        </p:nvSpPr>
        <p:spPr>
          <a:xfrm>
            <a:off x="5166360" y="3500846"/>
            <a:ext cx="914400" cy="600891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2029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84" name="Shape 82"/>
          <p:cNvSpPr/>
          <p:nvPr/>
        </p:nvSpPr>
        <p:spPr>
          <a:xfrm>
            <a:off x="6080760" y="3500846"/>
            <a:ext cx="914400" cy="600891"/>
          </a:xfrm>
          <a:prstGeom prst="rect">
            <a:avLst/>
          </a:prstGeom>
          <a:solidFill>
            <a:srgbClr val="E8F7EE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1173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780" dirty="0"/>
          </a:p>
        </p:txBody>
      </p:sp>
      <p:sp>
        <p:nvSpPr>
          <p:cNvPr id="86" name="Shape 84"/>
          <p:cNvSpPr/>
          <p:nvPr/>
        </p:nvSpPr>
        <p:spPr>
          <a:xfrm>
            <a:off x="6995160" y="3500846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031736" y="3546566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88" name="Shape 86"/>
          <p:cNvSpPr/>
          <p:nvPr/>
        </p:nvSpPr>
        <p:spPr>
          <a:xfrm>
            <a:off x="594360" y="4101737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09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780" dirty="0"/>
          </a:p>
        </p:txBody>
      </p:sp>
      <p:sp>
        <p:nvSpPr>
          <p:cNvPr id="90" name="Shape 88"/>
          <p:cNvSpPr/>
          <p:nvPr/>
        </p:nvSpPr>
        <p:spPr>
          <a:xfrm>
            <a:off x="1508760" y="4101737"/>
            <a:ext cx="914400" cy="600891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5453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92" name="Shape 90"/>
          <p:cNvSpPr/>
          <p:nvPr/>
        </p:nvSpPr>
        <p:spPr>
          <a:xfrm>
            <a:off x="2423160" y="4101737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4597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94" name="Shape 92"/>
          <p:cNvSpPr/>
          <p:nvPr/>
        </p:nvSpPr>
        <p:spPr>
          <a:xfrm>
            <a:off x="3337560" y="4101737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33741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96" name="Shape 94"/>
          <p:cNvSpPr/>
          <p:nvPr/>
        </p:nvSpPr>
        <p:spPr>
          <a:xfrm>
            <a:off x="4251960" y="4101737"/>
            <a:ext cx="914400" cy="600891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885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98" name="Shape 96"/>
          <p:cNvSpPr/>
          <p:nvPr/>
        </p:nvSpPr>
        <p:spPr>
          <a:xfrm>
            <a:off x="5166360" y="4101737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2029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0" name="Shape 98"/>
          <p:cNvSpPr/>
          <p:nvPr/>
        </p:nvSpPr>
        <p:spPr>
          <a:xfrm>
            <a:off x="6080760" y="4101737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173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2" name="Shape 100"/>
          <p:cNvSpPr/>
          <p:nvPr/>
        </p:nvSpPr>
        <p:spPr>
          <a:xfrm>
            <a:off x="6995160" y="4101737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031736" y="4147457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4" name="Shape 102"/>
          <p:cNvSpPr/>
          <p:nvPr/>
        </p:nvSpPr>
        <p:spPr>
          <a:xfrm>
            <a:off x="594360" y="4702629"/>
            <a:ext cx="914400" cy="6008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309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780" dirty="0"/>
          </a:p>
        </p:txBody>
      </p:sp>
      <p:sp>
        <p:nvSpPr>
          <p:cNvPr id="106" name="Shape 104"/>
          <p:cNvSpPr/>
          <p:nvPr/>
        </p:nvSpPr>
        <p:spPr>
          <a:xfrm>
            <a:off x="1508760" y="4702629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453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08" name="Shape 106"/>
          <p:cNvSpPr/>
          <p:nvPr/>
        </p:nvSpPr>
        <p:spPr>
          <a:xfrm>
            <a:off x="2423160" y="4702629"/>
            <a:ext cx="914400" cy="600891"/>
          </a:xfrm>
          <a:prstGeom prst="rect">
            <a:avLst/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4597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--</a:t>
            </a:r>
            <a:endParaRPr lang="en-US" sz="780" dirty="0"/>
          </a:p>
        </p:txBody>
      </p:sp>
      <p:sp>
        <p:nvSpPr>
          <p:cNvPr id="110" name="Shape 108"/>
          <p:cNvSpPr/>
          <p:nvPr/>
        </p:nvSpPr>
        <p:spPr>
          <a:xfrm>
            <a:off x="3337560" y="4702629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741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12" name="Shape 110"/>
          <p:cNvSpPr/>
          <p:nvPr/>
        </p:nvSpPr>
        <p:spPr>
          <a:xfrm>
            <a:off x="4251960" y="4702629"/>
            <a:ext cx="914400" cy="600891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2885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14" name="Shape 112"/>
          <p:cNvSpPr/>
          <p:nvPr/>
        </p:nvSpPr>
        <p:spPr>
          <a:xfrm>
            <a:off x="5166360" y="4702629"/>
            <a:ext cx="914400" cy="600891"/>
          </a:xfrm>
          <a:prstGeom prst="rect">
            <a:avLst/>
          </a:prstGeom>
          <a:solidFill>
            <a:srgbClr val="ECFDF3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2029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++</a:t>
            </a:r>
            <a:endParaRPr lang="en-US" sz="780" dirty="0"/>
          </a:p>
        </p:txBody>
      </p:sp>
      <p:sp>
        <p:nvSpPr>
          <p:cNvPr id="116" name="Shape 114"/>
          <p:cNvSpPr/>
          <p:nvPr/>
        </p:nvSpPr>
        <p:spPr>
          <a:xfrm>
            <a:off x="6080760" y="4702629"/>
            <a:ext cx="914400" cy="600891"/>
          </a:xfrm>
          <a:prstGeom prst="rect">
            <a:avLst/>
          </a:prstGeom>
          <a:solidFill>
            <a:srgbClr val="F2F4F7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173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780" dirty="0"/>
          </a:p>
        </p:txBody>
      </p:sp>
      <p:sp>
        <p:nvSpPr>
          <p:cNvPr id="118" name="Shape 116"/>
          <p:cNvSpPr/>
          <p:nvPr/>
        </p:nvSpPr>
        <p:spPr>
          <a:xfrm>
            <a:off x="6995160" y="4702629"/>
            <a:ext cx="914400" cy="600891"/>
          </a:xfrm>
          <a:prstGeom prst="rect">
            <a:avLst/>
          </a:prstGeom>
          <a:solidFill>
            <a:srgbClr val="FFF1F0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031736" y="4748349"/>
            <a:ext cx="841248" cy="5094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</a:t>
            </a:r>
            <a:endParaRPr lang="en-US" sz="780" dirty="0"/>
          </a:p>
        </p:txBody>
      </p:sp>
      <p:sp>
        <p:nvSpPr>
          <p:cNvPr id="120" name="Text 118"/>
          <p:cNvSpPr/>
          <p:nvPr/>
        </p:nvSpPr>
        <p:spPr>
          <a:xfrm>
            <a:off x="8229600" y="1371600"/>
            <a:ext cx="329184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scorecard is directional, not a replacement for diagnosis.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 not cherry-pick the cell that flatters your team.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strongest strategy creates consistency across demand, margin, capital and risk.</a:t>
            </a:r>
            <a:endParaRPr lang="en-US" sz="1050" dirty="0"/>
          </a:p>
        </p:txBody>
      </p:sp>
      <p:sp>
        <p:nvSpPr>
          <p:cNvPr id="121" name="Text 119"/>
          <p:cNvSpPr/>
          <p:nvPr/>
        </p:nvSpPr>
        <p:spPr>
          <a:xfrm>
            <a:off x="8229600" y="3703320"/>
            <a:ext cx="3291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122" name="Text 120"/>
          <p:cNvSpPr/>
          <p:nvPr/>
        </p:nvSpPr>
        <p:spPr>
          <a:xfrm>
            <a:off x="8229600" y="386791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coherent system creates improving signals across several metrics, not only one heroic number.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25" name="Text 12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the most coherent improvement pattern?    › Which team has one bright spot hiding a larger risk?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Green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 in R3 → 6th in R4 • held position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-7.8%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+0.2bn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5.2%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+20.1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6.6%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+8.7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B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6th → 6th. Market cap: 7m → 4m. Share price: $226.5 → $136.5.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remained 6th, so the team needs to test whether it is stuck or stable.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0m;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-3.8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B to BB-,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459943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83112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009924" y="235915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7084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Satyam 2.0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 in R3 → 3rd in R4 • lost 2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31.4%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-1.0bn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-0.7bn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-0.2%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-25.2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3.2%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-29.3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AA+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1st → 3rd. Market cap: 13m → 7m. Share price: $428.7 → $235.5.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fell from 1st to 3rd, even if some operating signals may have improved.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-1m;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-7.1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AA+ to A+,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537937" y="459943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75097" y="459028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Blues Clues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 in R3 → 2nd in R4 • gained 3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7.0%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8.2%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+0.6bn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-0.3bn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8.3%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-10.3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13.5%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-12.1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AA-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A+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5th → 2nd. Market cap: 10m → 10m. Share price: $239.0 → $247.5.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5th to 2nd,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-0m;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rose by +9.5 pp, but share must be converted into margin.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A+ to AA-,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773126" y="235915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910286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1045952" y="3602426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183112" y="359328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Lehman Bros.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 in R3 → 1st in R4 • gained 2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22.3%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28.2%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+1.1bn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7.1%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+0.7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9.7%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+3.3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AA-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3rd → 1st. Market cap: 12m → 13m. Share price: $395.1 → $419.7.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improved from 3rd to 1st, indicating stronger relative investor confidence.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0m;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rose by +13.2 pp, but share must be converted into margin.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AA- to AA+,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538665" y="2591459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5825" y="2582315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T5S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 in R3 → 4th in R4 • held position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23.4%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-0.8bn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-0.4bn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17.0%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-16.7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-25.9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AA-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4th → 4th. Market cap: 10m → 6m. Share price: $351.3 → $197.7.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remained 4th, so the team needs to test whether it is stuck or stable.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deteriorated by -0m; identify the cost, price or volume mechanism.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-5.8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AA- to A,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2359152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83112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170155" y="3471817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307315" y="3462673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profile: SEBI's Watchlist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 in R3 → 5th in R4 • lost 3 positions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943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TSR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040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-4.1%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040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28.4% in R3</a:t>
            </a:r>
            <a:endParaRPr lang="en-US" sz="770" dirty="0"/>
          </a:p>
        </p:txBody>
      </p:sp>
      <p:sp>
        <p:nvSpPr>
          <p:cNvPr id="12" name="Shape 10"/>
          <p:cNvSpPr/>
          <p:nvPr/>
        </p:nvSpPr>
        <p:spPr>
          <a:xfrm>
            <a:off x="237744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8716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48716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-1.1bn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16052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27024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27024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+0.1bn</a:t>
            </a:r>
            <a:endParaRPr lang="en-US" sz="770" dirty="0"/>
          </a:p>
        </p:txBody>
      </p:sp>
      <p:sp>
        <p:nvSpPr>
          <p:cNvPr id="20" name="Shape 18"/>
          <p:cNvSpPr/>
          <p:nvPr/>
        </p:nvSpPr>
        <p:spPr>
          <a:xfrm>
            <a:off x="594360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332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05332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24.2%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05332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+14.7 pp</a:t>
            </a:r>
            <a:endParaRPr lang="en-US" sz="770" dirty="0"/>
          </a:p>
        </p:txBody>
      </p:sp>
      <p:sp>
        <p:nvSpPr>
          <p:cNvPr id="24" name="Shape 22"/>
          <p:cNvSpPr/>
          <p:nvPr/>
        </p:nvSpPr>
        <p:spPr>
          <a:xfrm>
            <a:off x="772668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3640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83640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15.7%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83640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-0.3 pp</a:t>
            </a:r>
            <a:endParaRPr lang="en-US" sz="770" dirty="0"/>
          </a:p>
        </p:txBody>
      </p:sp>
      <p:sp>
        <p:nvSpPr>
          <p:cNvPr id="28" name="Shape 26"/>
          <p:cNvSpPr/>
          <p:nvPr/>
        </p:nvSpPr>
        <p:spPr>
          <a:xfrm>
            <a:off x="9509760" y="1115568"/>
            <a:ext cx="160020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19488" y="1225296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619488" y="1499616"/>
            <a:ext cx="138074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619488" y="1901952"/>
            <a:ext cx="1380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R3: AA-</a:t>
            </a:r>
            <a:endParaRPr lang="en-US" sz="770" dirty="0"/>
          </a:p>
        </p:txBody>
      </p:sp>
      <p:sp>
        <p:nvSpPr>
          <p:cNvPr id="32" name="Text 30"/>
          <p:cNvSpPr/>
          <p:nvPr/>
        </p:nvSpPr>
        <p:spPr>
          <a:xfrm>
            <a:off x="777240" y="2423160"/>
            <a:ext cx="539496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Rank: 2nd → 5th. Market cap: 12m → 5m. Share price: $400.0 → $159.9.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Rank fell from 2nd to 5th, even if some operating signals may have improved.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Profit improved by 0m; test whether this is repeatable or merely a correction.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Global share fell by -6.0 pp, so the team must decide whether to defend economics or rebuild reach.
</a:t>
            </a:r>
            <a:pPr indent="0" marL="0">
              <a:buNone/>
            </a:pPr>
            <a:r>
              <a:rPr lang="en-US" sz="10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Credit rating moved from AA- to A+, changing risk and valuation credibility.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6446520" y="2423160"/>
            <a:ext cx="46634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47091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Global share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263640" y="219456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ROS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1045952" y="3716768"/>
            <a:ext cx="128016" cy="128016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183112" y="370762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R3</a:t>
            </a:r>
            <a:endParaRPr lang="en-US" sz="670" dirty="0"/>
          </a:p>
        </p:txBody>
      </p:sp>
      <p:sp>
        <p:nvSpPr>
          <p:cNvPr id="38" name="Shape 36"/>
          <p:cNvSpPr/>
          <p:nvPr/>
        </p:nvSpPr>
        <p:spPr>
          <a:xfrm>
            <a:off x="9526091" y="2359152"/>
            <a:ext cx="128016" cy="128016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63251" y="2350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243447"/>
                </a:solidFill>
              </a:rPr>
              <a:t>R4</a:t>
            </a:r>
            <a:endParaRPr lang="en-US" sz="670" dirty="0"/>
          </a:p>
        </p:txBody>
      </p:sp>
      <p:sp>
        <p:nvSpPr>
          <p:cNvPr id="40" name="Text 38"/>
          <p:cNvSpPr/>
          <p:nvPr/>
        </p:nvSpPr>
        <p:spPr>
          <a:xfrm>
            <a:off x="6446520" y="4892040"/>
            <a:ext cx="4663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446520" y="50566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Preserve what improves cash-flow quality; repair the constraint that weakens repeatability.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Round 4 assumption was validated?    › What decision must change before Round 5?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rewarded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rewarded coherence rather than isolated optimisation.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Rank credibility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Lehman Bros. leads TSR because the market sees a stronger risk-adjusted value story.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Capital return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SEBI's Watchlist shows the strongest ROCE and capital productivity.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AF2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Demand capture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Blues Clues has the highest global market share, which may create scale if margins hold.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46404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E6FFFB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Risk discipline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Teams with stronger credit and lower emergency debt retain valuation credibility.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4400" y="2971800"/>
            <a:ext cx="6400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Lehman Bros. leads TSR because the market sees a stronger risk-adjusted value story.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SEBI's Watchlist shows the strongest ROCE and capital productivity.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Blues Clues has the highest global market share, which may create scale if margins hold.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Teams with stronger credit and lower emergency debt retain valuation credibility.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Choices that reinforce each other were rewarded more than one-off activity.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30632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863840" y="32278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market rewards a system of mutually reinforcing choices: customer value, operating discipline, risk control and future credibility.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reward is most sustainable in Round 5?    › Can your team pursue all rewards at once?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Round 4 punished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4 punished strategic incoherence, fragile financing and weak conversion.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Loss conversion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Satyam 2.0 shows the sharpest current earnings pressure.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7ED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Inventory trap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4904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Green carries the largest inventory and must test product-market fit.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53796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EF3F2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Debt shock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SEBI's Watchlist carries the largest short-term debt pressure.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464040" y="128016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7ED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14447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3233A"/>
                </a:solidFill>
              </a:rPr>
              <a:t>Fragile TSR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0" y="17556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</a:rPr>
              <a:t>Falling cumulative TSR signals weaker investor confidence, not merely a bad accounting round.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914400" y="2971800"/>
            <a:ext cx="64008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Satyam 2.0 shows the sharpest current earnings pressure.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 carries the largest inventory and must test product-market fit.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SEBI's Watchlist carries the largest short-term debt pressure.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Falling cumulative TSR signals weaker investor confidence, not merely a bad accounting round.
</a:t>
            </a:r>
            <a:pPr indent="0" marL="0">
              <a:buNone/>
            </a:pPr>
            <a:r>
              <a:rPr lang="en-US" sz="10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Mismatched pricing, R&amp;D, capacity and financing eroded value.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3840" y="3063240"/>
            <a:ext cx="34747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7863840" y="322783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fastest recovery comes from separating reversible decisions from sticky commitments in capacity, financing and technology path.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punished decision is reversible before Round 5?    › Which mistake will constrain later rounds?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decision checklist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every decision into a hypothesis, threshold and guardrail.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U2 • R3→R4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68580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area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33756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question</a:t>
            </a:r>
            <a:endParaRPr lang="en-US" sz="830" dirty="0"/>
          </a:p>
        </p:txBody>
      </p:sp>
      <p:sp>
        <p:nvSpPr>
          <p:cNvPr id="12" name="Shape 10"/>
          <p:cNvSpPr/>
          <p:nvPr/>
        </p:nvSpPr>
        <p:spPr>
          <a:xfrm>
            <a:off x="5989320" y="1143000"/>
            <a:ext cx="2651760" cy="574766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25896" y="1188720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68580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Demand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33756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7413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will customers buy profitably?</a:t>
            </a:r>
            <a:endParaRPr lang="en-US" sz="830" dirty="0"/>
          </a:p>
        </p:txBody>
      </p:sp>
      <p:sp>
        <p:nvSpPr>
          <p:cNvPr id="18" name="Shape 16"/>
          <p:cNvSpPr/>
          <p:nvPr/>
        </p:nvSpPr>
        <p:spPr>
          <a:xfrm>
            <a:off x="5989320" y="1717766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25896" y="1763486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by region and technology.</a:t>
            </a:r>
            <a:endParaRPr lang="en-US" sz="830" dirty="0"/>
          </a:p>
        </p:txBody>
      </p:sp>
      <p:sp>
        <p:nvSpPr>
          <p:cNvPr id="20" name="Shape 18"/>
          <p:cNvSpPr/>
          <p:nvPr/>
        </p:nvSpPr>
        <p:spPr>
          <a:xfrm>
            <a:off x="68580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</a:t>
            </a:r>
            <a:endParaRPr lang="en-US" sz="830" dirty="0"/>
          </a:p>
        </p:txBody>
      </p:sp>
      <p:sp>
        <p:nvSpPr>
          <p:cNvPr id="22" name="Shape 20"/>
          <p:cNvSpPr/>
          <p:nvPr/>
        </p:nvSpPr>
        <p:spPr>
          <a:xfrm>
            <a:off x="333756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7413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bundle maximises contribution?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5989320" y="2292531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25896" y="2338251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discount below contribution logic.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68580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R&amp;D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333756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7413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must be ready now vs later?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5989320" y="2867297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25896" y="2913017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investment with stop-loss.</a:t>
            </a:r>
            <a:endParaRPr lang="en-US" sz="830" dirty="0"/>
          </a:p>
        </p:txBody>
      </p:sp>
      <p:sp>
        <p:nvSpPr>
          <p:cNvPr id="32" name="Shape 30"/>
          <p:cNvSpPr/>
          <p:nvPr/>
        </p:nvSpPr>
        <p:spPr>
          <a:xfrm>
            <a:off x="68580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830" dirty="0"/>
          </a:p>
        </p:txBody>
      </p:sp>
      <p:sp>
        <p:nvSpPr>
          <p:cNvPr id="34" name="Shape 32"/>
          <p:cNvSpPr/>
          <p:nvPr/>
        </p:nvSpPr>
        <p:spPr>
          <a:xfrm>
            <a:off x="333756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413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should be made where?</a:t>
            </a:r>
            <a:endParaRPr lang="en-US" sz="830" dirty="0"/>
          </a:p>
        </p:txBody>
      </p:sp>
      <p:sp>
        <p:nvSpPr>
          <p:cNvPr id="36" name="Shape 34"/>
          <p:cNvSpPr/>
          <p:nvPr/>
        </p:nvSpPr>
        <p:spPr>
          <a:xfrm>
            <a:off x="5989320" y="3442063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25896" y="3487783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inventory and utilisation thresholds.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68580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237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Finance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333756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7413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the plan survive before payoff?</a:t>
            </a:r>
            <a:endParaRPr lang="en-US" sz="830" dirty="0"/>
          </a:p>
        </p:txBody>
      </p:sp>
      <p:sp>
        <p:nvSpPr>
          <p:cNvPr id="42" name="Shape 40"/>
          <p:cNvSpPr/>
          <p:nvPr/>
        </p:nvSpPr>
        <p:spPr>
          <a:xfrm>
            <a:off x="5989320" y="4016829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25896" y="4062549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unplanned debt and rating collapse.</a:t>
            </a:r>
            <a:endParaRPr lang="en-US" sz="830" dirty="0"/>
          </a:p>
        </p:txBody>
      </p:sp>
      <p:sp>
        <p:nvSpPr>
          <p:cNvPr id="44" name="Shape 42"/>
          <p:cNvSpPr/>
          <p:nvPr/>
        </p:nvSpPr>
        <p:spPr>
          <a:xfrm>
            <a:off x="68580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830" dirty="0"/>
          </a:p>
        </p:txBody>
      </p:sp>
      <p:sp>
        <p:nvSpPr>
          <p:cNvPr id="46" name="Shape 44"/>
          <p:cNvSpPr/>
          <p:nvPr/>
        </p:nvSpPr>
        <p:spPr>
          <a:xfrm>
            <a:off x="333756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7413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Defend, attack, repair or exit?</a:t>
            </a:r>
            <a:endParaRPr lang="en-US" sz="830" dirty="0"/>
          </a:p>
        </p:txBody>
      </p:sp>
      <p:sp>
        <p:nvSpPr>
          <p:cNvPr id="48" name="Shape 46"/>
          <p:cNvSpPr/>
          <p:nvPr/>
        </p:nvSpPr>
        <p:spPr>
          <a:xfrm>
            <a:off x="5989320" y="4591594"/>
            <a:ext cx="2651760" cy="57476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25896" y="4637314"/>
            <a:ext cx="2578608" cy="48332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3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Allocate resources deliberately.</a:t>
            </a:r>
            <a:endParaRPr lang="en-US" sz="830" dirty="0"/>
          </a:p>
        </p:txBody>
      </p:sp>
      <p:sp>
        <p:nvSpPr>
          <p:cNvPr id="50" name="Text 48"/>
          <p:cNvSpPr/>
          <p:nvPr/>
        </p:nvSpPr>
        <p:spPr>
          <a:xfrm>
            <a:off x="9006840" y="141732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Each team should submit one strategic hypothesis, one falsifying metric and one operating guardrail.
</a:t>
            </a:r>
            <a:pPr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The next round is not a chance to explain better; it is a chance to decide better.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006840" y="3840480"/>
            <a:ext cx="2560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First-principles prompt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9006840" y="4005072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 rule converts learning into managerial discipline.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What is your non-negotiable guardrail?    › Which Round 5 decision has the largest irreversible downside?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594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Closing reflection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594360" y="1143000"/>
            <a:ext cx="8961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strongest team is not the boldest. It is the most coherent.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6324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Coherence is the discipline of making market, technology, production, finance and risk choices point in the same direction.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365760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5DD"/>
                </a:solidFill>
              </a:rPr>
              <a:t>Round 5 assignment: one strategic hypothesis, one falsifying metric, one operating guardrail.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D5DD"/>
                </a:solidFill>
              </a:rPr>
              <a:t>Socratic closing: What will your team stop doing immediately? What evidence will prove your Round 5 strategy is working?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25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CESIM Round 4 Debrief</dc:title>
  <dc:subject>CESIM Global Challenge debrief</dc:subject>
  <dc:creator>OpenAI</dc:creator>
  <cp:lastModifiedBy>OpenAI</cp:lastModifiedBy>
  <cp:revision>1</cp:revision>
  <dcterms:created xsi:type="dcterms:W3CDTF">2026-08-17T09:43:37Z</dcterms:created>
  <dcterms:modified xsi:type="dcterms:W3CDTF">2026-08-17T09:43:37Z</dcterms:modified>
</cp:coreProperties>
</file>