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CESIM Global Challenge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U2 • Round 4 Comparative Debrief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0D5DD"/>
                </a:solidFill>
              </a:rPr>
              <a:t>GL Sec C Group July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9443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Core teaching question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Which Round 4 decisions converted activity into durable shareholder value, and which choices weakened credibility for the next round?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3093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5DD"/>
                </a:solidFill>
              </a:rPr>
              <a:t>Subtle executive template • strong foreground–background contrast • rank flow and causal diagnosis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309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5DD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read Round 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 with the causal chain; do not stop at rank.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325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Decision-to-value chain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1874520"/>
            <a:ext cx="685800" cy="502920"/>
          </a:xfrm>
          <a:prstGeom prst="roundRect">
            <a:avLst>
              <a:gd name="adj" fmla="val 9091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3816" y="198424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3233A"/>
                </a:solidFill>
              </a:rPr>
              <a:t>Assumption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490472" y="201168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00200" y="1874520"/>
            <a:ext cx="685800" cy="502920"/>
          </a:xfrm>
          <a:prstGeom prst="roundRect">
            <a:avLst>
              <a:gd name="adj" fmla="val 9091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636776" y="198424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3233A"/>
                </a:solidFill>
              </a:rPr>
              <a:t>Decision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313432" y="201168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23160" y="1874520"/>
            <a:ext cx="685800" cy="502920"/>
          </a:xfrm>
          <a:prstGeom prst="roundRect">
            <a:avLst>
              <a:gd name="adj" fmla="val 9091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459736" y="198424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3233A"/>
                </a:solidFill>
              </a:rPr>
              <a:t>Operations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136392" y="201168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1874520"/>
            <a:ext cx="685800" cy="502920"/>
          </a:xfrm>
          <a:prstGeom prst="roundRect">
            <a:avLst>
              <a:gd name="adj" fmla="val 9091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282696" y="198424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3233A"/>
                </a:solidFill>
              </a:rPr>
              <a:t>Market response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959352" y="201168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069080" y="1874520"/>
            <a:ext cx="685800" cy="502920"/>
          </a:xfrm>
          <a:prstGeom prst="roundRect">
            <a:avLst>
              <a:gd name="adj" fmla="val 9091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105656" y="198424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3233A"/>
                </a:solidFill>
              </a:rPr>
              <a:t>Cash/Risk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82312" y="201168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1874520"/>
            <a:ext cx="685800" cy="502920"/>
          </a:xfrm>
          <a:prstGeom prst="roundRect">
            <a:avLst>
              <a:gd name="adj" fmla="val 9091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928616" y="198424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3233A"/>
                </a:solidFill>
              </a:rPr>
              <a:t>Valuation/TSR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400800" y="114300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629400" y="1325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Team-name continuity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29400" y="1691640"/>
            <a:ext cx="2194560" cy="50292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665976" y="17373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R1/R2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823960" y="1691640"/>
            <a:ext cx="2194560" cy="50292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860536" y="17373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R3/R4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629400" y="219456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665976" y="224028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Vijay Mallya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823960" y="219456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860536" y="224028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" y="3794760"/>
            <a:ext cx="5486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Cumulative TSR is the ranking criterion, but Round 4 movements also require share price, market cap, margins, cash and risk.
</a:t>
            </a:r>
            <a:pPr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Percentage-point changes are used for ROS, ROCE and market share.
</a:t>
            </a:r>
            <a:pPr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Loss-to-profit movement is treated as a turnaround, not conventional percentage growth.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3840480"/>
            <a:ext cx="4846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400800" y="40050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Round 4 answer explains mechanism: which assumption changed, which decision followed, which metric moved, and what risk remains.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Round 3 assumption did your team carry into Round 4?    › Which evidence now confirms or rejects it?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Universe-level movement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universe changed scale, profitability, investment intensity and market value.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430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4088" y="125272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revenue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4088" y="1527048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12.0m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192938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13.9m in R3 • -13.4%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880360" y="11430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990088" y="125272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90088" y="1527048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90088" y="192938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2.1m in R3 • -45.6%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5166360" y="11430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76088" y="125272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76088" y="1527048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1.9m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76088" y="192938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2.8m in R3 • -33.1%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7452360" y="11430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562088" y="125272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62088" y="1527048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62088" y="192938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2.0m in R3 • +54.6%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9738360" y="11430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848088" y="125272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cap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848088" y="1527048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43.3m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848088" y="192938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62.6m in R3 • -30.8%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685800" y="2770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63001" y="2770632"/>
            <a:ext cx="688683" cy="249631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848502" y="27706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-13.4%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" y="31638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7724" y="3163824"/>
            <a:ext cx="2343959" cy="249631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848502" y="31638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-45.6%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" y="3557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249425" y="3557016"/>
            <a:ext cx="1702258" cy="249631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848502" y="35570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-33.1%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" y="3950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951683" y="3950208"/>
            <a:ext cx="2805379" cy="249631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848502" y="3950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+54.6%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800" y="43434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cap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368154" y="4343400"/>
            <a:ext cx="1583529" cy="249631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848502" y="4343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-30.8%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951683" y="2743200"/>
            <a:ext cx="0" cy="205740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492240" y="2788920"/>
            <a:ext cx="47548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Universe 2 lost sales, profit and market capitalisation from Round 3 to Round 4. The question is whether this is a temporary correction or a structural weakening of competitive quality.
</a:t>
            </a:r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average can conceal crisis cases. Read the movement by team and by causal driver.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92240" y="4251960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492240" y="44165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universe is healthy only when sales convert into margin, cash and risk-adjusted value. Bigger activity is not automatically better value.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movement is most worrying: profit, inventory, R&amp;D, or market value?    › Does the universe look more disciplined than in Round 3?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leaderboard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by cumulative total shareholder return (p.a.).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31520" y="1261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 Lehman Bros.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74213" y="1261872"/>
            <a:ext cx="2900477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066130" y="1261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22.3%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8943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 Blues Clues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74213" y="1894332"/>
            <a:ext cx="909237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066130" y="18943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25267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3rd Satyam 2.0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74213" y="2526792"/>
            <a:ext cx="738044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066130" y="25267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31592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4th T5S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074213" y="3159252"/>
            <a:ext cx="213794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66130" y="31592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" y="37917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5th SEBI's Watchlist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45077" y="3791712"/>
            <a:ext cx="529136" cy="32918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066130" y="3791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-4.1%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44241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6th Green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61090" y="4424172"/>
            <a:ext cx="1013123" cy="32918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66130" y="44241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-7.8%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074213" y="1234440"/>
            <a:ext cx="0" cy="388620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675120" y="128016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84848" y="138988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784848" y="1664208"/>
            <a:ext cx="2066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84848" y="20665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22.3% TSR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9144000" y="128016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253728" y="138988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Deepest trouble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253728" y="1664208"/>
            <a:ext cx="2066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53728" y="20665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-7.8% TSR</a:t>
            </a:r>
            <a:endParaRPr lang="en-US" sz="770" dirty="0"/>
          </a:p>
        </p:txBody>
      </p:sp>
      <p:sp>
        <p:nvSpPr>
          <p:cNvPr id="35" name="Text 33"/>
          <p:cNvSpPr/>
          <p:nvPr/>
        </p:nvSpPr>
        <p:spPr>
          <a:xfrm>
            <a:off x="6766560" y="2743200"/>
            <a:ext cx="44805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Lehman Bros. leads the formal ranking, but the leader's sustainability must be tested against margins, cash and risk.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Green has the weakest investor confidence signal and needs a rescue logic, not cosmetic adjustment.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66560" y="4251960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766560" y="44165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is a symptom. The managerial explanation lies in customer capture, margin conversion, capital discipline and risk.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Why is Lehman Bros. leading on TSR?    › What evidence would make you distrust the rank table?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movement: Round 1 → Round 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flow map shows learning, compounding, collapse and recovery.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" y="1143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81400" y="1143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94120" y="1143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006840" y="1143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1371600"/>
            <a:ext cx="813816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129844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1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005840" y="2093976"/>
            <a:ext cx="813816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202082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2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05840" y="2816352"/>
            <a:ext cx="813816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274320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3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005840" y="3538728"/>
            <a:ext cx="813816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346557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4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005840" y="4261104"/>
            <a:ext cx="813816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418795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5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005840" y="4983480"/>
            <a:ext cx="813816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" y="491032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6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005840" y="2093976"/>
            <a:ext cx="2712720" cy="2167128"/>
          </a:xfrm>
          <a:prstGeom prst="line">
            <a:avLst/>
          </a:prstGeom>
          <a:noFill/>
          <a:ln w="12700">
            <a:solidFill>
              <a:srgbClr val="0F766E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718560" y="4261104"/>
            <a:ext cx="2712720" cy="722376"/>
          </a:xfrm>
          <a:prstGeom prst="line">
            <a:avLst/>
          </a:prstGeom>
          <a:noFill/>
          <a:ln w="12700">
            <a:solidFill>
              <a:srgbClr val="0F766E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431280" y="4983480"/>
            <a:ext cx="2712720" cy="0"/>
          </a:xfrm>
          <a:prstGeom prst="line">
            <a:avLst/>
          </a:prstGeom>
          <a:noFill/>
          <a:ln w="12700">
            <a:solidFill>
              <a:srgbClr val="0F766E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50976" y="2039112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663696" y="4206240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376416" y="492861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089136" y="492861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235440" y="48920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1005840" y="3538728"/>
            <a:ext cx="2712720" cy="-1444752"/>
          </a:xfrm>
          <a:prstGeom prst="line">
            <a:avLst/>
          </a:prstGeom>
          <a:noFill/>
          <a:ln w="12700">
            <a:solidFill>
              <a:srgbClr val="2563EB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718560" y="2093976"/>
            <a:ext cx="2712720" cy="-722376"/>
          </a:xfrm>
          <a:prstGeom prst="line">
            <a:avLst/>
          </a:prstGeom>
          <a:noFill/>
          <a:ln w="12700">
            <a:solidFill>
              <a:srgbClr val="2563EB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431280" y="1371600"/>
            <a:ext cx="2712720" cy="1444752"/>
          </a:xfrm>
          <a:prstGeom prst="line">
            <a:avLst/>
          </a:prstGeom>
          <a:noFill/>
          <a:ln w="12700">
            <a:solidFill>
              <a:srgbClr val="2563EB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50976" y="348386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663696" y="20391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376416" y="131673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089136" y="276148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235440" y="27249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1005840" y="4983480"/>
            <a:ext cx="2712720" cy="0"/>
          </a:xfrm>
          <a:prstGeom prst="line">
            <a:avLst/>
          </a:prstGeom>
          <a:noFill/>
          <a:ln w="12700">
            <a:solidFill>
              <a:srgbClr val="6D28D9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3718560" y="4983480"/>
            <a:ext cx="2712720" cy="-722376"/>
          </a:xfrm>
          <a:prstGeom prst="line">
            <a:avLst/>
          </a:prstGeom>
          <a:noFill/>
          <a:ln w="12700">
            <a:solidFill>
              <a:srgbClr val="6D28D9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431280" y="4261104"/>
            <a:ext cx="2712720" cy="-2167128"/>
          </a:xfrm>
          <a:prstGeom prst="line">
            <a:avLst/>
          </a:prstGeom>
          <a:noFill/>
          <a:ln w="12700">
            <a:solidFill>
              <a:srgbClr val="6D28D9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950976" y="4928616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3663696" y="4928616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376416" y="4206240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9089136" y="2039112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9235440" y="20025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1005840" y="1371600"/>
            <a:ext cx="2712720" cy="0"/>
          </a:xfrm>
          <a:prstGeom prst="line">
            <a:avLst/>
          </a:prstGeom>
          <a:noFill/>
          <a:ln w="12700">
            <a:solidFill>
              <a:srgbClr val="B45309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3718560" y="1371600"/>
            <a:ext cx="2712720" cy="1444752"/>
          </a:xfrm>
          <a:prstGeom prst="line">
            <a:avLst/>
          </a:prstGeom>
          <a:noFill/>
          <a:ln w="12700">
            <a:solidFill>
              <a:srgbClr val="B45309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6431280" y="2816352"/>
            <a:ext cx="2712720" cy="-1444752"/>
          </a:xfrm>
          <a:prstGeom prst="line">
            <a:avLst/>
          </a:prstGeom>
          <a:noFill/>
          <a:ln w="12700">
            <a:solidFill>
              <a:srgbClr val="B45309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950976" y="1316736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3663696" y="1316736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6376416" y="2761488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089136" y="1316736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9235440" y="12801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1005840" y="2816352"/>
            <a:ext cx="2712720" cy="722376"/>
          </a:xfrm>
          <a:prstGeom prst="line">
            <a:avLst/>
          </a:prstGeom>
          <a:noFill/>
          <a:ln w="12700">
            <a:solidFill>
              <a:srgbClr val="15803D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3718560" y="3538728"/>
            <a:ext cx="2712720" cy="0"/>
          </a:xfrm>
          <a:prstGeom prst="line">
            <a:avLst/>
          </a:prstGeom>
          <a:noFill/>
          <a:ln w="12700">
            <a:solidFill>
              <a:srgbClr val="15803D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6431280" y="3538728"/>
            <a:ext cx="2712720" cy="0"/>
          </a:xfrm>
          <a:prstGeom prst="line">
            <a:avLst/>
          </a:prstGeom>
          <a:noFill/>
          <a:ln w="12700">
            <a:solidFill>
              <a:srgbClr val="15803D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950976" y="2761488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3663696" y="3483864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6376416" y="3483864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9089136" y="3483864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9235440" y="3447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1005840" y="4261104"/>
            <a:ext cx="2712720" cy="-1444752"/>
          </a:xfrm>
          <a:prstGeom prst="line">
            <a:avLst/>
          </a:prstGeom>
          <a:noFill/>
          <a:ln w="12700">
            <a:solidFill>
              <a:srgbClr val="B4231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3718560" y="2816352"/>
            <a:ext cx="2712720" cy="-722376"/>
          </a:xfrm>
          <a:prstGeom prst="line">
            <a:avLst/>
          </a:prstGeom>
          <a:noFill/>
          <a:ln w="12700">
            <a:solidFill>
              <a:srgbClr val="B4231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6431280" y="2093976"/>
            <a:ext cx="2712720" cy="2167128"/>
          </a:xfrm>
          <a:prstGeom prst="line">
            <a:avLst/>
          </a:prstGeom>
          <a:noFill/>
          <a:ln w="12700">
            <a:solidFill>
              <a:srgbClr val="B4231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950976" y="4206240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3663696" y="2761488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6376416" y="2039112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9089136" y="4206240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9235440" y="41696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9464040" y="1371600"/>
            <a:ext cx="762000" cy="333103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9500616" y="1417320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0226040" y="1371600"/>
            <a:ext cx="762000" cy="333103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10262616" y="1417320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R3→R4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988040" y="1371600"/>
            <a:ext cx="762000" cy="333103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11024616" y="1417320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9464040" y="1704703"/>
            <a:ext cx="762000" cy="333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9500616" y="1750423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0226040" y="1704703"/>
            <a:ext cx="762000" cy="333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10262616" y="1750423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5th → 2nd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0988040" y="1704703"/>
            <a:ext cx="762000" cy="333103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11024616" y="1750423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9464040" y="2037806"/>
            <a:ext cx="762000" cy="333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9500616" y="2083526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10226040" y="2037806"/>
            <a:ext cx="762000" cy="333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10262616" y="2083526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3rd → 1st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10988040" y="2037806"/>
            <a:ext cx="762000" cy="333103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11024616" y="2083526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9464040" y="2370909"/>
            <a:ext cx="762000" cy="333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9500616" y="2416629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0226040" y="2370909"/>
            <a:ext cx="762000" cy="333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10262616" y="2416629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6th → 6th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10988040" y="2370909"/>
            <a:ext cx="762000" cy="333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11024616" y="2416629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9464040" y="2704011"/>
            <a:ext cx="762000" cy="333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9500616" y="2749731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10226040" y="2704011"/>
            <a:ext cx="762000" cy="333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10262616" y="2749731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4th → 4th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10988040" y="2704011"/>
            <a:ext cx="762000" cy="333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11024616" y="2749731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9464040" y="3037114"/>
            <a:ext cx="762000" cy="333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03" name="Text 101"/>
          <p:cNvSpPr/>
          <p:nvPr/>
        </p:nvSpPr>
        <p:spPr>
          <a:xfrm>
            <a:off x="9500616" y="3082834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10226040" y="3037114"/>
            <a:ext cx="762000" cy="333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10262616" y="3082834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 → 3rd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10988040" y="3037114"/>
            <a:ext cx="762000" cy="333103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07" name="Text 105"/>
          <p:cNvSpPr/>
          <p:nvPr/>
        </p:nvSpPr>
        <p:spPr>
          <a:xfrm>
            <a:off x="11024616" y="3082834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9464040" y="3370217"/>
            <a:ext cx="762000" cy="333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09" name="Text 107"/>
          <p:cNvSpPr/>
          <p:nvPr/>
        </p:nvSpPr>
        <p:spPr>
          <a:xfrm>
            <a:off x="9500616" y="3415937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10226040" y="3370217"/>
            <a:ext cx="762000" cy="333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10262616" y="3415937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 → 5th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10988040" y="3370217"/>
            <a:ext cx="762000" cy="333103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13" name="Text 111"/>
          <p:cNvSpPr/>
          <p:nvPr/>
        </p:nvSpPr>
        <p:spPr>
          <a:xfrm>
            <a:off x="11024616" y="3415937"/>
            <a:ext cx="688848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1005840" y="5166360"/>
            <a:ext cx="5852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1005840" y="533095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can improve operationally and still lose relative rank if competitors improve faster, or if cumulative TSR compresses.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117" name="Text 115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movement is true learning rather than temporary recovery?    › Which rank loss hides an operational improvement?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Round 4 managerial puzzle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Profit, share, value and rank tell different stories.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34416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profit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49808" y="1618488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02082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355848" y="134416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market cap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55848" y="1618488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55848" y="202082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13m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5852160" y="12344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61888" y="134416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share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61888" y="1618488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61888" y="202082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34.7%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458200" y="12344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567928" y="134416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ROCE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567928" y="1618488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67928" y="202082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15.7%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822960" y="274320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286000" y="49834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Global share (%)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40080" y="25146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 (%)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478038" y="4387717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615198" y="437857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Green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2966175" y="4873752"/>
            <a:ext cx="128016" cy="12801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103335" y="48646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Satyam 2.0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5879592" y="4114838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016752" y="410569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Blues Clues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4388904" y="4217960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526064" y="420881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Lehman Bros.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2023599" y="3333220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160759" y="332407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T5S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2592395" y="267919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729555" y="26700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SEBI's Watchlist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6400800" y="2788920"/>
            <a:ext cx="47548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Accounting profit answers what was earned this round; valuation asks whether cash flows are repeatable after risk.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Strong share without margins becomes pressure. High margin without future option value can become vulnerability.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00800" y="4114800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00800" y="42793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strategy is the coherent system, not the highest single metric.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team has the most coherent value story?    › Which metric flatters your team but hides the biggest risk?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comparison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is price × volume × mix; it is not a strategy by itself.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1170432"/>
            <a:ext cx="596739" cy="203073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83480" y="1170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0.7bn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490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1490472"/>
            <a:ext cx="1453009" cy="203073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83480" y="14904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1.8bn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810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51760" y="1810512"/>
            <a:ext cx="3344875" cy="203073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83480" y="18105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4.1bn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2130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51760" y="2130552"/>
            <a:ext cx="2255508" cy="203073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83480" y="2130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2.8bn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2450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51760" y="2450592"/>
            <a:ext cx="690617" cy="203073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83480" y="24505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0.9bn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2770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2770632"/>
            <a:ext cx="1368288" cy="203073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83480" y="27706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1.7bn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267282" y="3685032"/>
            <a:ext cx="1684401" cy="15354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848502" y="3685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-0.7bn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3928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5749" y="3928872"/>
            <a:ext cx="2485934" cy="15354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848502" y="3928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-1.0bn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4172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951683" y="4172712"/>
            <a:ext cx="1513527" cy="15354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848502" y="4172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+0.6bn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" y="4416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951683" y="4416552"/>
            <a:ext cx="2743487" cy="15354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848502" y="4416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+1.1bn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4660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61818" y="4660392"/>
            <a:ext cx="2089865" cy="15354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848502" y="46603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-0.8bn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" y="4904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46304" y="4904232"/>
            <a:ext cx="2805379" cy="15354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848502" y="49042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-1.1bn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951683" y="3657600"/>
            <a:ext cx="0" cy="15544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92240" y="1417320"/>
            <a:ext cx="4663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Blues Clues has the largest Round 4 revenue base.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Lehman Bros. added the most revenue from Round 3 to Round 4.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next question is whether this revenue converted into margin and risk-adjusted value.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92240" y="365760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492240" y="382219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growth is valuable only when the additional volume earns contribution after price, features, production, logistics and promotion.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Whose growth was value-accretive?    › Whose revenue growth created operating stress?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comparison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reveals the quality of conversion from sales into economics.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51683" y="1170432"/>
            <a:ext cx="108268" cy="20307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848502" y="1170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+0.0bn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490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42371" y="1490472"/>
            <a:ext cx="9312" cy="20307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848502" y="14904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-0.0bn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810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51683" y="1810512"/>
            <a:ext cx="959619" cy="20307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848502" y="18105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+0.3bn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2130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51683" y="2130552"/>
            <a:ext cx="557197" cy="20307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848502" y="2130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+0.2bn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2450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51683" y="2450592"/>
            <a:ext cx="406751" cy="20307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848502" y="24505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+0.1bn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2770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51683" y="2770632"/>
            <a:ext cx="1151734" cy="20307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848502" y="27706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+0.4bn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951683" y="1143000"/>
            <a:ext cx="0" cy="20116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85800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951683" y="3685032"/>
            <a:ext cx="689154" cy="15354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848502" y="3685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+0.2bn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" y="3928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02745" y="3928872"/>
            <a:ext cx="1948938" cy="15354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848502" y="3928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-0.7bn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" y="4172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059908" y="4172712"/>
            <a:ext cx="891775" cy="15354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848502" y="4172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-0.3bn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" y="4416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951683" y="4416552"/>
            <a:ext cx="247596" cy="15354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848502" y="4416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+0.1bn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" y="4660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786200" y="4660392"/>
            <a:ext cx="1165483" cy="15354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848502" y="46603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-0.4bn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" y="4904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951683" y="4904232"/>
            <a:ext cx="407236" cy="15354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848502" y="49042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+0.1bn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951683" y="3657600"/>
            <a:ext cx="0" cy="15544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492240" y="1417320"/>
            <a:ext cx="4663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SEBI's Watchlist produced the highest Round 4 profit.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Satyam 2.0 has the largest Round 4 loss.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must be read together with R&amp;D timing, inventory, financing and future option value.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92240" y="365760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492240" y="382219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is a residual: reverse-engineer it into price, volume, unit cost, features, R&amp;D, promotion, financing and tax.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cost line explains your profit change?    › Was profit sacrificed deliberately or accidentally?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share battle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is valuable only when it improves learning, scale and future cash flow.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1170432"/>
            <a:ext cx="469717" cy="20802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83480" y="1170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4.9%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4980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1498092"/>
            <a:ext cx="1441790" cy="20802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83480" y="14980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14.9%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825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51760" y="1825752"/>
            <a:ext cx="3344875" cy="20802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83480" y="18257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34.7%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21534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51760" y="2153412"/>
            <a:ext cx="2371136" cy="20802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83480" y="21534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24.6%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2481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51760" y="2481072"/>
            <a:ext cx="826086" cy="20802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83480" y="2481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8.6%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28087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2808732"/>
            <a:ext cx="1197631" cy="20802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83480" y="28087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12.4%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50688" y="3685032"/>
            <a:ext cx="800995" cy="14859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848502" y="3685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-3.8 pp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39212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435377" y="3921252"/>
            <a:ext cx="1516306" cy="14859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848502" y="39212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-7.1 pp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4157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951683" y="4157472"/>
            <a:ext cx="2009000" cy="14859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848502" y="41574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+9.5 pp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" y="43936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951683" y="4393692"/>
            <a:ext cx="2805379" cy="14859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848502" y="43936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+13.2 pp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4629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728444" y="4629912"/>
            <a:ext cx="1223239" cy="14859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848502" y="46299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-5.8 pp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" y="48661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677476" y="4866132"/>
            <a:ext cx="1274207" cy="14859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848502" y="48661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-6.0 pp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951683" y="3657600"/>
            <a:ext cx="0" cy="150876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92240" y="1417320"/>
            <a:ext cx="4663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Lehman Bros. gained the most global share.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Satyam 2.0 lost the most share.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Share must be tested against ROS, ROCE, inventory and cash conversion.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92240" y="365760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492240" y="382219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do not reward market-share ambition; they reward a value proposition. The firm must then convert the demand profitably.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team bought share too expensively?    › Which team should protect margin before chasing share?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battle map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three regions are different demand systems.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1371600" cy="54864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22376" y="11887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57400" y="1143000"/>
            <a:ext cx="1371600" cy="54864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093976" y="11887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29000" y="1143000"/>
            <a:ext cx="1371600" cy="54864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65576" y="11887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143000"/>
            <a:ext cx="1371600" cy="54864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37176" y="11887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" y="169164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22376" y="17373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057400" y="1691640"/>
            <a:ext cx="1371600" cy="54864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093976" y="17373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29000" y="1691640"/>
            <a:ext cx="1371600" cy="54864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465576" y="17373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00600" y="1691640"/>
            <a:ext cx="1371600" cy="54864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37176" y="17373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6.3%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" y="224028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22376" y="22860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57400" y="224028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093976" y="22860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14.2%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29000" y="224028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465576" y="22860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15.1%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00600" y="224028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837176" y="22860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15.4%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5800" y="278892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22376" y="28346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057400" y="2788920"/>
            <a:ext cx="1371600" cy="54864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093976" y="28346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42.2%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29000" y="2788920"/>
            <a:ext cx="1371600" cy="54864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465576" y="28346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27.0%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00600" y="2788920"/>
            <a:ext cx="1371600" cy="54864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837176" y="28346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43.3%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5800" y="333756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22376" y="3383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057400" y="333756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093976" y="3383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429000" y="3337560"/>
            <a:ext cx="1371600" cy="54864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465576" y="3383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25.8%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00600" y="3337560"/>
            <a:ext cx="1371600" cy="54864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837176" y="3383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26.6%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5800" y="388620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22376" y="39319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057400" y="3886200"/>
            <a:ext cx="1371600" cy="54864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093976" y="39319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4.7%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429000" y="388620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465576" y="39319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13.8%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00600" y="3886200"/>
            <a:ext cx="1371600" cy="54864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837176" y="39319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85800" y="443484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22376" y="4480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057400" y="443484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2093976" y="4480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14.8%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429000" y="443484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465576" y="4480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13.8%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00600" y="4434840"/>
            <a:ext cx="1371600" cy="54864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4837176" y="4480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7.1%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492240" y="1371600"/>
            <a:ext cx="46634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 leader: Blues Clues.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Asia leader: Blues Clues.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Europe leader: Blues Clues.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Round 5 choices should define defend, attack, repair, harvest or exit by region.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492240" y="365760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492240" y="382219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global strategy fails when it treats USA, Asia and Europe as one average customer.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region is your economic engine?    › Which region is your trap?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and option discipline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spending must become commercialisation, not just capability ownership.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1170432"/>
            <a:ext cx="59653" cy="20802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83480" y="1170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0.0bn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4980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1498092"/>
            <a:ext cx="1471745" cy="20802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83480" y="14980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0.4bn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825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51760" y="1825752"/>
            <a:ext cx="2554147" cy="20802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83480" y="18257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0.8bn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21534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51760" y="2153412"/>
            <a:ext cx="2146970" cy="20802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83480" y="21534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0.6bn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2481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51760" y="2481072"/>
            <a:ext cx="59653" cy="20802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83480" y="2481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0.0bn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28087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2808732"/>
            <a:ext cx="0" cy="20802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83480" y="28087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0.0bn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" y="3703320"/>
            <a:ext cx="5394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286000" y="53492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R&amp;D intensity (%)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2920" y="34747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ROCE (%)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154237" y="4564654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291397" y="455551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Green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6016752" y="490787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153912" y="48987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Satyam 2.0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4688938" y="3860750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826098" y="385160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Blues Clues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5691763" y="4247336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828923" y="423819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Lehman Bros.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1081860" y="4370325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219020" y="436118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T5S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621792" y="363931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58952" y="36301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SEBI's Watchlist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649224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Blues Clues has the highest Round 4 R&amp;D spend.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R&amp;D is expensed now but may create future options if aligned with market readiness and fulfilment capacity.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 R&amp;D is not good or bad by itself; conversion is the test.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92240" y="365760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492240" y="382219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technology option has value only when demand, product readiness, capacity, cash and risk can carry it to market.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When is R&amp;D an investment rather than a cost?    › What evidence should govern R&amp;D timing?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 and capital discipline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 and ROCE separate attractive growth from expensive movement.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1298448" cy="54864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22376" y="11887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84248" y="1143000"/>
            <a:ext cx="1298448" cy="54864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020824" y="11887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82696" y="1143000"/>
            <a:ext cx="1298448" cy="54864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319272" y="11887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ROS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81144" y="1143000"/>
            <a:ext cx="1298448" cy="54864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17720" y="11887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79592" y="1143000"/>
            <a:ext cx="1298448" cy="54864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16168" y="11887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ROCE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" y="169164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22376" y="17373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84248" y="169164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20824" y="17373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82696" y="1691640"/>
            <a:ext cx="1298448" cy="54864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319272" y="17373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+20.1 pp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81144" y="169164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17720" y="17373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6.6%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879592" y="1691640"/>
            <a:ext cx="1298448" cy="54864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916168" y="17373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+8.7 pp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5800" y="224028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22376" y="22860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84248" y="224028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020824" y="22860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-0.2%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82696" y="2240280"/>
            <a:ext cx="1298448" cy="54864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319272" y="22860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-25.2 pp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81144" y="224028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617720" y="22860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79592" y="2240280"/>
            <a:ext cx="1298448" cy="54864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916168" y="22860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-29.3 pp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5800" y="278892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22376" y="283464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984248" y="278892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020824" y="283464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8.3%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82696" y="2788920"/>
            <a:ext cx="1298448" cy="54864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319272" y="283464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 pp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81144" y="278892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617720" y="283464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13.5%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879592" y="2788920"/>
            <a:ext cx="1298448" cy="54864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916168" y="283464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-12.1 pp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5800" y="333756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22376" y="338328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984248" y="333756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020824" y="338328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82696" y="333756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319272" y="338328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+0.7 pp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81144" y="333756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617720" y="338328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879592" y="333756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916168" y="338328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+3.3 pp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85800" y="388620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22376" y="39319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984248" y="388620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020824" y="39319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17.0%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282696" y="3886200"/>
            <a:ext cx="1298448" cy="54864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319272" y="39319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-16.7 pp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581144" y="388620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617720" y="39319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8.5%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879592" y="3886200"/>
            <a:ext cx="1298448" cy="54864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5916168" y="39319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-25.9 pp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85800" y="443484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722376" y="44805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984248" y="443484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2020824" y="44805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24.2%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282696" y="4434840"/>
            <a:ext cx="1298448" cy="54864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3319272" y="44805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+14.7 pp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581144" y="443484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4617720" y="44805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15.7%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879592" y="4434840"/>
            <a:ext cx="12984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5916168" y="44805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-0.3 pp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543800" y="1417320"/>
            <a:ext cx="39319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Best ROS: SEBI's Watchlist.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Best ROCE: SEBI's Watchlist.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capital-intensive strategy must defend ROCE, not just sales.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7543800" y="3657600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543800" y="38221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 asks what the team keeps from sales; ROCE asks whether the capital base earns an acceptable return.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metric should govern your next decision: ROS or ROCE?    › Where did capital become trapped without return?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and cash-flow risk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is a deferred judgement about demand.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1170432"/>
            <a:ext cx="3344875" cy="18821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83480" y="1170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1.3bn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4676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1467612"/>
            <a:ext cx="758412" cy="18821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83480" y="14676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0.3bn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764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51760" y="1764792"/>
            <a:ext cx="0" cy="18821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83480" y="17647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0.0bn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20619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51760" y="2061972"/>
            <a:ext cx="214082" cy="18821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83480" y="20619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0.1bn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2359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51760" y="2359152"/>
            <a:ext cx="852118" cy="18821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83480" y="2359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0.3bn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2656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2656332"/>
            <a:ext cx="2843459" cy="18821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83480" y="26563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1.1bn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3547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35237" y="3547872"/>
            <a:ext cx="2016446" cy="1783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848502" y="3547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-0.7bn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38298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3214" y="3829812"/>
            <a:ext cx="2288469" cy="1783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848502" y="38298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-0.8bn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4111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911481" y="4111752"/>
            <a:ext cx="40203" cy="1783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848502" y="41117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-0.0bn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" y="43936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951683" y="4393692"/>
            <a:ext cx="550686" cy="1783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848502" y="43936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+0.2bn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4675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75680" y="4675632"/>
            <a:ext cx="2176004" cy="1783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848502" y="46756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-0.8bn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" y="49575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46304" y="4957572"/>
            <a:ext cx="2805379" cy="1783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848502" y="49575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-1.0bn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951683" y="3520440"/>
            <a:ext cx="0" cy="17830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92240" y="1417320"/>
            <a:ext cx="4663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Green carries the largest inventory balance.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SEBI's Watchlist has the weakest cash flow before financing.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Inventory can be a strategic buffer only if it matches verified future demand.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92240" y="365760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492240" y="382219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flow tells whether the strategy can survive the time lag between spending and payoff.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When is inventory a warning signal?    › Which cash problem is temporary investment and which is operating weakness?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Financing risk and valuation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changes the value of the same future cash flow.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1371600" cy="555171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22376" y="1188720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057400" y="1143000"/>
            <a:ext cx="1371600" cy="555171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093976" y="1188720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429000" y="1143000"/>
            <a:ext cx="1371600" cy="555171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65576" y="1188720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debt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800600" y="1143000"/>
            <a:ext cx="1371600" cy="555171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37176" y="1188720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cap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172200" y="1143000"/>
            <a:ext cx="1371600" cy="555171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08776" y="1188720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price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85800" y="1698171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22376" y="1743891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057400" y="1698171"/>
            <a:ext cx="1371600" cy="55517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93976" y="1743891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BB-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429000" y="1698171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465576" y="1743891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1m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800600" y="1698171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37176" y="1743891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4m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172200" y="1698171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208776" y="1743891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136.5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85800" y="2253343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22376" y="2299063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2057400" y="2253343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093976" y="2299063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A+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3429000" y="2253343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465576" y="2299063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800600" y="2253343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837176" y="2299063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7m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6172200" y="2253343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208776" y="2299063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235.5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685800" y="2808514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22376" y="2854234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2057400" y="2808514"/>
            <a:ext cx="1371600" cy="555171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093976" y="2854234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AA-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3429000" y="2808514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465576" y="2854234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800600" y="2808514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837176" y="2854234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10m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6172200" y="2808514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208776" y="2854234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247.5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685800" y="3363686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22376" y="3409406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2057400" y="3363686"/>
            <a:ext cx="1371600" cy="555171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093976" y="3409406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AA+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3429000" y="3363686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465576" y="3409406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4800600" y="3363686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837176" y="3409406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13m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6172200" y="3363686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208776" y="3409406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419.7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685800" y="3918857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22376" y="3964577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2057400" y="3918857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093976" y="3964577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3429000" y="3918857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465576" y="3964577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4800600" y="3918857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837176" y="3964577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6m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6172200" y="3918857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6208776" y="3964577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197.7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685800" y="4474029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722376" y="4519749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2057400" y="4474029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2093976" y="4519749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A+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3429000" y="4474029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3465576" y="4519749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2m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4800600" y="4474029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4837176" y="4519749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5m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6172200" y="4474029"/>
            <a:ext cx="1371600" cy="55517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6208776" y="4519749"/>
            <a:ext cx="129844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159.9</a:t>
            </a:r>
            <a:endParaRPr lang="en-US" sz="780" dirty="0"/>
          </a:p>
        </p:txBody>
      </p:sp>
      <p:sp>
        <p:nvSpPr>
          <p:cNvPr id="78" name="Text 76"/>
          <p:cNvSpPr/>
          <p:nvPr/>
        </p:nvSpPr>
        <p:spPr>
          <a:xfrm>
            <a:off x="7818120" y="1417320"/>
            <a:ext cx="3657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Highest market capitalisation: Lehman Bros..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Largest unplanned short-term debt: SEBI's Watchlist.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Credit rating and debt enter valuation by raising required return and reducing equity value.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7818120" y="365760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818120" y="38221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Valuation: expected cash flows → risk adjustment → enterprise value → debt/cash adjustment → equity value → share price → TSR.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Why can the same profit be worth less under higher risk?    › Is debt here planned leverage or emergency financing?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scorecard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view of who improved where from Round 3 to Round 4.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097280"/>
            <a:ext cx="914400" cy="600891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0936" y="1143000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1508760" y="1097280"/>
            <a:ext cx="914400" cy="600891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545336" y="1143000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423160" y="1097280"/>
            <a:ext cx="914400" cy="600891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59736" y="1143000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337560" y="1097280"/>
            <a:ext cx="914400" cy="600891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374136" y="1143000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251960" y="1097280"/>
            <a:ext cx="914400" cy="600891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88536" y="1143000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5166360" y="1097280"/>
            <a:ext cx="914400" cy="600891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02936" y="1143000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080760" y="1097280"/>
            <a:ext cx="914400" cy="600891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117336" y="1143000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995160" y="1097280"/>
            <a:ext cx="914400" cy="600891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031736" y="1143000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594360" y="1698171"/>
            <a:ext cx="914400" cy="600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30936" y="1743891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1508760" y="1698171"/>
            <a:ext cx="914400" cy="600891"/>
          </a:xfrm>
          <a:prstGeom prst="rect">
            <a:avLst/>
          </a:prstGeom>
          <a:solidFill>
            <a:srgbClr val="F2F4F7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545336" y="1743891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2423160" y="1698171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459736" y="1743891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3337560" y="1698171"/>
            <a:ext cx="914400" cy="600891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374136" y="1743891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251960" y="1698171"/>
            <a:ext cx="914400" cy="600891"/>
          </a:xfrm>
          <a:prstGeom prst="rect">
            <a:avLst/>
          </a:prstGeom>
          <a:solidFill>
            <a:srgbClr val="FFF1F0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288536" y="1743891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5166360" y="1698171"/>
            <a:ext cx="914400" cy="600891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202936" y="1743891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6080760" y="1698171"/>
            <a:ext cx="914400" cy="600891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117336" y="1743891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6995160" y="1698171"/>
            <a:ext cx="914400" cy="600891"/>
          </a:xfrm>
          <a:prstGeom prst="rect">
            <a:avLst/>
          </a:prstGeom>
          <a:solidFill>
            <a:srgbClr val="E8F7EE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031736" y="1743891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594360" y="2299063"/>
            <a:ext cx="914400" cy="600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30936" y="2344783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1508760" y="2299063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545336" y="2344783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2423160" y="2299063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459736" y="2344783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3337560" y="2299063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374136" y="2344783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251960" y="2299063"/>
            <a:ext cx="914400" cy="600891"/>
          </a:xfrm>
          <a:prstGeom prst="rect">
            <a:avLst/>
          </a:prstGeom>
          <a:solidFill>
            <a:srgbClr val="FFF1F0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288536" y="2344783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5166360" y="2299063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202936" y="2344783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6080760" y="2299063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117336" y="2344783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6995160" y="2299063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031736" y="2344783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594360" y="2899954"/>
            <a:ext cx="914400" cy="600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30936" y="2945674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1508760" y="2899954"/>
            <a:ext cx="914400" cy="600891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545336" y="2945674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2423160" y="2899954"/>
            <a:ext cx="914400" cy="600891"/>
          </a:xfrm>
          <a:prstGeom prst="rect">
            <a:avLst/>
          </a:prstGeom>
          <a:solidFill>
            <a:srgbClr val="E8F7EE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459736" y="2945674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3337560" y="2899954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374136" y="2945674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4251960" y="2899954"/>
            <a:ext cx="914400" cy="600891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288536" y="2945674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5166360" y="2899954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5202936" y="2945674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6080760" y="2899954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6117336" y="2945674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6995160" y="2899954"/>
            <a:ext cx="914400" cy="600891"/>
          </a:xfrm>
          <a:prstGeom prst="rect">
            <a:avLst/>
          </a:prstGeom>
          <a:solidFill>
            <a:srgbClr val="E8F7EE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7031736" y="2945674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594360" y="3500846"/>
            <a:ext cx="914400" cy="600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630936" y="3546566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1508760" y="3500846"/>
            <a:ext cx="914400" cy="600891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1545336" y="3546566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2423160" y="3500846"/>
            <a:ext cx="914400" cy="600891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2459736" y="3546566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3337560" y="3500846"/>
            <a:ext cx="914400" cy="600891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3374136" y="3546566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4251960" y="3500846"/>
            <a:ext cx="914400" cy="600891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4288536" y="3546566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5166360" y="3500846"/>
            <a:ext cx="914400" cy="600891"/>
          </a:xfrm>
          <a:prstGeom prst="rect">
            <a:avLst/>
          </a:prstGeom>
          <a:solidFill>
            <a:srgbClr val="F2F4F7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5202936" y="3546566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6080760" y="3500846"/>
            <a:ext cx="914400" cy="600891"/>
          </a:xfrm>
          <a:prstGeom prst="rect">
            <a:avLst/>
          </a:prstGeom>
          <a:solidFill>
            <a:srgbClr val="E8F7EE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6117336" y="3546566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6995160" y="3500846"/>
            <a:ext cx="914400" cy="600891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7031736" y="3546566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88" name="Shape 86"/>
          <p:cNvSpPr/>
          <p:nvPr/>
        </p:nvSpPr>
        <p:spPr>
          <a:xfrm>
            <a:off x="594360" y="4101737"/>
            <a:ext cx="914400" cy="600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630936" y="4147457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1508760" y="4101737"/>
            <a:ext cx="914400" cy="600891"/>
          </a:xfrm>
          <a:prstGeom prst="rect">
            <a:avLst/>
          </a:prstGeom>
          <a:solidFill>
            <a:srgbClr val="F2F4F7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1545336" y="4147457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780" dirty="0"/>
          </a:p>
        </p:txBody>
      </p:sp>
      <p:sp>
        <p:nvSpPr>
          <p:cNvPr id="92" name="Shape 90"/>
          <p:cNvSpPr/>
          <p:nvPr/>
        </p:nvSpPr>
        <p:spPr>
          <a:xfrm>
            <a:off x="2423160" y="4101737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2459736" y="4147457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94" name="Shape 92"/>
          <p:cNvSpPr/>
          <p:nvPr/>
        </p:nvSpPr>
        <p:spPr>
          <a:xfrm>
            <a:off x="3337560" y="4101737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3374136" y="4147457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96" name="Shape 94"/>
          <p:cNvSpPr/>
          <p:nvPr/>
        </p:nvSpPr>
        <p:spPr>
          <a:xfrm>
            <a:off x="4251960" y="4101737"/>
            <a:ext cx="914400" cy="600891"/>
          </a:xfrm>
          <a:prstGeom prst="rect">
            <a:avLst/>
          </a:prstGeom>
          <a:solidFill>
            <a:srgbClr val="FFF1F0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4288536" y="4147457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80" dirty="0"/>
          </a:p>
        </p:txBody>
      </p:sp>
      <p:sp>
        <p:nvSpPr>
          <p:cNvPr id="98" name="Shape 96"/>
          <p:cNvSpPr/>
          <p:nvPr/>
        </p:nvSpPr>
        <p:spPr>
          <a:xfrm>
            <a:off x="5166360" y="4101737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5202936" y="4147457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100" name="Shape 98"/>
          <p:cNvSpPr/>
          <p:nvPr/>
        </p:nvSpPr>
        <p:spPr>
          <a:xfrm>
            <a:off x="6080760" y="4101737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6117336" y="4147457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102" name="Shape 100"/>
          <p:cNvSpPr/>
          <p:nvPr/>
        </p:nvSpPr>
        <p:spPr>
          <a:xfrm>
            <a:off x="6995160" y="4101737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03" name="Text 101"/>
          <p:cNvSpPr/>
          <p:nvPr/>
        </p:nvSpPr>
        <p:spPr>
          <a:xfrm>
            <a:off x="7031736" y="4147457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104" name="Shape 102"/>
          <p:cNvSpPr/>
          <p:nvPr/>
        </p:nvSpPr>
        <p:spPr>
          <a:xfrm>
            <a:off x="594360" y="4702629"/>
            <a:ext cx="914400" cy="600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630936" y="4748349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780" dirty="0"/>
          </a:p>
        </p:txBody>
      </p:sp>
      <p:sp>
        <p:nvSpPr>
          <p:cNvPr id="106" name="Shape 104"/>
          <p:cNvSpPr/>
          <p:nvPr/>
        </p:nvSpPr>
        <p:spPr>
          <a:xfrm>
            <a:off x="1508760" y="4702629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07" name="Text 105"/>
          <p:cNvSpPr/>
          <p:nvPr/>
        </p:nvSpPr>
        <p:spPr>
          <a:xfrm>
            <a:off x="1545336" y="4748349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108" name="Shape 106"/>
          <p:cNvSpPr/>
          <p:nvPr/>
        </p:nvSpPr>
        <p:spPr>
          <a:xfrm>
            <a:off x="2423160" y="4702629"/>
            <a:ext cx="914400" cy="600891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09" name="Text 107"/>
          <p:cNvSpPr/>
          <p:nvPr/>
        </p:nvSpPr>
        <p:spPr>
          <a:xfrm>
            <a:off x="2459736" y="4748349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110" name="Shape 108"/>
          <p:cNvSpPr/>
          <p:nvPr/>
        </p:nvSpPr>
        <p:spPr>
          <a:xfrm>
            <a:off x="3337560" y="4702629"/>
            <a:ext cx="914400" cy="600891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3374136" y="4748349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112" name="Shape 110"/>
          <p:cNvSpPr/>
          <p:nvPr/>
        </p:nvSpPr>
        <p:spPr>
          <a:xfrm>
            <a:off x="4251960" y="4702629"/>
            <a:ext cx="914400" cy="600891"/>
          </a:xfrm>
          <a:prstGeom prst="rect">
            <a:avLst/>
          </a:prstGeom>
          <a:solidFill>
            <a:srgbClr val="FFF1F0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13" name="Text 111"/>
          <p:cNvSpPr/>
          <p:nvPr/>
        </p:nvSpPr>
        <p:spPr>
          <a:xfrm>
            <a:off x="4288536" y="4748349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80" dirty="0"/>
          </a:p>
        </p:txBody>
      </p:sp>
      <p:sp>
        <p:nvSpPr>
          <p:cNvPr id="114" name="Shape 112"/>
          <p:cNvSpPr/>
          <p:nvPr/>
        </p:nvSpPr>
        <p:spPr>
          <a:xfrm>
            <a:off x="5166360" y="4702629"/>
            <a:ext cx="914400" cy="600891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15" name="Text 113"/>
          <p:cNvSpPr/>
          <p:nvPr/>
        </p:nvSpPr>
        <p:spPr>
          <a:xfrm>
            <a:off x="5202936" y="4748349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116" name="Shape 114"/>
          <p:cNvSpPr/>
          <p:nvPr/>
        </p:nvSpPr>
        <p:spPr>
          <a:xfrm>
            <a:off x="6080760" y="4702629"/>
            <a:ext cx="914400" cy="600891"/>
          </a:xfrm>
          <a:prstGeom prst="rect">
            <a:avLst/>
          </a:prstGeom>
          <a:solidFill>
            <a:srgbClr val="F2F4F7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17" name="Text 115"/>
          <p:cNvSpPr/>
          <p:nvPr/>
        </p:nvSpPr>
        <p:spPr>
          <a:xfrm>
            <a:off x="6117336" y="4748349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780" dirty="0"/>
          </a:p>
        </p:txBody>
      </p:sp>
      <p:sp>
        <p:nvSpPr>
          <p:cNvPr id="118" name="Shape 116"/>
          <p:cNvSpPr/>
          <p:nvPr/>
        </p:nvSpPr>
        <p:spPr>
          <a:xfrm>
            <a:off x="6995160" y="4702629"/>
            <a:ext cx="914400" cy="600891"/>
          </a:xfrm>
          <a:prstGeom prst="rect">
            <a:avLst/>
          </a:prstGeom>
          <a:solidFill>
            <a:srgbClr val="FFF1F0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19" name="Text 117"/>
          <p:cNvSpPr/>
          <p:nvPr/>
        </p:nvSpPr>
        <p:spPr>
          <a:xfrm>
            <a:off x="7031736" y="4748349"/>
            <a:ext cx="84124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80" dirty="0"/>
          </a:p>
        </p:txBody>
      </p:sp>
      <p:sp>
        <p:nvSpPr>
          <p:cNvPr id="120" name="Text 118"/>
          <p:cNvSpPr/>
          <p:nvPr/>
        </p:nvSpPr>
        <p:spPr>
          <a:xfrm>
            <a:off x="8229600" y="1371600"/>
            <a:ext cx="32918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scorecard is directional, not a replacement for diagnosis.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not cherry-pick the cell that flatters your team.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strongest strategy creates consistency across demand, margin, capital and risk.</a:t>
            </a:r>
            <a:endParaRPr lang="en-US" sz="1050" dirty="0"/>
          </a:p>
        </p:txBody>
      </p:sp>
      <p:sp>
        <p:nvSpPr>
          <p:cNvPr id="121" name="Text 119"/>
          <p:cNvSpPr/>
          <p:nvPr/>
        </p:nvSpPr>
        <p:spPr>
          <a:xfrm>
            <a:off x="8229600" y="3703320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8229600" y="38679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coherent system creates improving signals across several metrics, not only one heroic number.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124" name="Text 122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team has the most coherent improvement pattern?    › Which team has one bright spot hiding a larger risk?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Green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6th in R3 → 6th in R4 • held position positions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40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40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-7.8%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6.3% in R3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37744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8716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8716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-0.7bn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16052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7024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7024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7024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+0.2bn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594360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5332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332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5332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+20.1 pp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772668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83640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3640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6.6%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3640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+8.7 pp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95097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194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194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BB-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94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B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777240" y="2423160"/>
            <a:ext cx="53949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Rank: 6th → 6th. Market cap: 7m → 4m. Share price: $226.5 → $136.5.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 remained 6th, so the team needs to test whether it is stuck or stable.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improved by 0m; test whether this is repeatable or merely a correction.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share fell by -3.8 pp, so the team must decide whether to defend economics or rebuild reach.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Credit rating moved from B to BB-, changing risk and valuation credibility.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46520" y="2423160"/>
            <a:ext cx="4663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680960" y="4709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Global share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2194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1045952" y="4599432"/>
            <a:ext cx="128016" cy="128016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1183112" y="4590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R3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9009924" y="235915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147084" y="23500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R4</a:t>
            </a: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6446520" y="489204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46520" y="5056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what improves cash-flow quality; repair the constraint that weakens repeatability.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Round 4 assumption was validated?    › What decision must change before Round 5?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Satyam 2.0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 in R3 → 3rd in R4 • lost 2 positions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40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40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31.4% in R3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37744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8716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8716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-1.0bn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16052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7024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7024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7024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-0.7bn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594360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5332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332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-0.2%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5332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-25.2 pp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772668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83640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3640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3640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-29.3 pp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95097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194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194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A+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94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AA+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777240" y="2423160"/>
            <a:ext cx="53949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Rank: 1st → 3rd. Market cap: 13m → 7m. Share price: $428.7 → $235.5.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 fell from 1st to 3rd, even if some operating signals may have improved.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deteriorated by -1m; identify the cost, price or volume mechanism.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share fell by -7.1 pp, so the team must decide whether to defend economics or rebuild reach.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Credit rating moved from AA+ to A+, changing risk and valuation credibility.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46520" y="2423160"/>
            <a:ext cx="4663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680960" y="4709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Global share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2194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1045952" y="2359152"/>
            <a:ext cx="128016" cy="128016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1183112" y="23500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R3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9537937" y="459943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675097" y="4590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R4</a:t>
            </a: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6446520" y="489204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46520" y="5056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what improves cash-flow quality; repair the constraint that weakens repeatability.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Round 4 assumption was validated?    › What decision must change before Round 5?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Blues Clues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5th in R3 → 2nd in R4 • gained 3 positions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40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40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8.2% in R3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37744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8716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8716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+0.6bn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16052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7024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7024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7024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-0.3bn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594360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5332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332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5332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 pp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772668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83640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3640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13.5%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3640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-12.1 pp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95097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194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194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AA-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94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A+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777240" y="2423160"/>
            <a:ext cx="53949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Rank: 5th → 2nd. Market cap: 10m → 10m. Share price: $239.0 → $247.5.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 improved from 5th to 2nd, indicating stronger relative investor confidence.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deteriorated by -0m; identify the cost, price or volume mechanism.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share rose by +9.5 pp, but share must be converted into margin.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Credit rating moved from A+ to AA-, changing risk and valuation credibility.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46520" y="2423160"/>
            <a:ext cx="4663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680960" y="4709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Global share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2194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773126" y="2359152"/>
            <a:ext cx="128016" cy="128016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910286" y="23500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R3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11045952" y="3602426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1183112" y="359328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R4</a:t>
            </a: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6446520" y="489204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46520" y="5056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what improves cash-flow quality; repair the constraint that weakens repeatability.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Round 4 assumption was validated?    › What decision must change before Round 5?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Lehman Bros.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3rd in R3 → 1st in R4 • gained 2 positions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40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40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22.3%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28.2% in R3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37744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8716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8716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+1.1bn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16052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7024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7024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7024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+0.1bn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594360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5332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332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5332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+0.7 pp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772668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83640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3640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3640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+3.3 pp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95097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194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194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AA+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94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AA-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777240" y="2423160"/>
            <a:ext cx="53949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Rank: 3rd → 1st. Market cap: 12m → 13m. Share price: $395.1 → $419.7.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 improved from 3rd to 1st, indicating stronger relative investor confidence.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improved by 0m; test whether this is repeatable or merely a correction.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share rose by +13.2 pp, but share must be converted into margin.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Credit rating moved from AA- to AA+, changing risk and valuation credibility.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46520" y="2423160"/>
            <a:ext cx="4663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680960" y="4709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Global share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2194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538665" y="2591459"/>
            <a:ext cx="128016" cy="128016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675825" y="258231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R3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11045952" y="235915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1183112" y="23500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R4</a:t>
            </a: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6446520" y="489204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46520" y="5056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what improves cash-flow quality; repair the constraint that weakens repeatability.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Round 4 assumption was validated?    › What decision must change before Round 5?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T5S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4th in R3 → 4th in R4 • held position positions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40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40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23.4% in R3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37744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8716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8716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-0.8bn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16052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7024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7024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7024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-0.4bn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594360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5332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332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5332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-16.7 pp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772668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83640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3640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3640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-25.9 pp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95097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194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194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94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AA-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777240" y="2423160"/>
            <a:ext cx="53949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Rank: 4th → 4th. Market cap: 10m → 6m. Share price: $351.3 → $197.7.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 remained 4th, so the team needs to test whether it is stuck or stable.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deteriorated by -0m; identify the cost, price or volume mechanism.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share fell by -5.8 pp, so the team must decide whether to defend economics or rebuild reach.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Credit rating moved from AA- to A, changing risk and valuation credibility.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46520" y="2423160"/>
            <a:ext cx="4663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680960" y="4709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Global share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2194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1045952" y="2359152"/>
            <a:ext cx="128016" cy="128016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1183112" y="23500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R3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9170155" y="3471817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307315" y="346267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R4</a:t>
            </a: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6446520" y="489204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46520" y="5056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what improves cash-flow quality; repair the constraint that weakens repeatability.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Round 4 assumption was validated?    › What decision must change before Round 5?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SEBI's Watchlist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 in R3 → 5th in R4 • lost 3 positions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40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40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-4.1%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28.4% in R3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37744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8716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8716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-1.1bn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16052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7024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7024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7024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+0.1bn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594360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5332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332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24.2%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5332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+14.7 pp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772668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83640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3640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15.7%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3640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-0.3 pp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95097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194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194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A+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94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AA-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777240" y="2423160"/>
            <a:ext cx="53949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Rank: 2nd → 5th. Market cap: 12m → 5m. Share price: $400.0 → $159.9.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 fell from 2nd to 5th, even if some operating signals may have improved.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improved by 0m; test whether this is repeatable or merely a correction.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share fell by -6.0 pp, so the team must decide whether to defend economics or rebuild reach.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Credit rating moved from AA- to A+, changing risk and valuation credibility.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46520" y="2423160"/>
            <a:ext cx="4663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680960" y="4709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Global share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2194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1045952" y="3716768"/>
            <a:ext cx="128016" cy="128016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1183112" y="370762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R3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9526091" y="235915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663251" y="23500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R4</a:t>
            </a: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6446520" y="489204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46520" y="5056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what improves cash-flow quality; repair the constraint that weakens repeatability.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Round 4 assumption was validated?    › What decision must change before Round 5?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Round 4 rewarded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rewarded coherence rather than isolated optimisation.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Rank credibility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Lehman Bros. leads TSR because the market sees a stronger risk-adjusted value story.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1188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4904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Capital return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SEBI's Watchlist shows the strongest ROCE and capital productivity.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796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Demand capture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Blues Clues has the highest global market share, which may create scale if margins hold.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46404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0120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Risk discipline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Teams with stronger credit and lower emergency debt retain valuation credibility.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2971800"/>
            <a:ext cx="64008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Lehman Bros. leads TSR because the market sees a stronger risk-adjusted value story.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SEBI's Watchlist shows the strongest ROCE and capital productivity.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Blues Clues has the highest global market share, which may create scale if margins hold.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Teams with stronger credit and lower emergency debt retain valuation credibility.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Choices that reinforce each other were rewarded more than one-off activity.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306324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863840" y="32278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market rewards a system of mutually reinforcing choices: customer value, operating discipline, risk control and future credibility.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reward is most sustainable in Round 5?    › Can your team pursue all rewards at once?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Round 4 punished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punished strategic incoherence, fragile financing and weak conversion.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Loss conversion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Satyam 2.0 shows the sharpest current earnings pressure.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1188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7ED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4904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Inventory trap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Green carries the largest inventory and must test product-market fit.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796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Debt shock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SEBI's Watchlist carries the largest short-term debt pressure.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46404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7ED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0120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Fragile TSR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Falling cumulative TSR signals weaker investor confidence, not merely a bad accounting round.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2971800"/>
            <a:ext cx="64008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Satyam 2.0 shows the sharpest current earnings pressure.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Green carries the largest inventory and must test product-market fit.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SEBI's Watchlist carries the largest short-term debt pressure.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Falling cumulative TSR signals weaker investor confidence, not merely a bad accounting round.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Mismatched pricing, R&amp;D, capacity and financing eroded value.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306324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863840" y="32278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fastest recovery comes from separating reversible decisions from sticky commitments in capacity, financing and technology path.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punished decision is reversible before Round 5?    › Which mistake will constrain later rounds?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5 decision checklist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every decision into a hypothesis, threshold and guardrail.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U2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2651760" cy="574766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22376" y="1188720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area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2651760" cy="574766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74136" y="1188720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question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5989320" y="1143000"/>
            <a:ext cx="2651760" cy="574766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025896" y="1188720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85800" y="1717766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22376" y="1763486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337560" y="1717766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74136" y="1763486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will customers buy profitably?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5989320" y="1717766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25896" y="1763486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by region and technology.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85800" y="2292531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22376" y="2338251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3337560" y="2292531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374136" y="2338251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bundle maximises contribution?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989320" y="2292531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25896" y="2338251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discount below contribution logic.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685800" y="2867297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22376" y="2913017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3337560" y="2867297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374136" y="2913017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ready now vs later?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989320" y="2867297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025896" y="2913017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investment with stop-loss.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685800" y="3442063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22376" y="3487783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3337560" y="3442063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374136" y="3487783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be made where?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5989320" y="3442063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025896" y="3487783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inventory and utilisation thresholds.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685800" y="4016829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22376" y="4062549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3337560" y="4016829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374136" y="4062549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plan survive before payoff?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5989320" y="4016829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025896" y="4062549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unplanned debt and rating collapse.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685800" y="4591594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22376" y="4637314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3337560" y="4591594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374136" y="4637314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Defend, attack, repair or exit?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5989320" y="4591594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025896" y="4637314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Allocate resources deliberately.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9006840" y="1417320"/>
            <a:ext cx="2560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team should submit one strategic hypothesis, one falsifying metric and one operating guardrail.
</a:t>
            </a:r>
            <a:pPr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next round is not a chance to explain better; it is a chance to decide better.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006840" y="38404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006840" y="40050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decision rule converts learning into managerial discipline.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What is your non-negotiable guardrail?    › Which Round 5 decision has the largest irreversible downside?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Closing reflection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strongest team is not the boldest. It is the most coherent.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788920"/>
            <a:ext cx="1060704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306324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Coherence is the discipline of making market, technology, production, finance and risk choices point in the same direction.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65760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5DD"/>
                </a:solidFill>
              </a:rPr>
              <a:t>Round 5 assignment: one strategic hypothesis, one falsifying metric, one operating guardrail.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5DD"/>
                </a:solidFill>
              </a:rPr>
              <a:t>Socratic closing: What will your team stop doing immediately? What evidence will prove your Round 5 strategy is working?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0D5DD"/>
                </a:solidFill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CESIM Round 4 Debrief</dc:title>
  <dc:subject>CESIM Global Challenge debrief</dc:subject>
  <dc:creator>OpenAI</dc:creator>
  <cp:lastModifiedBy>OpenAI</cp:lastModifiedBy>
  <cp:revision>1</cp:revision>
  <dcterms:created xsi:type="dcterms:W3CDTF">2026-08-17T09:43:37Z</dcterms:created>
  <dcterms:modified xsi:type="dcterms:W3CDTF">2026-08-17T09:43:37Z</dcterms:modified>
</cp:coreProperties>
</file>