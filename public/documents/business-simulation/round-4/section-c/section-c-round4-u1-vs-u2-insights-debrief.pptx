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CESIM Global Challenge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Universe 1 vs Universe 2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Round 4 Insights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5DD"/>
                </a:solidFill>
              </a:rPr>
              <a:t>GL Sec C Group July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98080" y="1097280"/>
            <a:ext cx="3840480" cy="1645920"/>
          </a:xfrm>
          <a:prstGeom prst="roundRect">
            <a:avLst>
              <a:gd name="adj" fmla="val 4444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0" y="1371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Central question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16916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Which universe showed stronger strategic coherence in Round 4?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D5DD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 rule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universe patterns; do not combine teams into one artificial ranking.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vs U2 • Round 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51206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Both universes are read using the same principal ranking criterion: cumulative TSR p.a.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Cross-universe comparison is about competitive intensity, conversion quality, risk and coherence.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team in Universe 1 did not directly compete with a team in Universe 2.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92240" y="1371600"/>
            <a:ext cx="4572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492240" y="153619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Cross-universe teaching asks: what strategic pattern produced better risk-adjusted value under the same simulation logic?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universe was more disciplined?    › Which metric would you never use for cross-universe comparison?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universe dashboard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2 retained higher aggregate value, while Universe 1 carried deeper fragility.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vs U2 • Round 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49808" y="1252728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Sales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49808" y="1527048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9808" y="1929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-1m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834640" y="11430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44368" y="1252728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44368" y="1527048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944368" y="1929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1m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5029200" y="11430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138928" y="1252728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Market cap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138928" y="1527048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138928" y="1929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-3.8%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7223760" y="11430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333488" y="1252728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Market cap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33488" y="1527048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43m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33488" y="1929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9.4%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9418320" y="11430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528048" y="1252728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advantage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528048" y="1527048"/>
            <a:ext cx="17922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12m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528048" y="1929384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market-cap gap</a:t>
            </a:r>
            <a:endParaRPr lang="en-US" sz="770" dirty="0"/>
          </a:p>
        </p:txBody>
      </p:sp>
      <p:sp>
        <p:nvSpPr>
          <p:cNvPr id="28" name="Text 26"/>
          <p:cNvSpPr/>
          <p:nvPr/>
        </p:nvSpPr>
        <p:spPr>
          <a:xfrm>
            <a:off x="777240" y="27706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194560" y="2770632"/>
            <a:ext cx="1524603" cy="225857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17720" y="27706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15.6bn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77240" y="31272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194560" y="3127248"/>
            <a:ext cx="57794" cy="225857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617720" y="312724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-0.6bn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77240" y="348386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194560" y="3483864"/>
            <a:ext cx="206032" cy="225857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617720" y="348386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2.1bn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77240" y="38404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94560" y="3840480"/>
            <a:ext cx="418065" cy="225857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617720" y="38404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4.3bn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77240" y="41970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194560" y="4197096"/>
            <a:ext cx="3061411" cy="225857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617720" y="419709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31.3bn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309360" y="27706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726680" y="2770632"/>
            <a:ext cx="849235" cy="225857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10149840" y="27706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12.0bn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09360" y="31272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726680" y="3127248"/>
            <a:ext cx="79925" cy="225857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0149840" y="312724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1.1bn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309360" y="348386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726680" y="3483864"/>
            <a:ext cx="132878" cy="225857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10149840" y="348386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1.9bn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309360" y="38404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7726680" y="3840480"/>
            <a:ext cx="221679" cy="225857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10149840" y="38404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3.1bn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309360" y="41970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726680" y="4197096"/>
            <a:ext cx="3061411" cy="225857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10149840" y="419709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43.3bn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universe converted sales into profit better?    › Which universe carried more valuation credibility?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Leaders and laggards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leadership differed sharply across universes.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vs U2 • Round 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31520" y="12161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843784" y="1216152"/>
            <a:ext cx="568774" cy="186799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550408" y="12161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5.5%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31520" y="151006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8939" y="1510066"/>
            <a:ext cx="184845" cy="186799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550408" y="151006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-1.8%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" y="1803981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593276" y="1803981"/>
            <a:ext cx="250508" cy="186799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550408" y="180398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-2.4%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" y="2097895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364574" y="2097895"/>
            <a:ext cx="479210" cy="186799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550408" y="209789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-4.6%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2391809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828129" y="2391809"/>
            <a:ext cx="1015655" cy="186799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550408" y="239180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-9.9%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" y="2685723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89615" y="2685723"/>
            <a:ext cx="2254169" cy="186799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550408" y="268572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-21.9%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" y="297963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28600" y="2979638"/>
            <a:ext cx="2615184" cy="186799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550408" y="297963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-25.4%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843784" y="1188720"/>
            <a:ext cx="0" cy="214884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400800" y="12161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513064" y="1216152"/>
            <a:ext cx="2615184" cy="2179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1219688" y="12161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22.3%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0" y="15590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513064" y="1559052"/>
            <a:ext cx="819803" cy="2179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1219688" y="15590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7.0%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00800" y="1901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513064" y="1901952"/>
            <a:ext cx="665449" cy="2179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1219688" y="19019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5.7%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00800" y="22448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513064" y="2244852"/>
            <a:ext cx="192765" cy="2179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1219688" y="22448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1.6%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400800" y="2587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035974" y="2587752"/>
            <a:ext cx="477090" cy="217932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1219688" y="25877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-4.1%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400800" y="29306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599592" y="2930652"/>
            <a:ext cx="913472" cy="217932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1219688" y="29306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-7.8%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8513064" y="1188720"/>
            <a:ext cx="0" cy="214884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U1 leader: Big Bulls at 5.5%.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U2 leader: Lehman Bros. at 22.3%.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U2 has a much stronger top TSR score in Round 4.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Why does U2 have stronger top-end TSR?    › What does the spread reveal about competitive intensity?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Sales-to-profit conversion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sales did not guarantee higher value.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vs U2 • Round 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1280160"/>
            <a:ext cx="7498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74720" y="51663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Sales revenue (USD bn)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40080" y="1051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 (%)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767695" y="2258649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04855" y="2249505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U1 Green</a:t>
            </a:r>
            <a:endParaRPr lang="en-US" sz="670" dirty="0"/>
          </a:p>
        </p:txBody>
      </p:sp>
      <p:sp>
        <p:nvSpPr>
          <p:cNvPr id="13" name="Shape 11"/>
          <p:cNvSpPr/>
          <p:nvPr/>
        </p:nvSpPr>
        <p:spPr>
          <a:xfrm>
            <a:off x="6249896" y="3193834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87056" y="318469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U1 Harshad Mehta Gang</a:t>
            </a:r>
            <a:endParaRPr lang="en-US" sz="670" dirty="0"/>
          </a:p>
        </p:txBody>
      </p:sp>
      <p:sp>
        <p:nvSpPr>
          <p:cNvPr id="15" name="Shape 13"/>
          <p:cNvSpPr/>
          <p:nvPr/>
        </p:nvSpPr>
        <p:spPr>
          <a:xfrm>
            <a:off x="5576867" y="505663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714027" y="50474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U1 Lakshmi Chit Fund</a:t>
            </a:r>
            <a:endParaRPr lang="en-US" sz="670" dirty="0"/>
          </a:p>
        </p:txBody>
      </p:sp>
      <p:sp>
        <p:nvSpPr>
          <p:cNvPr id="17" name="Shape 15"/>
          <p:cNvSpPr/>
          <p:nvPr/>
        </p:nvSpPr>
        <p:spPr>
          <a:xfrm>
            <a:off x="3624343" y="2233123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761503" y="2223979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U1 Big Bulls</a:t>
            </a:r>
            <a:endParaRPr lang="en-US" sz="670" dirty="0"/>
          </a:p>
        </p:txBody>
      </p:sp>
      <p:sp>
        <p:nvSpPr>
          <p:cNvPr id="19" name="Shape 17"/>
          <p:cNvSpPr/>
          <p:nvPr/>
        </p:nvSpPr>
        <p:spPr>
          <a:xfrm>
            <a:off x="4499232" y="395030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36392" y="394115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U1 Grey</a:t>
            </a:r>
            <a:endParaRPr lang="en-US" sz="670" dirty="0"/>
          </a:p>
        </p:txBody>
      </p:sp>
      <p:sp>
        <p:nvSpPr>
          <p:cNvPr id="21" name="Shape 19"/>
          <p:cNvSpPr/>
          <p:nvPr/>
        </p:nvSpPr>
        <p:spPr>
          <a:xfrm>
            <a:off x="4248629" y="3898081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385789" y="3888937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U1 Akatsuki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551828" y="4222666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688988" y="421352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U1 Pink</a:t>
            </a:r>
            <a:endParaRPr lang="en-US" sz="670" dirty="0"/>
          </a:p>
        </p:txBody>
      </p:sp>
      <p:sp>
        <p:nvSpPr>
          <p:cNvPr id="25" name="Shape 23"/>
          <p:cNvSpPr/>
          <p:nvPr/>
        </p:nvSpPr>
        <p:spPr>
          <a:xfrm>
            <a:off x="2096640" y="2790917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233800" y="2781773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U2 Green</a:t>
            </a:r>
            <a:endParaRPr lang="en-US" sz="670" dirty="0"/>
          </a:p>
        </p:txBody>
      </p:sp>
      <p:sp>
        <p:nvSpPr>
          <p:cNvPr id="27" name="Shape 25"/>
          <p:cNvSpPr/>
          <p:nvPr/>
        </p:nvSpPr>
        <p:spPr>
          <a:xfrm>
            <a:off x="4016106" y="3238902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153266" y="322975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U2 Satyam 2.0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8257032" y="2539403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394192" y="2530259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U2 Blues Clues</a:t>
            </a:r>
            <a:endParaRPr lang="en-US" sz="670" dirty="0"/>
          </a:p>
        </p:txBody>
      </p:sp>
      <p:sp>
        <p:nvSpPr>
          <p:cNvPr id="31" name="Shape 29"/>
          <p:cNvSpPr/>
          <p:nvPr/>
        </p:nvSpPr>
        <p:spPr>
          <a:xfrm>
            <a:off x="5815038" y="2634451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52198" y="2625307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U2 Lehman Bros.</a:t>
            </a:r>
            <a:endParaRPr lang="en-US" sz="670" dirty="0"/>
          </a:p>
        </p:txBody>
      </p:sp>
      <p:sp>
        <p:nvSpPr>
          <p:cNvPr id="33" name="Shape 31"/>
          <p:cNvSpPr/>
          <p:nvPr/>
        </p:nvSpPr>
        <p:spPr>
          <a:xfrm>
            <a:off x="2307082" y="1818977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444242" y="1809833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U2 T5S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3826191" y="1216152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3963351" y="1207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U2 SEBI's Watchlist</a:t>
            </a:r>
            <a:endParaRPr lang="en-US" sz="670" dirty="0"/>
          </a:p>
        </p:txBody>
      </p:sp>
      <p:sp>
        <p:nvSpPr>
          <p:cNvPr id="37" name="Text 35"/>
          <p:cNvSpPr/>
          <p:nvPr/>
        </p:nvSpPr>
        <p:spPr>
          <a:xfrm>
            <a:off x="8641080" y="1554480"/>
            <a:ext cx="27432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strongest teams are not necessarily the largest sellers.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U2 includes high-profit conversion cases despite lower aggregate sales.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U1 has several teams with negative ROS, reducing aggregate credibility.</a:t>
            </a:r>
            <a:endParaRPr lang="en-US" sz="1030" dirty="0"/>
          </a:p>
        </p:txBody>
      </p:sp>
      <p:sp>
        <p:nvSpPr>
          <p:cNvPr id="38" name="Shape 36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Where is scale helping?    › Where is scale disguising weak economics?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and inventory posture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universes invested, but the quality of conversion differed.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vs U2 • Round 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21615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R&amp;D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31720" y="1216152"/>
            <a:ext cx="1564612" cy="312039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46320" y="12161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" y="170764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R&amp;D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331720" y="1707642"/>
            <a:ext cx="1397859" cy="312039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46320" y="170764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1.9bn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22960" y="219913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Inventory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331720" y="2199132"/>
            <a:ext cx="3174797" cy="312039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846320" y="21991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4.3bn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" y="269062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Inventory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331720" y="2690622"/>
            <a:ext cx="2332027" cy="312039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846320" y="269062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3.1bn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0" y="12161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R&amp;D intensity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458200" y="1216152"/>
            <a:ext cx="1564612" cy="312039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424160" y="12161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13.5%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0" y="170764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R&amp;D intensity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458200" y="1707642"/>
            <a:ext cx="1811573" cy="312039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424160" y="170764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15.6%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00800" y="21991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inventory / sales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458200" y="2199132"/>
            <a:ext cx="3174797" cy="312039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424160" y="21991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27.4%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0" y="269062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inventory / sales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458200" y="2690622"/>
            <a:ext cx="3022221" cy="312039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424160" y="269062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26.1%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914400" y="3840480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4400" y="400507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and inventory are not bad; they become bad when they outrun commercialisation and cash discipline.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universe carried more option risk?    › Which universe carried more inventory risk relative to sales?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and valuation quality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quality and debt pressure separated the universes.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vs U2 • Round 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1325880"/>
            <a:ext cx="1828800" cy="45720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9536" y="13716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1325880"/>
            <a:ext cx="1828800" cy="45720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688336" y="13716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Teams below investment-grade style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325880"/>
            <a:ext cx="1828800" cy="45720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17136" y="13716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short debt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325880"/>
            <a:ext cx="1828800" cy="45720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45936" y="13716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178308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9536" y="18288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51760" y="178308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688336" y="18288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80560" y="178308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17136" y="18288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09360" y="178308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345936" y="18288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" y="224028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59536" y="22860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51760" y="224028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2688336" y="22860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80560" y="224028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517136" y="22860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9360" y="224028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345936" y="2286000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43m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14400" y="3200400"/>
            <a:ext cx="56692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U1 has more teams with weak ratings and crisis-style debt pressure.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U2’s market cap advantage reflects stronger perceived future cash flows after risk.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Risk is not a finance footnote; it is a valuation variable.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49440" y="3246120"/>
            <a:ext cx="4206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949440" y="34107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cash flows become less valuable when the probability, timing or financing cost of those cash flows worsens.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universe would investors trust more?    › What risk signal should students track first in Round 5?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Universe 1 can learn from Universe 2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needs stronger conversion and risk repair.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vs U2 • Round 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54864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U1 needs to convert scale into positive aggregate profit and credit credibility.
</a:t>
            </a:r>
            <a:pPr indent="0" marL="0">
              <a:buNone/>
            </a:pPr>
            <a:r>
              <a:rPr lang="en-US" sz="12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U1 should reduce emergency financing and inventory overhang before chasing another demand surge.
</a:t>
            </a:r>
            <a:pPr indent="0" marL="0">
              <a:buNone/>
            </a:pPr>
            <a:r>
              <a:rPr lang="en-US" sz="12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U1 teams should test whether R&amp;D and capacity choices are commercially ready, not only technically available.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0" y="141732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583680" y="15819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task of an overextended universe is not growth. It is restoring the cash-flow credibility of growth.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What is U1’s most urgent repair?    › Which U2 practice should U1 imitate cautiously?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Universe 2 can learn from Universe 1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should avoid complacency and inspect its own deteriorations.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vs U2 • Round 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54864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U2 remains stronger on value, but several teams experienced sharp rank and valuation reversals.
</a:t>
            </a:r>
            <a:pPr indent="0" marL="0">
              <a:buNone/>
            </a:pPr>
            <a:r>
              <a:rPr lang="en-US" sz="12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High profitability can coexist with declining market share or weakened share price.
</a:t>
            </a:r>
            <a:pPr indent="0" marL="0">
              <a:buNone/>
            </a:pPr>
            <a:r>
              <a:rPr lang="en-US" sz="12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Round 5 should protect profitable share and avoid overconfidence from prior TSR leadership.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0" y="1417320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583680" y="15819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better universe can still contain weak decisions. Leadership is not immunity from strategic drift.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U2 team is most vulnerable despite strong metrics?    › What warning from U1 should U2 heed now?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cross-universe teaching questions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comparison to sharpen first-principles thinking.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U1 vs U2 • Round 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3200400" cy="53340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9536" y="12801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23360" y="1234440"/>
            <a:ext cx="3200400" cy="53340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059936" y="12801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17678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9536" y="18135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23360" y="17678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059936" y="18135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universe created more cash-flow credibility?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23012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9536" y="23469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023360" y="23012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059936" y="23469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universe showed more destructive competition?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" y="28346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59536" y="28803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023360" y="28346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059936" y="28803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universe invested with more option discipline?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" y="33680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59536" y="34137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23360" y="33680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059936" y="34137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universe carried more inventory/fulfilment risk?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39014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59536" y="39471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023360" y="3901440"/>
            <a:ext cx="32004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059936" y="3947160"/>
            <a:ext cx="3127248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universe can better survive a wrong assumption?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635240" y="150876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635240" y="16733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debrief should end with testable decision rules, not post-hoc stories.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What would falsify your Round 5 strategy?    › What guardrail will stop you from repeating Round 4?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Cross-universe closing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strongest universe is not the one with the largest activity. It is the one with the strongest value discipline.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0D5DD"/>
                </a:solidFill>
              </a:rPr>
              <a:t>Round 5: forecast demand, price for contribution, invest with timing, produce with discipline, finance with guardrails.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D5DD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CESIM Round 4 Debrief</dc:title>
  <dc:subject>CESIM Global Challenge debrief</dc:subject>
  <dc:creator>OpenAI</dc:creator>
  <cp:lastModifiedBy>OpenAI</cp:lastModifiedBy>
  <cp:revision>1</cp:revision>
  <dcterms:created xsi:type="dcterms:W3CDTF">2026-08-17T09:43:37Z</dcterms:created>
  <dcterms:modified xsi:type="dcterms:W3CDTF">2026-08-17T09:43:37Z</dcterms:modified>
</cp:coreProperties>
</file>