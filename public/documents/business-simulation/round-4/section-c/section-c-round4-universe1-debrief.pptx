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Ask the class to treat rank as the entry point, not the answer. The discussion will move from results to causal mechanisms and then to Round 5 decision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discipline the conversation. Teams must compare like with like, especially when names changed. The ranking metric is cumulative TSR, but the explanation is multi-metric.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aggregate dashboard. Use it to show that the universe-level numbers are only the beginning. The rest of the deck identifies which teams drove the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rank order but immediately move students away from celebration. Ask them to identify which non-TSR metric makes the leader credible or fragile.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visual is designed for Socratic questioning. Ask each team whether the rank movement reflects an improved strategy system or merely a transient scoring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here is to block single-metric thinking. Have students nominate a winner under profit, share, valuation and capital productivity, then ask which is strategically coherent.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team to say whether its revenue movement came primarily from price, volume, product mix, technology mix or regional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lead into cost structure. Ask teams to avoid “we grew” explanations and specify which cost or margin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ask whether share gain came from a real value proposition or price/availability without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teams to identify not only where they have share, but where they earn returns. Regional share is only useful if it creates contribution and capacity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students equate innovation with spending. Ask them to specify the path from R&amp;D to demand and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useful team challenge slide. Ask each team to explain whether its weak ROS is price, cost, R&amp;D or financing related.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inventory connects forecasting, pricing, production and cash. A team with profit but poor cash flow may have a timing or inventory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connection between financing decisions and TSR. Debt is not automatically bad; unplanned debt and deteriorating credit quality are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synthesis. Invite each team to pick the cell that best explains its result, and the cell it must fix before Round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profile for Green. Emphasize the distinction between result and learning. Ask the team for one preserved decision and one corrective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profile for Harshad Mehta Gang. Emphasize the distinction between result and learning. Ask the team for one preserved decision and one corrective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profile for Lakshmi Chit Fund. Emphasize the distinction between result and learning. Ask the team for one preserved decision and one corrective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profile for Big Bulls. Emphasize the distinction between result and learning. Ask the team for one preserved decision and one corrective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profile for Grey. Emphasize the distinction between result and learning. Ask the team for one preserved decision and one corrective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profile for Akatsuki. Emphasize the distinction between result and learning. Ask the team for one preserved decision and one corrective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profile for Pink. Emphasize the distinction between result and learning. Ask the team for one preserved decision and one corrective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synthesis to ask teams to describe what the market rewarded in their own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humiliate underperforming teams. Frame punished outcomes as evidence for disciplined managerial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debrief with commitments. Each team should write one rule before touching the next decision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requiring each team to express learning as a decision rule. The point is responsible general management, not storytelling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CESIM Global Challenge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U1 • Round 4 Comparative Debrief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GL Sec C Group July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44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teaching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Which Round 4 decisions converted activity into durable shareholder value, and which choices weakened credibility for the next round?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5DD"/>
                </a:solidFill>
              </a:rPr>
              <a:t>Subtle executive template • strong foreground–background contrast • rank flow and causal diagnosis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309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Round 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the causal chain; do not stop at rank.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Decision-to-value chain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Assumption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49047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0020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3677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Decision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31343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973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Operations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13639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Market response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95935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6908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565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Cash/Risk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82312" y="2011680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18745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198424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3233A"/>
                </a:solidFill>
              </a:rPr>
              <a:t>Valuation/TSR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400800" y="114300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1325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Team-name continuity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1691640"/>
            <a:ext cx="2194560" cy="2514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5976" y="173736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823960" y="1691640"/>
            <a:ext cx="2194560" cy="2514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0536" y="173736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R2–R4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29400" y="1943100"/>
            <a:ext cx="21945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5976" y="198882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823960" y="1943100"/>
            <a:ext cx="21945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0536" y="198882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29400" y="2194560"/>
            <a:ext cx="21945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65976" y="224028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823960" y="2194560"/>
            <a:ext cx="21945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0536" y="224028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629400" y="2446020"/>
            <a:ext cx="21945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65976" y="249174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823960" y="2446020"/>
            <a:ext cx="21945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0536" y="2491740"/>
            <a:ext cx="21214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379476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Cumulative TSR is the ranking criterion, but Round 4 movements also require share price, market cap, margins, cash and risk.
</a:t>
            </a:r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Percentage-point changes are used for ROS, ROCE and market share.
</a:t>
            </a:r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Loss-to-profit movement is treated as a turnaround, not conventional percentage growth.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3840480"/>
            <a:ext cx="4846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00800" y="40050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Round 4 answer explains mechanism: which assumption changed, which decision followed, which metric moved, and what risk remains.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3 assumption did your team carry into Round 4?    › Which evidence now confirms or rejects it?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Universe-level movement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universe changed scale, profitability, investment intensity and market value.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revenue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15.6m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15.7m in R3 • -0.5%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880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90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0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-0.6m in R3 • -2.8%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5166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76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6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4.2m in R3 • -49.4%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452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62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62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4.1m in R3 • +4.9%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738360" y="11430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48088" y="1252728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48088" y="152704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31.3m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48088" y="192938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46.3m in R3 • -32.4%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685800" y="2770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25129" y="2770632"/>
            <a:ext cx="26555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48502" y="2770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-0.5%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" y="3163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93759" y="3163824"/>
            <a:ext cx="157925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48502" y="3163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3557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6304" y="3557016"/>
            <a:ext cx="2805379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48502" y="3557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-49.4%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950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51683" y="3950208"/>
            <a:ext cx="277990" cy="249631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48502" y="3950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+4.9%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" y="4343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112357" y="4343400"/>
            <a:ext cx="1839327" cy="249631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48502" y="4343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-32.4%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51683" y="2743200"/>
            <a:ext cx="0" cy="205740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Universe 1 stayed near the same sales scale, but aggregate market value fell sharply. The core question is why operational recovery in some teams did not translate into shared valuation strength.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average can conceal crisis cases. Read the movement by team and by causal driver.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4251960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492240" y="44165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universe is healthy only when sales convert into margin, cash and risk-adjusted value. Bigger activity is not automatically better value.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movement is most worrying: profit, inventory, R&amp;D, or market value?    › Does the universe look more disciplined than in Round 3?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leaderboard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by cumulative total shareholder return (p.a.).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 Big Bulls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74213" y="1261872"/>
            <a:ext cx="630822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6130" y="1261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803981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Green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69203" y="1803981"/>
            <a:ext cx="205010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6130" y="180398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-1.8%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346089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 Akatsuki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96377" y="2346089"/>
            <a:ext cx="277836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6130" y="234608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-2.4%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88819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Grey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42726" y="2888198"/>
            <a:ext cx="531487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6130" y="288819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-4.6%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43030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 Pink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47759" y="3430306"/>
            <a:ext cx="1126454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6130" y="343030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3972415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 Harshad Mehta Gang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4134" y="3972415"/>
            <a:ext cx="2500078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6130" y="397241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-21.9%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4514523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7th Lakshmi Chit Fund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73736" y="4514523"/>
            <a:ext cx="2900477" cy="329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6130" y="451452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-25.4%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74213" y="1234440"/>
            <a:ext cx="0" cy="388620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12801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13898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84848" y="1664208"/>
            <a:ext cx="2066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84848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5.5% TSR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9144000" y="12801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3728" y="13898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Deepest trouble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253728" y="1664208"/>
            <a:ext cx="20665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253728" y="2066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-25.4% TSR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6766560" y="2743200"/>
            <a:ext cx="4480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 Bulls leads the formal ranking, but the leader's sustainability must be tested against margins, cash and risk.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Lakshmi Chit Fund has the weakest investor confidence signal and needs a rescue logic, not cosmetic adjustment.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66560" y="4251960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0" y="44165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is a symptom. The managerial explanation lies in customer capture, margin conversion, capital discipline and risk.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is Big Bulls leading on TSR?    › What evidence would make you distrust the rank table?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movement: Round 1 → Round 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flow map shows learning, compounding, collapse and recovery.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8140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9412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06840" y="1143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137160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2984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05840" y="197358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90042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05840" y="257556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50240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005840" y="317754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0438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05840" y="377952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7063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05840" y="438150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083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05840" y="4983480"/>
            <a:ext cx="813816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1032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7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05840" y="4983480"/>
            <a:ext cx="2712720" cy="0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8560" y="4983480"/>
            <a:ext cx="2712720" cy="-1203960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31280" y="3779520"/>
            <a:ext cx="2712720" cy="-1805940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" y="492861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63696" y="492861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6416" y="37246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89136" y="191871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18821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005840" y="4381500"/>
            <a:ext cx="2712720" cy="-3009900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18560" y="1371600"/>
            <a:ext cx="2712720" cy="601980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31280" y="1973580"/>
            <a:ext cx="2712720" cy="2407920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3266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63696" y="13167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6416" y="191871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89136" y="432663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42900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005840" y="3177540"/>
            <a:ext cx="2712720" cy="1203960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18560" y="4381500"/>
            <a:ext cx="2712720" cy="601980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31280" y="4983480"/>
            <a:ext cx="2712720" cy="0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0976" y="312267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63696" y="432663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76416" y="492861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89136" y="492861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4892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1005840" y="3779520"/>
            <a:ext cx="2712720" cy="-601980"/>
          </a:xfrm>
          <a:prstGeom prst="line">
            <a:avLst/>
          </a:prstGeom>
          <a:noFill/>
          <a:ln w="12700">
            <a:solidFill>
              <a:srgbClr val="B45309">
                <a:alpha val="7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18560" y="3177540"/>
            <a:ext cx="2712720" cy="-601980"/>
          </a:xfrm>
          <a:prstGeom prst="line">
            <a:avLst/>
          </a:prstGeom>
          <a:noFill/>
          <a:ln w="12700">
            <a:solidFill>
              <a:srgbClr val="B45309">
                <a:alpha val="7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31280" y="2575560"/>
            <a:ext cx="2712720" cy="-1203960"/>
          </a:xfrm>
          <a:prstGeom prst="line">
            <a:avLst/>
          </a:prstGeom>
          <a:noFill/>
          <a:ln w="12700">
            <a:solidFill>
              <a:srgbClr val="B45309">
                <a:alpha val="7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0976" y="372465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63696" y="312267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76416" y="252069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89136" y="1316736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35440" y="1280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1005840" y="1371600"/>
            <a:ext cx="2712720" cy="120396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18560" y="2575560"/>
            <a:ext cx="2712720" cy="-120396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31280" y="1371600"/>
            <a:ext cx="2712720" cy="180594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0976" y="131673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63696" y="252069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76416" y="131673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89136" y="312267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35440" y="30861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1005840" y="2575560"/>
            <a:ext cx="2712720" cy="-601980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18560" y="1973580"/>
            <a:ext cx="2712720" cy="1203960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31280" y="3177540"/>
            <a:ext cx="2712720" cy="-601980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0976" y="252069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63696" y="191871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76416" y="312267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89136" y="252069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35440" y="2484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1005840" y="1973580"/>
            <a:ext cx="2712720" cy="1805940"/>
          </a:xfrm>
          <a:prstGeom prst="line">
            <a:avLst/>
          </a:prstGeom>
          <a:noFill/>
          <a:ln w="12700">
            <a:solidFill>
              <a:srgbClr val="667085">
                <a:alpha val="7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18560" y="3779520"/>
            <a:ext cx="2712720" cy="601980"/>
          </a:xfrm>
          <a:prstGeom prst="line">
            <a:avLst/>
          </a:prstGeom>
          <a:noFill/>
          <a:ln w="12700">
            <a:solidFill>
              <a:srgbClr val="667085">
                <a:alpha val="7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31280" y="4381500"/>
            <a:ext cx="2712720" cy="-601980"/>
          </a:xfrm>
          <a:prstGeom prst="line">
            <a:avLst/>
          </a:prstGeom>
          <a:noFill/>
          <a:ln w="12700">
            <a:solidFill>
              <a:srgbClr val="667085">
                <a:alpha val="7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0976" y="191871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63696" y="372465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76416" y="432663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89136" y="372465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35440" y="3688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9464040" y="1371600"/>
            <a:ext cx="762000" cy="29146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00616" y="141732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10226040" y="1371600"/>
            <a:ext cx="762000" cy="29146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262616" y="141732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R3→R4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0988040" y="1371600"/>
            <a:ext cx="762000" cy="29146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024616" y="141732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464040" y="166306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500616" y="170878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226040" y="166306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262616" y="170878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 → 2nd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0988040" y="1663065"/>
            <a:ext cx="762000" cy="291465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024616" y="170878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464040" y="1954530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00616" y="200025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0226040" y="1954530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262616" y="200025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 → 1st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988040" y="1954530"/>
            <a:ext cx="762000" cy="291465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024616" y="200025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9464040" y="224599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500616" y="229171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10226040" y="224599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262616" y="229171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→ 3rd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0988040" y="2245995"/>
            <a:ext cx="762000" cy="291465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024616" y="229171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9464040" y="2537460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500616" y="258318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10226040" y="2537460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262616" y="258318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 → 5th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0988040" y="2537460"/>
            <a:ext cx="762000" cy="291465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1024616" y="258318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464040" y="282892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500616" y="287464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10226040" y="282892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262616" y="287464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7th → 7th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10988040" y="282892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024616" y="287464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9464040" y="3120390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500616" y="316611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0226040" y="3120390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262616" y="316611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 → 4th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10988040" y="3120390"/>
            <a:ext cx="762000" cy="29146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1024616" y="3166110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9464040" y="341185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500616" y="345757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10226040" y="3411855"/>
            <a:ext cx="762000" cy="291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262616" y="345757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→ 6th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10988040" y="3411855"/>
            <a:ext cx="762000" cy="29146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1024616" y="3457575"/>
            <a:ext cx="688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1005840" y="5166360"/>
            <a:ext cx="5852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1005840" y="53309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can improve operationally and still lose relative rank if competitors improve faster, or if cumulative TSR compresses.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movement is true learning rather than temporary recovery?    › Which rank loss hides an operational improvement?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Round 4 managerial puzzle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Profit, share, value and rank tell different stories.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profit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market cap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5584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5584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8m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share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6188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6188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19.8%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458200" y="123444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34416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ROCE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67928" y="161848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67928" y="20208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30.3%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822960" y="274320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983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 (%)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0080" y="2514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 (%)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79592" y="269903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26898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Green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5816967" y="342590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54127" y="34167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Harshad Mehta Gang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4725160" y="4873752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2320" y="48646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Lakshmi Chit Fund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3299602" y="267919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6762" y="26700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Big Bulls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3338410" y="4013862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5570" y="400471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Grey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4287920" y="3973273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080" y="3964129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Akatsuki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3837744" y="4225555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4904" y="42164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Pink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640080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Accounting profit answers what was earned this round; valuation asks whether cash flows are repeatable after risk.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share without margins becomes pressure. High margin without future option value can become vulnerability.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0" y="4114800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00800" y="42793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strategy is the coherent system, not the highest single metric.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has the most coherent value story?    › Which metric flatters your team but hides the biggest risk?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comparison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price × volume × mix; it is not a strategy by itself.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3051137" cy="17406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44752"/>
            <a:ext cx="3344875" cy="17406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44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719072"/>
            <a:ext cx="2934891" cy="17406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19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1993392"/>
            <a:ext cx="1745487" cy="17406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267712"/>
            <a:ext cx="2278437" cy="17406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267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542032"/>
            <a:ext cx="2125779" cy="17406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1.9bn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2816352"/>
            <a:ext cx="1701314" cy="174063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8163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1.5bn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51683" y="3685032"/>
            <a:ext cx="1727973" cy="131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48502" y="3685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+0.6bn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89403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51683" y="3894038"/>
            <a:ext cx="716385" cy="131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8502" y="389403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410304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51683" y="4103043"/>
            <a:ext cx="303214" cy="131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48502" y="410304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31204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71491" y="4312049"/>
            <a:ext cx="680192" cy="131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8502" y="431204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-0.2bn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452105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1797" y="4521055"/>
            <a:ext cx="2439886" cy="131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48502" y="45210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-0.9bn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" y="473006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69116" y="4730061"/>
            <a:ext cx="582567" cy="131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8502" y="473006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-0.2bn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" y="493906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51683" y="4939066"/>
            <a:ext cx="749727" cy="131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48502" y="49390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51683" y="3657600"/>
            <a:ext cx="0" cy="15544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Harshad Mehta Gang has the largest Round 4 revenue base.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added the most revenue from Round 3 to Round 4.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next question is whether this revenue converted into margin and risk-adjusted value.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is valuable only when the additional volume earns contribution after price, features, production, logistics and promotion.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Whose growth was value-accretive?    › Whose revenue growth created operating stress?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comparison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reveals the quality of conversion from sales into economics.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51683" y="1170432"/>
            <a:ext cx="904063" cy="17406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48502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51683" y="1444752"/>
            <a:ext cx="30590" cy="17406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48502" y="1444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719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99792" y="1719072"/>
            <a:ext cx="1651891" cy="1740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8502" y="1719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51683" y="1993392"/>
            <a:ext cx="530875" cy="17406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8502" y="1993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43282" y="2267712"/>
            <a:ext cx="508401" cy="1740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8502" y="2267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11432" y="2542032"/>
            <a:ext cx="440251" cy="1740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48502" y="2542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-0.2bn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29775" y="2816352"/>
            <a:ext cx="521909" cy="1740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48502" y="28163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-0.2bn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51683" y="1143000"/>
            <a:ext cx="0" cy="20116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51683" y="3685032"/>
            <a:ext cx="1879835" cy="131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48502" y="3685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+0.7bn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89403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51683" y="3894038"/>
            <a:ext cx="750575" cy="131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48502" y="389403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" y="410304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71352" y="4103043"/>
            <a:ext cx="380331" cy="131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48502" y="410304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-0.1bn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" y="431204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46207" y="4312049"/>
            <a:ext cx="305476" cy="131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48502" y="431204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-0.1bn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452105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01537" y="4521055"/>
            <a:ext cx="1950146" cy="131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48502" y="45210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-0.7bn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473006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1926" y="4730061"/>
            <a:ext cx="389758" cy="131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48502" y="473006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-0.1bn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493906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951683" y="4939066"/>
            <a:ext cx="442696" cy="131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48502" y="49390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+0.2bn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51683" y="3657600"/>
            <a:ext cx="0" cy="15544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produced the highest Round 4 profit.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Lakshmi Chit Fund has the largest Round 4 loss.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must be read together with R&amp;D timing, inventory, financing and future option value.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is a residual: reverse-engineer it into price, volume, unit cost, features, R&amp;D, promotion, financing and tax.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cost line explains your profit change?    › Was profit sacrificed deliberately or accidentally?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share battle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is valuable only when it improves learning, scale and future cash flow.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3344875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19.8%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5128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51283"/>
            <a:ext cx="3303967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5128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19.6%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73213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732135"/>
            <a:ext cx="2590784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3213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15.3%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01298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2012986"/>
            <a:ext cx="1659589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1298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29383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293838"/>
            <a:ext cx="1684939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29383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57468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574689"/>
            <a:ext cx="2305172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7468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13.6%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85554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2855541"/>
            <a:ext cx="2011111" cy="1783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85554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51683" y="3685032"/>
            <a:ext cx="2026257" cy="12736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48502" y="3685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+5.5 pp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88750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51683" y="3887506"/>
            <a:ext cx="1580809" cy="12736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8502" y="388750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+4.3 pp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408998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65566" y="4089981"/>
            <a:ext cx="486117" cy="1273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48502" y="408998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-1.3 pp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29245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864413" y="4292455"/>
            <a:ext cx="1087270" cy="1273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8502" y="42924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-2.9 pp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449492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46304" y="4494929"/>
            <a:ext cx="2805379" cy="1273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48502" y="449492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-7.6 pp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" y="469740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979449" y="4697403"/>
            <a:ext cx="972235" cy="127363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8502" y="469740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-2.6 pp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" y="489987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51683" y="4899878"/>
            <a:ext cx="1744085" cy="127363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48502" y="489987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+4.7 pp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51683" y="3657600"/>
            <a:ext cx="0" cy="150876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gained the most global share.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Grey lost the most share.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Share must be tested against ROS, ROCE, inventory and cash conversion.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do not reward market-share ambition; they reward a value proposition. The firm must then convert the demand profitably.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bought share too expensively?    › Which team should protect margin before chasing share?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battle map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regions are different demand systems.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371600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1887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1143000"/>
            <a:ext cx="1371600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11887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1143000"/>
            <a:ext cx="1371600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1887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1371600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1887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16230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16687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57400" y="16230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93976" y="16687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17.8%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16230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16687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21.8%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00600" y="16230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16687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17.6%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" y="21031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21488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57400" y="21031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21488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20.4%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21031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5576" y="21488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19.9%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21031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21488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18.1%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258318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262890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57400" y="258318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93976" y="262890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16.9%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29000" y="258318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65576" y="262890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14.4%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258318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37176" y="262890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15.8%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5800" y="306324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" y="310896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057400" y="306324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93976" y="310896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429000" y="306324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65576" y="310896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0600" y="306324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10896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11.4%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" y="354330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" y="35890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057400" y="354330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93976" y="35890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14.8%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429000" y="3543300"/>
            <a:ext cx="1371600" cy="48006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65576" y="35890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354330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37176" y="358902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13.5%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5800" y="40233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" y="40690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057400" y="40233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93976" y="40690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10.9%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429000" y="40233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65576" y="40690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14.6%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00600" y="402336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37176" y="406908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14.3%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85800" y="45034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" y="45491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057400" y="45034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93976" y="45491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10.5%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429000" y="45034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65576" y="45491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13.8%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00600" y="4503420"/>
            <a:ext cx="137160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37176" y="4549140"/>
            <a:ext cx="129844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9.3%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492240" y="1371600"/>
            <a:ext cx="46634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 leader: Harshad Mehta Gang.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Asia leader: Green.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Europe leader: Harshad Mehta Gang.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Round 5 choices should define defend, attack, repair, harvest or exit by region.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global strategy fails when it treats USA, Asia and Europe as one average customer.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region is your economic engine?    › Which region is your trap?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and option discipline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spending must become commercialisation, not just capability ownership.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273423" cy="1783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5128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51283"/>
            <a:ext cx="787302" cy="1783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5128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73213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732135"/>
            <a:ext cx="1130653" cy="1783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3213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01298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2012986"/>
            <a:ext cx="795526" cy="1783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01298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29383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293838"/>
            <a:ext cx="1541653" cy="1783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29383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57468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574689"/>
            <a:ext cx="1410295" cy="1783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7468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0.4bn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85554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2855541"/>
            <a:ext cx="1103923" cy="1783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85554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0.3bn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5800" y="370332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5349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R&amp;D intensity (%)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2920" y="34747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ROCE (%)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336309" y="363931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73469" y="3630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Green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2498514" y="4889557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35674" y="488041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Harshad Mehta Gang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3693471" y="4876455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30631" y="48673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Lakshmi Chit Fund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4255719" y="470466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92879" y="46955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Big Bulls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6016752" y="5080985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3912" y="507184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Grey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5911484" y="5239512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48644" y="52303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Akatsuki</a:t>
            </a:r>
            <a:endParaRPr lang="en-US" sz="670" dirty="0"/>
          </a:p>
        </p:txBody>
      </p:sp>
      <p:sp>
        <p:nvSpPr>
          <p:cNvPr id="44" name="Shape 42"/>
          <p:cNvSpPr/>
          <p:nvPr/>
        </p:nvSpPr>
        <p:spPr>
          <a:xfrm>
            <a:off x="5795391" y="5103635"/>
            <a:ext cx="128016" cy="12801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32551" y="509449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Pink</a:t>
            </a: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649224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Grey has the highest Round 4 R&amp;D spend.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R&amp;D is expensed now but may create future options if aligned with market readiness and fulfilment capacity.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R&amp;D is not good or bad by itself; conversion is the test.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technology option has value only when demand, product readiness, capacity, cash and risk can carry it to market.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When is R&amp;D an investment rather than a cost?    › What evidence should govern R&amp;D timing?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and capital discipline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 and ROCE separate attractive growth from expensive movement.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298448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1887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84248" y="1143000"/>
            <a:ext cx="1298448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0824" y="11887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82696" y="1143000"/>
            <a:ext cx="1298448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1887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ROS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81144" y="1143000"/>
            <a:ext cx="1298448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1887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79592" y="1143000"/>
            <a:ext cx="1298448" cy="48006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11887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ROCE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162306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16687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84248" y="162306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16687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11.6%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82696" y="1623060"/>
            <a:ext cx="1298448" cy="48006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6687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+27.8 pp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81144" y="162306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6687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30.3%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79592" y="1623060"/>
            <a:ext cx="1298448" cy="48006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16687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+29.4 pp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" y="210312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21488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84248" y="210312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0824" y="21488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82696" y="2103120"/>
            <a:ext cx="1298448" cy="48006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21488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 pp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81144" y="210312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1488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79592" y="2103120"/>
            <a:ext cx="1298448" cy="48006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16168" y="21488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+6.3 pp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5800" y="258318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262890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84248" y="258318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0824" y="262890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-22.1%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82696" y="258318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9272" y="262890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-4.4 pp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81144" y="258318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262890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879592" y="258318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16168" y="262890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 pp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" y="306324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" y="310896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984248" y="306324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20824" y="310896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82696" y="306324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9272" y="310896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-4.4 pp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81144" y="306324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310896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79592" y="3063240"/>
            <a:ext cx="1298448" cy="48006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16168" y="310896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-8.1 pp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5800" y="354330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" y="35890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984248" y="354330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20824" y="35890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-8.8%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82696" y="3543300"/>
            <a:ext cx="1298448" cy="48006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19272" y="35890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-26.3 pp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81144" y="354330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35890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-0.5%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879592" y="3543300"/>
            <a:ext cx="1298448" cy="48006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16168" y="358902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-23.9 pp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85800" y="402336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2376" y="40690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984248" y="402336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20824" y="40690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-8.1%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82696" y="4023360"/>
            <a:ext cx="1298448" cy="48006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19272" y="40690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-7.3 pp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581144" y="402336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17720" y="40690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-3.9%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879592" y="4023360"/>
            <a:ext cx="1298448" cy="48006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16168" y="406908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-6.0 pp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85800" y="450342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2376" y="45491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984248" y="450342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20824" y="45491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-12.1%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282696" y="4503420"/>
            <a:ext cx="1298448" cy="48006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19272" y="45491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+14.9 pp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581144" y="450342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17720" y="45491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79592" y="4503420"/>
            <a:ext cx="1298448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16168" y="4549140"/>
            <a:ext cx="12252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+2.5 pp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543800" y="1417320"/>
            <a:ext cx="39319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 ROS: Big Bulls.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 ROCE: Green.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capital-intensive strategy must defend ROCE, not just sales.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7543800" y="365760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543800" y="3822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 asks what the team keeps from sales; ROCE asks whether the capital base earns an acceptable return.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metric should govern your next decision: ROS or ROCE?    › Where did capital become trapped without return?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and cash-flow risk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is a deferred judgement about demand.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170432"/>
            <a:ext cx="1379212" cy="16132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42515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1425158"/>
            <a:ext cx="1857970" cy="16132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2515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167988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51760" y="1679883"/>
            <a:ext cx="3344875" cy="16132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67988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193460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1934609"/>
            <a:ext cx="993752" cy="16132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3460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18933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189335"/>
            <a:ext cx="2186415" cy="16132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18933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0.7bn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44406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444061"/>
            <a:ext cx="1593416" cy="16132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44406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0.5bn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69878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2698786"/>
            <a:ext cx="1358664" cy="16132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69878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0.5bn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51683" y="3547872"/>
            <a:ext cx="775652" cy="15283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48502" y="3547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+0.4bn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78953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46304" y="3789535"/>
            <a:ext cx="2805379" cy="152835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8502" y="378953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-1.3bn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" y="403119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51683" y="4031198"/>
            <a:ext cx="46607" cy="15283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48502" y="403119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+0.0bn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427286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51683" y="4272861"/>
            <a:ext cx="283525" cy="15283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8502" y="427286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" y="451452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351885" y="4514523"/>
            <a:ext cx="1599798" cy="152835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48502" y="451452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-0.8bn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" y="475618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57942" y="4756186"/>
            <a:ext cx="893741" cy="152835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8502" y="475618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-0.4bn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" y="499784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51683" y="4997849"/>
            <a:ext cx="190569" cy="152835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48502" y="499784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51683" y="3520440"/>
            <a:ext cx="0" cy="178308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1417320"/>
            <a:ext cx="4663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Lakshmi Chit Fund carries the largest inventory balance.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Harshad Mehta Gang has the weakest cash flow before financing.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Inventory can be a strategic buffer only if it matches verified future demand.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365760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92240" y="3822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flow tells whether the strategy can survive the time lag between spending and payoff.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When is inventory a warning signal?    › Which cash problem is temporary investment and which is operating weakness?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Financing risk and valuation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changes the value of the same future cash flow.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371600" cy="48577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1887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057400" y="1143000"/>
            <a:ext cx="1371600" cy="48577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11887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429000" y="1143000"/>
            <a:ext cx="1371600" cy="48577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1887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debt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1371600" cy="48577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1887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1371600" cy="485775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1887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price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85800" y="16287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16744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057400" y="1628775"/>
            <a:ext cx="1371600" cy="48577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93976" y="16744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429000" y="16287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16744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800600" y="16287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16744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172200" y="16287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16744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175.6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85800" y="21145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21602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057400" y="2114550"/>
            <a:ext cx="1371600" cy="48577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93976" y="21602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429000" y="21145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5576" y="21602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800600" y="21145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21602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172200" y="21145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21602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70.3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85800" y="26003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26460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057400" y="2600325"/>
            <a:ext cx="1371600" cy="48577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93976" y="26460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3429000" y="26003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65576" y="26460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800600" y="26003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26460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172200" y="26003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26460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58.6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685800" y="308610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" y="31318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2057400" y="3086100"/>
            <a:ext cx="1371600" cy="485775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93976" y="31318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AA+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3429000" y="308610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65576" y="31318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4800600" y="308610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37176" y="31318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172200" y="308610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08776" y="313182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230.8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685800" y="35718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" y="36175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2057400" y="3571875"/>
            <a:ext cx="1371600" cy="48577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93976" y="36175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429000" y="35718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65576" y="36175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4800600" y="35718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37176" y="36175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172200" y="357187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08776" y="361759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155.3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85800" y="40576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2376" y="41033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2057400" y="4057650"/>
            <a:ext cx="1371600" cy="48577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93976" y="41033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3429000" y="40576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65576" y="41033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4800600" y="40576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37176" y="41033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6172200" y="4057650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08776" y="4103370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171.1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685800" y="45434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2376" y="45891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2057400" y="4543425"/>
            <a:ext cx="1371600" cy="485775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93976" y="45891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CCC+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3429000" y="45434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65576" y="45891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4800600" y="45434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37176" y="45891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172200" y="4543425"/>
            <a:ext cx="1371600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08776" y="4589145"/>
            <a:ext cx="1298448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124.7</a:t>
            </a:r>
            <a:endParaRPr lang="en-US" sz="780" dirty="0"/>
          </a:p>
        </p:txBody>
      </p:sp>
      <p:sp>
        <p:nvSpPr>
          <p:cNvPr id="88" name="Text 86"/>
          <p:cNvSpPr/>
          <p:nvPr/>
        </p:nvSpPr>
        <p:spPr>
          <a:xfrm>
            <a:off x="781812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Highest market capitalisation: Big Bulls.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Largest unplanned short-term debt: Lakshmi Chit Fund.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and debt enter valuation by raising required return and reducing equity value.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7818120" y="365760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818120" y="3822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Valuation: expected cash flows → risk adjustment → enterprise value → debt/cash adjustment → equity value → share price → TSR.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can the same profit be worth less under higher risk?    › Is debt here planned leverage or emergency financing?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scorecard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view of who improved where from Round 3 to Round 4.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5087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453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4231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2519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1663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29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0807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995160" y="1097280"/>
            <a:ext cx="914400" cy="52578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11430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94360" y="1623060"/>
            <a:ext cx="91440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508760" y="162306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453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423160" y="162306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97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337560" y="162306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251960" y="162306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85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5166360" y="162306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029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080760" y="162306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173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6995160" y="162306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31736" y="16687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94360" y="2148840"/>
            <a:ext cx="91440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1508760" y="214884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53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423160" y="214884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97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3337560" y="214884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741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251960" y="214884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885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5166360" y="214884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029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6080760" y="214884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173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995160" y="214884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1736" y="21945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94360" y="2674620"/>
            <a:ext cx="91440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1508760" y="2674620"/>
            <a:ext cx="914400" cy="525780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453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2423160" y="2674620"/>
            <a:ext cx="914400" cy="525780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597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3337560" y="267462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741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4251960" y="2674620"/>
            <a:ext cx="914400" cy="525780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885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5166360" y="267462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029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080760" y="2674620"/>
            <a:ext cx="914400" cy="525780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173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6995160" y="2674620"/>
            <a:ext cx="914400" cy="525780"/>
          </a:xfrm>
          <a:prstGeom prst="rect">
            <a:avLst/>
          </a:prstGeom>
          <a:solidFill>
            <a:srgbClr val="F2F4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31736" y="272034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594360" y="3200400"/>
            <a:ext cx="91440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1508760" y="320040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453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2423160" y="320040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597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3337560" y="320040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741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4251960" y="320040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885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5166360" y="320040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029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6080760" y="320040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173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995160" y="320040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31736" y="324612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594360" y="3726180"/>
            <a:ext cx="91440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09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1508760" y="372618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5453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2423160" y="372618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4597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3337560" y="372618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741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4251960" y="372618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885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5166360" y="372618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2029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6080760" y="372618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173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6995160" y="372618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31736" y="377190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594360" y="4251960"/>
            <a:ext cx="91440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309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1508760" y="425196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5453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2423160" y="425196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4597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3337560" y="425196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3741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12" name="Shape 110"/>
          <p:cNvSpPr/>
          <p:nvPr/>
        </p:nvSpPr>
        <p:spPr>
          <a:xfrm>
            <a:off x="4251960" y="425196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885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5166360" y="425196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2029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116" name="Shape 114"/>
          <p:cNvSpPr/>
          <p:nvPr/>
        </p:nvSpPr>
        <p:spPr>
          <a:xfrm>
            <a:off x="6080760" y="4251960"/>
            <a:ext cx="914400" cy="525780"/>
          </a:xfrm>
          <a:prstGeom prst="rect">
            <a:avLst/>
          </a:prstGeom>
          <a:solidFill>
            <a:srgbClr val="FFF1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1173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80" dirty="0"/>
          </a:p>
        </p:txBody>
      </p:sp>
      <p:sp>
        <p:nvSpPr>
          <p:cNvPr id="118" name="Shape 116"/>
          <p:cNvSpPr/>
          <p:nvPr/>
        </p:nvSpPr>
        <p:spPr>
          <a:xfrm>
            <a:off x="6995160" y="4251960"/>
            <a:ext cx="914400" cy="525780"/>
          </a:xfrm>
          <a:prstGeom prst="rect">
            <a:avLst/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031736" y="429768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</a:t>
            </a:r>
            <a:endParaRPr lang="en-US" sz="780" dirty="0"/>
          </a:p>
        </p:txBody>
      </p:sp>
      <p:sp>
        <p:nvSpPr>
          <p:cNvPr id="120" name="Shape 118"/>
          <p:cNvSpPr/>
          <p:nvPr/>
        </p:nvSpPr>
        <p:spPr>
          <a:xfrm>
            <a:off x="594360" y="4777740"/>
            <a:ext cx="91440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309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780" dirty="0"/>
          </a:p>
        </p:txBody>
      </p:sp>
      <p:sp>
        <p:nvSpPr>
          <p:cNvPr id="122" name="Shape 120"/>
          <p:cNvSpPr/>
          <p:nvPr/>
        </p:nvSpPr>
        <p:spPr>
          <a:xfrm>
            <a:off x="1508760" y="477774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5453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124" name="Shape 122"/>
          <p:cNvSpPr/>
          <p:nvPr/>
        </p:nvSpPr>
        <p:spPr>
          <a:xfrm>
            <a:off x="2423160" y="477774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4597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126" name="Shape 124"/>
          <p:cNvSpPr/>
          <p:nvPr/>
        </p:nvSpPr>
        <p:spPr>
          <a:xfrm>
            <a:off x="3337560" y="477774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3741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128" name="Shape 126"/>
          <p:cNvSpPr/>
          <p:nvPr/>
        </p:nvSpPr>
        <p:spPr>
          <a:xfrm>
            <a:off x="4251960" y="477774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2885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130" name="Shape 128"/>
          <p:cNvSpPr/>
          <p:nvPr/>
        </p:nvSpPr>
        <p:spPr>
          <a:xfrm>
            <a:off x="5166360" y="4777740"/>
            <a:ext cx="914400" cy="525780"/>
          </a:xfrm>
          <a:prstGeom prst="rect">
            <a:avLst/>
          </a:prstGeom>
          <a:solidFill>
            <a:srgbClr val="ECF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2029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++</a:t>
            </a:r>
            <a:endParaRPr lang="en-US" sz="780" dirty="0"/>
          </a:p>
        </p:txBody>
      </p:sp>
      <p:sp>
        <p:nvSpPr>
          <p:cNvPr id="132" name="Shape 130"/>
          <p:cNvSpPr/>
          <p:nvPr/>
        </p:nvSpPr>
        <p:spPr>
          <a:xfrm>
            <a:off x="6080760" y="477774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1173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134" name="Shape 132"/>
          <p:cNvSpPr/>
          <p:nvPr/>
        </p:nvSpPr>
        <p:spPr>
          <a:xfrm>
            <a:off x="6995160" y="4777740"/>
            <a:ext cx="914400" cy="525780"/>
          </a:xfrm>
          <a:prstGeom prst="rect">
            <a:avLst/>
          </a:prstGeom>
          <a:solidFill>
            <a:srgbClr val="E8F7EE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031736" y="4823460"/>
            <a:ext cx="841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780" dirty="0"/>
          </a:p>
        </p:txBody>
      </p:sp>
      <p:sp>
        <p:nvSpPr>
          <p:cNvPr id="136" name="Text 134"/>
          <p:cNvSpPr/>
          <p:nvPr/>
        </p:nvSpPr>
        <p:spPr>
          <a:xfrm>
            <a:off x="8229600" y="1371600"/>
            <a:ext cx="32918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scorecard is directional, not a replacement for diagnosis.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cherry-pick the cell that flatters your team.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strongest strategy creates consistency across demand, margin, capital and risk.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8229600" y="3703320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8229600" y="38679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coherent system creates improving signals across several metrics, not only one heroic number.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has the most coherent improvement pattern?    › Which team has one bright spot hiding a larger risk?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Green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 in R3 → 2nd in R4 • gained 3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-12.8%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+0.6bn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+0.7bn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11.6%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+27.8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30.3%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+29.4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C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5th → 2nd. Market cap: 4m → 5m. Share price: $125.4 → $175.6.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improved from 5th to 2nd, indicating stronger relative investor confidence.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improved by 1m; test whether this is repeatable or merely a correction.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rose by +5.5 pp, but share must be converted into margin.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C to BB-,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759362" y="459943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96522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1045952" y="235915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83112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Harshad Mehta Gang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 in R3 → 6th in R4 • lost 4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-21.9%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16.0%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+6.3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B+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2nd → 6th. Market cap: 11m → 3m. Share price: $294.9 → $70.3.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fell from 2nd to 6th, even if some operating signals may have improved.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improved by 0m; test whether this is repeatable or merely a correction.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rose by +4.3 pp, but share must be converted into margin.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B+ to BB-,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029775" y="459943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66935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1045952" y="249929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83112" y="249014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Lakshmi Chit Fund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7th in R3 → 7th in R4 • held position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-25.4%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-36.9%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-22.1%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-4.4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C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7th → 7th. Market cap: 1m → 2m. Share price: $47.4 → $58.6.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remained 7th, so the team needs to test whether it is stuck or stable.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deteriorated by -0m; identify the cost, price or volume mechanism.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-1.3 pp, so the team must decide whether to defend economics or rebuild reach.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4175778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83112" y="416663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0678818" y="459943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15978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Big Bulls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 in R3 → 1st in R4 • gained 2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12.9%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-4.4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-8.1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AA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3rd → 1st. Market cap: 9m → 8m. Share price: $268.4 → $230.8.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improved from 3rd to 1st, indicating stronger relative investor confidence.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deteriorated by -0m; identify the cost, price or volume mechanism.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-2.9 pp, so the team must decide whether to defend economics or rebuild reach.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AA to AA+,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235915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83112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9974275" y="295958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11435" y="295043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Grey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 in R3 → 4th in R4 • lost 3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-4.6%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18.6%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-0.9bn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-0.7bn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-8.8%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-26.3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-23.9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AA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1st → 4th. Market cap: 10m → 5m. Share price: $315.1 → $155.3.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fell from 1st to 4th, even if some operating signals may have improved.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deteriorated by -1m; identify the cost, price or volume mechanism.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-7.6 pp, so the team must decide whether to defend economics or rebuild reach.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AA to B,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235915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83112" y="2350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9034794" y="459943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954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Akatsuki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 in R3 → 3rd in R4 • gained 1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-2.4%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10.3%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-8.1%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-7.3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-3.9%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-6.0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BB+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4th → 3rd. Market cap: 8m → 5m. Share price: $253.4 → $171.1.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improved from 4th to 3rd, indicating stronger relative investor confidence.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deteriorated by -0m; identify the cost, price or volume mechanism.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fell by -2.6 pp, so the team must decide whether to defend economics or rebuild reach.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BB+ to B,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045952" y="281081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83112" y="28016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0294524" y="459943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31684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Pink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 in R3 → 5th in R4 • gained 1 positions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040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-12.9% in R3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7744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8716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+0.3bn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7024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7024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+0.2bn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94360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332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5332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+14.9 pp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772668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3640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3640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+2.5 pp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509760" y="1115568"/>
            <a:ext cx="16002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9488" y="1225296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9488" y="1499616"/>
            <a:ext cx="1380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CCC+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9488" y="190195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CCC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777240" y="2423160"/>
            <a:ext cx="53949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Rank: 6th → 5th. Market cap: 4m → 4m. Share price: $124.9 → $124.7.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improved from 6th to 5th, indicating stronger relative investor confidence.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Profit improved by 0m; test whether this is repeatable or merely a correction.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share rose by +4.7 pp, but share must be converted into margin.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Credit rating moved from CCC to CCC+, changing risk and valuation credibility.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46520" y="2423160"/>
            <a:ext cx="4663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4709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Global share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204089" y="4599432"/>
            <a:ext cx="128016" cy="12801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41249" y="4590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R3</a:t>
            </a:r>
            <a:endParaRPr lang="en-US" sz="670" dirty="0"/>
          </a:p>
        </p:txBody>
      </p:sp>
      <p:sp>
        <p:nvSpPr>
          <p:cNvPr id="38" name="Shape 36"/>
          <p:cNvSpPr/>
          <p:nvPr/>
        </p:nvSpPr>
        <p:spPr>
          <a:xfrm>
            <a:off x="11045952" y="3405593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83112" y="3396449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R4</a:t>
            </a:r>
            <a:endParaRPr lang="en-US" sz="670" dirty="0"/>
          </a:p>
        </p:txBody>
      </p:sp>
      <p:sp>
        <p:nvSpPr>
          <p:cNvPr id="40" name="Text 38"/>
          <p:cNvSpPr/>
          <p:nvPr/>
        </p:nvSpPr>
        <p:spPr>
          <a:xfrm>
            <a:off x="6446520" y="4892040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46520" y="50566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what improves cash-flow quality; repair the constraint that weakens repeatability.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Round 4 assumption was validated?    › What decision must change before Round 5?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rewarded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rewarded coherence rather than isolated optimisation.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Rank credibility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Big Bulls leads TSR because the market sees a stronger risk-adjusted value story.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1188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Capital return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Green shows the strongest ROCE and capital productivity.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Demand capture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Green has the highest global market share, which may create scale if margins hold.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46404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E6FF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Risk discipline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Teams with stronger credit and lower emergency debt retain valuation credibility.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6400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 Bulls leads TSR because the market sees a stronger risk-adjusted value story.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shows the strongest ROCE and capital productivity.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 has the highest global market share, which may create scale if margins hold.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with stronger credit and lower emergency debt retain valuation credibility.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Choices that reinforce each other were rewarded more than one-off activity.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0632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863840" y="3227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rewards a system of mutually reinforcing choices: customer value, operating discipline, risk control and future credibility.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reward is most sustainable in Round 5?    › Can your team pursue all rewards at once?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punished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punished strategic incoherence, fragile financing and weak conversion.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Loss conversion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Lakshmi Chit Fund shows the sharpest current earnings pressure.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1188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Inventory trap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Lakshmi Chit Fund carries the largest inventory and must test product-market fit.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EF3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Debt shock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Lakshmi Chit Fund carries the largest short-term debt pressure.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464040" y="1280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Fragile TSR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</a:rPr>
              <a:t>Falling cumulative TSR signals weaker investor confidence, not merely a bad accounting round.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6400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Lakshmi Chit Fund shows the sharpest current earnings pressure.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Lakshmi Chit Fund carries the largest inventory and must test product-market fit.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Lakshmi Chit Fund carries the largest short-term debt pressure.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Falling cumulative TSR signals weaker investor confidence, not merely a bad accounting round.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Mismatched pricing, R&amp;D, capacity and financing eroded value.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0632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863840" y="32278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fastest recovery comes from separating reversible decisions from sticky commitments in capacity, financing and technology path.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punished decision is reversible before Round 5?    › Which mistake will constrain later rounds?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decision checklist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every decision into a hypothesis, threshold and guardrail.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• R3→R4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U1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2651760" cy="574766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188720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area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651760" cy="574766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188720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question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2651760" cy="574766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5896" y="1188720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1717766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1763486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337560" y="1717766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1763486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will customers buy profitably?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989320" y="1717766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25896" y="1763486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by region and technology.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2292531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2338251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337560" y="2292531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338251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bundle maximises contribution?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989320" y="2292531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2338251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discount below contribution logic.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685800" y="2867297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2913017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337560" y="2867297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2913017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ready now vs later?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989320" y="2867297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25896" y="2913017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investment with stop-loss.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85800" y="3442063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3487783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3337560" y="3442063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3487783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made where?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989320" y="3442063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25896" y="3487783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inventory and utilisation thresholds.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685800" y="4016829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4062549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3337560" y="4016829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74136" y="4062549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plan survive before payoff?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989320" y="4016829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5896" y="4062549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unplanned debt and rating collapse.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685800" y="4591594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" y="4637314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3337560" y="4591594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74136" y="4637314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Defend, attack, repair or exit?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989320" y="4591594"/>
            <a:ext cx="2651760" cy="57476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25896" y="4637314"/>
            <a:ext cx="257860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resources deliberately.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900684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team should submit one strategic hypothesis, one falsifying metric and one operating guardrail.
</a:t>
            </a:r>
            <a:pPr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next round is not a chance to explain better; it is a chance to decide better.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006840" y="38404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006840" y="40050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 rule converts learning into managerial discipline.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What is your non-negotiable guardrail?    › Which Round 5 decision has the largest irreversible downside?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Closing reflection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strongest team is not the boldest. It is the most coherent.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0632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Coherence is the discipline of making market, technology, production, finance and risk choices point in the same direction.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6576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D5DD"/>
                </a:solidFill>
              </a:rPr>
              <a:t>Round 5 assignment: one strategic hypothesis, one falsifying metric, one operating guardrail.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5DD"/>
                </a:solidFill>
              </a:rPr>
              <a:t>Socratic closing: What will your team stop doing immediately? What evidence will prove your Round 5 strategy is working?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Round 4 Debrief</dc:title>
  <dc:subject>CESIM Global Challenge debrief</dc:subject>
  <dc:creator>OpenAI</dc:creator>
  <cp:lastModifiedBy>OpenAI</cp:lastModifiedBy>
  <cp:revision>1</cp:revision>
  <dcterms:created xsi:type="dcterms:W3CDTF">2026-08-17T09:43:37Z</dcterms:created>
  <dcterms:modified xsi:type="dcterms:W3CDTF">2026-08-17T09:43:37Z</dcterms:modified>
</cp:coreProperties>
</file>