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CESIM Global Challenge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U1 • Round 4 Comparative Debrief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5DD"/>
                </a:solidFill>
              </a:rPr>
              <a:t>GL Sec C Group July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7548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93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Core teaching question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Which Round 4 decisions converted activity into durable shareholder value, and which choices weakened credibility for the next round?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5DD"/>
                </a:solidFill>
              </a:rPr>
              <a:t>Subtle executive template • strong foreground–background contrast • rank flow and causal diagnosis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309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Round 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Begin with the causal chain; do not stop at rank.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48640" y="11430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325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Decision-to-value chain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381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Assumption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49047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0020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3677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Decision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31343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2316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45973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Operations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13639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4612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28269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Market response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395935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6908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0565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Cash/Risk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478231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9204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2861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Valuation/TSR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6400800" y="1143000"/>
            <a:ext cx="49377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629400" y="1325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Team-name continuity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29400" y="1691640"/>
            <a:ext cx="2194560" cy="2514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665976" y="173736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823960" y="1691640"/>
            <a:ext cx="2194560" cy="2514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860536" y="173736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R2–R4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629400" y="1943100"/>
            <a:ext cx="2194560" cy="2514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665976" y="198882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23960" y="1943100"/>
            <a:ext cx="2194560" cy="2514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860536" y="198882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29400" y="2194560"/>
            <a:ext cx="2194560" cy="2514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65976" y="224028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823960" y="2194560"/>
            <a:ext cx="2194560" cy="2514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860536" y="224028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629400" y="2446020"/>
            <a:ext cx="2194560" cy="2514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65976" y="249174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823960" y="2446020"/>
            <a:ext cx="2194560" cy="2514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860536" y="2491740"/>
            <a:ext cx="21214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3794760"/>
            <a:ext cx="54864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Cumulative TSR is the ranking criterion, but Round 4 movements also require share price, market cap, margins, cash and risk.
</a:t>
            </a:r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Percentage-point changes are used for ROS, ROCE and market share.
</a:t>
            </a:r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Loss-to-profit movement is treated as a turnaround, not conventional percentage growth.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00800" y="3840480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400800" y="400507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Round 4 answer explains mechanism: which assumption changed, which decision followed, which metric moved, and what risk remains.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3 assumption did your team carry into Round 4?    › Which evidence now confirms or rejects it?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Universe-level movement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universe changed scale, profitability, investment intensity and market value.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revenue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15.6m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15.7m in R3 • -0.5%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880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90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90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-0.6m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90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-0.6m in R3 • -2.8%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5166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276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76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76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4.2m in R3 • -49.4%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7452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562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62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4.3m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62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4.1m in R3 • +4.9%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9738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48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848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31.3m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48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46.3m in R3 • -32.4%</a:t>
            </a:r>
            <a:endParaRPr lang="en-US" sz="770" dirty="0"/>
          </a:p>
        </p:txBody>
      </p:sp>
      <p:sp>
        <p:nvSpPr>
          <p:cNvPr id="28" name="Text 26"/>
          <p:cNvSpPr/>
          <p:nvPr/>
        </p:nvSpPr>
        <p:spPr>
          <a:xfrm>
            <a:off x="685800" y="27706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925129" y="2770632"/>
            <a:ext cx="26555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848502" y="2770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-0.5%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5800" y="3163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93759" y="3163824"/>
            <a:ext cx="157925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48502" y="31638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-2.8%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5800" y="35570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46304" y="3557016"/>
            <a:ext cx="2805379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848502" y="355701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-49.4%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5800" y="39502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951683" y="3950208"/>
            <a:ext cx="277990" cy="249631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848502" y="39502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+4.9%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85800" y="43434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112357" y="4343400"/>
            <a:ext cx="1839327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848502" y="43434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-32.4%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951683" y="2743200"/>
            <a:ext cx="0" cy="205740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492240" y="2788920"/>
            <a:ext cx="4754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Universe 1 stayed near the same sales scale, but aggregate market value fell sharply. The core question is why operational recovery in some teams did not translate into shared valuation strength.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average can conceal crisis cases. Read the movement by team and by causal driver.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92240" y="4251960"/>
            <a:ext cx="4754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492240" y="44165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 is healthy only when sales convert into margin, cash and risk-adjusted value. Bigger activity is not automatically better value.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movement is most worrying: profit, inventory, R&amp;D, or market value?    › Does the universe look more disciplined than in Round 3?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leaderboard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Ranking by cumulative total shareholder return (p.a.).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31520" y="12618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 Big Bulls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074213" y="1261872"/>
            <a:ext cx="630822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066130" y="1261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5.5%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18039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 Green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869203" y="1803981"/>
            <a:ext cx="205010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66130" y="180398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-1.8%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2346089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 Akatsuki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96377" y="2346089"/>
            <a:ext cx="277836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066130" y="234608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-2.4%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288819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 Grey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42726" y="2888198"/>
            <a:ext cx="531487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66130" y="288819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-4.6%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343030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Pink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47759" y="3430306"/>
            <a:ext cx="1126454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66130" y="343030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-9.9%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3972415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 Harshad Mehta Gang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74134" y="3972415"/>
            <a:ext cx="2500078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66130" y="397241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-21.9%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" y="4514523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7th Lakshmi Chit Fund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73736" y="4514523"/>
            <a:ext cx="2900477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66130" y="451452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-25.4%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074213" y="1234440"/>
            <a:ext cx="0" cy="388620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675120" y="12801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784848" y="13898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84848" y="1664208"/>
            <a:ext cx="20665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784848" y="206654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5.5% TSR</a:t>
            </a:r>
            <a:endParaRPr lang="en-US" sz="770" dirty="0"/>
          </a:p>
        </p:txBody>
      </p:sp>
      <p:sp>
        <p:nvSpPr>
          <p:cNvPr id="34" name="Shape 32"/>
          <p:cNvSpPr/>
          <p:nvPr/>
        </p:nvSpPr>
        <p:spPr>
          <a:xfrm>
            <a:off x="9144000" y="12801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9253728" y="13898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Deepest trouble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253728" y="1664208"/>
            <a:ext cx="20665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253728" y="206654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-25.4% TSR</a:t>
            </a:r>
            <a:endParaRPr lang="en-US" sz="770" dirty="0"/>
          </a:p>
        </p:txBody>
      </p:sp>
      <p:sp>
        <p:nvSpPr>
          <p:cNvPr id="38" name="Text 36"/>
          <p:cNvSpPr/>
          <p:nvPr/>
        </p:nvSpPr>
        <p:spPr>
          <a:xfrm>
            <a:off x="6766560" y="2743200"/>
            <a:ext cx="4480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Big Bulls leads the formal ranking, but the leader's sustainability must be tested against margins, cash and risk.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Lakshmi Chit Fund has the weakest investor confidence signal and needs a rescue logic, not cosmetic adjustment.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66560" y="4251960"/>
            <a:ext cx="4480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766560" y="44165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is a symptom. The managerial explanation lies in customer capture, margin conversion, capital discipline and risk.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is Big Bulls leading on TSR?    › What evidence would make you distrust the rank table?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movement: Round 1 → Round 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flow map shows learning, compounding, collapse and recovery.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6868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8140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9412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0684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129844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05840" y="197358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190042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005840" y="257556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250240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05840" y="317754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77240" y="310438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005840" y="377952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370636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005840" y="438150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30834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005840" y="498348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491032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7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005840" y="4983480"/>
            <a:ext cx="2712720" cy="0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718560" y="4983480"/>
            <a:ext cx="2712720" cy="-1203960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431280" y="3779520"/>
            <a:ext cx="2712720" cy="-1805940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50976" y="492861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63696" y="492861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76416" y="37246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089136" y="191871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235440" y="18821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1005840" y="4381500"/>
            <a:ext cx="2712720" cy="-3009900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718560" y="1371600"/>
            <a:ext cx="2712720" cy="601980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431280" y="1973580"/>
            <a:ext cx="2712720" cy="2407920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950976" y="432663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663696" y="131673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376416" y="191871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089136" y="432663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235440" y="4290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1005840" y="3177540"/>
            <a:ext cx="2712720" cy="120396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718560" y="4381500"/>
            <a:ext cx="2712720" cy="60198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431280" y="4983480"/>
            <a:ext cx="2712720" cy="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50976" y="312267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3663696" y="432663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6376416" y="492861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9089136" y="492861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235440" y="48920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1005840" y="3779520"/>
            <a:ext cx="2712720" cy="-601980"/>
          </a:xfrm>
          <a:prstGeom prst="line">
            <a:avLst/>
          </a:prstGeom>
          <a:noFill/>
          <a:ln w="12700">
            <a:solidFill>
              <a:srgbClr val="B4530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3718560" y="3177540"/>
            <a:ext cx="2712720" cy="-601980"/>
          </a:xfrm>
          <a:prstGeom prst="line">
            <a:avLst/>
          </a:prstGeom>
          <a:noFill/>
          <a:ln w="12700">
            <a:solidFill>
              <a:srgbClr val="B4530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6431280" y="2575560"/>
            <a:ext cx="2712720" cy="-1203960"/>
          </a:xfrm>
          <a:prstGeom prst="line">
            <a:avLst/>
          </a:prstGeom>
          <a:noFill/>
          <a:ln w="12700">
            <a:solidFill>
              <a:srgbClr val="B4530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950976" y="372465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3663696" y="312267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376416" y="252069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089136" y="131673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235440" y="12801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1005840" y="1371600"/>
            <a:ext cx="2712720" cy="120396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3718560" y="2575560"/>
            <a:ext cx="2712720" cy="-120396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431280" y="1371600"/>
            <a:ext cx="2712720" cy="180594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50976" y="131673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3663696" y="252069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376416" y="131673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089136" y="312267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9235440" y="30861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1005840" y="2575560"/>
            <a:ext cx="2712720" cy="-601980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3718560" y="1973580"/>
            <a:ext cx="2712720" cy="1203960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31280" y="3177540"/>
            <a:ext cx="2712720" cy="-601980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950976" y="252069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3663696" y="191871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376416" y="312267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9089136" y="252069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9235440" y="2484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1005840" y="1973580"/>
            <a:ext cx="2712720" cy="1805940"/>
          </a:xfrm>
          <a:prstGeom prst="line">
            <a:avLst/>
          </a:prstGeom>
          <a:noFill/>
          <a:ln w="12700">
            <a:solidFill>
              <a:srgbClr val="667085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3718560" y="3779520"/>
            <a:ext cx="2712720" cy="601980"/>
          </a:xfrm>
          <a:prstGeom prst="line">
            <a:avLst/>
          </a:prstGeom>
          <a:noFill/>
          <a:ln w="12700">
            <a:solidFill>
              <a:srgbClr val="667085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31280" y="4381500"/>
            <a:ext cx="2712720" cy="-601980"/>
          </a:xfrm>
          <a:prstGeom prst="line">
            <a:avLst/>
          </a:prstGeom>
          <a:noFill/>
          <a:ln w="12700">
            <a:solidFill>
              <a:srgbClr val="667085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50976" y="191871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3663696" y="372465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6376416" y="432663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9089136" y="372465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9235440" y="3688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9464040" y="1371600"/>
            <a:ext cx="762000" cy="29146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9500616" y="141732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0226040" y="1371600"/>
            <a:ext cx="762000" cy="29146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10262616" y="141732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R3→R4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0988040" y="1371600"/>
            <a:ext cx="762000" cy="29146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1024616" y="141732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9464040" y="166306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9500616" y="170878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0226040" y="166306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10262616" y="170878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→ 2nd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10988040" y="1663065"/>
            <a:ext cx="762000" cy="291465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11024616" y="170878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9464040" y="1954530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9500616" y="200025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10226040" y="1954530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10262616" y="200025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 → 1st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10988040" y="1954530"/>
            <a:ext cx="762000" cy="291465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11024616" y="200025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9464040" y="224599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9500616" y="229171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0226040" y="224599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10262616" y="229171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 → 3rd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10988040" y="2245995"/>
            <a:ext cx="762000" cy="291465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11024616" y="229171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9464040" y="2537460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/>
          <p:nvPr/>
        </p:nvSpPr>
        <p:spPr>
          <a:xfrm>
            <a:off x="9500616" y="258318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10226040" y="2537460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/>
          <p:nvPr/>
        </p:nvSpPr>
        <p:spPr>
          <a:xfrm>
            <a:off x="10262616" y="258318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 → 5th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10988040" y="2537460"/>
            <a:ext cx="762000" cy="291465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11024616" y="258318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9464040" y="282892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3" name="Text 111"/>
          <p:cNvSpPr/>
          <p:nvPr/>
        </p:nvSpPr>
        <p:spPr>
          <a:xfrm>
            <a:off x="9500616" y="287464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0226040" y="282892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10262616" y="287464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7th → 7th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10988040" y="282892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7" name="Text 115"/>
          <p:cNvSpPr/>
          <p:nvPr/>
        </p:nvSpPr>
        <p:spPr>
          <a:xfrm>
            <a:off x="11024616" y="287464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9464040" y="3120390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9" name="Text 117"/>
          <p:cNvSpPr/>
          <p:nvPr/>
        </p:nvSpPr>
        <p:spPr>
          <a:xfrm>
            <a:off x="9500616" y="316611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10226040" y="3120390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1" name="Text 119"/>
          <p:cNvSpPr/>
          <p:nvPr/>
        </p:nvSpPr>
        <p:spPr>
          <a:xfrm>
            <a:off x="10262616" y="316611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 → 4th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10988040" y="3120390"/>
            <a:ext cx="762000" cy="29146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3" name="Text 121"/>
          <p:cNvSpPr/>
          <p:nvPr/>
        </p:nvSpPr>
        <p:spPr>
          <a:xfrm>
            <a:off x="11024616" y="3166110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</a:t>
            </a:r>
            <a:endParaRPr lang="en-US" sz="750" dirty="0"/>
          </a:p>
        </p:txBody>
      </p:sp>
      <p:sp>
        <p:nvSpPr>
          <p:cNvPr id="124" name="Shape 122"/>
          <p:cNvSpPr/>
          <p:nvPr/>
        </p:nvSpPr>
        <p:spPr>
          <a:xfrm>
            <a:off x="9464040" y="341185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5" name="Text 123"/>
          <p:cNvSpPr/>
          <p:nvPr/>
        </p:nvSpPr>
        <p:spPr>
          <a:xfrm>
            <a:off x="9500616" y="345757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10226040" y="3411855"/>
            <a:ext cx="762000" cy="291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7" name="Text 125"/>
          <p:cNvSpPr/>
          <p:nvPr/>
        </p:nvSpPr>
        <p:spPr>
          <a:xfrm>
            <a:off x="10262616" y="345757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 → 6th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10988040" y="3411855"/>
            <a:ext cx="762000" cy="29146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9" name="Text 127"/>
          <p:cNvSpPr/>
          <p:nvPr/>
        </p:nvSpPr>
        <p:spPr>
          <a:xfrm>
            <a:off x="11024616" y="3457575"/>
            <a:ext cx="688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1005840" y="5166360"/>
            <a:ext cx="5852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1005840" y="53309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can improve operationally and still lose relative rank if competitors improve faster, or if cumulative TSR compresses.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33" name="Text 13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movement is true learning rather than temporary recovery?    › Which rank loss hides an operational improvement?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Round 4 managerial puzzle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Profit, share, value and rank tell different stories.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4980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profit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980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35584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market cap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5584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35584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8m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585216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6188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share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6188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6188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19.8%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845820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56792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ROCE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56792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56792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30.3%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822960" y="2743200"/>
            <a:ext cx="5120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286000" y="49834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 (%)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0080" y="25146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 (%)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879592" y="269903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16752" y="26898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Green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5816967" y="3425900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954127" y="341675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Harshad Mehta Gang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4725160" y="4873752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62320" y="48646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Lakshmi Chit Fund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3299602" y="267919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436762" y="267004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Big Bulls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3338410" y="4013862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475570" y="400471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Grey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4287920" y="3973273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25080" y="3964129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Akatsuki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3837744" y="4225555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974904" y="4216411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Pink</a:t>
            </a:r>
            <a:endParaRPr lang="en-US" sz="670" dirty="0"/>
          </a:p>
        </p:txBody>
      </p:sp>
      <p:sp>
        <p:nvSpPr>
          <p:cNvPr id="41" name="Text 39"/>
          <p:cNvSpPr/>
          <p:nvPr/>
        </p:nvSpPr>
        <p:spPr>
          <a:xfrm>
            <a:off x="6400800" y="2788920"/>
            <a:ext cx="47548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Accounting profit answers what was earned this round; valuation asks whether cash flows are repeatable after risk.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share without margins becomes pressure. High margin without future option value can become vulnerability.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0" y="4114800"/>
            <a:ext cx="4754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400800" y="42793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strategy is the coherent system, not the highest single metric.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has the most coherent value story?    › Which metric flatters your team but hides the biggest risk?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comparison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is price × volume × mix; it is not a strategy by itself.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3051137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44752"/>
            <a:ext cx="3344875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83480" y="14447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719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719072"/>
            <a:ext cx="2934891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83480" y="17190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1993392"/>
            <a:ext cx="1745487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83480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267712"/>
            <a:ext cx="2278437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83480" y="2267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542032"/>
            <a:ext cx="2125779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83480" y="2542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1.9bn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51760" y="2816352"/>
            <a:ext cx="1701314" cy="17406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83480" y="28163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1.5bn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51683" y="3685032"/>
            <a:ext cx="1727973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848502" y="3685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+0.6bn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89403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951683" y="3894038"/>
            <a:ext cx="716385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848502" y="389403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" y="410304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51683" y="4103043"/>
            <a:ext cx="303214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48502" y="410304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431204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71491" y="4312049"/>
            <a:ext cx="680192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48502" y="431204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" y="452105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11797" y="4521055"/>
            <a:ext cx="2439886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848502" y="452105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-0.9bn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5800" y="473006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369116" y="4730061"/>
            <a:ext cx="582567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848502" y="473006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85800" y="493906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951683" y="4939066"/>
            <a:ext cx="749727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848502" y="493906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51683" y="3657600"/>
            <a:ext cx="0" cy="15544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Harshad Mehta Gang has the largest Round 4 revenue base.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added the most revenue from Round 3 to Round 4.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next question is whether this revenue converted into margin and risk-adjusted value.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growth is valuable only when the additional volume earns contribution after price, features, production, logistics and promotion.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Whose growth was value-accretive?    › Whose revenue growth created operating stress?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comparison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reveals the quality of conversion from sales into economics.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51683" y="1170432"/>
            <a:ext cx="904063" cy="17406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848502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51683" y="1444752"/>
            <a:ext cx="30590" cy="17406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8502" y="14447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+0.0bn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719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299792" y="1719072"/>
            <a:ext cx="1651891" cy="1740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48502" y="17190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-0.6bn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951683" y="1993392"/>
            <a:ext cx="530875" cy="17406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848502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43282" y="2267712"/>
            <a:ext cx="508401" cy="1740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48502" y="2267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11432" y="2542032"/>
            <a:ext cx="440251" cy="1740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48502" y="2542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29775" y="2816352"/>
            <a:ext cx="521909" cy="1740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848502" y="28163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951683" y="1143000"/>
            <a:ext cx="0" cy="20116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58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951683" y="3685032"/>
            <a:ext cx="1879835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848502" y="3685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+0.7bn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5800" y="389403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951683" y="3894038"/>
            <a:ext cx="750575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848502" y="389403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5800" y="410304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571352" y="4103043"/>
            <a:ext cx="380331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848502" y="410304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-0.1bn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" y="431204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646207" y="4312049"/>
            <a:ext cx="305476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48502" y="431204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-0.1bn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5800" y="452105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01537" y="4521055"/>
            <a:ext cx="1950146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848502" y="452105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85800" y="473006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561926" y="4730061"/>
            <a:ext cx="389758" cy="1316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848502" y="473006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-0.1bn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5800" y="493906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951683" y="4939066"/>
            <a:ext cx="442696" cy="131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848502" y="493906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951683" y="3657600"/>
            <a:ext cx="0" cy="15544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produced the highest Round 4 profit.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Lakshmi Chit Fund has the largest Round 4 loss.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must be read together with R&amp;D timing, inventory, financing and future option value.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is a residual: reverse-engineer it into price, volume, unit cost, features, R&amp;D, promotion, financing and tax.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cost line explains your profit change?    › Was profit sacrificed deliberately or accidentally?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share battle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is valuable only when it improves learning, scale and future cash flow.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3344875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19.8%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5128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51283"/>
            <a:ext cx="3303967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83480" y="145128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19.6%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73213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732135"/>
            <a:ext cx="2590784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83480" y="173213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15.3%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01298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2012986"/>
            <a:ext cx="1659589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83480" y="201298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9.8%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29383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293838"/>
            <a:ext cx="1684939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83480" y="229383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57468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574689"/>
            <a:ext cx="2305172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83480" y="257468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13.6%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285554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51760" y="2855541"/>
            <a:ext cx="2011111" cy="1783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83480" y="285554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51683" y="3685032"/>
            <a:ext cx="2026257" cy="12736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848502" y="3685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+5.5 pp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88750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951683" y="3887506"/>
            <a:ext cx="1580809" cy="12736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848502" y="388750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+4.3 pp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" y="408998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65566" y="4089981"/>
            <a:ext cx="486117" cy="1273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48502" y="408998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-1.3 pp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429245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864413" y="4292455"/>
            <a:ext cx="1087270" cy="1273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48502" y="429245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-2.9 pp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" y="449492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46304" y="4494929"/>
            <a:ext cx="2805379" cy="1273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848502" y="449492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-7.6 pp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5800" y="469740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979449" y="4697403"/>
            <a:ext cx="972235" cy="12736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848502" y="469740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-2.6 pp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85800" y="489987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951683" y="4899878"/>
            <a:ext cx="1744085" cy="12736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848502" y="489987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+4.7 pp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51683" y="3657600"/>
            <a:ext cx="0" cy="150876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gained the most global share.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Grey lost the most share.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Share must be tested against ROS, ROCE, inventory and cash conversion.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do not reward market-share ambition; they reward a value proposition. The firm must then convert the demand profitably.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bought share too expensively?    › Which team should protect margin before chasing share?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Regional battle map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three regions are different demand systems.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371600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22376" y="11887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57400" y="1143000"/>
            <a:ext cx="1371600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093976" y="11887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29000" y="1143000"/>
            <a:ext cx="1371600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65576" y="11887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Asia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00600" y="1143000"/>
            <a:ext cx="1371600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37176" y="11887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Europe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5800" y="16230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22376" y="16687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057400" y="16230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093976" y="16687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17.8%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29000" y="16230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465576" y="16687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21.8%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00600" y="16230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37176" y="16687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17.6%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" y="21031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22376" y="21488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057400" y="21031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093976" y="21488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20.4%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21031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465576" y="21488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19.9%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00600" y="21031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837176" y="21488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18.1%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" y="258318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2376" y="262890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057400" y="258318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093976" y="262890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16.9%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29000" y="258318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465576" y="262890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14.4%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800600" y="258318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837176" y="262890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15.8%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" y="306324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22376" y="310896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057400" y="306324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093976" y="310896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8.7%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429000" y="306324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465576" y="310896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800600" y="306324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37176" y="310896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11.4%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85800" y="354330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22376" y="35890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057400" y="354330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093976" y="35890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14.8%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429000" y="3543300"/>
            <a:ext cx="1371600" cy="48006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465576" y="35890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6.0%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800600" y="354330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4837176" y="358902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13.5%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85800" y="40233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22376" y="40690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057400" y="40233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2093976" y="40690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10.9%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429000" y="40233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465576" y="40690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14.6%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800600" y="402336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4837176" y="406908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14.3%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685800" y="45034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722376" y="45491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057400" y="45034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2093976" y="45491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10.5%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429000" y="45034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3465576" y="45491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13.8%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00600" y="4503420"/>
            <a:ext cx="1371600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4837176" y="4549140"/>
            <a:ext cx="129844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9.3%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492240" y="1371600"/>
            <a:ext cx="46634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USA leader: Harshad Mehta Gang.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Asia leader: Green.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Europe leader: Harshad Mehta Gang.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Round 5 choices should define defend, attack, repair, harvest or exit by region.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global strategy fails when it treats USA, Asia and Europe as one average customer.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region is your economic engine?    › Which region is your trap?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and option discipline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spending must become commercialisation, not just capability ownership.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273423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5128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51283"/>
            <a:ext cx="787302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83480" y="145128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73213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732135"/>
            <a:ext cx="1130653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83480" y="173213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01298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2012986"/>
            <a:ext cx="795526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83480" y="201298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29383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293838"/>
            <a:ext cx="1541653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83480" y="229383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57468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574689"/>
            <a:ext cx="1410295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83480" y="257468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0.4bn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285554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51760" y="2855541"/>
            <a:ext cx="1103923" cy="1783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83480" y="285554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0.3bn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5800" y="370332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286000" y="534924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R&amp;D intensity (%)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02920" y="347472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ROCE (%)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1336309" y="363931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473469" y="363016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Green</a:t>
            </a:r>
            <a:endParaRPr lang="en-US" sz="670" dirty="0"/>
          </a:p>
        </p:txBody>
      </p:sp>
      <p:sp>
        <p:nvSpPr>
          <p:cNvPr id="34" name="Shape 32"/>
          <p:cNvSpPr/>
          <p:nvPr/>
        </p:nvSpPr>
        <p:spPr>
          <a:xfrm>
            <a:off x="2498514" y="4889557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635674" y="4880413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Harshad Mehta Gang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3693471" y="4876455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830631" y="4867311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Lakshmi Chit Fund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4255719" y="4704668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392879" y="469552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Big Bulls</a:t>
            </a:r>
            <a:endParaRPr lang="en-US" sz="670" dirty="0"/>
          </a:p>
        </p:txBody>
      </p:sp>
      <p:sp>
        <p:nvSpPr>
          <p:cNvPr id="40" name="Shape 38"/>
          <p:cNvSpPr/>
          <p:nvPr/>
        </p:nvSpPr>
        <p:spPr>
          <a:xfrm>
            <a:off x="6016752" y="5080985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153912" y="5071841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Grey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5911484" y="5239512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048644" y="523036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Akatsuki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5795391" y="5103635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932551" y="5094491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Pink</a:t>
            </a:r>
            <a:endParaRPr lang="en-US" sz="670" dirty="0"/>
          </a:p>
        </p:txBody>
      </p:sp>
      <p:sp>
        <p:nvSpPr>
          <p:cNvPr id="46" name="Text 44"/>
          <p:cNvSpPr/>
          <p:nvPr/>
        </p:nvSpPr>
        <p:spPr>
          <a:xfrm>
            <a:off x="6492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Grey has the highest Round 4 R&amp;D spend.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R&amp;D is expensed now but may create future options if aligned with market readiness and fulfilment capacity.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 R&amp;D is not good or bad by itself; conversion is the test.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technology option has value only when demand, product readiness, capacity, cash and risk can carry it to market.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When is R&amp;D an investment rather than a cost?    › What evidence should govern R&amp;D timing?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and capital discipline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and ROCE separate attractive growth from expensive movement.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298448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22376" y="11887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84248" y="1143000"/>
            <a:ext cx="1298448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020824" y="11887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82696" y="1143000"/>
            <a:ext cx="1298448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319272" y="11887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ROS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81144" y="1143000"/>
            <a:ext cx="1298448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17720" y="11887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879592" y="1143000"/>
            <a:ext cx="1298448" cy="48006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16168" y="11887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ROCE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85800" y="162306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22376" y="16687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984248" y="162306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20824" y="16687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11.6%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82696" y="1623060"/>
            <a:ext cx="1298448" cy="48006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19272" y="16687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+27.8 pp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81144" y="162306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617720" y="16687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30.3%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9592" y="1623060"/>
            <a:ext cx="1298448" cy="48006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16168" y="16687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+29.4 pp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5800" y="21031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22376" y="21488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984248" y="21031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020824" y="21488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82696" y="2103120"/>
            <a:ext cx="1298448" cy="48006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319272" y="21488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+9.6 pp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81144" y="21031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17720" y="21488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3.6%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79592" y="2103120"/>
            <a:ext cx="1298448" cy="48006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916168" y="21488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+6.3 pp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85800" y="258318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22376" y="262890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984248" y="258318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020824" y="262890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-22.1%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82696" y="258318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319272" y="262890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-4.4 pp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81144" y="258318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617720" y="262890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3.9%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879592" y="258318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916168" y="262890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 pp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85800" y="306324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22376" y="310896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984248" y="306324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020824" y="310896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82696" y="306324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319272" y="310896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-4.4 pp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81144" y="306324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4617720" y="310896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7.5%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879592" y="3063240"/>
            <a:ext cx="1298448" cy="48006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916168" y="310896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-8.1 pp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85800" y="354330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22376" y="35890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984248" y="354330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020824" y="35890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-8.8%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282696" y="3543300"/>
            <a:ext cx="1298448" cy="48006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319272" y="35890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-26.3 pp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581144" y="354330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617720" y="35890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-0.5%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879592" y="3543300"/>
            <a:ext cx="1298448" cy="48006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916168" y="358902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-23.9 pp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85800" y="402336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22376" y="40690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984248" y="402336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2020824" y="40690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-8.1%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3282696" y="4023360"/>
            <a:ext cx="1298448" cy="48006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3319272" y="40690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-7.3 pp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581144" y="402336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617720" y="40690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-3.9%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879592" y="4023360"/>
            <a:ext cx="1298448" cy="48006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5916168" y="406908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-6.0 pp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85800" y="45034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22376" y="45491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984248" y="45034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2020824" y="45491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-12.1%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3282696" y="4503420"/>
            <a:ext cx="1298448" cy="48006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3319272" y="45491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+14.9 pp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581144" y="45034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4617720" y="45491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-1.0%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5879592" y="4503420"/>
            <a:ext cx="1298448" cy="480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5916168" y="4549140"/>
            <a:ext cx="122529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+2.5 pp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7543800" y="1417320"/>
            <a:ext cx="39319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Best ROS: Big Bulls.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Best ROCE: Green.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capital-intensive strategy must defend ROCE, not just sales.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7543800" y="3657600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7543800" y="382219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asks what the team keeps from sales; ROCE asks whether the capital base earns an acceptable return.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metric should govern your next decision: ROS or ROCE?    › Where did capital become trapped without return?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and cash-flow risk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is a deferred judgement about demand.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1379212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2515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25158"/>
            <a:ext cx="1857970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83480" y="142515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67988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679883"/>
            <a:ext cx="3344875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83480" y="167988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193460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1934609"/>
            <a:ext cx="993752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83480" y="193460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18933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189335"/>
            <a:ext cx="2186415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83480" y="218933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44406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444061"/>
            <a:ext cx="1593416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83480" y="244406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0.5bn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269878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51760" y="2698786"/>
            <a:ext cx="1358664" cy="16132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83480" y="269878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0.5bn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51683" y="3547872"/>
            <a:ext cx="775652" cy="152835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848502" y="3547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+0.4bn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78953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46304" y="3789535"/>
            <a:ext cx="2805379" cy="152835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848502" y="378953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-1.3bn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" y="403119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51683" y="4031198"/>
            <a:ext cx="46607" cy="152835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48502" y="403119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+0.0bn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427286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51683" y="4272861"/>
            <a:ext cx="283525" cy="152835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48502" y="427286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" y="451452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351885" y="4514523"/>
            <a:ext cx="1599798" cy="152835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848502" y="451452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-0.8bn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5800" y="475618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057942" y="4756186"/>
            <a:ext cx="893741" cy="152835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848502" y="475618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-0.4bn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85800" y="499784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951683" y="4997849"/>
            <a:ext cx="190569" cy="152835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848502" y="499784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51683" y="3520440"/>
            <a:ext cx="0" cy="17830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Lakshmi Chit Fund carries the largest inventory balance.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Harshad Mehta Gang has the weakest cash flow before financing.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Inventory can be a strategic buffer only if it matches verified future demand.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flow tells whether the strategy can survive the time lag between spending and payoff.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When is inventory a warning signal?    › Which cash problem is temporary investment and which is operating weakness?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Financing risk and valuation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changes the value of the same future cash flow.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371600" cy="48577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22376" y="11887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2057400" y="1143000"/>
            <a:ext cx="1371600" cy="48577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093976" y="11887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429000" y="1143000"/>
            <a:ext cx="1371600" cy="48577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65576" y="11887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debt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800600" y="1143000"/>
            <a:ext cx="1371600" cy="48577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37176" y="11887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172200" y="1143000"/>
            <a:ext cx="1371600" cy="485775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208776" y="11887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price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85800" y="16287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22376" y="16744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2057400" y="1628775"/>
            <a:ext cx="1371600" cy="48577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93976" y="16744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429000" y="16287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465576" y="16744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800600" y="16287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837176" y="16744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6172200" y="16287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208776" y="16744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175.6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685800" y="21145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22376" y="21602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057400" y="2114550"/>
            <a:ext cx="1371600" cy="48577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093976" y="21602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3429000" y="21145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465576" y="21602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00600" y="21145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37176" y="21602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21145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208776" y="21602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70.3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685800" y="26003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22376" y="26460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2057400" y="2600325"/>
            <a:ext cx="1371600" cy="48577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093976" y="26460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3429000" y="26003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465576" y="26460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800600" y="26003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837176" y="26460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6172200" y="26003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208776" y="26460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58.6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85800" y="308610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22376" y="31318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2057400" y="3086100"/>
            <a:ext cx="1371600" cy="485775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093976" y="31318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AA+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3429000" y="308610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465576" y="31318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54" name="Shape 52"/>
          <p:cNvSpPr/>
          <p:nvPr/>
        </p:nvSpPr>
        <p:spPr>
          <a:xfrm>
            <a:off x="4800600" y="308610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4837176" y="31318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8m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08610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208776" y="313182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230.8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685800" y="35718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22376" y="36175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2057400" y="3571875"/>
            <a:ext cx="1371600" cy="48577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093976" y="36175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3429000" y="35718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465576" y="36175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4800600" y="35718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837176" y="36175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780" dirty="0"/>
          </a:p>
        </p:txBody>
      </p:sp>
      <p:sp>
        <p:nvSpPr>
          <p:cNvPr id="66" name="Shape 64"/>
          <p:cNvSpPr/>
          <p:nvPr/>
        </p:nvSpPr>
        <p:spPr>
          <a:xfrm>
            <a:off x="6172200" y="357187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6208776" y="361759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155.3</a:t>
            </a:r>
            <a:endParaRPr lang="en-US" sz="780" dirty="0"/>
          </a:p>
        </p:txBody>
      </p:sp>
      <p:sp>
        <p:nvSpPr>
          <p:cNvPr id="68" name="Shape 66"/>
          <p:cNvSpPr/>
          <p:nvPr/>
        </p:nvSpPr>
        <p:spPr>
          <a:xfrm>
            <a:off x="685800" y="40576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22376" y="41033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2057400" y="4057650"/>
            <a:ext cx="1371600" cy="48577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2093976" y="41033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780" dirty="0"/>
          </a:p>
        </p:txBody>
      </p:sp>
      <p:sp>
        <p:nvSpPr>
          <p:cNvPr id="72" name="Shape 70"/>
          <p:cNvSpPr/>
          <p:nvPr/>
        </p:nvSpPr>
        <p:spPr>
          <a:xfrm>
            <a:off x="3429000" y="40576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3465576" y="41033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4800600" y="40576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837176" y="41033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6172200" y="4057650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208776" y="4103370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171.1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685800" y="45434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22376" y="45891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2057400" y="4543425"/>
            <a:ext cx="1371600" cy="485775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2093976" y="45891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CCC+</a:t>
            </a:r>
            <a:endParaRPr lang="en-US" sz="780" dirty="0"/>
          </a:p>
        </p:txBody>
      </p:sp>
      <p:sp>
        <p:nvSpPr>
          <p:cNvPr id="82" name="Shape 80"/>
          <p:cNvSpPr/>
          <p:nvPr/>
        </p:nvSpPr>
        <p:spPr>
          <a:xfrm>
            <a:off x="3429000" y="45434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3465576" y="45891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84" name="Shape 82"/>
          <p:cNvSpPr/>
          <p:nvPr/>
        </p:nvSpPr>
        <p:spPr>
          <a:xfrm>
            <a:off x="4800600" y="45434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4837176" y="45891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780" dirty="0"/>
          </a:p>
        </p:txBody>
      </p:sp>
      <p:sp>
        <p:nvSpPr>
          <p:cNvPr id="86" name="Shape 84"/>
          <p:cNvSpPr/>
          <p:nvPr/>
        </p:nvSpPr>
        <p:spPr>
          <a:xfrm>
            <a:off x="6172200" y="4543425"/>
            <a:ext cx="1371600" cy="4857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208776" y="4589145"/>
            <a:ext cx="129844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124.7</a:t>
            </a:r>
            <a:endParaRPr lang="en-US" sz="780" dirty="0"/>
          </a:p>
        </p:txBody>
      </p:sp>
      <p:sp>
        <p:nvSpPr>
          <p:cNvPr id="88" name="Text 86"/>
          <p:cNvSpPr/>
          <p:nvPr/>
        </p:nvSpPr>
        <p:spPr>
          <a:xfrm>
            <a:off x="7818120" y="1417320"/>
            <a:ext cx="3657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Highest market capitalisation: Big Bulls.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Largest unplanned short-term debt: Lakshmi Chit Fund.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and debt enter valuation by raising required return and reducing equity value.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7818120" y="36576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7818120" y="38221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Valuation: expected cash flows → risk adjustment → enterprise value → debt/cash adjustment → equity value → share price → TSR.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can the same profit be worth less under higher risk?    › Is debt here planned leverage or emergency financing?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scorecard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 view of who improved where from Round 3 to Round 4.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15087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5453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24231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97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3741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2519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885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1663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2029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60807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1173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995160" y="1097280"/>
            <a:ext cx="914400" cy="52578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031736" y="11430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594360" y="162306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309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1508760" y="16230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5453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2423160" y="16230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4597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3337560" y="16230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3741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251960" y="162306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2885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5166360" y="16230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2029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080760" y="16230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1173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6995160" y="16230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031736" y="16687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594360" y="214884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309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1508760" y="214884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5453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2423160" y="21488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4597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3337560" y="214884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3741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4251960" y="21488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2885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5166360" y="214884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2029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080760" y="21488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1173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54" name="Shape 52"/>
          <p:cNvSpPr/>
          <p:nvPr/>
        </p:nvSpPr>
        <p:spPr>
          <a:xfrm>
            <a:off x="6995160" y="214884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031736" y="21945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594360" y="267462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309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1508760" y="2674620"/>
            <a:ext cx="914400" cy="525780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5453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2423160" y="2674620"/>
            <a:ext cx="914400" cy="525780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4597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3337560" y="267462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3741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4251960" y="2674620"/>
            <a:ext cx="914400" cy="525780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66" name="Shape 64"/>
          <p:cNvSpPr/>
          <p:nvPr/>
        </p:nvSpPr>
        <p:spPr>
          <a:xfrm>
            <a:off x="5166360" y="267462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2029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68" name="Shape 66"/>
          <p:cNvSpPr/>
          <p:nvPr/>
        </p:nvSpPr>
        <p:spPr>
          <a:xfrm>
            <a:off x="6080760" y="2674620"/>
            <a:ext cx="914400" cy="525780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1173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995160" y="2674620"/>
            <a:ext cx="914400" cy="525780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7031736" y="272034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72" name="Shape 70"/>
          <p:cNvSpPr/>
          <p:nvPr/>
        </p:nvSpPr>
        <p:spPr>
          <a:xfrm>
            <a:off x="594360" y="320040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6309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1508760" y="320040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15453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2423160" y="320040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24597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3337560" y="320040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33741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4251960" y="320040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42885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82" name="Shape 80"/>
          <p:cNvSpPr/>
          <p:nvPr/>
        </p:nvSpPr>
        <p:spPr>
          <a:xfrm>
            <a:off x="5166360" y="320040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52029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84" name="Shape 82"/>
          <p:cNvSpPr/>
          <p:nvPr/>
        </p:nvSpPr>
        <p:spPr>
          <a:xfrm>
            <a:off x="6080760" y="320040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1173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86" name="Shape 84"/>
          <p:cNvSpPr/>
          <p:nvPr/>
        </p:nvSpPr>
        <p:spPr>
          <a:xfrm>
            <a:off x="6995160" y="320040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7031736" y="324612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88" name="Shape 86"/>
          <p:cNvSpPr/>
          <p:nvPr/>
        </p:nvSpPr>
        <p:spPr>
          <a:xfrm>
            <a:off x="594360" y="372618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6309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780" dirty="0"/>
          </a:p>
        </p:txBody>
      </p:sp>
      <p:sp>
        <p:nvSpPr>
          <p:cNvPr id="90" name="Shape 88"/>
          <p:cNvSpPr/>
          <p:nvPr/>
        </p:nvSpPr>
        <p:spPr>
          <a:xfrm>
            <a:off x="1508760" y="372618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15453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92" name="Shape 90"/>
          <p:cNvSpPr/>
          <p:nvPr/>
        </p:nvSpPr>
        <p:spPr>
          <a:xfrm>
            <a:off x="2423160" y="372618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24597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94" name="Shape 92"/>
          <p:cNvSpPr/>
          <p:nvPr/>
        </p:nvSpPr>
        <p:spPr>
          <a:xfrm>
            <a:off x="3337560" y="372618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33741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96" name="Shape 94"/>
          <p:cNvSpPr/>
          <p:nvPr/>
        </p:nvSpPr>
        <p:spPr>
          <a:xfrm>
            <a:off x="4251960" y="372618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2885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98" name="Shape 96"/>
          <p:cNvSpPr/>
          <p:nvPr/>
        </p:nvSpPr>
        <p:spPr>
          <a:xfrm>
            <a:off x="5166360" y="372618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52029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0" name="Shape 98"/>
          <p:cNvSpPr/>
          <p:nvPr/>
        </p:nvSpPr>
        <p:spPr>
          <a:xfrm>
            <a:off x="6080760" y="372618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1173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2" name="Shape 100"/>
          <p:cNvSpPr/>
          <p:nvPr/>
        </p:nvSpPr>
        <p:spPr>
          <a:xfrm>
            <a:off x="6995160" y="372618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7031736" y="377190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4" name="Shape 102"/>
          <p:cNvSpPr/>
          <p:nvPr/>
        </p:nvSpPr>
        <p:spPr>
          <a:xfrm>
            <a:off x="594360" y="425196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6309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780" dirty="0"/>
          </a:p>
        </p:txBody>
      </p:sp>
      <p:sp>
        <p:nvSpPr>
          <p:cNvPr id="106" name="Shape 104"/>
          <p:cNvSpPr/>
          <p:nvPr/>
        </p:nvSpPr>
        <p:spPr>
          <a:xfrm>
            <a:off x="1508760" y="425196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/>
          <p:nvPr/>
        </p:nvSpPr>
        <p:spPr>
          <a:xfrm>
            <a:off x="15453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108" name="Shape 106"/>
          <p:cNvSpPr/>
          <p:nvPr/>
        </p:nvSpPr>
        <p:spPr>
          <a:xfrm>
            <a:off x="2423160" y="425196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/>
          <p:nvPr/>
        </p:nvSpPr>
        <p:spPr>
          <a:xfrm>
            <a:off x="24597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110" name="Shape 108"/>
          <p:cNvSpPr/>
          <p:nvPr/>
        </p:nvSpPr>
        <p:spPr>
          <a:xfrm>
            <a:off x="3337560" y="425196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33741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12" name="Shape 110"/>
          <p:cNvSpPr/>
          <p:nvPr/>
        </p:nvSpPr>
        <p:spPr>
          <a:xfrm>
            <a:off x="4251960" y="425196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3" name="Text 111"/>
          <p:cNvSpPr/>
          <p:nvPr/>
        </p:nvSpPr>
        <p:spPr>
          <a:xfrm>
            <a:off x="42885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114" name="Shape 112"/>
          <p:cNvSpPr/>
          <p:nvPr/>
        </p:nvSpPr>
        <p:spPr>
          <a:xfrm>
            <a:off x="5166360" y="425196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52029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116" name="Shape 114"/>
          <p:cNvSpPr/>
          <p:nvPr/>
        </p:nvSpPr>
        <p:spPr>
          <a:xfrm>
            <a:off x="6080760" y="4251960"/>
            <a:ext cx="914400" cy="525780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7" name="Text 115"/>
          <p:cNvSpPr/>
          <p:nvPr/>
        </p:nvSpPr>
        <p:spPr>
          <a:xfrm>
            <a:off x="61173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118" name="Shape 116"/>
          <p:cNvSpPr/>
          <p:nvPr/>
        </p:nvSpPr>
        <p:spPr>
          <a:xfrm>
            <a:off x="6995160" y="4251960"/>
            <a:ext cx="914400" cy="52578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9" name="Text 117"/>
          <p:cNvSpPr/>
          <p:nvPr/>
        </p:nvSpPr>
        <p:spPr>
          <a:xfrm>
            <a:off x="7031736" y="429768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20" name="Shape 118"/>
          <p:cNvSpPr/>
          <p:nvPr/>
        </p:nvSpPr>
        <p:spPr>
          <a:xfrm>
            <a:off x="594360" y="4777740"/>
            <a:ext cx="91440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1" name="Text 119"/>
          <p:cNvSpPr/>
          <p:nvPr/>
        </p:nvSpPr>
        <p:spPr>
          <a:xfrm>
            <a:off x="6309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780" dirty="0"/>
          </a:p>
        </p:txBody>
      </p:sp>
      <p:sp>
        <p:nvSpPr>
          <p:cNvPr id="122" name="Shape 120"/>
          <p:cNvSpPr/>
          <p:nvPr/>
        </p:nvSpPr>
        <p:spPr>
          <a:xfrm>
            <a:off x="1508760" y="477774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3" name="Text 121"/>
          <p:cNvSpPr/>
          <p:nvPr/>
        </p:nvSpPr>
        <p:spPr>
          <a:xfrm>
            <a:off x="15453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124" name="Shape 122"/>
          <p:cNvSpPr/>
          <p:nvPr/>
        </p:nvSpPr>
        <p:spPr>
          <a:xfrm>
            <a:off x="2423160" y="47777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5" name="Text 123"/>
          <p:cNvSpPr/>
          <p:nvPr/>
        </p:nvSpPr>
        <p:spPr>
          <a:xfrm>
            <a:off x="24597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126" name="Shape 124"/>
          <p:cNvSpPr/>
          <p:nvPr/>
        </p:nvSpPr>
        <p:spPr>
          <a:xfrm>
            <a:off x="3337560" y="477774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7" name="Text 125"/>
          <p:cNvSpPr/>
          <p:nvPr/>
        </p:nvSpPr>
        <p:spPr>
          <a:xfrm>
            <a:off x="33741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128" name="Shape 126"/>
          <p:cNvSpPr/>
          <p:nvPr/>
        </p:nvSpPr>
        <p:spPr>
          <a:xfrm>
            <a:off x="4251960" y="47777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9" name="Text 127"/>
          <p:cNvSpPr/>
          <p:nvPr/>
        </p:nvSpPr>
        <p:spPr>
          <a:xfrm>
            <a:off x="42885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130" name="Shape 128"/>
          <p:cNvSpPr/>
          <p:nvPr/>
        </p:nvSpPr>
        <p:spPr>
          <a:xfrm>
            <a:off x="5166360" y="4777740"/>
            <a:ext cx="914400" cy="52578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1" name="Text 129"/>
          <p:cNvSpPr/>
          <p:nvPr/>
        </p:nvSpPr>
        <p:spPr>
          <a:xfrm>
            <a:off x="52029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132" name="Shape 130"/>
          <p:cNvSpPr/>
          <p:nvPr/>
        </p:nvSpPr>
        <p:spPr>
          <a:xfrm>
            <a:off x="6080760" y="47777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3" name="Text 131"/>
          <p:cNvSpPr/>
          <p:nvPr/>
        </p:nvSpPr>
        <p:spPr>
          <a:xfrm>
            <a:off x="61173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134" name="Shape 132"/>
          <p:cNvSpPr/>
          <p:nvPr/>
        </p:nvSpPr>
        <p:spPr>
          <a:xfrm>
            <a:off x="6995160" y="4777740"/>
            <a:ext cx="914400" cy="525780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5" name="Text 133"/>
          <p:cNvSpPr/>
          <p:nvPr/>
        </p:nvSpPr>
        <p:spPr>
          <a:xfrm>
            <a:off x="7031736" y="4823460"/>
            <a:ext cx="841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136" name="Text 134"/>
          <p:cNvSpPr/>
          <p:nvPr/>
        </p:nvSpPr>
        <p:spPr>
          <a:xfrm>
            <a:off x="8229600" y="1371600"/>
            <a:ext cx="329184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scorecard is directional, not a replacement for diagnosis.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 not cherry-pick the cell that flatters your team.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strongest strategy creates consistency across demand, margin, capital and risk.</a:t>
            </a:r>
            <a:endParaRPr lang="en-US" sz="1050" dirty="0"/>
          </a:p>
        </p:txBody>
      </p:sp>
      <p:sp>
        <p:nvSpPr>
          <p:cNvPr id="137" name="Text 135"/>
          <p:cNvSpPr/>
          <p:nvPr/>
        </p:nvSpPr>
        <p:spPr>
          <a:xfrm>
            <a:off x="8229600" y="370332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8229600" y="38679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coherent system creates improving signals across several metrics, not only one heroic number.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40" name="Text 138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has the most coherent improvement pattern?    › Which team has one bright spot hiding a larger risk?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Green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in R3 → 2nd in R4 • gained 3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-1.8%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-12.8%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+0.6bn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+0.7bn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11.6%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+27.8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30.3%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+29.4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C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5th → 2nd. Market cap: 4m → 5m. Share price: $125.4 → $175.6.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improved from 5th to 2nd, indicating stronger relative investor confidence.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improved by 1m; test whether this is repeatable or merely a correction.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rose by +5.5 pp, but share must be converted into margin.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C to BB-,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759362" y="459943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896522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1045952" y="235915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183112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Harshad Mehta Gang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 in R3 → 6th in R4 • lost 4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-21.9%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16.0%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+9.6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3.6%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+6.3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B+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2nd → 6th. Market cap: 11m → 3m. Share price: $294.9 → $70.3.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fell from 2nd to 6th, even if some operating signals may have improved.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improved by 0m; test whether this is repeatable or merely a correction.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rose by +4.3 pp, but share must be converted into margin.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B+ to BB-,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029775" y="459943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166935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1045952" y="2499290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183112" y="249014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Lakshmi Chit Fund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7th in R3 → 7th in R4 • held position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-25.4%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-36.9%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-0.1bn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-22.1%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-4.4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3.9%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C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7th → 7th. Market cap: 1m → 2m. Share price: $47.4 → $58.6.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remained 7th, so the team needs to test whether it is stuck or stable.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-0m;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-1.3 pp, so the team must decide whether to defend economics or rebuild reach.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4175778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83112" y="416663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0678818" y="459943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815978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Big Bulls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 in R3 → 1st in R4 • gained 2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5.5%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12.9%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-0.1bn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-4.4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7.5%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-8.1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AA+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AA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3rd → 1st. Market cap: 9m → 8m. Share price: $268.4 → $230.8.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improved from 3rd to 1st, indicating stronger relative investor confidence.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-0m;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-2.9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AA to AA+,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235915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83112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9974275" y="295958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111435" y="295043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 in R3 → 4th in R4 • lost 3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-4.6%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18.6%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-0.9bn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-8.8%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-26.3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-0.5%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-23.9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AA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1st → 4th. Market cap: 10m → 5m. Share price: $315.1 → $155.3.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fell from 1st to 4th, even if some operating signals may have improved.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-1m;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-7.6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AA to B,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235915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83112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9034794" y="459943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171954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Akatsuki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 in R3 → 3rd in R4 • gained 1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-2.4%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10.3%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-0.1bn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-8.1%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-7.3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-3.9%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-6.0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BB+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4th → 3rd. Market cap: 8m → 5m. Share price: $253.4 → $171.1.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improved from 4th to 3rd, indicating stronger relative investor confidence.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-0m;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-2.6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BB+ to B,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281081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83112" y="280166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0294524" y="459943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431684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Pink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 in R3 → 5th in R4 • gained 1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-9.9%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-12.9%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-12.1%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+14.9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-1.0%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+2.5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CCC+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CCC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6th → 5th. Market cap: 4m → 4m. Share price: $124.9 → $124.7.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improved from 6th to 5th, indicating stronger relative investor confidence.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improved by 0m; test whether this is repeatable or merely a correction.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rose by +4.7 pp, but share must be converted into margin.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CCC to CCC+,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204089" y="459943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41249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1045952" y="3405593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183112" y="3396449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rewarded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rewarded coherence rather than isolated optimisation.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Rank credibility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Big Bulls leads TSR because the market sees a stronger risk-adjusted value story.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4904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Capital return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Green shows the strongest ROCE and capital productivity.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67512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Demand capture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Green has the highest global market share, which may create scale if margins hold.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46404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0120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Risk discipline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Teams with stronger credit and lower emergency debt retain valuation credibility.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14400" y="2971800"/>
            <a:ext cx="6400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Big Bulls leads TSR because the market sees a stronger risk-adjusted value story.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shows the strongest ROCE and capital productivity.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has the highest global market share, which may create scale if margins hold.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with stronger credit and lower emergency debt retain valuation credibility.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Choices that reinforce each other were rewarded more than one-off activity.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3063240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863840" y="32278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market rewards a system of mutually reinforcing choices: customer value, operating discipline, risk control and future credibility.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reward is most sustainable in Round 5?    › Can your team pursue all rewards at once?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punished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punished strategic incoherence, fragile financing and weak conversion.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Loss conversion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Lakshmi Chit Fund shows the sharpest current earnings pressure.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7ED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4904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Inventory trap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Lakshmi Chit Fund carries the largest inventory and must test product-market fit.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67512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Debt shock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Lakshmi Chit Fund carries the largest short-term debt pressure.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46404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7ED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0120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Fragile TSR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Falling cumulative TSR signals weaker investor confidence, not merely a bad accounting round.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14400" y="2971800"/>
            <a:ext cx="6400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Lakshmi Chit Fund shows the sharpest current earnings pressure.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Lakshmi Chit Fund carries the largest inventory and must test product-market fit.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Lakshmi Chit Fund carries the largest short-term debt pressure.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Falling cumulative TSR signals weaker investor confidence, not merely a bad accounting round.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Mismatched pricing, R&amp;D, capacity and financing eroded value.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3063240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863840" y="32278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fastest recovery comes from separating reversible decisions from sticky commitments in capacity, financing and technology path.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punished decision is reversible before Round 5?    › Which mistake will constrain later rounds?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decision checklist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every decision into a hypothesis, threshold and guardrail.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U1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2651760" cy="574766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22376" y="1188720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area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337560" y="1143000"/>
            <a:ext cx="2651760" cy="574766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74136" y="1188720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question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5989320" y="1143000"/>
            <a:ext cx="2651760" cy="574766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25896" y="1188720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85800" y="1717766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22376" y="1763486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337560" y="1717766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74136" y="1763486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will customers buy profitably?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989320" y="1717766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25896" y="1763486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by region and technology.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85800" y="2292531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" y="2338251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3337560" y="2292531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74136" y="2338251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bundle maximises contribution?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989320" y="2292531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25896" y="2338251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discount below contribution logic.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685800" y="2867297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22376" y="2913017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337560" y="2867297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374136" y="2913017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be ready now vs later?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989320" y="2867297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025896" y="2913017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investment with stop-loss.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85800" y="3442063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2376" y="3487783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3337560" y="3442063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374136" y="3487783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should be made where?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5989320" y="3442063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025896" y="3487783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inventory and utilisation thresholds.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685800" y="4016829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22376" y="4062549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3337560" y="4016829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374136" y="4062549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plan survive before payoff?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5989320" y="4016829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025896" y="4062549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unplanned debt and rating collapse.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685800" y="4591594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22376" y="4637314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830" dirty="0"/>
          </a:p>
        </p:txBody>
      </p:sp>
      <p:sp>
        <p:nvSpPr>
          <p:cNvPr id="46" name="Shape 44"/>
          <p:cNvSpPr/>
          <p:nvPr/>
        </p:nvSpPr>
        <p:spPr>
          <a:xfrm>
            <a:off x="3337560" y="4591594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374136" y="4637314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Defend, attack, repair or exit?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5989320" y="4591594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025896" y="4637314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Allocate resources deliberately.</a:t>
            </a:r>
            <a:endParaRPr lang="en-US" sz="830" dirty="0"/>
          </a:p>
        </p:txBody>
      </p:sp>
      <p:sp>
        <p:nvSpPr>
          <p:cNvPr id="50" name="Text 48"/>
          <p:cNvSpPr/>
          <p:nvPr/>
        </p:nvSpPr>
        <p:spPr>
          <a:xfrm>
            <a:off x="9006840" y="141732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team should submit one strategic hypothesis, one falsifying metric and one operating guardrail.
</a:t>
            </a:r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next round is not a chance to explain better; it is a chance to decide better.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06840" y="3840480"/>
            <a:ext cx="2560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9006840" y="40050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 rule converts learning into managerial discipline.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What is your non-negotiable guardrail?    › Which Round 5 decision has the largest irreversible downside?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Closing reflection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strongest team is not the boldest. It is the most coherent.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306324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Coherence is the discipline of making market, technology, production, finance and risk choices point in the same direction.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365760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5DD"/>
                </a:solidFill>
              </a:rPr>
              <a:t>Round 5 assignment: one strategic hypothesis, one falsifying metric, one operating guardrail.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D5DD"/>
                </a:solidFill>
              </a:rPr>
              <a:t>Socratic closing: What will your team stop doing immediately? What evidence will prove your Round 5 strategy is working?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CESIM Round 4 Debrief</dc:title>
  <dc:subject>CESIM Global Challenge debrief</dc:subject>
  <dc:creator>OpenAI</dc:creator>
  <cp:lastModifiedBy>OpenAI</cp:lastModifiedBy>
  <cp:revision>1</cp:revision>
  <dcterms:created xsi:type="dcterms:W3CDTF">2026-08-17T09:43:37Z</dcterms:created>
  <dcterms:modified xsi:type="dcterms:W3CDTF">2026-08-17T09:43:37Z</dcterms:modified>
</cp:coreProperties>
</file>